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slideLayouts/slideLayout22.xml" ContentType="application/vnd.openxmlformats-officedocument.presentationml.slideLayout+xml"/>
  <Override PartName="/ppt/theme/theme6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7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8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9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50" r:id="rId2"/>
    <p:sldMasterId id="2147483657" r:id="rId3"/>
    <p:sldMasterId id="2147483660" r:id="rId4"/>
    <p:sldMasterId id="2147483667" r:id="rId5"/>
    <p:sldMasterId id="2147483674" r:id="rId6"/>
    <p:sldMasterId id="2147483676" r:id="rId7"/>
    <p:sldMasterId id="2147483683" r:id="rId8"/>
    <p:sldMasterId id="2147483691" r:id="rId9"/>
    <p:sldMasterId id="2147483698" r:id="rId10"/>
  </p:sldMasterIdLst>
  <p:notesMasterIdLst>
    <p:notesMasterId r:id="rId23"/>
  </p:notesMasterIdLst>
  <p:handoutMasterIdLst>
    <p:handoutMasterId r:id="rId24"/>
  </p:handoutMasterIdLst>
  <p:sldIdLst>
    <p:sldId id="2496" r:id="rId11"/>
    <p:sldId id="2464" r:id="rId12"/>
    <p:sldId id="16768644" r:id="rId13"/>
    <p:sldId id="16768650" r:id="rId14"/>
    <p:sldId id="16768654" r:id="rId15"/>
    <p:sldId id="16768655" r:id="rId16"/>
    <p:sldId id="16768652" r:id="rId17"/>
    <p:sldId id="16768653" r:id="rId18"/>
    <p:sldId id="16768651" r:id="rId19"/>
    <p:sldId id="16768657" r:id="rId20"/>
    <p:sldId id="16768659" r:id="rId21"/>
    <p:sldId id="2519" r:id="rId22"/>
  </p:sldIdLst>
  <p:sldSz cx="12192000" cy="6858000"/>
  <p:notesSz cx="6797675" cy="9926638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319" userDrawn="1">
          <p15:clr>
            <a:srgbClr val="A4A3A4"/>
          </p15:clr>
        </p15:guide>
        <p15:guide id="4" pos="657" userDrawn="1">
          <p15:clr>
            <a:srgbClr val="A4A3A4"/>
          </p15:clr>
        </p15:guide>
        <p15:guide id="5" pos="74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相亲相爱一家人" initials="相亲相爱一家人" lastIdx="4" clrIdx="0"/>
  <p:cmAuthor id="2" name="AutoBVT" initials="A" lastIdx="6" clrIdx="1"/>
  <p:cmAuthor id="3" name="user" initials="u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5BA7"/>
    <a:srgbClr val="112D98"/>
    <a:srgbClr val="B10011"/>
    <a:srgbClr val="152A8C"/>
    <a:srgbClr val="202020"/>
    <a:srgbClr val="112D95"/>
    <a:srgbClr val="EDEDED"/>
    <a:srgbClr val="7F7F7F"/>
    <a:srgbClr val="2796D4"/>
    <a:srgbClr val="BD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12" autoAdjust="0"/>
    <p:restoredTop sz="95530" autoAdjust="0"/>
  </p:normalViewPr>
  <p:slideViewPr>
    <p:cSldViewPr snapToGrid="0" showGuides="1">
      <p:cViewPr varScale="1">
        <p:scale>
          <a:sx n="59" d="100"/>
          <a:sy n="59" d="100"/>
        </p:scale>
        <p:origin x="876" y="66"/>
      </p:cViewPr>
      <p:guideLst>
        <p:guide orient="horz" pos="2134"/>
        <p:guide pos="3840"/>
        <p:guide orient="horz" pos="1319"/>
        <p:guide pos="657"/>
        <p:guide pos="74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6" d="100"/>
        <a:sy n="116" d="100"/>
      </p:scale>
      <p:origin x="0" y="-3144"/>
    </p:cViewPr>
  </p:sorterViewPr>
  <p:notesViewPr>
    <p:cSldViewPr snapToGrid="0">
      <p:cViewPr varScale="1">
        <p:scale>
          <a:sx n="60" d="100"/>
          <a:sy n="60" d="100"/>
        </p:scale>
        <p:origin x="2419" y="58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5" y="1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2A7754-4016-4142-A148-2FD9F4901B1C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428584"/>
            <a:ext cx="2945659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5" y="9428584"/>
            <a:ext cx="2945659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5C411A-1614-4C2C-83A9-37A725D131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5" y="1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3061E6-9082-4DE5-9A66-8A4CDD823213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5" y="9428584"/>
            <a:ext cx="2945659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24F95-A27F-4848-8BFC-F38062363D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GI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4.GI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4.GIF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14.GIF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14.GIF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9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9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14.GIF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10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10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14.GIF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77250" y="242586"/>
            <a:ext cx="3714750" cy="828675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 bwMode="auto">
          <a:xfrm>
            <a:off x="244929" y="242586"/>
            <a:ext cx="3118757" cy="828675"/>
          </a:xfrm>
          <a:prstGeom prst="rect">
            <a:avLst/>
          </a:prstGeom>
          <a:solidFill>
            <a:srgbClr val="152A8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55" y="250101"/>
            <a:ext cx="3156734" cy="8168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XX</a:t>
            </a:r>
            <a:r>
              <a:rPr lang="zh-CN" altLang="en-US"/>
              <a:t>公司 </a:t>
            </a:r>
            <a:r>
              <a:rPr lang="en-US" altLang="zh-CN"/>
              <a:t>2015</a:t>
            </a:r>
            <a:r>
              <a:rPr lang="zh-CN" altLang="en-US"/>
              <a:t>年</a:t>
            </a:r>
            <a:r>
              <a:rPr lang="en-US" altLang="zh-CN"/>
              <a:t>12</a:t>
            </a:r>
            <a:r>
              <a:rPr lang="zh-CN" altLang="en-US"/>
              <a:t>月</a:t>
            </a:r>
            <a:r>
              <a:rPr lang="en-US" altLang="zh-CN"/>
              <a:t>7</a:t>
            </a:r>
            <a:r>
              <a:rPr lang="zh-CN" altLang="en-US"/>
              <a:t>日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XX</a:t>
            </a:r>
            <a:r>
              <a:rPr lang="zh-CN" altLang="en-US"/>
              <a:t>公司 </a:t>
            </a:r>
            <a:r>
              <a:rPr lang="en-US" altLang="zh-CN"/>
              <a:t>2015</a:t>
            </a:r>
            <a:r>
              <a:rPr lang="zh-CN" altLang="en-US"/>
              <a:t>年</a:t>
            </a:r>
            <a:r>
              <a:rPr lang="en-US" altLang="zh-CN"/>
              <a:t>12</a:t>
            </a:r>
            <a:r>
              <a:rPr lang="zh-CN" altLang="en-US"/>
              <a:t>月</a:t>
            </a:r>
            <a:r>
              <a:rPr lang="en-US" altLang="zh-CN"/>
              <a:t>7</a:t>
            </a:r>
            <a:r>
              <a:rPr lang="zh-CN" altLang="en-US"/>
              <a:t>日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公司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日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789" y="6356961"/>
            <a:ext cx="3862489" cy="364281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/>
            </a:lvl1pPr>
          </a:lstStyle>
          <a:p>
            <a:pPr marL="0" marR="0" lvl="0" indent="0" algn="l" defTabSz="10947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6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6757" y="6356961"/>
            <a:ext cx="2845283" cy="364281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135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l" defTabSz="10947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0413790-DA41-421A-AE39-C50414B092DE}" type="slidenum">
              <a:rPr kumimoji="0" lang="zh-CN" altLang="en-US" sz="2135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XX</a:t>
            </a:r>
            <a:r>
              <a:rPr lang="zh-CN" altLang="en-US"/>
              <a:t>公司 </a:t>
            </a:r>
            <a:r>
              <a:rPr lang="en-US" altLang="zh-CN"/>
              <a:t>2015</a:t>
            </a:r>
            <a:r>
              <a:rPr lang="zh-CN" altLang="en-US"/>
              <a:t>年</a:t>
            </a:r>
            <a:r>
              <a:rPr lang="en-US" altLang="zh-CN"/>
              <a:t>12</a:t>
            </a:r>
            <a:r>
              <a:rPr lang="zh-CN" altLang="en-US"/>
              <a:t>月</a:t>
            </a:r>
            <a:r>
              <a:rPr lang="en-US" altLang="zh-CN"/>
              <a:t>7</a:t>
            </a:r>
            <a:r>
              <a:rPr lang="zh-CN" altLang="en-US"/>
              <a:t>日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XX</a:t>
            </a:r>
            <a:r>
              <a:rPr lang="zh-CN" altLang="en-US"/>
              <a:t>公司 </a:t>
            </a:r>
            <a:r>
              <a:rPr lang="en-US" altLang="zh-CN"/>
              <a:t>2015</a:t>
            </a:r>
            <a:r>
              <a:rPr lang="zh-CN" altLang="en-US"/>
              <a:t>年</a:t>
            </a:r>
            <a:r>
              <a:rPr lang="en-US" altLang="zh-CN"/>
              <a:t>12</a:t>
            </a:r>
            <a:r>
              <a:rPr lang="zh-CN" altLang="en-US"/>
              <a:t>月</a:t>
            </a:r>
            <a:r>
              <a:rPr lang="en-US" altLang="zh-CN"/>
              <a:t>7</a:t>
            </a:r>
            <a:r>
              <a:rPr lang="zh-CN" altLang="en-US"/>
              <a:t>日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6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slideLayout" Target="../slideLayouts/slideLayout12.xml"/><Relationship Id="rId7" Type="http://schemas.openxmlformats.org/officeDocument/2006/relationships/theme" Target="../theme/theme4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14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13.xml"/><Relationship Id="rId9" Type="http://schemas.openxmlformats.org/officeDocument/2006/relationships/image" Target="../media/image4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slideLayout" Target="../slideLayouts/slideLayout18.xml"/><Relationship Id="rId7" Type="http://schemas.openxmlformats.org/officeDocument/2006/relationships/theme" Target="../theme/theme5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20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19.xml"/><Relationship Id="rId9" Type="http://schemas.openxmlformats.org/officeDocument/2006/relationships/image" Target="../media/image4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7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slideLayout" Target="../slideLayouts/slideLayout25.xml"/><Relationship Id="rId7" Type="http://schemas.openxmlformats.org/officeDocument/2006/relationships/theme" Target="../theme/theme7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27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26.xml"/><Relationship Id="rId9" Type="http://schemas.openxmlformats.org/officeDocument/2006/relationships/image" Target="../media/image4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33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32.xml"/><Relationship Id="rId9" Type="http://schemas.openxmlformats.org/officeDocument/2006/relationships/image" Target="../media/image15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38.xml"/><Relationship Id="rId7" Type="http://schemas.openxmlformats.org/officeDocument/2006/relationships/theme" Target="../theme/theme9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40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39.xml"/><Relationship Id="rId9" Type="http://schemas.openxmlformats.org/officeDocument/2006/relationships/image" Target="../media/image4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10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46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95" y="6244599"/>
            <a:ext cx="2842941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ctr" anchorCtr="0" compatLnSpc="1"/>
          <a:lstStyle>
            <a:lvl1pPr algn="l">
              <a:defRPr sz="1200" b="1">
                <a:solidFill>
                  <a:srgbClr val="89898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103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4871" y="6244599"/>
            <a:ext cx="3862260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32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874" y="6244599"/>
            <a:ext cx="2842941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t" anchorCtr="0" compatLnSpc="1"/>
          <a:lstStyle>
            <a:lvl1pPr algn="l"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95" y="331896"/>
            <a:ext cx="2271630" cy="58790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089" y="482018"/>
            <a:ext cx="2679177" cy="28765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6565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3130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69695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6260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16865" indent="-316865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6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7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725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8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246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902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559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82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93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9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25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en-US" altLang="zh-CN" b="1" dirty="0">
              <a:solidFill>
                <a:srgbClr val="002C6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41285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en-US" altLang="zh-CN" b="1" dirty="0">
              <a:solidFill>
                <a:srgbClr val="002C6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0944" y="223755"/>
            <a:ext cx="1810077" cy="468453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41285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0944" y="223755"/>
            <a:ext cx="1810077" cy="468453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41285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18000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-1914525" y="1045210"/>
            <a:ext cx="1862455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-1914525" y="1798955"/>
            <a:ext cx="1862455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1914525" y="2552700"/>
            <a:ext cx="1862455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1914525" y="3306445"/>
            <a:ext cx="1862455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36538" y="31924"/>
            <a:ext cx="3763834" cy="7651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4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5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6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7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54651" b="-2228"/>
          <a:stretch>
            <a:fillRect/>
          </a:stretch>
        </p:blipFill>
        <p:spPr>
          <a:xfrm>
            <a:off x="9776566" y="198909"/>
            <a:ext cx="820850" cy="478889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0597417" y="145965"/>
            <a:ext cx="1289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12D9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一汽股权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112D95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112D9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FAW EQUITY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54651" b="-2228"/>
          <a:stretch>
            <a:fillRect/>
          </a:stretch>
        </p:blipFill>
        <p:spPr>
          <a:xfrm>
            <a:off x="9776566" y="198909"/>
            <a:ext cx="820850" cy="478889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0597417" y="145965"/>
            <a:ext cx="1289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12D9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一汽股权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112D95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112D9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FAW EQUITY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en-US" altLang="zh-CN" b="1" dirty="0">
              <a:solidFill>
                <a:srgbClr val="002C6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en-US" altLang="zh-CN" b="1" dirty="0">
              <a:solidFill>
                <a:srgbClr val="002C6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8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/>
          <p:nvPr/>
        </p:nvSpPr>
        <p:spPr>
          <a:xfrm>
            <a:off x="914400" y="2653472"/>
            <a:ext cx="10363200" cy="1470025"/>
          </a:xfrm>
          <a:prstGeom prst="rect">
            <a:avLst/>
          </a:prstGeom>
        </p:spPr>
        <p:txBody>
          <a:bodyPr lIns="81750" tIns="40874" rIns="81750" bIns="40874" anchor="ctr"/>
          <a:lstStyle>
            <a:lvl1pPr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6565"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3130"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69695"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6260"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ctr">
              <a:lnSpc>
                <a:spcPct val="120000"/>
              </a:lnSpc>
            </a:pPr>
            <a:r>
              <a:rPr lang="en-US" altLang="zh-CN" sz="4800" dirty="0">
                <a:sym typeface="+mn-ea"/>
              </a:rPr>
              <a:t>2026</a:t>
            </a:r>
            <a:r>
              <a:rPr lang="zh-CN" altLang="en-US" sz="4800" dirty="0">
                <a:sym typeface="+mn-ea"/>
              </a:rPr>
              <a:t>年年中述职汇报</a:t>
            </a:r>
            <a:endParaRPr lang="zh-CN" altLang="en-US" sz="4800" kern="0" dirty="0">
              <a:solidFill>
                <a:srgbClr val="152A8C"/>
              </a:solidFill>
            </a:endParaRPr>
          </a:p>
        </p:txBody>
      </p:sp>
      <p:sp>
        <p:nvSpPr>
          <p:cNvPr id="11" name="副标题 2"/>
          <p:cNvSpPr txBox="1"/>
          <p:nvPr/>
        </p:nvSpPr>
        <p:spPr>
          <a:xfrm>
            <a:off x="4982210" y="4699000"/>
            <a:ext cx="3287395" cy="1253490"/>
          </a:xfrm>
          <a:prstGeom prst="rect">
            <a:avLst/>
          </a:prstGeom>
        </p:spPr>
        <p:txBody>
          <a:bodyPr lIns="81750" tIns="40874" rIns="81750" bIns="40874" anchor="ctr"/>
          <a:lstStyle>
            <a:lvl1pPr marL="316865" indent="-316865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2"/>
              </a:buBlip>
              <a:defRPr sz="2200">
                <a:solidFill>
                  <a:srgbClr val="102A8D"/>
                </a:solidFill>
                <a:latin typeface="+mn-lt"/>
                <a:ea typeface="+mn-ea"/>
                <a:cs typeface="+mn-cs"/>
              </a:defRPr>
            </a:lvl1pPr>
            <a:lvl2pPr marL="686435" indent="-26289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3"/>
              </a:buBlip>
              <a:defRPr sz="2800">
                <a:solidFill>
                  <a:srgbClr val="102A8D"/>
                </a:solidFill>
                <a:latin typeface="+mn-lt"/>
                <a:ea typeface="+mn-ea"/>
              </a:defRPr>
            </a:lvl2pPr>
            <a:lvl3pPr marL="1057275" indent="-212725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4"/>
              </a:buBlip>
              <a:defRPr sz="2200">
                <a:solidFill>
                  <a:srgbClr val="102A8D"/>
                </a:solidFill>
                <a:latin typeface="+mn-lt"/>
                <a:ea typeface="+mn-ea"/>
              </a:defRPr>
            </a:lvl3pPr>
            <a:lvl4pPr marL="1478915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sz="1400">
                <a:solidFill>
                  <a:srgbClr val="102A8D"/>
                </a:solidFill>
                <a:latin typeface="+mn-lt"/>
                <a:ea typeface="+mn-ea"/>
              </a:defRPr>
            </a:lvl4pPr>
            <a:lvl5pPr marL="1902460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102A8D"/>
                </a:solidFill>
                <a:latin typeface="+mn-lt"/>
                <a:ea typeface="+mn-ea"/>
              </a:defRPr>
            </a:lvl5pPr>
            <a:lvl6pPr marL="2359025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6pPr>
            <a:lvl7pPr marL="2815590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7pPr>
            <a:lvl8pPr marL="3271520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8pPr>
            <a:lvl9pPr marL="3728085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姓</a:t>
            </a:r>
            <a:r>
              <a:rPr lang="en-US" altLang="zh-CN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en-US" altLang="zh-CN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名： 高英</a:t>
            </a:r>
            <a:endParaRPr lang="zh-CN" altLang="en-US" b="1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任职企业</a:t>
            </a:r>
            <a:r>
              <a:rPr lang="zh-CN" altLang="en-US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：长春一东</a:t>
            </a:r>
            <a:endParaRPr lang="zh-CN" altLang="en-US" b="1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职</a:t>
            </a:r>
            <a:r>
              <a:rPr lang="en-US" altLang="zh-CN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务</a:t>
            </a:r>
            <a:r>
              <a:rPr lang="zh-CN" altLang="en-US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：副总经理</a:t>
            </a:r>
            <a:endParaRPr lang="zh-CN" altLang="en-US" b="1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75784" y="134911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核心商密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65" y="1423949"/>
            <a:ext cx="402545" cy="25200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445610" y="1349118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 </a:t>
            </a:r>
            <a:r>
              <a:rPr lang="en-US" altLang="zh-CN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endParaRPr lang="zh-CN" altLang="en-US" sz="16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2143237" y="1349118"/>
            <a:ext cx="19287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企业信息 严格保密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9580" y="306705"/>
            <a:ext cx="10367010" cy="509905"/>
          </a:xfrm>
          <a:prstGeom prst="rect">
            <a:avLst/>
          </a:prstGeom>
        </p:spPr>
        <p:txBody>
          <a:bodyPr/>
          <a:lstStyle/>
          <a:p>
            <a:r>
              <a:rPr lang="zh-CN" altLang="en-US" sz="24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目  录</a:t>
            </a:r>
          </a:p>
        </p:txBody>
      </p:sp>
      <p:sp>
        <p:nvSpPr>
          <p:cNvPr id="12" name="矩形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914136" y="2352996"/>
            <a:ext cx="4680000" cy="540000"/>
          </a:xfrm>
          <a:prstGeom prst="rect">
            <a:avLst/>
          </a:prstGeom>
          <a:solidFill>
            <a:schemeClr val="bg1"/>
          </a:solidFill>
          <a:ln w="19050">
            <a:solidFill>
              <a:srgbClr val="152A8C"/>
            </a:solidFill>
            <a:miter lim="800000"/>
          </a:ln>
        </p:spPr>
        <p:txBody>
          <a:bodyPr anchor="ctr"/>
          <a:lstStyle/>
          <a:p>
            <a:pPr marL="0" marR="0" lvl="0" algn="l" defTabSz="914400" rtl="0" eaLnBrk="0" fontAlgn="base" latinLnBrk="0" hangingPunct="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绩效目标完成情况</a:t>
            </a:r>
            <a:endParaRPr kumimoji="0" lang="en-US" altLang="zh-CN" sz="2000" b="1" i="0" u="none" strike="noStrike" kern="1200" cap="none" spc="0" normalizeH="0" baseline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3" name="矩形 8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914136" y="3027440"/>
            <a:ext cx="4680000" cy="540000"/>
          </a:xfrm>
          <a:prstGeom prst="rect">
            <a:avLst/>
          </a:prstGeom>
          <a:solidFill>
            <a:schemeClr val="bg1"/>
          </a:solidFill>
          <a:ln w="19050">
            <a:solidFill>
              <a:srgbClr val="152A8C"/>
            </a:solidFill>
            <a:miter lim="800000"/>
          </a:ln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其他重点工作完成情况</a:t>
            </a:r>
          </a:p>
        </p:txBody>
      </p:sp>
      <p:sp>
        <p:nvSpPr>
          <p:cNvPr id="14" name="矩形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92474" y="2352996"/>
            <a:ext cx="540000" cy="540000"/>
          </a:xfrm>
          <a:prstGeom prst="rect">
            <a:avLst/>
          </a:prstGeom>
          <a:solidFill>
            <a:srgbClr val="152A8C"/>
          </a:solidFill>
          <a:ln>
            <a:solidFill>
              <a:srgbClr val="152A8C"/>
            </a:solidFill>
          </a:ln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一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矩形 4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92474" y="3027440"/>
            <a:ext cx="540000" cy="540000"/>
          </a:xfrm>
          <a:prstGeom prst="rect">
            <a:avLst/>
          </a:prstGeom>
          <a:solidFill>
            <a:srgbClr val="152A8C"/>
          </a:solidFill>
          <a:ln>
            <a:solidFill>
              <a:srgbClr val="152A8C"/>
            </a:solidFill>
          </a:ln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二</a:t>
            </a:r>
          </a:p>
        </p:txBody>
      </p:sp>
      <p:sp>
        <p:nvSpPr>
          <p:cNvPr id="16" name="矩形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914136" y="3701884"/>
            <a:ext cx="4680000" cy="540000"/>
          </a:xfrm>
          <a:prstGeom prst="rect">
            <a:avLst/>
          </a:prstGeom>
          <a:solidFill>
            <a:schemeClr val="bg1"/>
          </a:solidFill>
          <a:ln w="19050">
            <a:solidFill>
              <a:srgbClr val="152A8C"/>
            </a:solidFill>
            <a:miter lim="800000"/>
          </a:ln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存在问题及下一步工作计划</a:t>
            </a:r>
          </a:p>
        </p:txBody>
      </p:sp>
      <p:sp>
        <p:nvSpPr>
          <p:cNvPr id="18" name="矩形 4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292474" y="3701884"/>
            <a:ext cx="540000" cy="540000"/>
          </a:xfrm>
          <a:prstGeom prst="rect">
            <a:avLst/>
          </a:prstGeom>
          <a:solidFill>
            <a:srgbClr val="152A8C"/>
          </a:solidFill>
          <a:ln>
            <a:solidFill>
              <a:srgbClr val="152A8C"/>
            </a:solidFill>
          </a:ln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83870" y="349885"/>
            <a:ext cx="8033385" cy="4603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一、绩效</a:t>
            </a:r>
            <a:r>
              <a:rPr lang="en-US" altLang="zh-CN" sz="2400" b="1" dirty="0" err="1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目标完成情况</a:t>
            </a:r>
            <a:endParaRPr lang="en-US" altLang="zh-CN" sz="2400" b="1" dirty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3576" y="908440"/>
            <a:ext cx="7508632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p"/>
            </a:pPr>
            <a:r>
              <a:rPr lang="en-US" altLang="zh-CN" sz="2000" b="1" dirty="0" err="1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KPI指标完成情况</a:t>
            </a:r>
            <a:endParaRPr lang="zh-CN" altLang="en-US" sz="2000" b="1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163265"/>
              </p:ext>
            </p:extLst>
          </p:nvPr>
        </p:nvGraphicFramePr>
        <p:xfrm>
          <a:off x="850303" y="1492896"/>
          <a:ext cx="10399584" cy="4348070"/>
        </p:xfrm>
        <a:graphic>
          <a:graphicData uri="http://schemas.openxmlformats.org/drawingml/2006/table">
            <a:tbl>
              <a:tblPr/>
              <a:tblGrid>
                <a:gridCol w="1561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4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7686">
                  <a:extLst>
                    <a:ext uri="{9D8B030D-6E8A-4147-A177-3AD203B41FA5}">
                      <a16:colId xmlns:a16="http://schemas.microsoft.com/office/drawing/2014/main" val="2615993811"/>
                    </a:ext>
                  </a:extLst>
                </a:gridCol>
                <a:gridCol w="1343902">
                  <a:extLst>
                    <a:ext uri="{9D8B030D-6E8A-4147-A177-3AD203B41FA5}">
                      <a16:colId xmlns:a16="http://schemas.microsoft.com/office/drawing/2014/main" val="2553081904"/>
                    </a:ext>
                  </a:extLst>
                </a:gridCol>
                <a:gridCol w="1376285">
                  <a:extLst>
                    <a:ext uri="{9D8B030D-6E8A-4147-A177-3AD203B41FA5}">
                      <a16:colId xmlns:a16="http://schemas.microsoft.com/office/drawing/2014/main" val="876911724"/>
                    </a:ext>
                  </a:extLst>
                </a:gridCol>
                <a:gridCol w="1376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9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5006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指标名称</a:t>
                      </a:r>
                      <a:endParaRPr lang="en-US" altLang="zh-CN" sz="1600" b="1" i="0" u="none" strike="noStrike" dirty="0" smtClean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权重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年度目标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半年目标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实际完成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完成状态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334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关键业绩指标</a:t>
                      </a:r>
                      <a:endParaRPr lang="zh-CN" altLang="en-US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归母净利润（万元）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800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1260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u="none" strike="noStrike" dirty="0" smtClean="0">
                          <a:solidFill>
                            <a:srgbClr val="92D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●</a:t>
                      </a:r>
                      <a:endParaRPr lang="zh-CN" altLang="en-US" sz="1600" b="0" i="0" u="none" strike="noStrike" dirty="0" smtClean="0">
                        <a:solidFill>
                          <a:srgbClr val="92D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546">
                <a:tc vMerge="1">
                  <a:txBody>
                    <a:bodyPr/>
                    <a:lstStyle/>
                    <a:p>
                      <a:pPr algn="l" rtl="0" fontAlgn="ctr"/>
                      <a:endParaRPr lang="zh-CN" alt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降本增效（万元）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3000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1500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152A8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1780</a:t>
                      </a:r>
                      <a:endParaRPr lang="en-US" altLang="zh-CN" sz="1600" b="0" i="0" u="none" strike="noStrike" dirty="0">
                        <a:solidFill>
                          <a:srgbClr val="152A8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●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546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其他业绩指标</a:t>
                      </a:r>
                      <a:endParaRPr lang="zh-CN" altLang="en-US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股东减持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●</a:t>
                      </a:r>
                      <a:endParaRPr kumimoji="0" lang="zh-CN" altLang="en-US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546">
                <a:tc vMerge="1">
                  <a:txBody>
                    <a:bodyPr/>
                    <a:lstStyle/>
                    <a:p>
                      <a:pPr algn="l" rtl="0" fontAlgn="ctr"/>
                      <a:endParaRPr lang="zh-CN" alt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资产负债率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52.48%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●</a:t>
                      </a:r>
                      <a:endParaRPr kumimoji="0" lang="zh-CN" altLang="en-US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1546">
                <a:tc vMerge="1">
                  <a:txBody>
                    <a:bodyPr/>
                    <a:lstStyle/>
                    <a:p>
                      <a:pPr algn="l" rtl="0" fontAlgn="ctr"/>
                      <a:endParaRPr lang="zh-CN" alt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资金预算执行偏差率（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152A8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4.1%</a:t>
                      </a:r>
                      <a:endParaRPr lang="en-US" altLang="zh-CN" sz="1600" b="0" i="0" u="none" strike="noStrike" dirty="0">
                        <a:solidFill>
                          <a:srgbClr val="152A8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●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546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能力指标</a:t>
                      </a:r>
                      <a:endParaRPr lang="zh-CN" altLang="en-US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能力建设完成率（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●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5177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5224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83870" y="349885"/>
            <a:ext cx="8033385" cy="4603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一、绩效</a:t>
            </a:r>
            <a:r>
              <a:rPr lang="en-US" altLang="zh-CN" sz="2400" b="1" dirty="0" err="1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目标完成情况</a:t>
            </a:r>
            <a:endParaRPr lang="en-US" altLang="zh-CN" sz="2400" b="1" dirty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3576" y="908440"/>
            <a:ext cx="7508632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重点工作完成情况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59125" y="1448677"/>
            <a:ext cx="10731260" cy="203132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工作目标：</a:t>
            </a:r>
            <a:endParaRPr lang="en-US" altLang="zh-CN" b="1" dirty="0" smtClean="0">
              <a:solidFill>
                <a:srgbClr val="112D9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112D98"/>
                </a:solidFill>
              </a:rPr>
              <a:t>     2026</a:t>
            </a:r>
            <a:r>
              <a:rPr lang="zh-CN" altLang="en-US" dirty="0" smtClean="0">
                <a:solidFill>
                  <a:srgbClr val="112D98"/>
                </a:solidFill>
              </a:rPr>
              <a:t>年财务体系工作</a:t>
            </a:r>
            <a:r>
              <a:rPr lang="zh-CN" altLang="en-US" dirty="0">
                <a:solidFill>
                  <a:srgbClr val="112D98"/>
                </a:solidFill>
              </a:rPr>
              <a:t>将</a:t>
            </a:r>
            <a:r>
              <a:rPr lang="zh-CN" altLang="zh-CN" dirty="0" smtClean="0">
                <a:solidFill>
                  <a:srgbClr val="112D98"/>
                </a:solidFill>
                <a:latin typeface="+mj-ea"/>
                <a:ea typeface="+mj-ea"/>
              </a:rPr>
              <a:t>围绕</a:t>
            </a:r>
            <a:r>
              <a:rPr lang="zh-CN" altLang="zh-CN" dirty="0">
                <a:solidFill>
                  <a:srgbClr val="112D98"/>
                </a:solidFill>
                <a:latin typeface="+mj-ea"/>
                <a:ea typeface="+mj-ea"/>
              </a:rPr>
              <a:t>“</a:t>
            </a:r>
            <a:r>
              <a:rPr lang="zh-CN" altLang="zh-CN" b="1" dirty="0">
                <a:solidFill>
                  <a:srgbClr val="FF0000"/>
                </a:solidFill>
                <a:latin typeface="+mj-ea"/>
                <a:ea typeface="+mj-ea"/>
              </a:rPr>
              <a:t>支撑战略、支持决策、服务业务、创造价值、防范风险</a:t>
            </a:r>
            <a:r>
              <a:rPr lang="zh-CN" altLang="zh-CN" dirty="0">
                <a:solidFill>
                  <a:srgbClr val="112D98"/>
                </a:solidFill>
                <a:latin typeface="+mj-ea"/>
                <a:ea typeface="+mj-ea"/>
              </a:rPr>
              <a:t>”五大核心任务，做到“</a:t>
            </a:r>
            <a:r>
              <a:rPr lang="zh-CN" altLang="zh-CN" b="1" dirty="0">
                <a:solidFill>
                  <a:srgbClr val="112D98"/>
                </a:solidFill>
                <a:latin typeface="+mj-ea"/>
                <a:ea typeface="+mj-ea"/>
              </a:rPr>
              <a:t>有抓手</a:t>
            </a:r>
            <a:r>
              <a:rPr lang="zh-CN" altLang="zh-CN" dirty="0">
                <a:solidFill>
                  <a:srgbClr val="112D98"/>
                </a:solidFill>
                <a:latin typeface="+mj-ea"/>
                <a:ea typeface="+mj-ea"/>
              </a:rPr>
              <a:t>”（有分解落实台账）、“</a:t>
            </a:r>
            <a:r>
              <a:rPr lang="zh-CN" altLang="zh-CN" b="1" dirty="0">
                <a:solidFill>
                  <a:srgbClr val="112D98"/>
                </a:solidFill>
                <a:latin typeface="+mj-ea"/>
                <a:ea typeface="+mj-ea"/>
              </a:rPr>
              <a:t>有手段</a:t>
            </a:r>
            <a:r>
              <a:rPr lang="zh-CN" altLang="zh-CN" dirty="0">
                <a:solidFill>
                  <a:srgbClr val="112D98"/>
                </a:solidFill>
                <a:latin typeface="+mj-ea"/>
                <a:ea typeface="+mj-ea"/>
              </a:rPr>
              <a:t>”</a:t>
            </a:r>
            <a:r>
              <a:rPr lang="zh-CN" altLang="zh-CN" dirty="0" smtClean="0">
                <a:solidFill>
                  <a:srgbClr val="112D98"/>
                </a:solidFill>
                <a:latin typeface="+mj-ea"/>
                <a:ea typeface="+mj-ea"/>
              </a:rPr>
              <a:t>（</a:t>
            </a:r>
            <a:r>
              <a:rPr lang="zh-CN" altLang="en-US" dirty="0" smtClean="0">
                <a:solidFill>
                  <a:srgbClr val="112D98"/>
                </a:solidFill>
                <a:latin typeface="+mj-ea"/>
                <a:ea typeface="+mj-ea"/>
              </a:rPr>
              <a:t>有</a:t>
            </a:r>
            <a:r>
              <a:rPr lang="zh-CN" altLang="zh-CN" dirty="0" smtClean="0">
                <a:solidFill>
                  <a:srgbClr val="112D98"/>
                </a:solidFill>
                <a:latin typeface="+mj-ea"/>
                <a:ea typeface="+mj-ea"/>
              </a:rPr>
              <a:t>信息化</a:t>
            </a:r>
            <a:r>
              <a:rPr lang="zh-CN" altLang="zh-CN" dirty="0">
                <a:solidFill>
                  <a:srgbClr val="112D98"/>
                </a:solidFill>
                <a:latin typeface="+mj-ea"/>
                <a:ea typeface="+mj-ea"/>
              </a:rPr>
              <a:t>工具）、“</a:t>
            </a:r>
            <a:r>
              <a:rPr lang="zh-CN" altLang="zh-CN" b="1" dirty="0">
                <a:solidFill>
                  <a:srgbClr val="112D98"/>
                </a:solidFill>
                <a:latin typeface="+mj-ea"/>
                <a:ea typeface="+mj-ea"/>
              </a:rPr>
              <a:t>有落实</a:t>
            </a:r>
            <a:r>
              <a:rPr lang="zh-CN" altLang="zh-CN" dirty="0">
                <a:solidFill>
                  <a:srgbClr val="112D98"/>
                </a:solidFill>
                <a:latin typeface="+mj-ea"/>
                <a:ea typeface="+mj-ea"/>
              </a:rPr>
              <a:t>”（有动态管理机制），“</a:t>
            </a:r>
            <a:r>
              <a:rPr lang="zh-CN" altLang="zh-CN" b="1" dirty="0">
                <a:solidFill>
                  <a:srgbClr val="112D98"/>
                </a:solidFill>
                <a:latin typeface="+mj-ea"/>
                <a:ea typeface="+mj-ea"/>
              </a:rPr>
              <a:t>有改善</a:t>
            </a:r>
            <a:r>
              <a:rPr lang="zh-CN" altLang="zh-CN" dirty="0">
                <a:solidFill>
                  <a:srgbClr val="112D98"/>
                </a:solidFill>
                <a:latin typeface="+mj-ea"/>
                <a:ea typeface="+mj-ea"/>
              </a:rPr>
              <a:t>”</a:t>
            </a:r>
            <a:r>
              <a:rPr lang="zh-CN" altLang="zh-CN" dirty="0" smtClean="0">
                <a:solidFill>
                  <a:srgbClr val="112D98"/>
                </a:solidFill>
                <a:latin typeface="+mj-ea"/>
                <a:ea typeface="+mj-ea"/>
              </a:rPr>
              <a:t>（有</a:t>
            </a:r>
            <a:r>
              <a:rPr lang="zh-CN" altLang="en-US" dirty="0" smtClean="0">
                <a:solidFill>
                  <a:srgbClr val="112D98"/>
                </a:solidFill>
                <a:latin typeface="+mj-ea"/>
                <a:ea typeface="+mj-ea"/>
              </a:rPr>
              <a:t>工作</a:t>
            </a:r>
            <a:r>
              <a:rPr lang="zh-CN" altLang="zh-CN" dirty="0" smtClean="0">
                <a:solidFill>
                  <a:srgbClr val="112D98"/>
                </a:solidFill>
                <a:latin typeface="+mj-ea"/>
                <a:ea typeface="+mj-ea"/>
              </a:rPr>
              <a:t>效果</a:t>
            </a:r>
            <a:r>
              <a:rPr lang="zh-CN" altLang="zh-CN" dirty="0">
                <a:solidFill>
                  <a:srgbClr val="112D98"/>
                </a:solidFill>
                <a:latin typeface="+mj-ea"/>
                <a:ea typeface="+mj-ea"/>
              </a:rPr>
              <a:t>），以精细化财务管理助推企业高质量</a:t>
            </a:r>
            <a:r>
              <a:rPr lang="zh-CN" altLang="zh-CN" dirty="0" smtClean="0">
                <a:solidFill>
                  <a:srgbClr val="112D98"/>
                </a:solidFill>
                <a:latin typeface="+mj-ea"/>
                <a:ea typeface="+mj-ea"/>
              </a:rPr>
              <a:t>发展</a:t>
            </a:r>
            <a:r>
              <a:rPr lang="zh-CN" altLang="en-US" dirty="0" smtClean="0">
                <a:solidFill>
                  <a:srgbClr val="112D98"/>
                </a:solidFill>
                <a:latin typeface="+mj-ea"/>
                <a:ea typeface="+mj-ea"/>
              </a:rPr>
              <a:t>，确保完成全年经营目标</a:t>
            </a:r>
            <a:r>
              <a:rPr lang="zh-CN" altLang="zh-CN" dirty="0" smtClean="0">
                <a:solidFill>
                  <a:srgbClr val="112D98"/>
                </a:solidFill>
                <a:latin typeface="+mj-ea"/>
                <a:ea typeface="+mj-ea"/>
              </a:rPr>
              <a:t>。</a:t>
            </a:r>
            <a:endParaRPr lang="zh-CN" altLang="zh-CN" dirty="0">
              <a:solidFill>
                <a:srgbClr val="112D98"/>
              </a:solidFill>
              <a:latin typeface="+mj-ea"/>
              <a:ea typeface="+mj-ea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b="1" dirty="0" smtClean="0">
              <a:solidFill>
                <a:srgbClr val="112D98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7931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83870" y="349885"/>
            <a:ext cx="8033385" cy="4603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一、绩效</a:t>
            </a:r>
            <a:r>
              <a:rPr lang="en-US" altLang="zh-CN" sz="2400" b="1" dirty="0" err="1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目标完成情况</a:t>
            </a:r>
            <a:endParaRPr lang="en-US" altLang="zh-CN" sz="2400" b="1" dirty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3576" y="908440"/>
            <a:ext cx="7508632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重点工作完成情况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56146" y="1365792"/>
            <a:ext cx="9900139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altLang="zh-CN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预算</a:t>
            </a:r>
            <a:r>
              <a:rPr lang="zh-CN" altLang="en-US" b="1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控制</a:t>
            </a:r>
            <a:endParaRPr lang="zh-CN" altLang="en-US" b="1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705403"/>
              </p:ext>
            </p:extLst>
          </p:nvPr>
        </p:nvGraphicFramePr>
        <p:xfrm>
          <a:off x="1026367" y="1770909"/>
          <a:ext cx="10308383" cy="4231022"/>
        </p:xfrm>
        <a:graphic>
          <a:graphicData uri="http://schemas.openxmlformats.org/drawingml/2006/table">
            <a:tbl>
              <a:tblPr/>
              <a:tblGrid>
                <a:gridCol w="1636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2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9259">
                  <a:extLst>
                    <a:ext uri="{9D8B030D-6E8A-4147-A177-3AD203B41FA5}">
                      <a16:colId xmlns:a16="http://schemas.microsoft.com/office/drawing/2014/main" val="2615993811"/>
                    </a:ext>
                  </a:extLst>
                </a:gridCol>
              </a:tblGrid>
              <a:tr h="567072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重点项目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工作内容及效果</a:t>
                      </a:r>
                      <a:endParaRPr lang="en-US" altLang="zh-CN" sz="1600" b="1" i="0" u="none" strike="noStrike" dirty="0" smtClean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个人发挥作用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0231">
                <a:tc>
                  <a:txBody>
                    <a:bodyPr/>
                    <a:lstStyle/>
                    <a:p>
                      <a:pPr marL="0" marR="0" indent="0" algn="l" defTabSz="91313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锚定战略落地，强化预算控制</a:t>
                      </a:r>
                      <a:endParaRPr lang="zh-CN" altLang="en-US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600" b="1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完善预算体系</a:t>
                      </a: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：围绕“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战略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预算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考核”</a:t>
                      </a: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联动机制，将年度经营目标分解为</a:t>
                      </a:r>
                      <a:r>
                        <a:rPr lang="en-US" altLang="zh-CN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个核心指标</a:t>
                      </a: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，覆盖全部业务单元。</a:t>
                      </a:r>
                      <a:endParaRPr lang="en-US" altLang="zh-CN" sz="16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600" b="1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抓实预算落实</a:t>
                      </a: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：紧盯年度预算目标落地，抓实</a:t>
                      </a:r>
                      <a:r>
                        <a:rPr lang="zh-CN" altLang="en-US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边际贡献率提升和固定费用压降。</a:t>
                      </a: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完善“</a:t>
                      </a:r>
                      <a:r>
                        <a:rPr lang="en-US" altLang="zh-CN" sz="1600" dirty="0" err="1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X+n</a:t>
                      </a: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”滚动预算管理体系，抓实预算指标分级落实，紧盯台账措施落地见效。定期组织开展经济运行分析，开展多维度对标、分析、评价，针对运行中的问题和潜在风险及时通报预警，制定针对性纠偏措施。</a:t>
                      </a:r>
                      <a:endParaRPr lang="en-US" altLang="zh-CN" sz="16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CN" sz="1600" b="0" i="0" u="none" strike="noStrike" dirty="0" smtClean="0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600" b="0" i="0" u="none" strike="noStrike" dirty="0" smtClean="0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600" b="1" i="0" u="none" strike="noStrike" dirty="0" smtClean="0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预算执行效果</a:t>
                      </a:r>
                      <a:r>
                        <a:rPr lang="zh-CN" altLang="en-US" sz="1600" b="0" i="0" u="none" strike="noStrike" dirty="0" smtClean="0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：上半年公司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主营业务收入完成年度预算的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56.14%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，同比增长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19.91%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；利润总额完成年度预算的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67.25%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，同比增加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59.14%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1600" b="0" i="0" u="none" strike="noStrike" dirty="0" smtClean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将预算管理贯穿于生产经营的全链条。</a:t>
                      </a:r>
                      <a:r>
                        <a:rPr lang="zh-CN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构建“战略规划</a:t>
                      </a: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业务计划</a:t>
                      </a: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业务预算</a:t>
                      </a: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全面预算”闭环管理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流程，从业务源头入手，运用全面预算管理工具，推动上下贯通、协调一致，找准影响企业效率与效益的关键点，全力推进提质增效，确保预算目标和重点工作的高质量完成。</a:t>
                      </a:r>
                      <a:endParaRPr lang="en-US" altLang="zh-CN" sz="160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0612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83870" y="349885"/>
            <a:ext cx="8033385" cy="4603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一、绩效</a:t>
            </a:r>
            <a:r>
              <a:rPr lang="en-US" altLang="zh-CN" sz="2400" b="1" dirty="0" err="1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目标完成情况</a:t>
            </a:r>
            <a:endParaRPr lang="en-US" altLang="zh-CN" sz="2400" b="1" dirty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3576" y="908440"/>
            <a:ext cx="7508632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重点工作完成情况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56146" y="1365792"/>
            <a:ext cx="9900139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altLang="zh-CN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数据赋能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375828"/>
              </p:ext>
            </p:extLst>
          </p:nvPr>
        </p:nvGraphicFramePr>
        <p:xfrm>
          <a:off x="1026367" y="1792664"/>
          <a:ext cx="10226351" cy="4440185"/>
        </p:xfrm>
        <a:graphic>
          <a:graphicData uri="http://schemas.openxmlformats.org/drawingml/2006/table">
            <a:tbl>
              <a:tblPr/>
              <a:tblGrid>
                <a:gridCol w="1623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6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6506">
                  <a:extLst>
                    <a:ext uri="{9D8B030D-6E8A-4147-A177-3AD203B41FA5}">
                      <a16:colId xmlns:a16="http://schemas.microsoft.com/office/drawing/2014/main" val="2615993811"/>
                    </a:ext>
                  </a:extLst>
                </a:gridCol>
              </a:tblGrid>
              <a:tr h="608586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重点项目 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工作内容及效果</a:t>
                      </a:r>
                      <a:endParaRPr lang="en-US" altLang="zh-CN" sz="1600" b="1" i="0" u="none" strike="noStrike" dirty="0" smtClean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个人发挥作用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1599">
                <a:tc>
                  <a:txBody>
                    <a:bodyPr/>
                    <a:lstStyle/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赋能科学决策，深挖数据价值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、完成“财务共享平台”一期上线，实现费用报销、资金支付等</a:t>
                      </a: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项业务自动化处理，单据处理效率提升</a:t>
                      </a: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30%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。</a:t>
                      </a:r>
                      <a:endParaRPr lang="en-US" altLang="zh-CN" sz="160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、完成兵器集团穿透式监管系统上线工作。</a:t>
                      </a:r>
                      <a:endParaRPr lang="en-US" altLang="zh-CN" sz="160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、完成合同管理系统上线工作。</a:t>
                      </a:r>
                      <a:endParaRPr lang="en-US" altLang="zh-CN" sz="160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、搭建“经营分析模型”看板，逐步整合财务与业务数据，为经营决策提供数据支撑。</a:t>
                      </a:r>
                      <a:endParaRPr lang="en-US" altLang="zh-CN" sz="160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、组织财务体系人员学习“</a:t>
                      </a: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AI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职场实战赋能”专题培训</a:t>
                      </a: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期。</a:t>
                      </a:r>
                      <a:endParaRPr lang="en-US" altLang="zh-CN" sz="160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998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200" noProof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致力于打破财务与业务的数据壁垒，通过构建“业财深度融合”的数字化体系， 推动公司管理从“经营驱动“向”数据驱动“转型。积极推动司库体系落地与深化，实现各级次账户”可视、可控“。推动财务部门学习</a:t>
                      </a:r>
                      <a:r>
                        <a:rPr lang="en-US" altLang="zh-CN" sz="1600" kern="1200" noProof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AI</a:t>
                      </a:r>
                      <a:r>
                        <a:rPr lang="zh-CN" altLang="en-US" sz="1600" kern="1200" noProof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技术，通过搭建财务</a:t>
                      </a:r>
                      <a:r>
                        <a:rPr lang="en-US" altLang="zh-CN" sz="1600" kern="1200" noProof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BI</a:t>
                      </a:r>
                      <a:r>
                        <a:rPr lang="zh-CN" altLang="en-US" sz="1600" kern="1200" noProof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分析平台进行实战演练。</a:t>
                      </a:r>
                      <a:endParaRPr lang="en-US" altLang="zh-CN" sz="1600" kern="1200" noProof="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8581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83870" y="349885"/>
            <a:ext cx="8033385" cy="4603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一、绩效</a:t>
            </a:r>
            <a:r>
              <a:rPr lang="en-US" altLang="zh-CN" sz="2400" b="1" dirty="0" err="1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目标完成情况</a:t>
            </a:r>
            <a:endParaRPr lang="en-US" altLang="zh-CN" sz="2400" b="1" dirty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3576" y="908440"/>
            <a:ext cx="7508632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重点工作完成情况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56146" y="1365792"/>
            <a:ext cx="9900139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altLang="zh-CN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lang="zh-CN" altLang="en-US" b="1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财务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保障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840416"/>
              </p:ext>
            </p:extLst>
          </p:nvPr>
        </p:nvGraphicFramePr>
        <p:xfrm>
          <a:off x="1026367" y="1908933"/>
          <a:ext cx="10226351" cy="4323916"/>
        </p:xfrm>
        <a:graphic>
          <a:graphicData uri="http://schemas.openxmlformats.org/drawingml/2006/table">
            <a:tbl>
              <a:tblPr/>
              <a:tblGrid>
                <a:gridCol w="1630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6506">
                  <a:extLst>
                    <a:ext uri="{9D8B030D-6E8A-4147-A177-3AD203B41FA5}">
                      <a16:colId xmlns:a16="http://schemas.microsoft.com/office/drawing/2014/main" val="2615993811"/>
                    </a:ext>
                  </a:extLst>
                </a:gridCol>
              </a:tblGrid>
              <a:tr h="59265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重点项目 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工作内容及效果</a:t>
                      </a:r>
                      <a:endParaRPr lang="en-US" altLang="zh-CN" sz="1600" b="1" i="0" u="none" strike="noStrike" dirty="0" smtClean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个人发挥作用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266">
                <a:tc>
                  <a:txBody>
                    <a:bodyPr/>
                    <a:lstStyle/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聚焦服务业务，提升保障能力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持续优化财务共享中心建设，围绕合规高效运营目标，推进财务科目、业务场景等标准化贯通，高质量归集财务数据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。</a:t>
                      </a:r>
                      <a:endParaRPr lang="en-US" altLang="zh-CN" sz="1600" b="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、依托兵器集团“大司库”系统，实现资金收支全流程线上化管理。银行账户可视化率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100%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，可归集资金集中度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99.91%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，系统结算率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98.56%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。</a:t>
                      </a:r>
                      <a:endParaRPr lang="en-US" altLang="zh-CN" sz="1600" b="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、做好海外资金保障与效果监控，起草并下发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《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海外公司财务管控要点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》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，提升海外管控水平。组织开展远期锁汇方案研讨。</a:t>
                      </a:r>
                      <a:endParaRPr lang="en-US" altLang="zh-CN" sz="1600" b="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、持续优化付款节奏，月度付款时间平均提速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天，释放资金占用约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600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万元，资金保付率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100%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。</a:t>
                      </a:r>
                      <a:endParaRPr lang="en-US" altLang="zh-CN" sz="1600" b="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、创新课题研究，组织开展内部管理报表标准格式研究。</a:t>
                      </a:r>
                      <a:endParaRPr lang="en-US" altLang="zh-CN" sz="1600" b="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998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noProof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600" kern="1200" noProof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、构建“安全、高效、集约”的资金管理体系，坚持“现金为王”的原则，实施资金全面预算管理，通过建立“周预测、月平衡”机制，确保资金平衡。</a:t>
                      </a:r>
                      <a:endParaRPr lang="en-US" altLang="zh-CN" sz="1600" kern="1200" noProof="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2998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noProof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600" kern="1200" noProof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、积极研究</a:t>
                      </a:r>
                      <a:r>
                        <a:rPr lang="zh-CN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拓展境外资金回款渠道，合理控制境外资金头寸，防范化解国际结算风险。</a:t>
                      </a:r>
                    </a:p>
                    <a:p>
                      <a:pPr marL="0" marR="0" lvl="0" indent="0" algn="l" defTabSz="912998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kern="1200" noProof="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3563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83870" y="349885"/>
            <a:ext cx="8033385" cy="4603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一、绩效</a:t>
            </a:r>
            <a:r>
              <a:rPr lang="en-US" altLang="zh-CN" sz="2400" b="1" dirty="0" err="1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目标完成情况</a:t>
            </a:r>
            <a:endParaRPr lang="en-US" altLang="zh-CN" sz="2400" b="1" dirty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3576" y="908440"/>
            <a:ext cx="7508632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重点工作完成情况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56146" y="1296780"/>
            <a:ext cx="9900139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altLang="zh-CN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4.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降本增效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081704"/>
              </p:ext>
            </p:extLst>
          </p:nvPr>
        </p:nvGraphicFramePr>
        <p:xfrm>
          <a:off x="1026367" y="1736403"/>
          <a:ext cx="10226351" cy="4579307"/>
        </p:xfrm>
        <a:graphic>
          <a:graphicData uri="http://schemas.openxmlformats.org/drawingml/2006/table">
            <a:tbl>
              <a:tblPr/>
              <a:tblGrid>
                <a:gridCol w="1623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6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6084">
                  <a:extLst>
                    <a:ext uri="{9D8B030D-6E8A-4147-A177-3AD203B41FA5}">
                      <a16:colId xmlns:a16="http://schemas.microsoft.com/office/drawing/2014/main" val="2615993811"/>
                    </a:ext>
                  </a:extLst>
                </a:gridCol>
              </a:tblGrid>
              <a:tr h="59265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重点项目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工作内容及效果</a:t>
                      </a:r>
                      <a:endParaRPr lang="en-US" altLang="zh-CN" sz="1600" b="1" i="0" u="none" strike="noStrike" dirty="0" smtClean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个人发挥作用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26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聚力价值创造，推动降本增效</a:t>
                      </a:r>
                      <a:endParaRPr lang="zh-CN" altLang="en-US" sz="1600" dirty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月份制定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《2026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年精益降本工作方案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》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，下发降本责任书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月份组织开展成本费用对标分析工作。</a:t>
                      </a:r>
                      <a:endParaRPr lang="en-US" altLang="zh-CN" sz="1600" b="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月份组织开展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年成本攻坚工作。聚焦对标问题，从业务源头入手，构建“成本攻坚措施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攻坚目标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降本目标”闭环管理模式。</a:t>
                      </a:r>
                      <a:endParaRPr lang="en-US" altLang="zh-CN" sz="1600" b="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、围绕“研、产、供、销、服”全价值链开展降本增效工作，上半年落实重点降本项目</a:t>
                      </a:r>
                      <a:r>
                        <a:rPr lang="en-US" altLang="zh-CN" sz="1600" kern="1200" dirty="0" smtClean="0">
                          <a:solidFill>
                            <a:srgbClr val="4B5BA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58</a:t>
                      </a:r>
                      <a:r>
                        <a:rPr lang="zh-CN" altLang="en-US" sz="1600" kern="1200" dirty="0" smtClean="0">
                          <a:solidFill>
                            <a:srgbClr val="4B5BA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个，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实现降本金额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1780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万元。</a:t>
                      </a:r>
                      <a:endParaRPr lang="en-US" altLang="zh-CN" sz="1600" b="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 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）供应链降本：通过原材料集中采购、供应商商务谈判及铸件产品平台整合等手段，已完成</a:t>
                      </a:r>
                      <a:r>
                        <a:rPr lang="en-US" altLang="zh-CN" sz="1600" kern="1200" dirty="0" smtClean="0">
                          <a:solidFill>
                            <a:srgbClr val="112D9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75%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厂家降本目标的锁定。</a:t>
                      </a:r>
                      <a:endParaRPr lang="en-US" altLang="zh-CN" sz="160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 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）拓市增收</a:t>
                      </a:r>
                      <a:r>
                        <a:rPr lang="zh-CN" altLang="en-US" sz="1600" kern="1200" dirty="0" smtClean="0">
                          <a:solidFill>
                            <a:srgbClr val="112D9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：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积极开拓海外及新能源市场，收入逆势上涨，同比增加</a:t>
                      </a: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19.91%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持续深化成本攻坚行动，制定成本攻坚实施方案，强化降本效果的财务验证与全过程监督。牢固树立“过紧日子”思想，强化预算刚性约束，抓实、抓细固定费用压降实施与动态监控，确保降本增效工作取得实效。</a:t>
                      </a:r>
                      <a:endParaRPr lang="en-US" altLang="zh-CN" sz="16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、深化“业财融合”，推动技术与采购的双重降本。</a:t>
                      </a:r>
                      <a:endParaRPr lang="en-US" altLang="zh-CN" sz="16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3187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83870" y="349885"/>
            <a:ext cx="8033385" cy="4603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一、绩效</a:t>
            </a:r>
            <a:r>
              <a:rPr lang="en-US" altLang="zh-CN" sz="2400" b="1" dirty="0" err="1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目标完成情况</a:t>
            </a:r>
            <a:endParaRPr lang="en-US" altLang="zh-CN" sz="2400" b="1" dirty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3576" y="908440"/>
            <a:ext cx="7508632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重点工作完成情况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56146" y="1365792"/>
            <a:ext cx="9900139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altLang="zh-CN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5.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风险防控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250459"/>
              </p:ext>
            </p:extLst>
          </p:nvPr>
        </p:nvGraphicFramePr>
        <p:xfrm>
          <a:off x="1026367" y="1788162"/>
          <a:ext cx="10226351" cy="4323916"/>
        </p:xfrm>
        <a:graphic>
          <a:graphicData uri="http://schemas.openxmlformats.org/drawingml/2006/table">
            <a:tbl>
              <a:tblPr/>
              <a:tblGrid>
                <a:gridCol w="1623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6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6506">
                  <a:extLst>
                    <a:ext uri="{9D8B030D-6E8A-4147-A177-3AD203B41FA5}">
                      <a16:colId xmlns:a16="http://schemas.microsoft.com/office/drawing/2014/main" val="2615993811"/>
                    </a:ext>
                  </a:extLst>
                </a:gridCol>
              </a:tblGrid>
              <a:tr h="59265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重点项目 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工作内容及效果</a:t>
                      </a:r>
                      <a:endParaRPr lang="en-US" altLang="zh-CN" sz="1600" b="1" i="0" u="none" strike="noStrike" dirty="0" smtClean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个人发挥作用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266">
                <a:tc>
                  <a:txBody>
                    <a:bodyPr/>
                    <a:lstStyle/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严守风险底线，夯实财务基础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落实兵器集团银行账户治理专项行动，注销闲置账户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户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月份组织开展境外公司实地审计工作。</a:t>
                      </a:r>
                      <a:endParaRPr lang="en-US" altLang="zh-CN" sz="1600" b="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月组织对研发支出专项审计问题整改，完善修订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《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研发经费核算办法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》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及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《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研发经费管理流程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》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。</a:t>
                      </a:r>
                      <a:endParaRPr lang="en-US" altLang="zh-CN" sz="1600" b="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月开展“两金”专项治理，下发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《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关于进一步加强“两金”管理的通知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》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，成立</a:t>
                      </a:r>
                      <a:r>
                        <a:rPr lang="zh-CN" altLang="en-US" sz="1600" b="0" kern="1200" dirty="0" smtClean="0">
                          <a:solidFill>
                            <a:srgbClr val="112D9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专班，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逐项清理。上半年累计清理逾期应收款</a:t>
                      </a:r>
                      <a:r>
                        <a:rPr lang="en-US" altLang="zh-CN" sz="1600" b="0" kern="1200" dirty="0" smtClean="0">
                          <a:solidFill>
                            <a:srgbClr val="112D9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3178</a:t>
                      </a:r>
                      <a:r>
                        <a:rPr lang="zh-CN" altLang="en-US" sz="1600" b="0" kern="1200" dirty="0" smtClean="0">
                          <a:solidFill>
                            <a:srgbClr val="112D9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万元，处置积压存货</a:t>
                      </a:r>
                      <a:r>
                        <a:rPr lang="en-US" altLang="zh-CN" sz="1600" b="0" kern="1200" dirty="0" smtClean="0">
                          <a:solidFill>
                            <a:srgbClr val="112D9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315</a:t>
                      </a:r>
                      <a:r>
                        <a:rPr lang="zh-CN" altLang="en-US" sz="1600" b="0" kern="1200" dirty="0" smtClean="0">
                          <a:solidFill>
                            <a:srgbClr val="112D9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万元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。</a:t>
                      </a:r>
                      <a:endParaRPr lang="en-US" altLang="zh-CN" sz="1600" b="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月配合完成总经理离任审计及东北工业集团内对公司巡视巡察工作。</a:t>
                      </a:r>
                      <a:endParaRPr lang="en-US" altLang="zh-CN" sz="1600" b="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998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noProof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600" kern="1200" noProof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、强化运营资金管理，向内挖潜提升现金流质量。高度关注非正常“两金”动态清理，加快资金回流。牵头成立“两金压降”专项工作组，协调营销、生产、法务共同制定催收方案及清库存措施。</a:t>
                      </a:r>
                      <a:endParaRPr lang="en-US" altLang="zh-CN" sz="1600" kern="1200" noProof="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2998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noProof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600" kern="1200" noProof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、狠抓各类问题整改落实，建立问题清单，形成问题整改闭环管理机制。</a:t>
                      </a:r>
                      <a:endParaRPr lang="en-US" altLang="zh-CN" sz="1600" kern="1200" noProof="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3046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"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83870" y="272393"/>
            <a:ext cx="8033385" cy="4603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zh-CN" sz="2400" b="1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二、</a:t>
            </a:r>
            <a:r>
              <a:rPr sz="2400" b="1" dirty="0" err="1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其他重点工作完成情况</a:t>
            </a:r>
            <a:endParaRPr lang="zh-CN" altLang="en-US" sz="2400" b="1" dirty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3575" y="866848"/>
            <a:ext cx="11090804" cy="493981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股东协同：</a:t>
            </a:r>
            <a:endParaRPr lang="en-US" altLang="zh-CN" b="1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b="1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①配合股权公司投资部完成</a:t>
            </a:r>
            <a:r>
              <a:rPr lang="en-US" altLang="zh-CN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2026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年度第一轮减持及相关公告发布工作，</a:t>
            </a:r>
            <a:r>
              <a:rPr lang="zh-CN" altLang="en-US" b="1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上半年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累计减持</a:t>
            </a:r>
            <a:r>
              <a:rPr lang="en-US" altLang="zh-CN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2.92%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，股权公司对一东公司持股比例由年初的</a:t>
            </a:r>
            <a:r>
              <a:rPr lang="en-US" altLang="zh-CN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19.5%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，调整为</a:t>
            </a:r>
            <a:r>
              <a:rPr lang="en-US" altLang="zh-CN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16.58%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，减持金额</a:t>
            </a:r>
            <a:r>
              <a:rPr lang="en-US" altLang="zh-CN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7521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万元，预计可实现收益</a:t>
            </a:r>
            <a:r>
              <a:rPr lang="en-US" altLang="zh-CN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5000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万元。</a:t>
            </a:r>
            <a:endParaRPr lang="en-US" altLang="zh-CN" b="1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b="1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②完成对股权公司的分红</a:t>
            </a:r>
            <a:endParaRPr lang="en-US" altLang="zh-CN" b="1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b="1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altLang="en-US" b="1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③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协调启明信息与东北工业集团开展“企业数智化转型”业务交流合作</a:t>
            </a:r>
            <a:endParaRPr lang="en-US" altLang="zh-CN" b="1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b="1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④协调中汽创与公司就具身智能项目进行交流合作研讨</a:t>
            </a:r>
            <a:endParaRPr lang="en-US" altLang="zh-CN" b="1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endParaRPr lang="en-US" altLang="zh-CN" b="1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党建引领：</a:t>
            </a:r>
            <a:endParaRPr lang="en-US" altLang="zh-CN" b="1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     ①开展树立和践行正确政绩观学习交流研讨</a:t>
            </a:r>
            <a:r>
              <a:rPr lang="en-US" altLang="zh-CN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次</a:t>
            </a:r>
            <a:endParaRPr lang="en-US" altLang="zh-CN" b="1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     ②深入子公司调研</a:t>
            </a:r>
            <a:r>
              <a:rPr lang="en-US" altLang="zh-CN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次</a:t>
            </a:r>
            <a:endParaRPr lang="en-US" altLang="zh-CN" b="1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     ③深入党建联系点讲专题党课一次</a:t>
            </a:r>
            <a:endParaRPr lang="en-US" altLang="zh-CN" b="1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zh-CN" altLang="en-US" b="1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1405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65016" y="320959"/>
            <a:ext cx="9899650" cy="4616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sz="2400" b="1" dirty="0" err="1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三、存在问题及下一步工作计划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3576" y="908440"/>
            <a:ext cx="7508632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下半年工作计划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77359" y="1349506"/>
            <a:ext cx="10947532" cy="489364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市场开拓方面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1600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保持存量基盘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，拓展新兴市场，围绕“抢、找、突、破”工作机制，全年预计收入增长</a:t>
            </a:r>
            <a:r>
              <a:rPr lang="en-US" altLang="zh-CN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10%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以上。</a:t>
            </a:r>
            <a:endParaRPr lang="en-US" altLang="zh-CN" sz="1600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①深耕重汽</a:t>
            </a:r>
            <a:r>
              <a:rPr lang="zh-CN" altLang="en-US" sz="1600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解放、东风、陕汽四大主机客户，离合器产品市占率保持</a:t>
            </a:r>
            <a:r>
              <a:rPr lang="en-US" altLang="zh-CN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19%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，液压举升市占率</a:t>
            </a:r>
            <a:r>
              <a:rPr lang="en-US" altLang="zh-CN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35%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1600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②快速落实</a:t>
            </a:r>
            <a:r>
              <a:rPr lang="en-US" altLang="zh-CN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AMT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CSC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、扭转减震器等新能源方向产品产业化，下半年预计实现收入</a:t>
            </a:r>
            <a:r>
              <a:rPr lang="en-US" altLang="zh-CN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850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万元。</a:t>
            </a:r>
            <a:endParaRPr lang="en-US" altLang="zh-CN" sz="1600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③积极拓展海外市场，在巩固现有俄罗斯、德国、荷兰市场的基础上，拓展韩国、加拿大等新市场，全年预计海外收入</a:t>
            </a:r>
            <a:r>
              <a:rPr lang="en-US" altLang="zh-CN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1.2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亿元。</a:t>
            </a:r>
            <a:endParaRPr lang="en-US" altLang="zh-CN" sz="1600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技术创新方面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：在新质新域上寻找新机会</a:t>
            </a:r>
            <a:endParaRPr lang="en-US" altLang="zh-CN" sz="1600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①新能源空压机方向研究与一汽解放的深度合作机制方案（研究资本合作）</a:t>
            </a:r>
            <a:endParaRPr lang="en-US" altLang="zh-CN" sz="1600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②具身智能方向围绕</a:t>
            </a:r>
            <a:r>
              <a:rPr lang="en-US" altLang="zh-CN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品及轮臂巡检开展场景化应用</a:t>
            </a:r>
            <a:endParaRPr lang="en-US" altLang="zh-CN" sz="1600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运营管理方面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（</a:t>
            </a:r>
            <a:r>
              <a:rPr lang="zh-CN" altLang="en-US" sz="16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主要负责的工作）</a:t>
            </a:r>
            <a:endParaRPr lang="en-US" altLang="zh-CN" sz="1600" dirty="0" smtClea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     ①重点降本项目跟踪落实</a:t>
            </a:r>
            <a:endParaRPr lang="en-US" altLang="zh-CN" sz="1600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②运营分析问题识别纠偏</a:t>
            </a:r>
            <a:endParaRPr lang="en-US" altLang="zh-CN" sz="1600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     ③持续开展“两金严控”及历史问题解决</a:t>
            </a:r>
            <a:endParaRPr lang="en-US" altLang="zh-CN" sz="1600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     ④巡视巡察问题整改</a:t>
            </a:r>
            <a:endParaRPr lang="en-US" altLang="zh-CN" sz="1600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5376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6425" y="5588022"/>
            <a:ext cx="4288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12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（禁止未经脱密，未经审核，扩大知悉范围）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370" y="2026798"/>
            <a:ext cx="9553260" cy="280440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GI4YTY2NzNjYzhhMDBjYjhiZDFjNDRhZjk5ZjcyM2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8371653543307,&quot;left&quot;:259.2499212598425,&quot;top&quot;:185.2752755905512,&quot;width&quot;:417.453700787401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8371653543307,&quot;left&quot;:259.2499212598425,&quot;top&quot;:185.2752755905512,&quot;width&quot;:417.453700787401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8371653543307,&quot;left&quot;:259.2499212598425,&quot;top&quot;:185.2752755905512,&quot;width&quot;:417.453700787401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8371653543307,&quot;left&quot;:259.2499212598425,&quot;top&quot;:185.2752755905512,&quot;width&quot;:417.453700787401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8371653543307,&quot;left&quot;:259.2499212598425,&quot;top&quot;:185.2752755905512,&quot;width&quot;:417.453700787401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8371653543307,&quot;left&quot;:259.2499212598425,&quot;top&quot;:185.2752755905512,&quot;width&quot;:417.453700787401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">
  <a:themeElements>
    <a:clrScheme name="1_Office 主题 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FF0000"/>
      </a:accent2>
      <a:accent3>
        <a:srgbClr val="FFFFFF"/>
      </a:accent3>
      <a:accent4>
        <a:srgbClr val="000000"/>
      </a:accent4>
      <a:accent5>
        <a:srgbClr val="B2C1DB"/>
      </a:accent5>
      <a:accent6>
        <a:srgbClr val="E70000"/>
      </a:accent6>
      <a:hlink>
        <a:srgbClr val="0000FF"/>
      </a:hlink>
      <a:folHlink>
        <a:srgbClr val="FF0000"/>
      </a:folHlink>
    </a:clrScheme>
    <a:fontScheme name="1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hyjc3w3n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t" anchorCtr="0">
        <a:noAutofit/>
      </a:bodyPr>
      <a:lstStyle>
        <a:defPPr marL="285750" indent="-285750">
          <a:buFont typeface="Wingdings" panose="05000000000000000000" pitchFamily="2" charset="2"/>
          <a:buChar char="Ø"/>
          <a:defRPr sz="1400" b="1" dirty="0">
            <a:solidFill>
              <a:srgbClr val="152A8C"/>
            </a:solidFill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主题">
  <a:themeElements>
    <a:clrScheme name="自定义 2">
      <a:dk1>
        <a:srgbClr val="152A8C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 cap="flat" cmpd="sng" algn="ctr">
          <a:solidFill>
            <a:srgbClr val="152A8C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600" b="0" i="0" u="none" strike="noStrike" cap="none" normalizeH="0" baseline="0" smtClean="0">
            <a:ln>
              <a:noFill/>
            </a:ln>
            <a:solidFill>
              <a:srgbClr val="152A8C"/>
            </a:solidFill>
            <a:effectLst/>
            <a:latin typeface="微软雅黑" panose="020B0503020204020204" charset="-122"/>
            <a:ea typeface="微软雅黑" panose="020B050302020402020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lang="zh-CN" altLang="en-US" dirty="0" smtClean="0">
            <a:solidFill>
              <a:srgbClr val="152A8C"/>
            </a:solidFill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4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6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4508</TotalTime>
  <Words>1801</Words>
  <Application>Microsoft Office PowerPoint</Application>
  <PresentationFormat>宽屏</PresentationFormat>
  <Paragraphs>159</Paragraphs>
  <Slides>12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10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1" baseType="lpstr">
      <vt:lpstr>等线</vt:lpstr>
      <vt:lpstr>黑体</vt:lpstr>
      <vt:lpstr>宋体</vt:lpstr>
      <vt:lpstr>微软雅黑</vt:lpstr>
      <vt:lpstr>Arial</vt:lpstr>
      <vt:lpstr>Arial Black</vt:lpstr>
      <vt:lpstr>Calibri</vt:lpstr>
      <vt:lpstr>Wingdings</vt:lpstr>
      <vt:lpstr>1_Office 主题</vt:lpstr>
      <vt:lpstr>2_Office 主题</vt:lpstr>
      <vt:lpstr>自定义设计方案</vt:lpstr>
      <vt:lpstr>3_Office 主题</vt:lpstr>
      <vt:lpstr>4_Office 主题</vt:lpstr>
      <vt:lpstr>5_Office 主题</vt:lpstr>
      <vt:lpstr>44_Office 主题</vt:lpstr>
      <vt:lpstr>8_Office 主题</vt:lpstr>
      <vt:lpstr>6_Office 主题</vt:lpstr>
      <vt:lpstr>7_Office 主题</vt:lpstr>
      <vt:lpstr>think-cell 幻灯片</vt:lpstr>
      <vt:lpstr>PowerPoint 演示文稿</vt:lpstr>
      <vt:lpstr>目  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中国一汽品牌焕新方案汇报</dc:title>
  <dc:creator>AutoBVT</dc:creator>
  <cp:lastModifiedBy>高英</cp:lastModifiedBy>
  <cp:revision>192</cp:revision>
  <cp:lastPrinted>2024-06-26T06:13:00Z</cp:lastPrinted>
  <dcterms:created xsi:type="dcterms:W3CDTF">2024-06-26T06:13:00Z</dcterms:created>
  <dcterms:modified xsi:type="dcterms:W3CDTF">2026-07-03T03:59:58Z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D67B8E61E9504076B214AB773FFBF836_13</vt:lpwstr>
  </property>
</Properties>
</file>