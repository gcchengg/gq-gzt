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8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9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0" r:id="rId2"/>
    <p:sldMasterId id="2147483657" r:id="rId3"/>
    <p:sldMasterId id="2147483660" r:id="rId4"/>
    <p:sldMasterId id="2147483667" r:id="rId5"/>
    <p:sldMasterId id="2147483674" r:id="rId6"/>
    <p:sldMasterId id="2147483676" r:id="rId7"/>
    <p:sldMasterId id="2147483683" r:id="rId8"/>
    <p:sldMasterId id="2147483691" r:id="rId9"/>
    <p:sldMasterId id="2147483698" r:id="rId10"/>
  </p:sldMasterIdLst>
  <p:notesMasterIdLst>
    <p:notesMasterId r:id="rId23"/>
  </p:notesMasterIdLst>
  <p:handoutMasterIdLst>
    <p:handoutMasterId r:id="rId24"/>
  </p:handoutMasterIdLst>
  <p:sldIdLst>
    <p:sldId id="2496" r:id="rId11"/>
    <p:sldId id="2464" r:id="rId12"/>
    <p:sldId id="2539" r:id="rId13"/>
    <p:sldId id="16768662" r:id="rId14"/>
    <p:sldId id="16768658" r:id="rId15"/>
    <p:sldId id="16768659" r:id="rId16"/>
    <p:sldId id="16768660" r:id="rId17"/>
    <p:sldId id="16768661" r:id="rId18"/>
    <p:sldId id="16768643" r:id="rId19"/>
    <p:sldId id="16768656" r:id="rId20"/>
    <p:sldId id="2504" r:id="rId21"/>
    <p:sldId id="2519" r:id="rId22"/>
  </p:sldIdLst>
  <p:sldSz cx="12192000" cy="6858000"/>
  <p:notesSz cx="6797675" cy="9926638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319">
          <p15:clr>
            <a:srgbClr val="A4A3A4"/>
          </p15:clr>
        </p15:guide>
        <p15:guide id="4" pos="657">
          <p15:clr>
            <a:srgbClr val="A4A3A4"/>
          </p15:clr>
        </p15:guide>
        <p15:guide id="5" pos="74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相亲相爱一家人" initials="相亲相爱一家人" lastIdx="4" clrIdx="0"/>
  <p:cmAuthor id="2" name="AutoBVT" initials="A" lastIdx="6" clrIdx="1"/>
  <p:cmAuthor id="3" name="user" initials="u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A8C"/>
    <a:srgbClr val="112D98"/>
    <a:srgbClr val="B10011"/>
    <a:srgbClr val="202020"/>
    <a:srgbClr val="112D95"/>
    <a:srgbClr val="4B5BA7"/>
    <a:srgbClr val="EDEDED"/>
    <a:srgbClr val="7F7F7F"/>
    <a:srgbClr val="2796D4"/>
    <a:srgbClr val="B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2" autoAdjust="0"/>
    <p:restoredTop sz="95530" autoAdjust="0"/>
  </p:normalViewPr>
  <p:slideViewPr>
    <p:cSldViewPr snapToGrid="0" showGuides="1">
      <p:cViewPr varScale="1">
        <p:scale>
          <a:sx n="56" d="100"/>
          <a:sy n="56" d="100"/>
        </p:scale>
        <p:origin x="834" y="78"/>
      </p:cViewPr>
      <p:guideLst>
        <p:guide orient="horz" pos="2134"/>
        <p:guide pos="3840"/>
        <p:guide orient="horz" pos="1319"/>
        <p:guide pos="657"/>
        <p:guide pos="74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6" d="100"/>
        <a:sy n="116" d="100"/>
      </p:scale>
      <p:origin x="0" y="-3144"/>
    </p:cViewPr>
  </p:sorterViewPr>
  <p:notesViewPr>
    <p:cSldViewPr snapToGrid="0">
      <p:cViewPr varScale="1">
        <p:scale>
          <a:sx n="60" d="100"/>
          <a:sy n="60" d="100"/>
        </p:scale>
        <p:origin x="2419" y="5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7754-4016-4142-A148-2FD9F4901B1C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5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C411A-1614-4C2C-83A9-37A725D131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3061E6-9082-4DE5-9A66-8A4CDD823213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80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4F95-A27F-4848-8BFC-F38062363DB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GI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GI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4.GI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4.GI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8.xml"/><Relationship Id="rId4" Type="http://schemas.openxmlformats.org/officeDocument/2006/relationships/image" Target="../media/image14.GIF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9.xml"/><Relationship Id="rId4" Type="http://schemas.openxmlformats.org/officeDocument/2006/relationships/image" Target="../media/image14.GIF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14.GIF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7250" y="242586"/>
            <a:ext cx="3714750" cy="828675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 bwMode="auto">
          <a:xfrm>
            <a:off x="244929" y="242586"/>
            <a:ext cx="3118757" cy="828675"/>
          </a:xfrm>
          <a:prstGeom prst="rect">
            <a:avLst/>
          </a:prstGeom>
          <a:solidFill>
            <a:srgbClr val="152A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55" y="250101"/>
            <a:ext cx="3156734" cy="8168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公司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789" y="6356961"/>
            <a:ext cx="3862489" cy="364281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/>
            </a:lvl1pPr>
          </a:lstStyle>
          <a:p>
            <a:pPr marL="0" marR="0" lvl="0" indent="0" algn="l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265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6757" y="6356961"/>
            <a:ext cx="2845283" cy="364281"/>
          </a:xfrm>
          <a:prstGeom prst="rect">
            <a:avLst/>
          </a:prstGeom>
        </p:spPr>
        <p:txBody>
          <a:bodyPr lIns="91428" tIns="45714" rIns="91428" bIns="45714"/>
          <a:lstStyle>
            <a:lvl1pPr>
              <a:defRPr sz="2135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1094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413790-DA41-421A-AE39-C50414B092DE}" type="slidenum">
              <a:rPr kumimoji="0" lang="zh-CN" altLang="en-US" sz="2135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XX</a:t>
            </a:r>
            <a:r>
              <a:rPr lang="zh-CN" altLang="en-US"/>
              <a:t>公司 </a:t>
            </a:r>
            <a:r>
              <a:rPr lang="en-US" altLang="zh-CN"/>
              <a:t>2015</a:t>
            </a:r>
            <a:r>
              <a:rPr lang="zh-CN" altLang="en-US"/>
              <a:t>年</a:t>
            </a:r>
            <a:r>
              <a:rPr lang="en-US" altLang="zh-CN"/>
              <a:t>12</a:t>
            </a:r>
            <a:r>
              <a:rPr lang="zh-CN" altLang="en-US"/>
              <a:t>月</a:t>
            </a:r>
            <a:r>
              <a:rPr lang="en-US" altLang="zh-CN"/>
              <a:t>7</a:t>
            </a:r>
            <a:r>
              <a:rPr lang="zh-CN" altLang="en-US"/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7" Type="http://schemas.openxmlformats.org/officeDocument/2006/relationships/theme" Target="../theme/theme2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2.xml"/><Relationship Id="rId7" Type="http://schemas.openxmlformats.org/officeDocument/2006/relationships/theme" Target="../theme/theme4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3.xml"/><Relationship Id="rId9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5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25.xml"/><Relationship Id="rId7" Type="http://schemas.openxmlformats.org/officeDocument/2006/relationships/theme" Target="../theme/theme7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4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heme" Target="../theme/theme8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15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38.xml"/><Relationship Id="rId7" Type="http://schemas.openxmlformats.org/officeDocument/2006/relationships/theme" Target="../theme/theme9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0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39.xml"/><Relationship Id="rId9" Type="http://schemas.openxmlformats.org/officeDocument/2006/relationships/image" Target="../media/image4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0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46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95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 algn="l">
              <a:defRPr sz="1200" b="1">
                <a:solidFill>
                  <a:srgbClr val="898989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0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4871" y="6244599"/>
            <a:ext cx="3862260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+mn-lt"/>
                <a:ea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3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874" y="6244599"/>
            <a:ext cx="2842941" cy="47862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4536" tIns="42269" rIns="84536" bIns="42269" numCol="1" anchor="t" anchorCtr="0" compatLnSpc="1"/>
          <a:lstStyle>
            <a:lvl1pPr algn="l"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95" y="331896"/>
            <a:ext cx="2271630" cy="58790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089" y="482018"/>
            <a:ext cx="2679177" cy="28765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2pPr>
      <a:lvl3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3pPr>
      <a:lvl4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4pPr>
      <a:lvl5pPr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5pPr>
      <a:lvl6pPr marL="45656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6pPr>
      <a:lvl7pPr marL="91313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7pPr>
      <a:lvl8pPr marL="1369695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8pPr>
      <a:lvl9pPr marL="1826260" algn="l" defTabSz="845185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316865" indent="-31686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725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246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902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559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51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82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93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9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25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810077" cy="468453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0944" y="223755"/>
            <a:ext cx="1810077" cy="468453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41285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18000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914525" y="1045210"/>
            <a:ext cx="1862455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1914525" y="1798955"/>
            <a:ext cx="1862455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1914525" y="2552700"/>
            <a:ext cx="1862455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1914525" y="3306445"/>
            <a:ext cx="1862455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36538" y="31924"/>
            <a:ext cx="3763834" cy="7651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4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5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6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7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en-US" sz="1600">
              <a:solidFill>
                <a:srgbClr val="000000"/>
              </a:solidFill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en-US" altLang="zh-CN" b="1" dirty="0">
              <a:solidFill>
                <a:srgbClr val="002C6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74" y="0"/>
            <a:ext cx="2199701" cy="10184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9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0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914400" y="2653472"/>
            <a:ext cx="10363200" cy="1470025"/>
          </a:xfrm>
          <a:prstGeom prst="rect">
            <a:avLst/>
          </a:prstGeom>
        </p:spPr>
        <p:txBody>
          <a:bodyPr lIns="81750" tIns="40874" rIns="81750" bIns="40874" anchor="ctr"/>
          <a:lstStyle>
            <a:lvl1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45656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91313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1369695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1826260" algn="l" defTabSz="845185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lvl="0" algn="ctr">
              <a:lnSpc>
                <a:spcPct val="120000"/>
              </a:lnSpc>
            </a:pPr>
            <a:r>
              <a:rPr lang="en-US" altLang="zh-CN" sz="4800" dirty="0" smtClean="0">
                <a:sym typeface="+mn-ea"/>
              </a:rPr>
              <a:t>2026</a:t>
            </a:r>
            <a:r>
              <a:rPr lang="zh-CN" altLang="en-US" sz="4800" dirty="0" smtClean="0">
                <a:sym typeface="+mn-ea"/>
              </a:rPr>
              <a:t>年一季度述职</a:t>
            </a:r>
            <a:r>
              <a:rPr lang="zh-CN" altLang="en-US" sz="4800" dirty="0">
                <a:sym typeface="+mn-ea"/>
              </a:rPr>
              <a:t>汇报</a:t>
            </a:r>
            <a:endParaRPr lang="zh-CN" altLang="en-US" sz="4800" kern="0" dirty="0">
              <a:solidFill>
                <a:srgbClr val="152A8C"/>
              </a:solidFill>
            </a:endParaRPr>
          </a:p>
        </p:txBody>
      </p:sp>
      <p:sp>
        <p:nvSpPr>
          <p:cNvPr id="11" name="副标题 2"/>
          <p:cNvSpPr txBox="1"/>
          <p:nvPr/>
        </p:nvSpPr>
        <p:spPr>
          <a:xfrm>
            <a:off x="4982210" y="4699000"/>
            <a:ext cx="5731510" cy="1253490"/>
          </a:xfrm>
          <a:prstGeom prst="rect">
            <a:avLst/>
          </a:prstGeom>
        </p:spPr>
        <p:txBody>
          <a:bodyPr lIns="81750" tIns="40874" rIns="81750" bIns="40874" anchor="ctr"/>
          <a:lstStyle>
            <a:lvl1pPr marL="316865" indent="-31686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2"/>
              </a:buBlip>
              <a:defRPr sz="2200">
                <a:solidFill>
                  <a:srgbClr val="102A8D"/>
                </a:solidFill>
                <a:latin typeface="+mn-lt"/>
                <a:ea typeface="+mn-ea"/>
                <a:cs typeface="+mn-cs"/>
              </a:defRPr>
            </a:lvl1pPr>
            <a:lvl2pPr marL="686435" indent="-26289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3"/>
              </a:buBlip>
              <a:defRPr sz="2800">
                <a:solidFill>
                  <a:srgbClr val="102A8D"/>
                </a:solidFill>
                <a:latin typeface="+mn-lt"/>
                <a:ea typeface="+mn-ea"/>
              </a:defRPr>
            </a:lvl2pPr>
            <a:lvl3pPr marL="1057275" indent="-212725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4"/>
              </a:buBlip>
              <a:defRPr sz="2200">
                <a:solidFill>
                  <a:srgbClr val="102A8D"/>
                </a:solidFill>
                <a:latin typeface="+mn-lt"/>
                <a:ea typeface="+mn-ea"/>
              </a:defRPr>
            </a:lvl3pPr>
            <a:lvl4pPr marL="147891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sz="1400">
                <a:solidFill>
                  <a:srgbClr val="102A8D"/>
                </a:solidFill>
                <a:latin typeface="+mn-lt"/>
                <a:ea typeface="+mn-ea"/>
              </a:defRPr>
            </a:lvl4pPr>
            <a:lvl5pPr marL="190246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102A8D"/>
                </a:solidFill>
                <a:latin typeface="+mn-lt"/>
                <a:ea typeface="+mn-ea"/>
              </a:defRPr>
            </a:lvl5pPr>
            <a:lvl6pPr marL="235902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6pPr>
            <a:lvl7pPr marL="281559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7pPr>
            <a:lvl8pPr marL="3271520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8pPr>
            <a:lvl9pPr marL="3728085" indent="-210820" algn="l" defTabSz="845185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400">
                <a:solidFill>
                  <a:srgbClr val="002C6C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姓</a:t>
            </a:r>
            <a:r>
              <a:rPr lang="en-US" altLang="zh-CN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   </a:t>
            </a:r>
            <a:r>
              <a:rPr lang="en-US" altLang="zh-CN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名</a:t>
            </a: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：高英</a:t>
            </a:r>
            <a:endParaRPr lang="en-US" altLang="zh-CN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任职企业：长春一东</a:t>
            </a:r>
            <a:endParaRPr lang="en-US" altLang="zh-CN" b="1" kern="0" dirty="0" smtClean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职</a:t>
            </a:r>
            <a:r>
              <a:rPr lang="en-US" altLang="zh-CN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zh-CN" altLang="en-US" b="1" kern="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务</a:t>
            </a:r>
            <a:r>
              <a:rPr lang="zh-CN" altLang="en-US" b="1" kern="0" dirty="0" smtClean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：副总经理</a:t>
            </a:r>
            <a:endParaRPr lang="zh-CN" altLang="en-US" b="1" kern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75784" y="134911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核心商密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65" y="1423949"/>
            <a:ext cx="402545" cy="25200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445610" y="1349118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 </a:t>
            </a:r>
            <a:r>
              <a:rPr lang="en-US" altLang="zh-CN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endParaRPr lang="zh-CN" altLang="en-US" sz="16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43237" y="1349118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企业信息 严格保密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49580" y="306705"/>
            <a:ext cx="10367010" cy="509905"/>
          </a:xfrm>
          <a:prstGeom prst="rect">
            <a:avLst/>
          </a:prstGeom>
        </p:spPr>
        <p:txBody>
          <a:bodyPr/>
          <a:lstStyle/>
          <a:p>
            <a:r>
              <a:rPr lang="zh-CN" altLang="en-US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目  录</a:t>
            </a:r>
          </a:p>
        </p:txBody>
      </p:sp>
      <p:sp>
        <p:nvSpPr>
          <p:cNvPr id="12" name="矩形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14136" y="2352996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marL="0" marR="0" lvl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绩效目标完成情况</a:t>
            </a:r>
            <a:endParaRPr kumimoji="0" lang="en-US" altLang="zh-CN" sz="2000" b="1" i="0" u="none" strike="noStrike" kern="1200" cap="none" spc="0" normalizeH="0" baseline="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13" name="矩形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914136" y="3027440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其他重点工作完成情况</a:t>
            </a:r>
          </a:p>
        </p:txBody>
      </p:sp>
      <p:sp>
        <p:nvSpPr>
          <p:cNvPr id="14" name="矩形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92474" y="2352996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一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4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92474" y="3027440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二</a:t>
            </a:r>
          </a:p>
        </p:txBody>
      </p:sp>
      <p:sp>
        <p:nvSpPr>
          <p:cNvPr id="16" name="矩形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914136" y="3701884"/>
            <a:ext cx="4680000" cy="540000"/>
          </a:xfrm>
          <a:prstGeom prst="rect">
            <a:avLst/>
          </a:prstGeom>
          <a:solidFill>
            <a:schemeClr val="bg1"/>
          </a:solidFill>
          <a:ln w="19050">
            <a:solidFill>
              <a:srgbClr val="152A8C"/>
            </a:solidFill>
            <a:miter lim="800000"/>
          </a:ln>
        </p:spPr>
        <p:txBody>
          <a:bodyPr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存在问题及下一步工作计划</a:t>
            </a:r>
          </a:p>
        </p:txBody>
      </p:sp>
      <p:sp>
        <p:nvSpPr>
          <p:cNvPr id="18" name="矩形 4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92474" y="3701884"/>
            <a:ext cx="540000" cy="540000"/>
          </a:xfrm>
          <a:prstGeom prst="rect">
            <a:avLst/>
          </a:prstGeom>
          <a:solidFill>
            <a:srgbClr val="152A8C"/>
          </a:solidFill>
          <a:ln>
            <a:solidFill>
              <a:srgbClr val="152A8C"/>
            </a:solidFill>
          </a:ln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en-US" altLang="zh-CN" sz="2000" b="1" dirty="0" err="1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KPI指标完成情况</a:t>
            </a:r>
            <a:endParaRPr lang="zh-CN" altLang="en-US" sz="2000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846210"/>
              </p:ext>
            </p:extLst>
          </p:nvPr>
        </p:nvGraphicFramePr>
        <p:xfrm>
          <a:off x="850303" y="1492896"/>
          <a:ext cx="10399584" cy="4348070"/>
        </p:xfrm>
        <a:graphic>
          <a:graphicData uri="http://schemas.openxmlformats.org/drawingml/2006/table">
            <a:tbl>
              <a:tblPr/>
              <a:tblGrid>
                <a:gridCol w="1561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68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  <a:gridCol w="1343902">
                  <a:extLst>
                    <a:ext uri="{9D8B030D-6E8A-4147-A177-3AD203B41FA5}">
                      <a16:colId xmlns:a16="http://schemas.microsoft.com/office/drawing/2014/main" val="2553081904"/>
                    </a:ext>
                  </a:extLst>
                </a:gridCol>
                <a:gridCol w="1376285">
                  <a:extLst>
                    <a:ext uri="{9D8B030D-6E8A-4147-A177-3AD203B41FA5}">
                      <a16:colId xmlns:a16="http://schemas.microsoft.com/office/drawing/2014/main" val="876911724"/>
                    </a:ext>
                  </a:extLst>
                </a:gridCol>
                <a:gridCol w="137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00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指标名称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年度目标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一季度目标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实际完成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完成状态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3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关键业绩指标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归母净利润（万元）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176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u="none" strike="noStrike" dirty="0" smtClean="0">
                          <a:solidFill>
                            <a:srgbClr val="92D05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●</a:t>
                      </a:r>
                      <a:endParaRPr lang="zh-CN" altLang="en-US" sz="1600" b="0" i="0" u="none" strike="noStrike" dirty="0" smtClean="0">
                        <a:solidFill>
                          <a:srgbClr val="92D05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降本增效（万元）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400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152A8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438.69</a:t>
                      </a:r>
                      <a:endParaRPr lang="en-US" altLang="zh-CN" sz="1600" b="0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546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其他业绩指标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股东减持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  <a:endParaRPr kumimoji="0" lang="zh-CN" alt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资产负债率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53.74%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  <a:endParaRPr kumimoji="0" lang="zh-CN" alt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92D05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1546">
                <a:tc vMerge="1">
                  <a:txBody>
                    <a:bodyPr/>
                    <a:lstStyle/>
                    <a:p>
                      <a:pPr algn="l" rtl="0" fontAlgn="ctr"/>
                      <a:endParaRPr lang="zh-CN" altLang="en-US" sz="14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资金预算执行偏差率（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152A8C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3.2%</a:t>
                      </a:r>
                      <a:endParaRPr lang="en-US" altLang="zh-CN" sz="1600" b="0" i="0" u="none" strike="noStrike" dirty="0">
                        <a:solidFill>
                          <a:srgbClr val="152A8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54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能力指标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能力建设完成率（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600" b="0" i="0" u="none" strike="noStrike" dirty="0" smtClean="0">
                          <a:solidFill>
                            <a:srgbClr val="00206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1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●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517782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预算管理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28693"/>
              </p:ext>
            </p:extLst>
          </p:nvPr>
        </p:nvGraphicFramePr>
        <p:xfrm>
          <a:off x="1026367" y="1770909"/>
          <a:ext cx="10308383" cy="4596782"/>
        </p:xfrm>
        <a:graphic>
          <a:graphicData uri="http://schemas.openxmlformats.org/drawingml/2006/table">
            <a:tbl>
              <a:tblPr/>
              <a:tblGrid>
                <a:gridCol w="16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259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6707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0231">
                <a:tc>
                  <a:txBody>
                    <a:bodyPr/>
                    <a:lstStyle/>
                    <a:p>
                      <a:pPr marL="0" marR="0" indent="0" algn="l" defTabSz="913130" rtl="0" eaLnBrk="1" fontAlgn="ctr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以精准预算为抓手，提升资源配置效率</a:t>
                      </a:r>
                      <a:endParaRPr lang="zh-CN" altLang="en-US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、围绕“战略</a:t>
                      </a: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</a:t>
                      </a: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考核”联动机制，将年度经营目标分解为</a:t>
                      </a: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个核心指标，覆盖全部业务单位。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、完善“</a:t>
                      </a:r>
                      <a:r>
                        <a:rPr lang="en-US" altLang="zh-CN" sz="1600" dirty="0" err="1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X+n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”滚动预算体系，抓实预算指标分级落实，紧盯台账措施落地见效。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开展一季度经营分析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与评价，针对经济运行中的问题和潜在风险及时通报预警。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、一季度预算执行准确率达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，较上年同期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提升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百分点。聚焦战新产业布局，优先保障具身机器人、智能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AMT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等研发项目资金需求，研发投资预算执行率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zh-CN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、严控费用支出，核减非必要性支出预算</a:t>
                      </a:r>
                      <a:r>
                        <a:rPr lang="en-US" altLang="zh-CN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437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万元，可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控费用预算同比压降</a:t>
                      </a:r>
                      <a:r>
                        <a:rPr lang="en-US" altLang="zh-CN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600" b="0" i="0" u="none" strike="noStrike" dirty="0" smtClean="0">
                          <a:solidFill>
                            <a:schemeClr val="bg2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b="0" i="0" u="none" strike="noStrike" dirty="0">
                        <a:solidFill>
                          <a:srgbClr val="00206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积极推动财务职能从传统的“管控型”向“价值赋能型”转型，将预算管理贯穿于生产经营的全链条。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构建“战略规划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业务计划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业务预算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全面预算”闭环管理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流程，从业务源头入手，运用全面预算管理工具，推动上下贯通、协调一致，找准影响企业效率与效益的关键点，全力推进提质增效，确保预算目标和重点工作的高质量完成。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33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成本控制</a:t>
            </a: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577773"/>
              </p:ext>
            </p:extLst>
          </p:nvPr>
        </p:nvGraphicFramePr>
        <p:xfrm>
          <a:off x="1026367" y="1736403"/>
          <a:ext cx="10226351" cy="4579307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6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6084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以全域降本为核心，深挖价值创造潜能</a:t>
                      </a:r>
                      <a:endParaRPr lang="zh-CN" altLang="en-US" sz="1600" dirty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月份制定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《2026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年精益降本工作方案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》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，下发降本责任书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月份组织开展成本费用对标分析工作。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月份组织开展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年成本攻坚工作。聚焦对标问题，从业务源头入手，构建“成本攻坚措施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攻坚目标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降本目标”闭环管理模式。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、围绕“研、产、供、销、服”全价值链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开展降本增效工作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，一季度落实重点降本项目</a:t>
                      </a:r>
                      <a:r>
                        <a:rPr lang="en-US" altLang="zh-CN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58</a:t>
                      </a:r>
                      <a:r>
                        <a:rPr lang="zh-CN" altLang="en-US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个，实现降本金额</a:t>
                      </a:r>
                      <a:r>
                        <a:rPr lang="en-US" altLang="zh-CN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438.69</a:t>
                      </a:r>
                      <a:r>
                        <a:rPr lang="zh-CN" altLang="en-US" sz="1600" kern="1200" dirty="0" smtClean="0">
                          <a:solidFill>
                            <a:srgbClr val="112D9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万元。</a:t>
                      </a:r>
                      <a:endParaRPr lang="en-US" altLang="zh-CN" sz="1600" kern="1200" dirty="0" smtClean="0">
                        <a:solidFill>
                          <a:srgbClr val="112D98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）供应链降本：通过原材料集中采购、供应商商务谈判及铸件产品平台整合等手段，已完成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36%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厂家降本目标的锁定。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 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）运营降本：严控差旅、招待等非生产性支出，管理费同比下降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持续深化成本攻坚行动，制定完善成本攻坚实施方案，强化降本效果的财务验证与全过程监督。牢固树立“过紧日子”思想，强化预算刚性约束，抓实、抓细固定费用压降实施与动态监控，确保降本增效工作取得实效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、深化“业财融合”，推动技术与采购的双重降本。</a:t>
                      </a:r>
                      <a:endParaRPr lang="en-US" altLang="zh-CN" sz="16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159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资金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管理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44342"/>
              </p:ext>
            </p:extLst>
          </p:nvPr>
        </p:nvGraphicFramePr>
        <p:xfrm>
          <a:off x="1026367" y="1908933"/>
          <a:ext cx="10226351" cy="4323916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以资金高效运营为支撑，保障经营资金畅通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、依托兵器集团“大司库”系统，实现资金收支全流程线上化管理。一季度银行账户可视化率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，可归集资金集中度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，系统结算率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、做实做细资金预算管理，紧盯月度营业收现率指标，确保资金应收尽收，收支平衡，一季度资金流入流出比为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128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%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、持续优化付款节奏，月度付款时间平均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提速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天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，释放资金占用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约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600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万元，资金保付率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100%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、组织海外逾期款清收工作，一季度累计海外回款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1695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、构建“安全、高效、集约”的资金管理体系，坚持“现金为王”的原则，实施资金全面预算管理，通过建立“周预测、月平衡”机制，确保资金平衡。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、积极研究</a:t>
                      </a:r>
                      <a:r>
                        <a:rPr lang="zh-CN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拓展境外资金回款渠道，合理控制境外资金头寸，防范化解国际结算风险。</a:t>
                      </a: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33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风险防控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30798"/>
              </p:ext>
            </p:extLst>
          </p:nvPr>
        </p:nvGraphicFramePr>
        <p:xfrm>
          <a:off x="1026367" y="1788162"/>
          <a:ext cx="10226351" cy="4323916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以风险防控为底线，筑牢合规运营根基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落实兵器集团银行账户治理专项行动，注销闲置账户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户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月份组织开展境外公司实地审计</a:t>
                      </a:r>
                      <a:r>
                        <a:rPr lang="zh-CN" altLang="en-US" sz="1600" b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工作。</a:t>
                      </a:r>
                      <a:endParaRPr lang="en-US" altLang="zh-CN" sz="1600" b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月组织对兵器集团研发支出专项审计问题整改，修订研发经费核算办法及管理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流程。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、加大对“两金”占用的监管，组织专班，加大对逾期应收款的清收力度，对积压存货制定处置计划，对非正常“两金”坚持动态清理，加快资金回流。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月与审计部门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协同开展“两金”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管控专项自查工作。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、开展投资项目财务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评价工作（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完成本部和零部件超</a:t>
                      </a:r>
                      <a:r>
                        <a:rPr lang="en-US" altLang="zh-CN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100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万投资项目的财务</a:t>
                      </a:r>
                      <a:r>
                        <a:rPr lang="zh-CN" altLang="en-US" sz="1600" b="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评价）</a:t>
                      </a:r>
                      <a:endParaRPr lang="en-US" altLang="zh-CN" sz="1600" b="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、科学评估应收账款、存货占用占用比例，高度关注非正常“两金”动态清理，加快资金回流。牵头成立“两金压降”专项工作组，协调营销、生产、法务共同制定催收方案及清库存措施。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、狠抓各类问题整改落实，建立问题清单，形成问题整改闭环管理机制。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15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一、绩效</a:t>
            </a:r>
            <a:r>
              <a:rPr lang="en-US" altLang="zh-CN"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目标完成情况</a:t>
            </a:r>
            <a:endParaRPr lang="en-US" altLang="zh-CN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重点工作完成情况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56146" y="1365792"/>
            <a:ext cx="9900139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体系建设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35172"/>
              </p:ext>
            </p:extLst>
          </p:nvPr>
        </p:nvGraphicFramePr>
        <p:xfrm>
          <a:off x="1026367" y="1908933"/>
          <a:ext cx="10226351" cy="4323916"/>
        </p:xfrm>
        <a:graphic>
          <a:graphicData uri="http://schemas.openxmlformats.org/drawingml/2006/table">
            <a:tbl>
              <a:tblPr/>
              <a:tblGrid>
                <a:gridCol w="1623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6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506">
                  <a:extLst>
                    <a:ext uri="{9D8B030D-6E8A-4147-A177-3AD203B41FA5}">
                      <a16:colId xmlns:a16="http://schemas.microsoft.com/office/drawing/2014/main" val="2615993811"/>
                    </a:ext>
                  </a:extLst>
                </a:gridCol>
              </a:tblGrid>
              <a:tr h="592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重点项目 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工作内容及效果</a:t>
                      </a:r>
                      <a:endParaRPr lang="en-US" altLang="zh-CN" sz="1600" b="1" i="0" u="none" strike="noStrike" dirty="0" smtClean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个人发挥作用</a:t>
                      </a:r>
                      <a:endParaRPr lang="zh-CN" alt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2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1266"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以数字赋能为突破，驱动管理效能跃升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、完成“财务共享平台”一期上线，实现费用报销、资金支付等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项业务自动化处理，单据处理效率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提升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30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%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、完成兵器集团穿透式监管系统上线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、完成合同管理系统上线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工作。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、搭建“经营分析模型”看板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，逐步整合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财务与业务数据，为经营决策提供数据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支撑。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indent="0" algn="l" defTabSz="91313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组织财务体系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人员学习“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职场实战赋能”专题培训</a:t>
                      </a:r>
                      <a:r>
                        <a:rPr lang="en-US" altLang="zh-CN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600" kern="120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期。</a:t>
                      </a:r>
                      <a:endParaRPr lang="en-US" altLang="zh-CN" sz="1600" kern="120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998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致力于打破财务与业务的数据壁垒，通过构建“业财深度融合”的数字化体系， 推动公司管理从“经营驱动“向”数据驱动“转型。积极推动司库体系落地与深化，实现了全级次账户”可视、可控、可调“。推动财务部门学习</a:t>
                      </a: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技术，通过搭建财务</a:t>
                      </a:r>
                      <a:r>
                        <a:rPr lang="en-US" altLang="zh-CN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BI</a:t>
                      </a:r>
                      <a:r>
                        <a:rPr lang="zh-CN" altLang="en-US" sz="1600" kern="1200" noProof="0" dirty="0" smtClean="0">
                          <a:solidFill>
                            <a:schemeClr val="bg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分析平台进行实战演练。</a:t>
                      </a:r>
                      <a:endParaRPr lang="en-US" altLang="zh-CN" sz="1600" kern="1200" noProof="0" dirty="0" smtClean="0">
                        <a:solidFill>
                          <a:schemeClr val="bg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03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" name="think-cell 幻灯片" r:id="rId4" imgW="0" imgH="0" progId="TCLayout.ActiveDocument.1">
                  <p:embed/>
                </p:oleObj>
              </mc:Choice>
              <mc:Fallback>
                <p:oleObj name="think-cell 幻灯片" r:id="rId4" imgW="0" imgH="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83870" y="349885"/>
            <a:ext cx="8033385" cy="4603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sz="24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二、</a:t>
            </a:r>
            <a:r>
              <a:rPr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其他重点工作完成情况</a:t>
            </a:r>
            <a:endParaRPr lang="zh-CN" altLang="en-US" sz="2400" b="1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3575" y="986671"/>
            <a:ext cx="10955051" cy="2446824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配合股权公司投资部完成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年度第一轮减持及相关公告发布工作，一季度累计减持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2.57%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，股权公司对一东公司持股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比例调整为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16.93%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，实现收益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5000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万元。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组织完成公司</a:t>
            </a:r>
            <a:r>
              <a:rPr lang="en-US" altLang="zh-CN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年度财务决算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工作（出具无保留意见审计报告）。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组织修改完善公司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“十五五”财务规划（第二版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配合实施公司总经理离任审计</a:t>
            </a:r>
            <a:r>
              <a:rPr lang="zh-CN" altLang="en-US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工作。</a:t>
            </a:r>
            <a:endParaRPr lang="en-US" altLang="zh-CN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zh-CN" altLang="en-US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5016" y="320959"/>
            <a:ext cx="989965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三、存在问题及下一步工作计划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576" y="868728"/>
            <a:ext cx="7508632" cy="96128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存在问题</a:t>
            </a:r>
            <a:endParaRPr lang="en-US" altLang="zh-CN" sz="2000" b="1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000" b="1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65016" y="320959"/>
            <a:ext cx="989965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sz="2400" b="1" dirty="0" err="1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三、存在问题及下一步工作计划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3576" y="908440"/>
            <a:ext cx="7508632" cy="3987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p"/>
            </a:pPr>
            <a:r>
              <a:rPr lang="zh-CN" altLang="en-US" sz="2000" b="1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下一步工作计划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7359" y="1436198"/>
            <a:ext cx="10947532" cy="452431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协调落实好股东减持计划的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开展</a:t>
            </a:r>
            <a:r>
              <a:rPr lang="zh-CN" altLang="en-US" sz="1600" dirty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“十五五”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落实举措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研讨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组织开展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2026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年成本攻坚工作（目标：成本费用占营业收入比重同比下降</a:t>
            </a:r>
            <a:r>
              <a:rPr lang="en-US" altLang="zh-CN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0.3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个百分点以上）</a:t>
            </a:r>
            <a:endParaRPr lang="en-US" altLang="zh-CN" sz="1600" dirty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强化月度经济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运行分析监测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持续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推动重点项目降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本工作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推动“两金”管控专项工作方案实施，大力压降“两金”占用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推动“两金”审计、离任审计等审计工作完成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强化对海外经营风险的</a:t>
            </a: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监控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研发经费使用及加计扣除内部交叉互查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accent6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强化税收政策研究</a:t>
            </a:r>
            <a:r>
              <a:rPr lang="zh-CN" altLang="en-US" sz="1600" dirty="0" smtClean="0">
                <a:solidFill>
                  <a:schemeClr val="accent6">
                    <a:lumMod val="90000"/>
                    <a:lumOff val="1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，做好所得税纳税申报</a:t>
            </a:r>
            <a:endParaRPr lang="en-US" altLang="zh-CN" sz="1600" dirty="0" smtClean="0">
              <a:solidFill>
                <a:schemeClr val="accent6">
                  <a:lumMod val="90000"/>
                  <a:lumOff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年度报告及一季报披露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rgbClr val="112D95"/>
                </a:solidFill>
                <a:latin typeface="微软雅黑" panose="020B0503020204020204" charset="-122"/>
                <a:ea typeface="微软雅黑" panose="020B0503020204020204" charset="-122"/>
              </a:rPr>
              <a:t>年度银行授信工作</a:t>
            </a:r>
            <a:endParaRPr lang="en-US" altLang="zh-CN" sz="1600" dirty="0" smtClean="0">
              <a:solidFill>
                <a:srgbClr val="112D9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756425" y="5588022"/>
            <a:ext cx="4288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（禁止未经脱密，未经审核，扩大知悉范围）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370" y="2026798"/>
            <a:ext cx="9553260" cy="2804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I4YTY2NzNjYzhhMDBjYjhiZDFjNDRhZjk5ZjcyM2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01.8371653543307,&quot;left&quot;:259.2499212598425,&quot;top&quot;:185.2752755905512,&quot;width&quot;:417.453700787401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1_Office 主题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FF0000"/>
      </a:accent2>
      <a:accent3>
        <a:srgbClr val="FFFFFF"/>
      </a:accent3>
      <a:accent4>
        <a:srgbClr val="000000"/>
      </a:accent4>
      <a:accent5>
        <a:srgbClr val="B2C1DB"/>
      </a:accent5>
      <a:accent6>
        <a:srgbClr val="E70000"/>
      </a:accent6>
      <a:hlink>
        <a:srgbClr val="0000FF"/>
      </a:hlink>
      <a:folHlink>
        <a:srgbClr val="FF000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hyjc3w3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t" anchorCtr="0">
        <a:noAutofit/>
      </a:bodyPr>
      <a:lstStyle>
        <a:defPPr marL="285750" indent="-285750">
          <a:buFont typeface="Wingdings" panose="05000000000000000000" pitchFamily="2" charset="2"/>
          <a:buChar char="Ø"/>
          <a:defRPr sz="1400" b="1" dirty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主题">
  <a:themeElements>
    <a:clrScheme name="自定义 2">
      <a:dk1>
        <a:srgbClr val="152A8C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 cap="flat" cmpd="sng" algn="ctr">
          <a:solidFill>
            <a:srgbClr val="152A8C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600" b="0" i="0" u="none" strike="noStrike" cap="none" normalizeH="0" baseline="0" smtClean="0">
            <a:ln>
              <a:noFill/>
            </a:ln>
            <a:solidFill>
              <a:srgbClr val="152A8C"/>
            </a:solidFill>
            <a:effectLst/>
            <a:latin typeface="微软雅黑" panose="020B0503020204020204" charset="-122"/>
            <a:ea typeface="微软雅黑" panose="020B050302020402020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lang="zh-CN" altLang="en-US" dirty="0" smtClean="0">
            <a:solidFill>
              <a:srgbClr val="152A8C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4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1838</TotalTime>
  <Words>1553</Words>
  <Application>Microsoft Office PowerPoint</Application>
  <PresentationFormat>宽屏</PresentationFormat>
  <Paragraphs>154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10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等线</vt:lpstr>
      <vt:lpstr>黑体</vt:lpstr>
      <vt:lpstr>宋体</vt:lpstr>
      <vt:lpstr>微软雅黑</vt:lpstr>
      <vt:lpstr>Arial</vt:lpstr>
      <vt:lpstr>Arial Black</vt:lpstr>
      <vt:lpstr>Calibri</vt:lpstr>
      <vt:lpstr>Wingdings</vt:lpstr>
      <vt:lpstr>1_Office 主题</vt:lpstr>
      <vt:lpstr>2_Office 主题</vt:lpstr>
      <vt:lpstr>自定义设计方案</vt:lpstr>
      <vt:lpstr>3_Office 主题</vt:lpstr>
      <vt:lpstr>4_Office 主题</vt:lpstr>
      <vt:lpstr>5_Office 主题</vt:lpstr>
      <vt:lpstr>44_Office 主题</vt:lpstr>
      <vt:lpstr>8_Office 主题</vt:lpstr>
      <vt:lpstr>6_Office 主题</vt:lpstr>
      <vt:lpstr>7_Office 主题</vt:lpstr>
      <vt:lpstr>think-cell 幻灯片</vt:lpstr>
      <vt:lpstr>PowerPoint 演示文稿</vt:lpstr>
      <vt:lpstr>目 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中国一汽品牌焕新方案汇报</dc:title>
  <dc:creator>AutoBVT</dc:creator>
  <cp:lastModifiedBy>高英</cp:lastModifiedBy>
  <cp:revision>41</cp:revision>
  <cp:lastPrinted>2026-04-09T00:36:35Z</cp:lastPrinted>
  <dcterms:created xsi:type="dcterms:W3CDTF">2026-04-09T00:36:35Z</dcterms:created>
  <dcterms:modified xsi:type="dcterms:W3CDTF">2026-04-10T07:46:08Z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D67B8E61E9504076B214AB773FFBF836_13</vt:lpwstr>
  </property>
</Properties>
</file>