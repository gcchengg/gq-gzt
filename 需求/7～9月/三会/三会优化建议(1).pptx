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80" d="100"/>
          <a:sy n="80" d="100"/>
        </p:scale>
        <p:origin x="167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4AA-5C16-4AC8-BD87-96E581AD5476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7F9E2-FDF4-4A07-B404-EF94E37966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726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4AA-5C16-4AC8-BD87-96E581AD5476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7F9E2-FDF4-4A07-B404-EF94E37966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29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4AA-5C16-4AC8-BD87-96E581AD5476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7F9E2-FDF4-4A07-B404-EF94E37966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178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4AA-5C16-4AC8-BD87-96E581AD5476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7F9E2-FDF4-4A07-B404-EF94E37966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37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4AA-5C16-4AC8-BD87-96E581AD5476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7F9E2-FDF4-4A07-B404-EF94E37966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468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4AA-5C16-4AC8-BD87-96E581AD5476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7F9E2-FDF4-4A07-B404-EF94E37966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75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4AA-5C16-4AC8-BD87-96E581AD5476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7F9E2-FDF4-4A07-B404-EF94E37966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810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4AA-5C16-4AC8-BD87-96E581AD5476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7F9E2-FDF4-4A07-B404-EF94E37966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611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4AA-5C16-4AC8-BD87-96E581AD5476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7F9E2-FDF4-4A07-B404-EF94E37966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8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4AA-5C16-4AC8-BD87-96E581AD5476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7F9E2-FDF4-4A07-B404-EF94E37966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324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4AA-5C16-4AC8-BD87-96E581AD5476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7F9E2-FDF4-4A07-B404-EF94E37966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470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7E4AA-5C16-4AC8-BD87-96E581AD5476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7F9E2-FDF4-4A07-B404-EF94E37966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68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06" y="1230922"/>
            <a:ext cx="2398700" cy="5414211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279" y="1230922"/>
            <a:ext cx="2398700" cy="5414211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/>
          <a:srcRect l="16276" t="10307" r="17883" b="10628"/>
          <a:stretch/>
        </p:blipFill>
        <p:spPr>
          <a:xfrm>
            <a:off x="5406710" y="1230922"/>
            <a:ext cx="6615555" cy="3697793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5"/>
          <a:srcRect l="26067" t="26977" r="26541" b="3628"/>
          <a:stretch/>
        </p:blipFill>
        <p:spPr>
          <a:xfrm>
            <a:off x="5406710" y="4082802"/>
            <a:ext cx="3255712" cy="2562331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6"/>
          <a:srcRect l="26224" t="47624" r="26804" b="4548"/>
          <a:stretch/>
        </p:blipFill>
        <p:spPr>
          <a:xfrm>
            <a:off x="8662422" y="4082802"/>
            <a:ext cx="3359843" cy="2562331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9" name="标题 1"/>
          <p:cNvSpPr txBox="1">
            <a:spLocks/>
          </p:cNvSpPr>
          <p:nvPr/>
        </p:nvSpPr>
        <p:spPr>
          <a:xfrm>
            <a:off x="192506" y="383866"/>
            <a:ext cx="4816473" cy="686945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</a:t>
            </a:r>
            <a:r>
              <a:rPr lang="zh-CN" altLang="en-US" sz="24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标题 1"/>
          <p:cNvSpPr txBox="1">
            <a:spLocks/>
          </p:cNvSpPr>
          <p:nvPr/>
        </p:nvSpPr>
        <p:spPr>
          <a:xfrm>
            <a:off x="5406710" y="383865"/>
            <a:ext cx="6615555" cy="686945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可参考的案例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800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81838" y="1205802"/>
            <a:ext cx="11605846" cy="5489489"/>
          </a:xfrm>
          <a:ln>
            <a:solidFill>
              <a:schemeClr val="accent1"/>
            </a:solidFill>
          </a:ln>
        </p:spPr>
        <p:txBody>
          <a:bodyPr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八）培育智能体软件产品。面向信息处理、办公协作、生活服务等多样化场景，发展跨场景适用的通用智能体软件。推动智能体赋能互联网应用及服务，加快发展具备轻量推理与隐私防护能力的终端智能体软件。面向高价值行业场景，整合知识图谱和数据资源，打造垂直领域专业智能体软件。聚焦核心工业环节，研制安全可靠、行为可校验的工业智能体，强化与工业控制系统软件、企业核心业务系统的交互适配，深度融入生产经营全流程。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（九）建设智能体软件应用市场。推动建设智能体软件应用商店和技能包（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Skills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资源库，规范平台上架审核与运营管理，促进智能体、技能包广泛应用。引导各类创新主体开发高质量专业技能包、知识库等，鼓励软件企业开发面向智能体的功能组件，沉淀行业知识。培育智能体开源专区，￼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构建多元协同、技能共享的开放生态。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381839" y="142351"/>
            <a:ext cx="11605846" cy="892629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工业和信息化部</a:t>
            </a:r>
            <a:r>
              <a:rPr lang="en-US" altLang="zh-CN" sz="24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《“</a:t>
            </a:r>
            <a:r>
              <a:rPr lang="zh-CN" altLang="en-US" sz="24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</a:t>
            </a:r>
            <a:r>
              <a:rPr lang="en-US" altLang="zh-CN" sz="24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软件”专项行动实施方案</a:t>
            </a:r>
            <a:r>
              <a:rPr lang="en-US" altLang="zh-CN" sz="24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8358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381839" y="142351"/>
            <a:ext cx="11605846" cy="892629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三会优化设想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3679048" y="1419762"/>
            <a:ext cx="3165229" cy="270301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三会审议模型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技能包（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Skills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192270" y="1419762"/>
            <a:ext cx="2914020" cy="84406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一汽股权现有数据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参股公司基础信息</a:t>
            </a:r>
            <a:r>
              <a: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一企一策</a:t>
            </a:r>
            <a:r>
              <a: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司库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3246967" y="1811647"/>
            <a:ext cx="291404" cy="1708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1"/>
          <p:cNvSpPr txBox="1">
            <a:spLocks/>
          </p:cNvSpPr>
          <p:nvPr/>
        </p:nvSpPr>
        <p:spPr>
          <a:xfrm>
            <a:off x="192270" y="2349237"/>
            <a:ext cx="2914020" cy="844061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外部数据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新分领域行业动态</a:t>
            </a:r>
            <a:r>
              <a: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法务</a:t>
            </a:r>
            <a:r>
              <a: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…….</a:t>
            </a:r>
          </a:p>
        </p:txBody>
      </p:sp>
      <p:sp>
        <p:nvSpPr>
          <p:cNvPr id="9" name="右箭头 8"/>
          <p:cNvSpPr/>
          <p:nvPr/>
        </p:nvSpPr>
        <p:spPr>
          <a:xfrm>
            <a:off x="3246967" y="2721024"/>
            <a:ext cx="291404" cy="1708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题 1"/>
          <p:cNvSpPr txBox="1">
            <a:spLocks/>
          </p:cNvSpPr>
          <p:nvPr/>
        </p:nvSpPr>
        <p:spPr>
          <a:xfrm>
            <a:off x="192270" y="3278713"/>
            <a:ext cx="2914020" cy="844061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参股公司底层数据库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依据新模型分解</a:t>
            </a:r>
          </a:p>
        </p:txBody>
      </p:sp>
      <p:sp>
        <p:nvSpPr>
          <p:cNvPr id="11" name="右箭头 10"/>
          <p:cNvSpPr/>
          <p:nvPr/>
        </p:nvSpPr>
        <p:spPr>
          <a:xfrm>
            <a:off x="3246967" y="3630401"/>
            <a:ext cx="291404" cy="1708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 rot="5400000">
            <a:off x="5115960" y="2781315"/>
            <a:ext cx="291404" cy="1708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标题 1"/>
          <p:cNvSpPr txBox="1">
            <a:spLocks/>
          </p:cNvSpPr>
          <p:nvPr/>
        </p:nvSpPr>
        <p:spPr>
          <a:xfrm>
            <a:off x="7316556" y="1419761"/>
            <a:ext cx="2953720" cy="71408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已确认事项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标题 1"/>
          <p:cNvSpPr txBox="1">
            <a:spLocks/>
          </p:cNvSpPr>
          <p:nvPr/>
        </p:nvSpPr>
        <p:spPr>
          <a:xfrm>
            <a:off x="7316554" y="2334895"/>
            <a:ext cx="1387153" cy="71408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未确认事项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标题 1"/>
          <p:cNvSpPr txBox="1">
            <a:spLocks/>
          </p:cNvSpPr>
          <p:nvPr/>
        </p:nvSpPr>
        <p:spPr>
          <a:xfrm>
            <a:off x="7316554" y="3250029"/>
            <a:ext cx="1387153" cy="71408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建议补充的材料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流程图: 决策 18"/>
          <p:cNvSpPr/>
          <p:nvPr/>
        </p:nvSpPr>
        <p:spPr>
          <a:xfrm>
            <a:off x="9094540" y="2803603"/>
            <a:ext cx="1401097" cy="666431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是否能完善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肘形连接符 20"/>
          <p:cNvCxnSpPr>
            <a:stCxn id="17" idx="3"/>
            <a:endCxn id="19" idx="1"/>
          </p:cNvCxnSpPr>
          <p:nvPr/>
        </p:nvCxnSpPr>
        <p:spPr>
          <a:xfrm>
            <a:off x="8703707" y="2691936"/>
            <a:ext cx="390833" cy="4448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肘形连接符 21"/>
          <p:cNvCxnSpPr>
            <a:stCxn id="18" idx="3"/>
            <a:endCxn id="19" idx="1"/>
          </p:cNvCxnSpPr>
          <p:nvPr/>
        </p:nvCxnSpPr>
        <p:spPr>
          <a:xfrm flipV="1">
            <a:off x="8703707" y="3136819"/>
            <a:ext cx="390833" cy="47025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19" idx="0"/>
          </p:cNvCxnSpPr>
          <p:nvPr/>
        </p:nvCxnSpPr>
        <p:spPr>
          <a:xfrm rot="16200000" flipV="1">
            <a:off x="9452835" y="2468723"/>
            <a:ext cx="669761" cy="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肘形连接符 29"/>
          <p:cNvCxnSpPr>
            <a:stCxn id="5" idx="3"/>
            <a:endCxn id="14" idx="1"/>
          </p:cNvCxnSpPr>
          <p:nvPr/>
        </p:nvCxnSpPr>
        <p:spPr>
          <a:xfrm flipV="1">
            <a:off x="6844277" y="1776802"/>
            <a:ext cx="472279" cy="9944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stCxn id="5" idx="3"/>
            <a:endCxn id="18" idx="1"/>
          </p:cNvCxnSpPr>
          <p:nvPr/>
        </p:nvCxnSpPr>
        <p:spPr>
          <a:xfrm>
            <a:off x="6844277" y="2771268"/>
            <a:ext cx="472277" cy="8358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肘形连接符 35"/>
          <p:cNvCxnSpPr>
            <a:stCxn id="5" idx="3"/>
            <a:endCxn id="17" idx="1"/>
          </p:cNvCxnSpPr>
          <p:nvPr/>
        </p:nvCxnSpPr>
        <p:spPr>
          <a:xfrm flipV="1">
            <a:off x="6844277" y="2691936"/>
            <a:ext cx="472277" cy="7933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标题 1"/>
          <p:cNvSpPr txBox="1">
            <a:spLocks/>
          </p:cNvSpPr>
          <p:nvPr/>
        </p:nvSpPr>
        <p:spPr>
          <a:xfrm>
            <a:off x="10533010" y="1419760"/>
            <a:ext cx="1387153" cy="71408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45720" rIns="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生成议题简介页及评估页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" name="肘形连接符 40"/>
          <p:cNvCxnSpPr>
            <a:stCxn id="14" idx="3"/>
            <a:endCxn id="40" idx="1"/>
          </p:cNvCxnSpPr>
          <p:nvPr/>
        </p:nvCxnSpPr>
        <p:spPr>
          <a:xfrm flipV="1">
            <a:off x="10270276" y="1776801"/>
            <a:ext cx="262734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肘形连接符 43"/>
          <p:cNvCxnSpPr>
            <a:stCxn id="19" idx="3"/>
            <a:endCxn id="47" idx="1"/>
          </p:cNvCxnSpPr>
          <p:nvPr/>
        </p:nvCxnSpPr>
        <p:spPr>
          <a:xfrm flipV="1">
            <a:off x="10495637" y="3134480"/>
            <a:ext cx="248902" cy="23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标题 1"/>
          <p:cNvSpPr txBox="1">
            <a:spLocks/>
          </p:cNvSpPr>
          <p:nvPr/>
        </p:nvSpPr>
        <p:spPr>
          <a:xfrm>
            <a:off x="10744539" y="2777439"/>
            <a:ext cx="1387153" cy="71408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45720" rIns="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管理建议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标题 1"/>
          <p:cNvSpPr txBox="1">
            <a:spLocks/>
          </p:cNvSpPr>
          <p:nvPr/>
        </p:nvSpPr>
        <p:spPr>
          <a:xfrm>
            <a:off x="9635132" y="2438619"/>
            <a:ext cx="718574" cy="374061"/>
          </a:xfrm>
          <a:prstGeom prst="rect">
            <a:avLst/>
          </a:prstGeom>
          <a:ln>
            <a:noFill/>
          </a:ln>
        </p:spPr>
        <p:txBody>
          <a:bodyPr vert="horz" lIns="0" tIns="45720" rIns="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YES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标题 1"/>
          <p:cNvSpPr txBox="1">
            <a:spLocks/>
          </p:cNvSpPr>
          <p:nvPr/>
        </p:nvSpPr>
        <p:spPr>
          <a:xfrm>
            <a:off x="10231483" y="2767295"/>
            <a:ext cx="718574" cy="374061"/>
          </a:xfrm>
          <a:prstGeom prst="rect">
            <a:avLst/>
          </a:prstGeom>
          <a:ln>
            <a:noFill/>
          </a:ln>
        </p:spPr>
        <p:txBody>
          <a:bodyPr vert="horz" lIns="0" tIns="45720" rIns="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NO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标题 1"/>
          <p:cNvSpPr txBox="1">
            <a:spLocks/>
          </p:cNvSpPr>
          <p:nvPr/>
        </p:nvSpPr>
        <p:spPr>
          <a:xfrm>
            <a:off x="9097333" y="4139795"/>
            <a:ext cx="1387153" cy="71408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45720" rIns="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不通过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肘形连接符 51"/>
          <p:cNvCxnSpPr>
            <a:stCxn id="19" idx="2"/>
            <a:endCxn id="51" idx="0"/>
          </p:cNvCxnSpPr>
          <p:nvPr/>
        </p:nvCxnSpPr>
        <p:spPr>
          <a:xfrm rot="5400000">
            <a:off x="9460209" y="3804914"/>
            <a:ext cx="669761" cy="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标题 1"/>
          <p:cNvSpPr txBox="1">
            <a:spLocks/>
          </p:cNvSpPr>
          <p:nvPr/>
        </p:nvSpPr>
        <p:spPr>
          <a:xfrm>
            <a:off x="9668584" y="3777079"/>
            <a:ext cx="1314925" cy="374061"/>
          </a:xfrm>
          <a:prstGeom prst="rect">
            <a:avLst/>
          </a:prstGeom>
          <a:ln>
            <a:noFill/>
          </a:ln>
        </p:spPr>
        <p:txBody>
          <a:bodyPr vert="horz" lIns="0" tIns="45720" rIns="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NO-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标题 1"/>
          <p:cNvSpPr txBox="1">
            <a:spLocks/>
          </p:cNvSpPr>
          <p:nvPr/>
        </p:nvSpPr>
        <p:spPr>
          <a:xfrm>
            <a:off x="10867024" y="2436886"/>
            <a:ext cx="1314925" cy="374061"/>
          </a:xfrm>
          <a:prstGeom prst="rect">
            <a:avLst/>
          </a:prstGeom>
          <a:ln>
            <a:noFill/>
          </a:ln>
        </p:spPr>
        <p:txBody>
          <a:bodyPr vert="horz" lIns="0" tIns="45720" rIns="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少</a:t>
            </a:r>
          </a:p>
        </p:txBody>
      </p:sp>
      <p:sp>
        <p:nvSpPr>
          <p:cNvPr id="57" name="标题 1"/>
          <p:cNvSpPr txBox="1">
            <a:spLocks/>
          </p:cNvSpPr>
          <p:nvPr/>
        </p:nvSpPr>
        <p:spPr>
          <a:xfrm>
            <a:off x="314317" y="5113267"/>
            <a:ext cx="11605846" cy="892629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在现有三会议题</a:t>
            </a:r>
            <a:r>
              <a:rPr lang="en-US" altLang="zh-CN" sz="24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</a:t>
            </a:r>
            <a:r>
              <a:rPr lang="zh-CN" altLang="en-US" sz="24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评估环节增加一个页面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9432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381839" y="142351"/>
            <a:ext cx="11605846" cy="892629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下步工作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381840" y="1364006"/>
            <a:ext cx="11605846" cy="84406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请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IBM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专家论证该方向是否具备可实施性？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381839" y="2537093"/>
            <a:ext cx="11605846" cy="84406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如可实施，需要具备的前提条件是什么？如模型如何优化？能否给出一个通用化的话术模板？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l="16452" r="6937"/>
          <a:stretch/>
        </p:blipFill>
        <p:spPr>
          <a:xfrm rot="5400000">
            <a:off x="8037319" y="3560398"/>
            <a:ext cx="3080085" cy="301530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t="5334" b="34249"/>
          <a:stretch/>
        </p:blipFill>
        <p:spPr>
          <a:xfrm>
            <a:off x="1062169" y="3710179"/>
            <a:ext cx="5993423" cy="271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54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273</Words>
  <Application>Microsoft Office PowerPoint</Application>
  <PresentationFormat>宽屏</PresentationFormat>
  <Paragraphs>30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（八）培育智能体软件产品。面向信息处理、办公协作、生活服务等多样化场景，发展跨场景适用的通用智能体软件。推动智能体赋能互联网应用及服务，加快发展具备轻量推理与隐私防护能力的终端智能体软件。面向高价值行业场景，整合知识图谱和数据资源，打造垂直领域专业智能体软件。聚焦核心工业环节，研制安全可靠、行为可校验的工业智能体，强化与工业控制系统软件、企业核心业务系统的交互适配，深度融入生产经营全流程。 （九）建设智能体软件应用市场。推动建设智能体软件应用商店和技能包（Skills）资源库，规范平台上架审核与运营管理，促进智能体、技能包广泛应用。引导各类创新主体开发高质量专业技能包、知识库等，鼓励软件企业开发面向智能体的功能组件，沉淀行业知识。培育智能体开源专区，￼5构建多元协同、技能共享的开放生态。</vt:lpstr>
      <vt:lpstr>PowerPoint 演示文稿</vt:lpstr>
      <vt:lpstr>PowerPoint 演示文稿</vt:lpstr>
    </vt:vector>
  </TitlesOfParts>
  <Company>yqjr.faw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5</cp:revision>
  <dcterms:created xsi:type="dcterms:W3CDTF">2026-09-13T23:35:19Z</dcterms:created>
  <dcterms:modified xsi:type="dcterms:W3CDTF">2026-09-14T00:15:14Z</dcterms:modified>
</cp:coreProperties>
</file>