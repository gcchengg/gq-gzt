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7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theme/theme9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7.xml" ContentType="application/vnd.openxmlformats-officedocument.presentationml.notesSlide+xml"/>
  <Override PartName="/ppt/tags/tag39.xml" ContentType="application/vnd.openxmlformats-officedocument.presentationml.tags+xml"/>
  <Override PartName="/ppt/notesSlides/notesSlide8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1.xml" ContentType="application/vnd.openxmlformats-officedocument.presentationml.notesSlide+xml"/>
  <Override PartName="/ppt/tags/tag62.xml" ContentType="application/vnd.openxmlformats-officedocument.presentationml.tags+xml"/>
  <Override PartName="/ppt/notesSlides/notesSlide12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3.xml" ContentType="application/vnd.openxmlformats-officedocument.presentationml.notesSlide+xml"/>
  <Override PartName="/ppt/tags/tag65.xml" ContentType="application/vnd.openxmlformats-officedocument.presentationml.tags+xml"/>
  <Override PartName="/ppt/notesSlides/notesSlide14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5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6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7.xml" ContentType="application/vnd.openxmlformats-officedocument.presentationml.notesSlide+xml"/>
  <Override PartName="/ppt/tags/tag104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7" r:id="rId4"/>
    <p:sldMasterId id="2147483664" r:id="rId5"/>
    <p:sldMasterId id="2147483666" r:id="rId6"/>
    <p:sldMasterId id="2147483673" r:id="rId7"/>
    <p:sldMasterId id="2147483680" r:id="rId8"/>
    <p:sldMasterId id="2147483688" r:id="rId9"/>
    <p:sldMasterId id="2147483690" r:id="rId10"/>
  </p:sldMasterIdLst>
  <p:notesMasterIdLst>
    <p:notesMasterId r:id="rId29"/>
  </p:notesMasterIdLst>
  <p:handoutMasterIdLst>
    <p:handoutMasterId r:id="rId30"/>
  </p:handoutMasterIdLst>
  <p:sldIdLst>
    <p:sldId id="256" r:id="rId11"/>
    <p:sldId id="11093091" r:id="rId12"/>
    <p:sldId id="11093113" r:id="rId13"/>
    <p:sldId id="11093107" r:id="rId14"/>
    <p:sldId id="11093115" r:id="rId15"/>
    <p:sldId id="11093117" r:id="rId16"/>
    <p:sldId id="11093118" r:id="rId17"/>
    <p:sldId id="11093104" r:id="rId18"/>
    <p:sldId id="321" r:id="rId19"/>
    <p:sldId id="11093096" r:id="rId20"/>
    <p:sldId id="11093128" r:id="rId21"/>
    <p:sldId id="11093129" r:id="rId22"/>
    <p:sldId id="11093106" r:id="rId23"/>
    <p:sldId id="11093130" r:id="rId24"/>
    <p:sldId id="11093127" r:id="rId25"/>
    <p:sldId id="11093119" r:id="rId26"/>
    <p:sldId id="11093108" r:id="rId27"/>
    <p:sldId id="357" r:id="rId28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A8C"/>
    <a:srgbClr val="000050"/>
    <a:srgbClr val="2796D4"/>
    <a:srgbClr val="B10011"/>
    <a:srgbClr val="A6A6A6"/>
    <a:srgbClr val="003366"/>
    <a:srgbClr val="FFFFFF"/>
    <a:srgbClr val="17375E"/>
    <a:srgbClr val="EF8D4B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2902" autoAdjust="0"/>
  </p:normalViewPr>
  <p:slideViewPr>
    <p:cSldViewPr snapToGrid="0">
      <p:cViewPr varScale="1">
        <p:scale>
          <a:sx n="79" d="100"/>
          <a:sy n="79" d="100"/>
        </p:scale>
        <p:origin x="117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8543A-76EE-43E6-9359-CCF242F455C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5B4C6-F1F7-433C-91FA-30B5CAC286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E5B4C6-F1F7-433C-91FA-30B5CAC2862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G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GI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4.GI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4.GI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4.GI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4789" y="6508917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5D1D1E-F0A6-4444-A2C7-9CD4D0DF81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586" y="182604"/>
            <a:ext cx="10290733" cy="510092"/>
          </a:xfrm>
          <a:prstGeom prst="rect">
            <a:avLst/>
          </a:prstGeom>
        </p:spPr>
        <p:txBody>
          <a:bodyPr lIns="81750" tIns="40874" rIns="81750" bIns="40874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138" y="836362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7250" y="242586"/>
            <a:ext cx="3714750" cy="82867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204289" y="133026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企业信息严格保密</a:t>
            </a:r>
          </a:p>
        </p:txBody>
      </p:sp>
      <p:sp>
        <p:nvSpPr>
          <p:cNvPr id="3" name="矩形 2"/>
          <p:cNvSpPr/>
          <p:nvPr userDrawn="1"/>
        </p:nvSpPr>
        <p:spPr bwMode="auto">
          <a:xfrm>
            <a:off x="244929" y="242586"/>
            <a:ext cx="3118757" cy="828675"/>
          </a:xfrm>
          <a:prstGeom prst="rect">
            <a:avLst/>
          </a:prstGeom>
          <a:solidFill>
            <a:srgbClr val="152A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5" y="250101"/>
            <a:ext cx="3156734" cy="816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theme" Target="../theme/them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3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4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6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7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3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10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5.png"/><Relationship Id="rId5" Type="http://schemas.openxmlformats.org/officeDocument/2006/relationships/image" Target="../media/image9.jpe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theme" Target="../theme/theme10.xml"/><Relationship Id="rId9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微软雅黑" panose="020B0503020204020204" charset="-122"/>
              <a:ea typeface="宋体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7" name="图片 6" descr="图片1"/>
          <p:cNvPicPr>
            <a:picLocks noChangeAspect="1"/>
          </p:cNvPicPr>
          <p:nvPr userDrawn="1"/>
        </p:nvPicPr>
        <p:blipFill rotWithShape="1">
          <a:blip r:embed="rId4"/>
          <a:srcRect l="25931" r="26436" b="73822"/>
          <a:stretch>
            <a:fillRect/>
          </a:stretch>
        </p:blipFill>
        <p:spPr>
          <a:xfrm>
            <a:off x="0" y="0"/>
            <a:ext cx="12191999" cy="179531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392679" y="114604"/>
            <a:ext cx="5252667" cy="10785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8"/>
          <p:cNvSpPr/>
          <p:nvPr userDrawn="1"/>
        </p:nvSpPr>
        <p:spPr>
          <a:xfrm>
            <a:off x="0" y="9142"/>
            <a:ext cx="12192000" cy="6839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9444789" y="6569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8AF4CC-46F9-43F2-A474-3F5822F103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731021" y="6545982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849249" y="6593792"/>
            <a:ext cx="342751" cy="241261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sz="1000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sz="1000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731021" y="6525895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34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" Target="slide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slide" Target="slide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slideLayout" Target="../slideLayouts/slideLayout35.xml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3.png"/><Relationship Id="rId1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20.xml"/><Relationship Id="rId10" Type="http://schemas.openxmlformats.org/officeDocument/2006/relationships/slideLayout" Target="../slideLayouts/slideLayout34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tags" Target="../tags/tag27.xml"/><Relationship Id="rId21" Type="http://schemas.openxmlformats.org/officeDocument/2006/relationships/image" Target="../media/image31.sv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" Target="slide1.xml"/><Relationship Id="rId25" Type="http://schemas.openxmlformats.org/officeDocument/2006/relationships/image" Target="../media/image35.svg"/><Relationship Id="rId2" Type="http://schemas.openxmlformats.org/officeDocument/2006/relationships/tags" Target="../tags/tag26.xml"/><Relationship Id="rId16" Type="http://schemas.openxmlformats.org/officeDocument/2006/relationships/notesSlide" Target="../notesSlides/notesSlide7.xml"/><Relationship Id="rId20" Type="http://schemas.openxmlformats.org/officeDocument/2006/relationships/image" Target="../media/image30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34.png"/><Relationship Id="rId5" Type="http://schemas.openxmlformats.org/officeDocument/2006/relationships/tags" Target="../tags/tag29.xml"/><Relationship Id="rId15" Type="http://schemas.openxmlformats.org/officeDocument/2006/relationships/slideLayout" Target="../slideLayouts/slideLayout35.xml"/><Relationship Id="rId23" Type="http://schemas.openxmlformats.org/officeDocument/2006/relationships/image" Target="../media/image33.svg"/><Relationship Id="rId10" Type="http://schemas.openxmlformats.org/officeDocument/2006/relationships/tags" Target="../tags/tag34.xml"/><Relationship Id="rId19" Type="http://schemas.openxmlformats.org/officeDocument/2006/relationships/image" Target="../media/image29.sv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39.xml"/><Relationship Id="rId5" Type="http://schemas.openxmlformats.org/officeDocument/2006/relationships/image" Target="../media/image37.jpeg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slide" Target="slide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tags" Target="../tags/tag59.xml"/><Relationship Id="rId3" Type="http://schemas.openxmlformats.org/officeDocument/2006/relationships/tags" Target="../tags/tag44.xml"/><Relationship Id="rId21" Type="http://schemas.openxmlformats.org/officeDocument/2006/relationships/slide" Target="slide1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20" Type="http://schemas.openxmlformats.org/officeDocument/2006/relationships/notesSlide" Target="../notesSlides/notesSlide10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10" Type="http://schemas.openxmlformats.org/officeDocument/2006/relationships/tags" Target="../tags/tag51.xml"/><Relationship Id="rId19" Type="http://schemas.openxmlformats.org/officeDocument/2006/relationships/slideLayout" Target="../slideLayouts/slideLayout35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" Target="slide1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6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" Target="slide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65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18" Type="http://schemas.openxmlformats.org/officeDocument/2006/relationships/tags" Target="../tags/tag83.xml"/><Relationship Id="rId26" Type="http://schemas.openxmlformats.org/officeDocument/2006/relationships/tags" Target="../tags/tag91.xml"/><Relationship Id="rId3" Type="http://schemas.openxmlformats.org/officeDocument/2006/relationships/tags" Target="../tags/tag68.xml"/><Relationship Id="rId21" Type="http://schemas.openxmlformats.org/officeDocument/2006/relationships/tags" Target="../tags/tag86.xml"/><Relationship Id="rId34" Type="http://schemas.openxmlformats.org/officeDocument/2006/relationships/image" Target="../media/image52.png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5" Type="http://schemas.openxmlformats.org/officeDocument/2006/relationships/tags" Target="../tags/tag90.xml"/><Relationship Id="rId33" Type="http://schemas.openxmlformats.org/officeDocument/2006/relationships/image" Target="../media/image51.svg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20" Type="http://schemas.openxmlformats.org/officeDocument/2006/relationships/tags" Target="../tags/tag85.xml"/><Relationship Id="rId29" Type="http://schemas.openxmlformats.org/officeDocument/2006/relationships/notesSlide" Target="../notesSlides/notesSlide15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24" Type="http://schemas.openxmlformats.org/officeDocument/2006/relationships/tags" Target="../tags/tag89.xml"/><Relationship Id="rId32" Type="http://schemas.openxmlformats.org/officeDocument/2006/relationships/image" Target="../media/image50.png"/><Relationship Id="rId37" Type="http://schemas.openxmlformats.org/officeDocument/2006/relationships/image" Target="../media/image55.svg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23" Type="http://schemas.openxmlformats.org/officeDocument/2006/relationships/tags" Target="../tags/tag88.xml"/><Relationship Id="rId28" Type="http://schemas.openxmlformats.org/officeDocument/2006/relationships/slideLayout" Target="../slideLayouts/slideLayout36.xml"/><Relationship Id="rId36" Type="http://schemas.openxmlformats.org/officeDocument/2006/relationships/image" Target="../media/image54.png"/><Relationship Id="rId10" Type="http://schemas.openxmlformats.org/officeDocument/2006/relationships/tags" Target="../tags/tag75.xml"/><Relationship Id="rId19" Type="http://schemas.openxmlformats.org/officeDocument/2006/relationships/tags" Target="../tags/tag84.xml"/><Relationship Id="rId31" Type="http://schemas.openxmlformats.org/officeDocument/2006/relationships/image" Target="../media/image49.svg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image" Target="../media/image48.png"/><Relationship Id="rId35" Type="http://schemas.openxmlformats.org/officeDocument/2006/relationships/image" Target="../media/image5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97.xml"/><Relationship Id="rId10" Type="http://schemas.openxmlformats.org/officeDocument/2006/relationships/slideLayout" Target="../slideLayouts/slideLayout34.xml"/><Relationship Id="rId4" Type="http://schemas.openxmlformats.org/officeDocument/2006/relationships/tags" Target="../tags/tag96.xml"/><Relationship Id="rId9" Type="http://schemas.openxmlformats.org/officeDocument/2006/relationships/tags" Target="../tags/tag10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slide" Target="slide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04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25170" y="2113280"/>
            <a:ext cx="10742295" cy="2306955"/>
          </a:xfrm>
          <a:prstGeom prst="rect">
            <a:avLst/>
          </a:prstGeom>
        </p:spPr>
        <p:txBody>
          <a:bodyPr lIns="81750" tIns="40874" rIns="81750" bIns="40874" anchor="ctr"/>
          <a:lstStyle>
            <a:lvl1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45656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91313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136969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182626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“一口清”工作迭代方案</a:t>
            </a:r>
          </a:p>
        </p:txBody>
      </p:sp>
      <p:sp>
        <p:nvSpPr>
          <p:cNvPr id="5" name="副标题 2"/>
          <p:cNvSpPr txBox="1"/>
          <p:nvPr/>
        </p:nvSpPr>
        <p:spPr>
          <a:xfrm>
            <a:off x="1786255" y="4884365"/>
            <a:ext cx="8534400" cy="1141898"/>
          </a:xfrm>
          <a:prstGeom prst="rect">
            <a:avLst/>
          </a:prstGeom>
        </p:spPr>
        <p:txBody>
          <a:bodyPr lIns="81750" tIns="40874" rIns="81750" bIns="40874"/>
          <a:lstStyle>
            <a:lvl1pPr marL="316865" indent="-31686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72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6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246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902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559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股权运营部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2026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06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9580" y="306705"/>
            <a:ext cx="10367010" cy="509905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目录</a:t>
            </a:r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2449195" y="1999205"/>
            <a:ext cx="6556375" cy="758190"/>
            <a:chOff x="3857" y="3179"/>
            <a:chExt cx="10325" cy="1194"/>
          </a:xfrm>
        </p:grpSpPr>
        <p:sp>
          <p:nvSpPr>
            <p:cNvPr id="13" name="矩形 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226" y="3179"/>
              <a:ext cx="8957" cy="1194"/>
            </a:xfrm>
            <a:prstGeom prst="rect">
              <a:avLst/>
            </a:prstGeom>
            <a:noFill/>
            <a:ln w="19050">
              <a:solidFill>
                <a:srgbClr val="152A8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>
                      <a:lumMod val="95000"/>
                    </a:schemeClr>
                  </a:solidFill>
                </a14:hiddenFill>
              </a:ext>
            </a:extLst>
          </p:spPr>
          <p:txBody>
            <a:bodyPr anchor="ctr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“一口清”工作开展情况</a:t>
              </a:r>
            </a:p>
          </p:txBody>
        </p:sp>
        <p:sp>
          <p:nvSpPr>
            <p:cNvPr id="14" name="矩形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57" y="3179"/>
              <a:ext cx="1213" cy="1194"/>
            </a:xfrm>
            <a:prstGeom prst="rect">
              <a:avLst/>
            </a:prstGeom>
            <a:solidFill>
              <a:srgbClr val="152A8C"/>
            </a:solidFill>
            <a:ln>
              <a:solidFill>
                <a:srgbClr val="152A8C"/>
              </a:solidFill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2449195" y="3443258"/>
            <a:ext cx="6556375" cy="758825"/>
            <a:chOff x="3857" y="5106"/>
            <a:chExt cx="10325" cy="1195"/>
          </a:xfrm>
        </p:grpSpPr>
        <p:sp>
          <p:nvSpPr>
            <p:cNvPr id="15" name="矩形 4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57" y="5106"/>
              <a:ext cx="1213" cy="11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A6A6A6"/>
              </a:solidFill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二</a:t>
              </a:r>
            </a:p>
          </p:txBody>
        </p:sp>
        <p:sp>
          <p:nvSpPr>
            <p:cNvPr id="2" name="矩形 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26" y="5107"/>
              <a:ext cx="8957" cy="1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6A6A6"/>
              </a:solidFill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“一口清”工作迭代方案</a:t>
              </a:r>
            </a:p>
          </p:txBody>
        </p:sp>
      </p:grp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2449830" y="4887945"/>
            <a:ext cx="6556375" cy="758825"/>
            <a:chOff x="3857" y="7634"/>
            <a:chExt cx="10325" cy="1195"/>
          </a:xfrm>
        </p:grpSpPr>
        <p:sp>
          <p:nvSpPr>
            <p:cNvPr id="3" name="矩形 4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857" y="7634"/>
              <a:ext cx="1213" cy="11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A6A6A6"/>
              </a:solidFill>
            </a:ln>
          </p:spPr>
          <p:txBody>
            <a:bodyPr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三</a:t>
              </a:r>
            </a:p>
          </p:txBody>
        </p:sp>
        <p:sp>
          <p:nvSpPr>
            <p:cNvPr id="4" name="矩形 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26" y="7635"/>
              <a:ext cx="8957" cy="1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6A6A6"/>
              </a:solidFill>
              <a:miter lim="800000"/>
            </a:ln>
          </p:spPr>
          <p:txBody>
            <a:bodyPr anchor="ctr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下一步工作计划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6">
            <a:hlinkClick r:id="rId5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 defTabSz="91440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一、</a:t>
            </a:r>
            <a:r>
              <a:rPr lang="zh-CN" altLang="en-US" sz="2400" dirty="0">
                <a:solidFill>
                  <a:srgbClr val="152A8C"/>
                </a:solidFill>
                <a:sym typeface="微软雅黑" panose="020B0503020204020204" charset="-122"/>
              </a:rPr>
              <a:t>“一口清”工作开展情况</a:t>
            </a:r>
          </a:p>
          <a:p>
            <a:pPr lvl="0">
              <a:defRPr/>
            </a:pPr>
            <a:endParaRPr lang="zh-CN" altLang="en-US" sz="2400" dirty="0">
              <a:solidFill>
                <a:srgbClr val="152A8C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3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工作目标</a:t>
            </a:r>
          </a:p>
        </p:txBody>
      </p:sp>
      <p:sp>
        <p:nvSpPr>
          <p:cNvPr id="164" name="TextBox 3"/>
          <p:cNvSpPr txBox="1"/>
          <p:nvPr>
            <p:custDataLst>
              <p:tags r:id="rId2"/>
            </p:custDataLst>
          </p:nvPr>
        </p:nvSpPr>
        <p:spPr>
          <a:xfrm>
            <a:off x="458328" y="1280453"/>
            <a:ext cx="11221100" cy="6251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just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以管户经理对所管参股企业情况“熟记于心、脱口而出”为目标，通过</a:t>
            </a:r>
            <a:r>
              <a:rPr lang="en-US" altLang="zh-CN" b="0" kern="0" dirty="0">
                <a:solidFill>
                  <a:srgbClr val="152A8C"/>
                </a:solidFill>
              </a:rPr>
              <a:t>“</a:t>
            </a:r>
            <a:r>
              <a:rPr lang="zh-CN" altLang="en-US" b="0" kern="0" dirty="0">
                <a:solidFill>
                  <a:srgbClr val="152A8C"/>
                </a:solidFill>
              </a:rPr>
              <a:t>编册立架（</a:t>
            </a:r>
            <a:r>
              <a:rPr lang="en-US" altLang="zh-CN" b="0" kern="0" dirty="0">
                <a:solidFill>
                  <a:srgbClr val="152A8C"/>
                </a:solidFill>
              </a:rPr>
              <a:t>Plan</a:t>
            </a:r>
            <a:r>
              <a:rPr lang="zh-CN" altLang="en-US" b="0" kern="0" dirty="0">
                <a:solidFill>
                  <a:srgbClr val="152A8C"/>
                </a:solidFill>
              </a:rPr>
              <a:t>）、研学提能（</a:t>
            </a:r>
            <a:r>
              <a:rPr lang="en-US" altLang="zh-CN" b="0" kern="0" dirty="0">
                <a:solidFill>
                  <a:srgbClr val="152A8C"/>
                </a:solidFill>
              </a:rPr>
              <a:t>Do</a:t>
            </a:r>
            <a:r>
              <a:rPr lang="zh-CN" altLang="en-US" b="0" kern="0" dirty="0">
                <a:solidFill>
                  <a:srgbClr val="152A8C"/>
                </a:solidFill>
              </a:rPr>
              <a:t>）、督考评效（</a:t>
            </a:r>
            <a:r>
              <a:rPr lang="en-US" altLang="zh-CN" b="0" kern="0" dirty="0">
                <a:solidFill>
                  <a:srgbClr val="152A8C"/>
                </a:solidFill>
              </a:rPr>
              <a:t>Check</a:t>
            </a:r>
            <a:r>
              <a:rPr lang="zh-CN" altLang="en-US" b="0" kern="0" dirty="0">
                <a:solidFill>
                  <a:srgbClr val="152A8C"/>
                </a:solidFill>
              </a:rPr>
              <a:t>）、落地深耕（</a:t>
            </a:r>
            <a:r>
              <a:rPr lang="en-US" altLang="zh-CN" b="0" kern="0" dirty="0">
                <a:solidFill>
                  <a:srgbClr val="152A8C"/>
                </a:solidFill>
              </a:rPr>
              <a:t>Act</a:t>
            </a:r>
            <a:r>
              <a:rPr lang="zh-CN" altLang="en-US" b="0" kern="0" dirty="0">
                <a:solidFill>
                  <a:srgbClr val="152A8C"/>
                </a:solidFill>
              </a:rPr>
              <a:t>）</a:t>
            </a:r>
            <a:r>
              <a:rPr lang="en-US" altLang="zh-CN" b="0" kern="0" dirty="0">
                <a:solidFill>
                  <a:srgbClr val="152A8C"/>
                </a:solidFill>
              </a:rPr>
              <a:t>”</a:t>
            </a:r>
            <a:r>
              <a:rPr lang="zh-CN" altLang="en-US" b="0" kern="0" dirty="0">
                <a:solidFill>
                  <a:srgbClr val="152A8C"/>
                </a:solidFill>
              </a:rPr>
              <a:t>四大环节闭环推进，从无到有完成“一口清”标准化建设。并在复盘当前工作得失的基础上，启动“一口清”迭代工作。</a:t>
            </a:r>
            <a:endParaRPr lang="en-US" altLang="zh-CN" b="0" kern="0" dirty="0">
              <a:solidFill>
                <a:srgbClr val="152A8C"/>
              </a:solidFill>
            </a:endParaRPr>
          </a:p>
        </p:txBody>
      </p:sp>
      <p:sp>
        <p:nvSpPr>
          <p:cNvPr id="2" name="SplitText_44_faf6a2b3-db13-4b3c-b79f-c14bff19c4ea"/>
          <p:cNvSpPr txBox="1"/>
          <p:nvPr/>
        </p:nvSpPr>
        <p:spPr>
          <a:xfrm>
            <a:off x="469869" y="4811945"/>
            <a:ext cx="2340000" cy="1907620"/>
          </a:xfrm>
          <a:prstGeom prst="rect">
            <a:avLst/>
          </a:prstGeom>
          <a:noFill/>
          <a:ln w="6350" cmpd="sng">
            <a:noFill/>
          </a:ln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defTabSz="914400" eaLnBrk="1" fontAlgn="base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  <a:sym typeface="+mn-lt"/>
              </a:rPr>
              <a:t>一企一档：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  <a:sym typeface="+mn-lt"/>
              </a:rPr>
              <a:t>紧扣参股企业基本信息、经营信息、重点课题及管理方向等核心要点，形成脉络清晰、结构严谨的标准化文档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+mn-ea"/>
              <a:cs typeface="Calibri" panose="020F0502020204030204"/>
              <a:sym typeface="+mn-lt"/>
            </a:endParaRPr>
          </a:p>
          <a:p>
            <a:pPr marL="285750" marR="0" lvl="0" indent="-285750" defTabSz="914400" eaLnBrk="1" fontAlgn="base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  <a:sym typeface="+mn-lt"/>
              </a:rPr>
              <a:t>知识沉淀：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  <a:sym typeface="+mn-lt"/>
              </a:rPr>
              <a:t>文档内容要求表述口径统一、数据精确无误，可快速了解该参股企业近三年经营情况，化个人经验为团队知识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+mn-ea"/>
              <a:cs typeface="Calibri" panose="020F0502020204030204"/>
              <a:sym typeface="+mn-lt"/>
            </a:endParaRPr>
          </a:p>
        </p:txBody>
      </p:sp>
      <p:sp>
        <p:nvSpPr>
          <p:cNvPr id="3" name="rbStamp_Instructions"/>
          <p:cNvSpPr txBox="1"/>
          <p:nvPr/>
        </p:nvSpPr>
        <p:spPr>
          <a:xfrm>
            <a:off x="4634076" y="2744806"/>
            <a:ext cx="2821285" cy="276999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none" lIns="0" tIns="0" rIns="0" bIns="0" rtlCol="0" anchor="t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zh-CN" altLang="en-US" sz="2000" b="1" i="1" dirty="0">
                <a:solidFill>
                  <a:srgbClr val="152A8C"/>
                </a:solidFill>
                <a:latin typeface="RB Office"/>
                <a:cs typeface="Segoe UI" panose="020B0502040204020203"/>
                <a:sym typeface="+mn-lt"/>
              </a:rPr>
              <a:t>“熟记于心，脱口而出”</a:t>
            </a:r>
            <a:endParaRPr lang="en-US" sz="2000" b="1" i="1" dirty="0">
              <a:solidFill>
                <a:srgbClr val="152A8C"/>
              </a:solidFill>
              <a:latin typeface="RB Office"/>
              <a:cs typeface="Segoe UI" panose="020B0502040204020203"/>
              <a:sym typeface="+mn-lt"/>
            </a:endParaRPr>
          </a:p>
        </p:txBody>
      </p:sp>
      <p:sp>
        <p:nvSpPr>
          <p:cNvPr id="10" name="RBContent26"/>
          <p:cNvSpPr txBox="1"/>
          <p:nvPr/>
        </p:nvSpPr>
        <p:spPr>
          <a:xfrm>
            <a:off x="9169401" y="4271946"/>
            <a:ext cx="2560320" cy="540000"/>
          </a:xfrm>
          <a:prstGeom prst="rect">
            <a:avLst/>
          </a:prstGeom>
          <a:solidFill>
            <a:srgbClr val="152A8C"/>
          </a:solidFill>
          <a:ln w="9525">
            <a:noFill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rPr>
              <a:t>落地深耕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B Office" panose="00000600000000000000" pitchFamily="2" charset="0"/>
              <a:cs typeface="Calibri" panose="020F0502020204030204"/>
              <a:sym typeface="+mn-lt"/>
            </a:endParaRPr>
          </a:p>
        </p:txBody>
      </p:sp>
      <p:sp>
        <p:nvSpPr>
          <p:cNvPr id="18" name="RBContent28"/>
          <p:cNvSpPr txBox="1"/>
          <p:nvPr/>
        </p:nvSpPr>
        <p:spPr>
          <a:xfrm>
            <a:off x="6232838" y="4271946"/>
            <a:ext cx="2560320" cy="540000"/>
          </a:xfrm>
          <a:prstGeom prst="rect">
            <a:avLst/>
          </a:prstGeom>
          <a:solidFill>
            <a:srgbClr val="152A8C"/>
          </a:solidFill>
          <a:ln w="9525">
            <a:noFill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rPr>
              <a:t>督考评效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B Office" panose="00000600000000000000" pitchFamily="2" charset="0"/>
              <a:cs typeface="Calibri" panose="020F0502020204030204"/>
              <a:sym typeface="+mn-lt"/>
            </a:endParaRPr>
          </a:p>
        </p:txBody>
      </p:sp>
      <p:sp>
        <p:nvSpPr>
          <p:cNvPr id="19" name="RBContent29"/>
          <p:cNvSpPr txBox="1"/>
          <p:nvPr/>
        </p:nvSpPr>
        <p:spPr>
          <a:xfrm>
            <a:off x="3296273" y="4271946"/>
            <a:ext cx="2560320" cy="540000"/>
          </a:xfrm>
          <a:prstGeom prst="rect">
            <a:avLst/>
          </a:prstGeom>
          <a:solidFill>
            <a:srgbClr val="152A8C"/>
          </a:solidFill>
          <a:ln w="9525">
            <a:noFill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rPr>
              <a:t>研学提能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B Office" panose="00000600000000000000" pitchFamily="2" charset="0"/>
              <a:cs typeface="Calibri" panose="020F0502020204030204"/>
              <a:sym typeface="+mn-lt"/>
            </a:endParaRPr>
          </a:p>
        </p:txBody>
      </p:sp>
      <p:sp>
        <p:nvSpPr>
          <p:cNvPr id="20" name="RBContent30"/>
          <p:cNvSpPr txBox="1"/>
          <p:nvPr/>
        </p:nvSpPr>
        <p:spPr>
          <a:xfrm>
            <a:off x="359709" y="4271946"/>
            <a:ext cx="2560320" cy="540000"/>
          </a:xfrm>
          <a:prstGeom prst="rect">
            <a:avLst/>
          </a:prstGeom>
          <a:solidFill>
            <a:srgbClr val="152A8C"/>
          </a:solidFill>
          <a:ln w="9525">
            <a:noFill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2000" b="1" kern="0" dirty="0">
                <a:solidFill>
                  <a:schemeClr val="bg1"/>
                </a:solidFill>
                <a:latin typeface="RB Office" panose="00000600000000000000" pitchFamily="2" charset="0"/>
                <a:cs typeface="Calibri" panose="020F0502020204030204"/>
                <a:sym typeface="+mn-lt"/>
              </a:rPr>
              <a:t>编册立架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B Office" panose="00000600000000000000" pitchFamily="2" charset="0"/>
              <a:cs typeface="Calibri" panose="020F0502020204030204"/>
              <a:sym typeface="+mn-lt"/>
            </a:endParaRPr>
          </a:p>
        </p:txBody>
      </p:sp>
      <p:sp>
        <p:nvSpPr>
          <p:cNvPr id="21" name="SplitText_67_87344ce4-b09a-43d3-a9e6-3443302160aa"/>
          <p:cNvSpPr txBox="1"/>
          <p:nvPr/>
        </p:nvSpPr>
        <p:spPr>
          <a:xfrm>
            <a:off x="9169401" y="3848860"/>
            <a:ext cx="2560320" cy="2769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RB Office" panose="00000600000000000000" pitchFamily="2" charset="0"/>
                <a:cs typeface="Calibri" panose="020F0502020204030204"/>
                <a:sym typeface="+mn-lt"/>
              </a:rPr>
              <a:t>Act</a:t>
            </a:r>
            <a:endParaRPr lang="en-US" sz="2000" dirty="0">
              <a:solidFill>
                <a:srgbClr val="000000"/>
              </a:solidFill>
              <a:latin typeface="RB Office" panose="00000600000000000000" pitchFamily="2" charset="0"/>
              <a:cs typeface="Segoe UI" panose="020B0502040204020203"/>
              <a:sym typeface="+mn-lt"/>
            </a:endParaRPr>
          </a:p>
        </p:txBody>
      </p:sp>
      <p:sp>
        <p:nvSpPr>
          <p:cNvPr id="22" name="SplitText_68_87344ce4-b09a-43d3-a9e6-3443302160aa"/>
          <p:cNvSpPr txBox="1"/>
          <p:nvPr/>
        </p:nvSpPr>
        <p:spPr>
          <a:xfrm>
            <a:off x="6232838" y="3848860"/>
            <a:ext cx="2560320" cy="2769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RB Office" panose="00000600000000000000" pitchFamily="2" charset="0"/>
                <a:cs typeface="Calibri" panose="020F0502020204030204"/>
                <a:sym typeface="+mn-lt"/>
              </a:rPr>
              <a:t>Check</a:t>
            </a:r>
            <a:endParaRPr lang="en-US" sz="2000" dirty="0">
              <a:solidFill>
                <a:srgbClr val="000000"/>
              </a:solidFill>
              <a:latin typeface="RB Office" panose="00000600000000000000" pitchFamily="2" charset="0"/>
              <a:cs typeface="Segoe UI" panose="020B0502040204020203"/>
              <a:sym typeface="+mn-lt"/>
            </a:endParaRPr>
          </a:p>
        </p:txBody>
      </p:sp>
      <p:sp>
        <p:nvSpPr>
          <p:cNvPr id="23" name="SplitText_69_87344ce4-b09a-43d3-a9e6-3443302160aa"/>
          <p:cNvSpPr txBox="1"/>
          <p:nvPr/>
        </p:nvSpPr>
        <p:spPr>
          <a:xfrm>
            <a:off x="3296274" y="3848860"/>
            <a:ext cx="2560320" cy="2769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RB Office" panose="00000600000000000000" pitchFamily="2" charset="0"/>
                <a:cs typeface="Calibri" panose="020F0502020204030204"/>
                <a:sym typeface="+mn-lt"/>
              </a:rPr>
              <a:t>Do</a:t>
            </a:r>
            <a:endParaRPr lang="en-US" sz="2000" dirty="0">
              <a:solidFill>
                <a:srgbClr val="000000"/>
              </a:solidFill>
              <a:latin typeface="RB Office" panose="00000600000000000000" pitchFamily="2" charset="0"/>
              <a:cs typeface="Segoe UI" panose="020B0502040204020203"/>
              <a:sym typeface="+mn-lt"/>
            </a:endParaRPr>
          </a:p>
        </p:txBody>
      </p:sp>
      <p:sp>
        <p:nvSpPr>
          <p:cNvPr id="24" name="SplitText_70_87344ce4-b09a-43d3-a9e6-3443302160aa"/>
          <p:cNvSpPr txBox="1"/>
          <p:nvPr/>
        </p:nvSpPr>
        <p:spPr>
          <a:xfrm>
            <a:off x="359710" y="3848860"/>
            <a:ext cx="2560320" cy="2769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RB Office" panose="00000600000000000000" pitchFamily="2" charset="0"/>
                <a:cs typeface="Calibri" panose="020F0502020204030204"/>
                <a:sym typeface="+mn-lt"/>
              </a:rPr>
              <a:t>Plan</a:t>
            </a:r>
            <a:endParaRPr lang="en-US" sz="2000" dirty="0">
              <a:solidFill>
                <a:srgbClr val="000000"/>
              </a:solidFill>
              <a:latin typeface="RB Office" panose="00000600000000000000" pitchFamily="2" charset="0"/>
              <a:cs typeface="Segoe UI" panose="020B0502040204020203"/>
              <a:sym typeface="+mn-lt"/>
            </a:endParaRPr>
          </a:p>
        </p:txBody>
      </p:sp>
      <p:sp>
        <p:nvSpPr>
          <p:cNvPr id="25" name="Oval 70"/>
          <p:cNvSpPr/>
          <p:nvPr/>
        </p:nvSpPr>
        <p:spPr>
          <a:xfrm>
            <a:off x="4238910" y="3034845"/>
            <a:ext cx="675046" cy="675046"/>
          </a:xfrm>
          <a:prstGeom prst="ellipse">
            <a:avLst/>
          </a:prstGeom>
          <a:solidFill>
            <a:srgbClr val="0096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27" name="Oval 72"/>
          <p:cNvSpPr/>
          <p:nvPr/>
        </p:nvSpPr>
        <p:spPr>
          <a:xfrm>
            <a:off x="1302347" y="3042987"/>
            <a:ext cx="675046" cy="675046"/>
          </a:xfrm>
          <a:prstGeom prst="ellipse">
            <a:avLst/>
          </a:prstGeom>
          <a:solidFill>
            <a:srgbClr val="0096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29" name="Arrow: Right 74"/>
          <p:cNvSpPr/>
          <p:nvPr/>
        </p:nvSpPr>
        <p:spPr>
          <a:xfrm>
            <a:off x="2081428" y="3279926"/>
            <a:ext cx="2053447" cy="201168"/>
          </a:xfrm>
          <a:prstGeom prst="rightArrow">
            <a:avLst/>
          </a:pr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0" name="Arrow: Right 75"/>
          <p:cNvSpPr/>
          <p:nvPr/>
        </p:nvSpPr>
        <p:spPr>
          <a:xfrm>
            <a:off x="5017991" y="3279926"/>
            <a:ext cx="2053447" cy="201168"/>
          </a:xfrm>
          <a:prstGeom prst="rightArrow">
            <a:avLst/>
          </a:pr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1" name="Arrow: Right 76"/>
          <p:cNvSpPr/>
          <p:nvPr/>
        </p:nvSpPr>
        <p:spPr>
          <a:xfrm>
            <a:off x="7954554" y="3279926"/>
            <a:ext cx="2053447" cy="201168"/>
          </a:xfrm>
          <a:prstGeom prst="rightArrow">
            <a:avLst/>
          </a:pr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2" name="Freeform: Shape 79"/>
          <p:cNvSpPr/>
          <p:nvPr/>
        </p:nvSpPr>
        <p:spPr>
          <a:xfrm>
            <a:off x="10891121" y="3330218"/>
            <a:ext cx="838600" cy="100584"/>
          </a:xfrm>
          <a:custGeom>
            <a:avLst/>
            <a:gdLst>
              <a:gd name="connsiteX0" fmla="*/ 0 w 753550"/>
              <a:gd name="connsiteY0" fmla="*/ 0 h 100584"/>
              <a:gd name="connsiteX1" fmla="*/ 753550 w 753550"/>
              <a:gd name="connsiteY1" fmla="*/ 0 h 100584"/>
              <a:gd name="connsiteX2" fmla="*/ 753550 w 753550"/>
              <a:gd name="connsiteY2" fmla="*/ 100584 h 100584"/>
              <a:gd name="connsiteX3" fmla="*/ 0 w 753550"/>
              <a:gd name="connsiteY3" fmla="*/ 100584 h 10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550" h="100584">
                <a:moveTo>
                  <a:pt x="0" y="0"/>
                </a:moveTo>
                <a:lnTo>
                  <a:pt x="753550" y="0"/>
                </a:lnTo>
                <a:lnTo>
                  <a:pt x="753550" y="100584"/>
                </a:lnTo>
                <a:lnTo>
                  <a:pt x="0" y="100584"/>
                </a:lnTo>
                <a:close/>
              </a:path>
            </a:pathLst>
          </a:cu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3" name="Arrow: Right 80"/>
          <p:cNvSpPr/>
          <p:nvPr/>
        </p:nvSpPr>
        <p:spPr>
          <a:xfrm flipH="1">
            <a:off x="7085720" y="2260373"/>
            <a:ext cx="4644000" cy="201168"/>
          </a:xfrm>
          <a:prstGeom prst="rightArrow">
            <a:avLst/>
          </a:pr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4" name="SplitText_83_61c0d93d-7d71-437d-a200-06c0f909df72"/>
          <p:cNvSpPr txBox="1"/>
          <p:nvPr/>
        </p:nvSpPr>
        <p:spPr>
          <a:xfrm>
            <a:off x="5326558" y="2235563"/>
            <a:ext cx="1538883" cy="3323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RB Office" panose="00000600000000000000" pitchFamily="2" charset="0"/>
                <a:cs typeface="Calibri" panose="020F0502020204030204"/>
                <a:sym typeface="+mn-lt"/>
              </a:rPr>
              <a:t>“一口清”</a:t>
            </a:r>
            <a:endParaRPr lang="en-US" sz="2400" dirty="0">
              <a:solidFill>
                <a:srgbClr val="000000"/>
              </a:solidFill>
              <a:latin typeface="RB Office" panose="00000600000000000000" pitchFamily="2" charset="0"/>
              <a:cs typeface="Segoe UI" panose="020B0502040204020203"/>
              <a:sym typeface="+mn-lt"/>
            </a:endParaRPr>
          </a:p>
        </p:txBody>
      </p:sp>
      <p:sp>
        <p:nvSpPr>
          <p:cNvPr id="35" name="Freeform: Shape 83"/>
          <p:cNvSpPr/>
          <p:nvPr/>
        </p:nvSpPr>
        <p:spPr>
          <a:xfrm rot="16200000">
            <a:off x="11176508" y="2819156"/>
            <a:ext cx="1005840" cy="100584"/>
          </a:xfrm>
          <a:custGeom>
            <a:avLst/>
            <a:gdLst>
              <a:gd name="connsiteX0" fmla="*/ 0 w 753550"/>
              <a:gd name="connsiteY0" fmla="*/ 0 h 100584"/>
              <a:gd name="connsiteX1" fmla="*/ 753550 w 753550"/>
              <a:gd name="connsiteY1" fmla="*/ 0 h 100584"/>
              <a:gd name="connsiteX2" fmla="*/ 753550 w 753550"/>
              <a:gd name="connsiteY2" fmla="*/ 100584 h 100584"/>
              <a:gd name="connsiteX3" fmla="*/ 0 w 753550"/>
              <a:gd name="connsiteY3" fmla="*/ 100584 h 10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550" h="100584">
                <a:moveTo>
                  <a:pt x="0" y="0"/>
                </a:moveTo>
                <a:lnTo>
                  <a:pt x="753550" y="0"/>
                </a:lnTo>
                <a:lnTo>
                  <a:pt x="753550" y="100584"/>
                </a:lnTo>
                <a:lnTo>
                  <a:pt x="0" y="100584"/>
                </a:lnTo>
                <a:close/>
              </a:path>
            </a:pathLst>
          </a:cu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6" name="Freeform: Shape 84"/>
          <p:cNvSpPr/>
          <p:nvPr/>
        </p:nvSpPr>
        <p:spPr>
          <a:xfrm>
            <a:off x="359710" y="2310665"/>
            <a:ext cx="4813408" cy="100584"/>
          </a:xfrm>
          <a:custGeom>
            <a:avLst/>
            <a:gdLst>
              <a:gd name="connsiteX0" fmla="*/ 0 w 753550"/>
              <a:gd name="connsiteY0" fmla="*/ 0 h 100584"/>
              <a:gd name="connsiteX1" fmla="*/ 753550 w 753550"/>
              <a:gd name="connsiteY1" fmla="*/ 0 h 100584"/>
              <a:gd name="connsiteX2" fmla="*/ 753550 w 753550"/>
              <a:gd name="connsiteY2" fmla="*/ 100584 h 100584"/>
              <a:gd name="connsiteX3" fmla="*/ 0 w 753550"/>
              <a:gd name="connsiteY3" fmla="*/ 100584 h 10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550" h="100584">
                <a:moveTo>
                  <a:pt x="0" y="0"/>
                </a:moveTo>
                <a:lnTo>
                  <a:pt x="753550" y="0"/>
                </a:lnTo>
                <a:lnTo>
                  <a:pt x="753550" y="100584"/>
                </a:lnTo>
                <a:lnTo>
                  <a:pt x="0" y="100584"/>
                </a:lnTo>
                <a:close/>
              </a:path>
            </a:pathLst>
          </a:cu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7" name="Freeform: Shape 85"/>
          <p:cNvSpPr/>
          <p:nvPr/>
        </p:nvSpPr>
        <p:spPr>
          <a:xfrm rot="16200000">
            <a:off x="-92917" y="2819156"/>
            <a:ext cx="1005840" cy="100584"/>
          </a:xfrm>
          <a:custGeom>
            <a:avLst/>
            <a:gdLst>
              <a:gd name="connsiteX0" fmla="*/ 0 w 753550"/>
              <a:gd name="connsiteY0" fmla="*/ 0 h 100584"/>
              <a:gd name="connsiteX1" fmla="*/ 753550 w 753550"/>
              <a:gd name="connsiteY1" fmla="*/ 0 h 100584"/>
              <a:gd name="connsiteX2" fmla="*/ 753550 w 753550"/>
              <a:gd name="connsiteY2" fmla="*/ 100584 h 100584"/>
              <a:gd name="connsiteX3" fmla="*/ 0 w 753550"/>
              <a:gd name="connsiteY3" fmla="*/ 100584 h 10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550" h="100584">
                <a:moveTo>
                  <a:pt x="0" y="0"/>
                </a:moveTo>
                <a:lnTo>
                  <a:pt x="753550" y="0"/>
                </a:lnTo>
                <a:lnTo>
                  <a:pt x="753550" y="100584"/>
                </a:lnTo>
                <a:lnTo>
                  <a:pt x="0" y="100584"/>
                </a:lnTo>
                <a:close/>
              </a:path>
            </a:pathLst>
          </a:cu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8" name="Arrow: Right 86"/>
          <p:cNvSpPr/>
          <p:nvPr/>
        </p:nvSpPr>
        <p:spPr>
          <a:xfrm>
            <a:off x="359711" y="3279926"/>
            <a:ext cx="838599" cy="201168"/>
          </a:xfrm>
          <a:prstGeom prst="rightArrow">
            <a:avLst/>
          </a:prstGeom>
          <a:solidFill>
            <a:srgbClr val="B3E7FF"/>
          </a:solidFill>
          <a:ln w="6350" cap="flat" cmpd="sng" algn="ctr">
            <a:noFill/>
            <a:prstDash val="solid"/>
          </a:ln>
          <a:effectLst/>
        </p:spPr>
        <p:txBody>
          <a:bodyPr wrap="square" lIns="72000" tIns="72000" rIns="72000" bIns="72000" rtlCol="0" anchor="t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39" name="RBLeftUShape"/>
          <p:cNvSpPr/>
          <p:nvPr/>
        </p:nvSpPr>
        <p:spPr>
          <a:xfrm rot="5400000">
            <a:off x="686060" y="4485596"/>
            <a:ext cx="1907620" cy="256032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noFill/>
          <a:ln w="6350" cap="flat" cmpd="sng" algn="ctr">
            <a:solidFill>
              <a:srgbClr val="77CD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BLeftUShape"/>
          <p:cNvSpPr/>
          <p:nvPr/>
        </p:nvSpPr>
        <p:spPr>
          <a:xfrm rot="5400000">
            <a:off x="3622624" y="4485596"/>
            <a:ext cx="1907620" cy="256032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noFill/>
          <a:ln w="6350" cap="flat" cmpd="sng" algn="ctr">
            <a:solidFill>
              <a:srgbClr val="77CD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BLeftUShape"/>
          <p:cNvSpPr/>
          <p:nvPr/>
        </p:nvSpPr>
        <p:spPr>
          <a:xfrm rot="5400000">
            <a:off x="6559187" y="4485596"/>
            <a:ext cx="1907621" cy="256032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noFill/>
          <a:ln w="6350" cap="flat" cmpd="sng" algn="ctr">
            <a:solidFill>
              <a:srgbClr val="77CD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BLeftUShape"/>
          <p:cNvSpPr/>
          <p:nvPr/>
        </p:nvSpPr>
        <p:spPr>
          <a:xfrm rot="5400000">
            <a:off x="9495750" y="4485595"/>
            <a:ext cx="1907622" cy="256032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noFill/>
          <a:ln w="6350" cap="flat" cmpd="sng" algn="ctr">
            <a:solidFill>
              <a:srgbClr val="77CD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43" name="Group 99"/>
          <p:cNvGrpSpPr/>
          <p:nvPr/>
        </p:nvGrpSpPr>
        <p:grpSpPr>
          <a:xfrm>
            <a:off x="1461118" y="3209891"/>
            <a:ext cx="357504" cy="341240"/>
            <a:chOff x="5222875" y="2595562"/>
            <a:chExt cx="1746318" cy="1666875"/>
          </a:xfrm>
          <a:solidFill>
            <a:srgbClr val="FFFFFF"/>
          </a:solidFill>
        </p:grpSpPr>
        <p:sp>
          <p:nvSpPr>
            <p:cNvPr id="44" name="Freeform: Shape 97"/>
            <p:cNvSpPr/>
            <p:nvPr/>
          </p:nvSpPr>
          <p:spPr>
            <a:xfrm>
              <a:off x="5222875" y="2595562"/>
              <a:ext cx="1746318" cy="1666875"/>
            </a:xfrm>
            <a:custGeom>
              <a:avLst/>
              <a:gdLst>
                <a:gd name="connsiteX0" fmla="*/ 0 w 1746318"/>
                <a:gd name="connsiteY0" fmla="*/ 79375 h 1666875"/>
                <a:gd name="connsiteX1" fmla="*/ 79375 w 1746318"/>
                <a:gd name="connsiteY1" fmla="*/ 0 h 1666875"/>
                <a:gd name="connsiteX2" fmla="*/ 1666875 w 1746318"/>
                <a:gd name="connsiteY2" fmla="*/ 0 h 1666875"/>
                <a:gd name="connsiteX3" fmla="*/ 1746250 w 1746318"/>
                <a:gd name="connsiteY3" fmla="*/ 79375 h 1666875"/>
                <a:gd name="connsiteX4" fmla="*/ 1746250 w 1746318"/>
                <a:gd name="connsiteY4" fmla="*/ 1554639 h 1666875"/>
                <a:gd name="connsiteX5" fmla="*/ 1744583 w 1746318"/>
                <a:gd name="connsiteY5" fmla="*/ 1571069 h 1666875"/>
                <a:gd name="connsiteX6" fmla="*/ 1683358 w 1746318"/>
                <a:gd name="connsiteY6" fmla="*/ 1665156 h 1666875"/>
                <a:gd name="connsiteX7" fmla="*/ 1666875 w 1746318"/>
                <a:gd name="connsiteY7" fmla="*/ 1666875 h 1666875"/>
                <a:gd name="connsiteX8" fmla="*/ 437197 w 1746318"/>
                <a:gd name="connsiteY8" fmla="*/ 1666875 h 1666875"/>
                <a:gd name="connsiteX9" fmla="*/ 357810 w 1746318"/>
                <a:gd name="connsiteY9" fmla="*/ 1587512 h 1666875"/>
                <a:gd name="connsiteX10" fmla="*/ 437173 w 1746318"/>
                <a:gd name="connsiteY10" fmla="*/ 1508125 h 1666875"/>
                <a:gd name="connsiteX11" fmla="*/ 437197 w 1746318"/>
                <a:gd name="connsiteY11" fmla="*/ 1508125 h 1666875"/>
                <a:gd name="connsiteX12" fmla="*/ 1587500 w 1746318"/>
                <a:gd name="connsiteY12" fmla="*/ 1508125 h 1666875"/>
                <a:gd name="connsiteX13" fmla="*/ 1587500 w 1746318"/>
                <a:gd name="connsiteY13" fmla="*/ 635000 h 1666875"/>
                <a:gd name="connsiteX14" fmla="*/ 158750 w 1746318"/>
                <a:gd name="connsiteY14" fmla="*/ 635000 h 1666875"/>
                <a:gd name="connsiteX15" fmla="*/ 158750 w 1746318"/>
                <a:gd name="connsiteY15" fmla="*/ 1078389 h 1666875"/>
                <a:gd name="connsiteX16" fmla="*/ 79387 w 1746318"/>
                <a:gd name="connsiteY16" fmla="*/ 1157776 h 1666875"/>
                <a:gd name="connsiteX17" fmla="*/ 0 w 1746318"/>
                <a:gd name="connsiteY17" fmla="*/ 1078413 h 1666875"/>
                <a:gd name="connsiteX18" fmla="*/ 0 w 1746318"/>
                <a:gd name="connsiteY18" fmla="*/ 1078389 h 1666875"/>
                <a:gd name="connsiteX19" fmla="*/ 0 w 1746318"/>
                <a:gd name="connsiteY19" fmla="*/ 79375 h 1666875"/>
                <a:gd name="connsiteX20" fmla="*/ 595313 w 1746318"/>
                <a:gd name="connsiteY20" fmla="*/ 238125 h 1666875"/>
                <a:gd name="connsiteX21" fmla="*/ 515950 w 1746318"/>
                <a:gd name="connsiteY21" fmla="*/ 317512 h 1666875"/>
                <a:gd name="connsiteX22" fmla="*/ 595313 w 1746318"/>
                <a:gd name="connsiteY22" fmla="*/ 396875 h 1666875"/>
                <a:gd name="connsiteX23" fmla="*/ 1428750 w 1746318"/>
                <a:gd name="connsiteY23" fmla="*/ 396875 h 1666875"/>
                <a:gd name="connsiteX24" fmla="*/ 1508137 w 1746318"/>
                <a:gd name="connsiteY24" fmla="*/ 317512 h 1666875"/>
                <a:gd name="connsiteX25" fmla="*/ 1428774 w 1746318"/>
                <a:gd name="connsiteY25" fmla="*/ 238125 h 1666875"/>
                <a:gd name="connsiteX26" fmla="*/ 1428750 w 1746318"/>
                <a:gd name="connsiteY26" fmla="*/ 238125 h 1666875"/>
                <a:gd name="connsiteX27" fmla="*/ 595313 w 1746318"/>
                <a:gd name="connsiteY27" fmla="*/ 238125 h 1666875"/>
                <a:gd name="connsiteX28" fmla="*/ 238125 w 1746318"/>
                <a:gd name="connsiteY28" fmla="*/ 317341 h 1666875"/>
                <a:gd name="connsiteX29" fmla="*/ 317500 w 1746318"/>
                <a:gd name="connsiteY29" fmla="*/ 396716 h 1666875"/>
                <a:gd name="connsiteX30" fmla="*/ 357188 w 1746318"/>
                <a:gd name="connsiteY30" fmla="*/ 396716 h 1666875"/>
                <a:gd name="connsiteX31" fmla="*/ 436550 w 1746318"/>
                <a:gd name="connsiteY31" fmla="*/ 317329 h 1666875"/>
                <a:gd name="connsiteX32" fmla="*/ 357188 w 1746318"/>
                <a:gd name="connsiteY32" fmla="*/ 237966 h 1666875"/>
                <a:gd name="connsiteX33" fmla="*/ 317500 w 1746318"/>
                <a:gd name="connsiteY33" fmla="*/ 237966 h 1666875"/>
                <a:gd name="connsiteX34" fmla="*/ 238125 w 1746318"/>
                <a:gd name="connsiteY34" fmla="*/ 317341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46318" h="1666875">
                  <a:moveTo>
                    <a:pt x="0" y="79375"/>
                  </a:moveTo>
                  <a:cubicBezTo>
                    <a:pt x="0" y="35537"/>
                    <a:pt x="35537" y="0"/>
                    <a:pt x="79375" y="0"/>
                  </a:cubicBezTo>
                  <a:lnTo>
                    <a:pt x="1666875" y="0"/>
                  </a:lnTo>
                  <a:cubicBezTo>
                    <a:pt x="1710713" y="0"/>
                    <a:pt x="1746250" y="35537"/>
                    <a:pt x="1746250" y="79375"/>
                  </a:cubicBezTo>
                  <a:lnTo>
                    <a:pt x="1746250" y="1554639"/>
                  </a:lnTo>
                  <a:cubicBezTo>
                    <a:pt x="1746250" y="1560195"/>
                    <a:pt x="1745694" y="1565751"/>
                    <a:pt x="1744583" y="1571069"/>
                  </a:cubicBezTo>
                  <a:cubicBezTo>
                    <a:pt x="1753658" y="1613958"/>
                    <a:pt x="1726246" y="1656082"/>
                    <a:pt x="1683358" y="1665156"/>
                  </a:cubicBezTo>
                  <a:cubicBezTo>
                    <a:pt x="1677939" y="1666303"/>
                    <a:pt x="1672414" y="1666879"/>
                    <a:pt x="1666875" y="1666875"/>
                  </a:cubicBezTo>
                  <a:lnTo>
                    <a:pt x="437197" y="1666875"/>
                  </a:lnTo>
                  <a:cubicBezTo>
                    <a:pt x="393360" y="1666882"/>
                    <a:pt x="357817" y="1631350"/>
                    <a:pt x="357810" y="1587512"/>
                  </a:cubicBezTo>
                  <a:cubicBezTo>
                    <a:pt x="357804" y="1543675"/>
                    <a:pt x="393336" y="1508132"/>
                    <a:pt x="437173" y="1508125"/>
                  </a:cubicBezTo>
                  <a:cubicBezTo>
                    <a:pt x="437181" y="1508125"/>
                    <a:pt x="437189" y="1508125"/>
                    <a:pt x="437197" y="1508125"/>
                  </a:cubicBezTo>
                  <a:lnTo>
                    <a:pt x="1587500" y="1508125"/>
                  </a:lnTo>
                  <a:lnTo>
                    <a:pt x="1587500" y="635000"/>
                  </a:lnTo>
                  <a:lnTo>
                    <a:pt x="158750" y="635000"/>
                  </a:lnTo>
                  <a:lnTo>
                    <a:pt x="158750" y="1078389"/>
                  </a:lnTo>
                  <a:cubicBezTo>
                    <a:pt x="158757" y="1122226"/>
                    <a:pt x="123225" y="1157769"/>
                    <a:pt x="79387" y="1157776"/>
                  </a:cubicBezTo>
                  <a:cubicBezTo>
                    <a:pt x="35550" y="1157783"/>
                    <a:pt x="7" y="1122251"/>
                    <a:pt x="0" y="1078413"/>
                  </a:cubicBezTo>
                  <a:cubicBezTo>
                    <a:pt x="0" y="1078405"/>
                    <a:pt x="0" y="1078397"/>
                    <a:pt x="0" y="1078389"/>
                  </a:cubicBezTo>
                  <a:lnTo>
                    <a:pt x="0" y="79375"/>
                  </a:lnTo>
                  <a:close/>
                  <a:moveTo>
                    <a:pt x="595313" y="238125"/>
                  </a:moveTo>
                  <a:cubicBezTo>
                    <a:pt x="551475" y="238132"/>
                    <a:pt x="515943" y="273675"/>
                    <a:pt x="515950" y="317512"/>
                  </a:cubicBezTo>
                  <a:cubicBezTo>
                    <a:pt x="515956" y="361340"/>
                    <a:pt x="551484" y="396868"/>
                    <a:pt x="595313" y="396875"/>
                  </a:cubicBezTo>
                  <a:lnTo>
                    <a:pt x="1428750" y="396875"/>
                  </a:lnTo>
                  <a:cubicBezTo>
                    <a:pt x="1472588" y="396882"/>
                    <a:pt x="1508131" y="361350"/>
                    <a:pt x="1508137" y="317512"/>
                  </a:cubicBezTo>
                  <a:cubicBezTo>
                    <a:pt x="1508144" y="273675"/>
                    <a:pt x="1472612" y="238132"/>
                    <a:pt x="1428774" y="238125"/>
                  </a:cubicBezTo>
                  <a:cubicBezTo>
                    <a:pt x="1428766" y="238125"/>
                    <a:pt x="1428758" y="238125"/>
                    <a:pt x="1428750" y="238125"/>
                  </a:cubicBezTo>
                  <a:lnTo>
                    <a:pt x="595313" y="238125"/>
                  </a:lnTo>
                  <a:close/>
                  <a:moveTo>
                    <a:pt x="238125" y="317341"/>
                  </a:moveTo>
                  <a:cubicBezTo>
                    <a:pt x="238125" y="361179"/>
                    <a:pt x="273662" y="396716"/>
                    <a:pt x="317500" y="396716"/>
                  </a:cubicBezTo>
                  <a:lnTo>
                    <a:pt x="357188" y="396716"/>
                  </a:lnTo>
                  <a:cubicBezTo>
                    <a:pt x="401025" y="396710"/>
                    <a:pt x="436557" y="361167"/>
                    <a:pt x="436550" y="317329"/>
                  </a:cubicBezTo>
                  <a:cubicBezTo>
                    <a:pt x="436544" y="273501"/>
                    <a:pt x="401016" y="237973"/>
                    <a:pt x="357188" y="237966"/>
                  </a:cubicBezTo>
                  <a:lnTo>
                    <a:pt x="317500" y="237966"/>
                  </a:lnTo>
                  <a:cubicBezTo>
                    <a:pt x="273662" y="237966"/>
                    <a:pt x="238125" y="273504"/>
                    <a:pt x="238125" y="31734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45" name="Freeform: Shape 98"/>
            <p:cNvSpPr/>
            <p:nvPr/>
          </p:nvSpPr>
          <p:spPr>
            <a:xfrm>
              <a:off x="5223792" y="3468699"/>
              <a:ext cx="1399851" cy="714625"/>
            </a:xfrm>
            <a:custGeom>
              <a:avLst/>
              <a:gdLst>
                <a:gd name="connsiteX0" fmla="*/ 1085965 w 1399851"/>
                <a:gd name="connsiteY0" fmla="*/ 23165 h 714625"/>
                <a:gd name="connsiteX1" fmla="*/ 1197407 w 1399851"/>
                <a:gd name="connsiteY1" fmla="*/ 22530 h 714625"/>
                <a:gd name="connsiteX2" fmla="*/ 1375207 w 1399851"/>
                <a:gd name="connsiteY2" fmla="*/ 195885 h 714625"/>
                <a:gd name="connsiteX3" fmla="*/ 1377964 w 1399851"/>
                <a:gd name="connsiteY3" fmla="*/ 308105 h 714625"/>
                <a:gd name="connsiteX4" fmla="*/ 1265745 w 1399851"/>
                <a:gd name="connsiteY4" fmla="*/ 310862 h 714625"/>
                <a:gd name="connsiteX5" fmla="*/ 1264400 w 1399851"/>
                <a:gd name="connsiteY5" fmla="*/ 309550 h 714625"/>
                <a:gd name="connsiteX6" fmla="*/ 1142718 w 1399851"/>
                <a:gd name="connsiteY6" fmla="*/ 190885 h 714625"/>
                <a:gd name="connsiteX7" fmla="*/ 878875 w 1399851"/>
                <a:gd name="connsiteY7" fmla="*/ 454251 h 714625"/>
                <a:gd name="connsiteX8" fmla="*/ 767909 w 1399851"/>
                <a:gd name="connsiteY8" fmla="*/ 455362 h 714625"/>
                <a:gd name="connsiteX9" fmla="*/ 563122 w 1399851"/>
                <a:gd name="connsiteY9" fmla="*/ 259306 h 714625"/>
                <a:gd name="connsiteX10" fmla="*/ 134894 w 1399851"/>
                <a:gd name="connsiteY10" fmla="*/ 691979 h 714625"/>
                <a:gd name="connsiteX11" fmla="*/ 22647 w 1399851"/>
                <a:gd name="connsiteY11" fmla="*/ 690770 h 714625"/>
                <a:gd name="connsiteX12" fmla="*/ 22022 w 1399851"/>
                <a:gd name="connsiteY12" fmla="*/ 580378 h 714625"/>
                <a:gd name="connsiteX13" fmla="*/ 505257 w 1399851"/>
                <a:gd name="connsiteY13" fmla="*/ 92221 h 714625"/>
                <a:gd name="connsiteX14" fmla="*/ 616541 w 1399851"/>
                <a:gd name="connsiteY14" fmla="*/ 90634 h 714625"/>
                <a:gd name="connsiteX15" fmla="*/ 821646 w 1399851"/>
                <a:gd name="connsiteY15" fmla="*/ 287008 h 714625"/>
                <a:gd name="connsiteX16" fmla="*/ 1085965 w 1399851"/>
                <a:gd name="connsiteY16" fmla="*/ 23165 h 7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9851" h="714625">
                  <a:moveTo>
                    <a:pt x="1085965" y="23165"/>
                  </a:moveTo>
                  <a:cubicBezTo>
                    <a:pt x="1116694" y="-7473"/>
                    <a:pt x="1166331" y="-7756"/>
                    <a:pt x="1197407" y="22530"/>
                  </a:cubicBezTo>
                  <a:lnTo>
                    <a:pt x="1375207" y="195885"/>
                  </a:lnTo>
                  <a:cubicBezTo>
                    <a:pt x="1406957" y="226112"/>
                    <a:pt x="1408191" y="276355"/>
                    <a:pt x="1377964" y="308105"/>
                  </a:cubicBezTo>
                  <a:cubicBezTo>
                    <a:pt x="1347737" y="339854"/>
                    <a:pt x="1297495" y="341089"/>
                    <a:pt x="1265745" y="310862"/>
                  </a:cubicBezTo>
                  <a:cubicBezTo>
                    <a:pt x="1265291" y="310430"/>
                    <a:pt x="1264843" y="309993"/>
                    <a:pt x="1264400" y="309550"/>
                  </a:cubicBezTo>
                  <a:lnTo>
                    <a:pt x="1142718" y="190885"/>
                  </a:lnTo>
                  <a:lnTo>
                    <a:pt x="878875" y="454251"/>
                  </a:lnTo>
                  <a:cubicBezTo>
                    <a:pt x="848333" y="484712"/>
                    <a:pt x="799055" y="485205"/>
                    <a:pt x="767909" y="455362"/>
                  </a:cubicBezTo>
                  <a:lnTo>
                    <a:pt x="563122" y="259306"/>
                  </a:lnTo>
                  <a:lnTo>
                    <a:pt x="134894" y="691979"/>
                  </a:lnTo>
                  <a:cubicBezTo>
                    <a:pt x="103564" y="722641"/>
                    <a:pt x="53309" y="722100"/>
                    <a:pt x="22647" y="690770"/>
                  </a:cubicBezTo>
                  <a:cubicBezTo>
                    <a:pt x="-7305" y="660165"/>
                    <a:pt x="-7581" y="611319"/>
                    <a:pt x="22022" y="580378"/>
                  </a:cubicBezTo>
                  <a:lnTo>
                    <a:pt x="505257" y="92221"/>
                  </a:lnTo>
                  <a:cubicBezTo>
                    <a:pt x="535706" y="61420"/>
                    <a:pt x="585226" y="60713"/>
                    <a:pt x="616541" y="90634"/>
                  </a:cubicBezTo>
                  <a:lnTo>
                    <a:pt x="821646" y="287008"/>
                  </a:lnTo>
                  <a:lnTo>
                    <a:pt x="1085965" y="23165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grpSp>
        <p:nvGrpSpPr>
          <p:cNvPr id="46" name="Group 4"/>
          <p:cNvGrpSpPr>
            <a:grpSpLocks noChangeAspect="1"/>
          </p:cNvGrpSpPr>
          <p:nvPr/>
        </p:nvGrpSpPr>
        <p:grpSpPr bwMode="auto">
          <a:xfrm>
            <a:off x="4372991" y="3168832"/>
            <a:ext cx="406885" cy="407073"/>
            <a:chOff x="1678" y="-4"/>
            <a:chExt cx="4324" cy="4326"/>
          </a:xfrm>
          <a:solidFill>
            <a:srgbClr val="FFFFFF"/>
          </a:solidFill>
        </p:grpSpPr>
        <p:sp>
          <p:nvSpPr>
            <p:cNvPr id="47" name="Freeform 5"/>
            <p:cNvSpPr/>
            <p:nvPr/>
          </p:nvSpPr>
          <p:spPr bwMode="auto">
            <a:xfrm>
              <a:off x="2700" y="-4"/>
              <a:ext cx="2282" cy="2029"/>
            </a:xfrm>
            <a:custGeom>
              <a:avLst/>
              <a:gdLst>
                <a:gd name="T0" fmla="*/ 1080 w 1081"/>
                <a:gd name="T1" fmla="*/ 537 h 961"/>
                <a:gd name="T2" fmla="*/ 540 w 1081"/>
                <a:gd name="T3" fmla="*/ 1 h 961"/>
                <a:gd name="T4" fmla="*/ 0 w 1081"/>
                <a:gd name="T5" fmla="*/ 541 h 961"/>
                <a:gd name="T6" fmla="*/ 202 w 1081"/>
                <a:gd name="T7" fmla="*/ 961 h 961"/>
                <a:gd name="T8" fmla="*/ 480 w 1081"/>
                <a:gd name="T9" fmla="*/ 961 h 961"/>
                <a:gd name="T10" fmla="*/ 480 w 1081"/>
                <a:gd name="T11" fmla="*/ 813 h 961"/>
                <a:gd name="T12" fmla="*/ 300 w 1081"/>
                <a:gd name="T13" fmla="*/ 693 h 961"/>
                <a:gd name="T14" fmla="*/ 300 w 1081"/>
                <a:gd name="T15" fmla="*/ 481 h 961"/>
                <a:gd name="T16" fmla="*/ 420 w 1081"/>
                <a:gd name="T17" fmla="*/ 481 h 961"/>
                <a:gd name="T18" fmla="*/ 420 w 1081"/>
                <a:gd name="T19" fmla="*/ 629 h 961"/>
                <a:gd name="T20" fmla="*/ 540 w 1081"/>
                <a:gd name="T21" fmla="*/ 709 h 961"/>
                <a:gd name="T22" fmla="*/ 660 w 1081"/>
                <a:gd name="T23" fmla="*/ 629 h 961"/>
                <a:gd name="T24" fmla="*/ 660 w 1081"/>
                <a:gd name="T25" fmla="*/ 481 h 961"/>
                <a:gd name="T26" fmla="*/ 780 w 1081"/>
                <a:gd name="T27" fmla="*/ 481 h 961"/>
                <a:gd name="T28" fmla="*/ 780 w 1081"/>
                <a:gd name="T29" fmla="*/ 693 h 961"/>
                <a:gd name="T30" fmla="*/ 600 w 1081"/>
                <a:gd name="T31" fmla="*/ 813 h 961"/>
                <a:gd name="T32" fmla="*/ 600 w 1081"/>
                <a:gd name="T33" fmla="*/ 961 h 961"/>
                <a:gd name="T34" fmla="*/ 879 w 1081"/>
                <a:gd name="T35" fmla="*/ 961 h 961"/>
                <a:gd name="T36" fmla="*/ 1080 w 1081"/>
                <a:gd name="T37" fmla="*/ 537 h 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1" h="961">
                  <a:moveTo>
                    <a:pt x="1080" y="537"/>
                  </a:moveTo>
                  <a:cubicBezTo>
                    <a:pt x="1078" y="236"/>
                    <a:pt x="828" y="0"/>
                    <a:pt x="540" y="1"/>
                  </a:cubicBezTo>
                  <a:cubicBezTo>
                    <a:pt x="238" y="2"/>
                    <a:pt x="0" y="246"/>
                    <a:pt x="0" y="541"/>
                  </a:cubicBezTo>
                  <a:cubicBezTo>
                    <a:pt x="0" y="706"/>
                    <a:pt x="76" y="859"/>
                    <a:pt x="202" y="961"/>
                  </a:cubicBezTo>
                  <a:cubicBezTo>
                    <a:pt x="480" y="961"/>
                    <a:pt x="480" y="961"/>
                    <a:pt x="480" y="961"/>
                  </a:cubicBezTo>
                  <a:cubicBezTo>
                    <a:pt x="480" y="813"/>
                    <a:pt x="480" y="813"/>
                    <a:pt x="480" y="813"/>
                  </a:cubicBezTo>
                  <a:cubicBezTo>
                    <a:pt x="300" y="693"/>
                    <a:pt x="300" y="693"/>
                    <a:pt x="300" y="693"/>
                  </a:cubicBezTo>
                  <a:cubicBezTo>
                    <a:pt x="300" y="481"/>
                    <a:pt x="300" y="481"/>
                    <a:pt x="300" y="481"/>
                  </a:cubicBezTo>
                  <a:cubicBezTo>
                    <a:pt x="420" y="481"/>
                    <a:pt x="420" y="481"/>
                    <a:pt x="420" y="481"/>
                  </a:cubicBezTo>
                  <a:cubicBezTo>
                    <a:pt x="420" y="629"/>
                    <a:pt x="420" y="629"/>
                    <a:pt x="420" y="629"/>
                  </a:cubicBezTo>
                  <a:cubicBezTo>
                    <a:pt x="540" y="709"/>
                    <a:pt x="540" y="709"/>
                    <a:pt x="540" y="709"/>
                  </a:cubicBezTo>
                  <a:cubicBezTo>
                    <a:pt x="660" y="629"/>
                    <a:pt x="660" y="629"/>
                    <a:pt x="660" y="629"/>
                  </a:cubicBezTo>
                  <a:cubicBezTo>
                    <a:pt x="660" y="481"/>
                    <a:pt x="660" y="481"/>
                    <a:pt x="660" y="481"/>
                  </a:cubicBezTo>
                  <a:cubicBezTo>
                    <a:pt x="780" y="481"/>
                    <a:pt x="780" y="481"/>
                    <a:pt x="780" y="481"/>
                  </a:cubicBezTo>
                  <a:cubicBezTo>
                    <a:pt x="780" y="693"/>
                    <a:pt x="780" y="693"/>
                    <a:pt x="780" y="693"/>
                  </a:cubicBezTo>
                  <a:cubicBezTo>
                    <a:pt x="600" y="813"/>
                    <a:pt x="600" y="813"/>
                    <a:pt x="600" y="813"/>
                  </a:cubicBezTo>
                  <a:cubicBezTo>
                    <a:pt x="600" y="961"/>
                    <a:pt x="600" y="961"/>
                    <a:pt x="600" y="961"/>
                  </a:cubicBezTo>
                  <a:cubicBezTo>
                    <a:pt x="879" y="961"/>
                    <a:pt x="879" y="961"/>
                    <a:pt x="879" y="961"/>
                  </a:cubicBezTo>
                  <a:cubicBezTo>
                    <a:pt x="1007" y="858"/>
                    <a:pt x="1081" y="703"/>
                    <a:pt x="1080" y="5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3333" y="2278"/>
              <a:ext cx="1014" cy="7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49" name="Freeform 7"/>
            <p:cNvSpPr/>
            <p:nvPr/>
          </p:nvSpPr>
          <p:spPr bwMode="auto">
            <a:xfrm>
              <a:off x="2132" y="1725"/>
              <a:ext cx="564" cy="473"/>
            </a:xfrm>
            <a:custGeom>
              <a:avLst/>
              <a:gdLst>
                <a:gd name="T0" fmla="*/ 564 w 564"/>
                <a:gd name="T1" fmla="*/ 220 h 473"/>
                <a:gd name="T2" fmla="*/ 437 w 564"/>
                <a:gd name="T3" fmla="*/ 0 h 473"/>
                <a:gd name="T4" fmla="*/ 0 w 564"/>
                <a:gd name="T5" fmla="*/ 253 h 473"/>
                <a:gd name="T6" fmla="*/ 127 w 564"/>
                <a:gd name="T7" fmla="*/ 473 h 473"/>
                <a:gd name="T8" fmla="*/ 564 w 564"/>
                <a:gd name="T9" fmla="*/ 22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473">
                  <a:moveTo>
                    <a:pt x="564" y="220"/>
                  </a:moveTo>
                  <a:lnTo>
                    <a:pt x="437" y="0"/>
                  </a:lnTo>
                  <a:lnTo>
                    <a:pt x="0" y="253"/>
                  </a:lnTo>
                  <a:lnTo>
                    <a:pt x="127" y="473"/>
                  </a:lnTo>
                  <a:lnTo>
                    <a:pt x="564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50" name="Freeform 8"/>
            <p:cNvSpPr/>
            <p:nvPr/>
          </p:nvSpPr>
          <p:spPr bwMode="auto">
            <a:xfrm>
              <a:off x="4984" y="78"/>
              <a:ext cx="564" cy="473"/>
            </a:xfrm>
            <a:custGeom>
              <a:avLst/>
              <a:gdLst>
                <a:gd name="T0" fmla="*/ 564 w 564"/>
                <a:gd name="T1" fmla="*/ 220 h 473"/>
                <a:gd name="T2" fmla="*/ 437 w 564"/>
                <a:gd name="T3" fmla="*/ 0 h 473"/>
                <a:gd name="T4" fmla="*/ 0 w 564"/>
                <a:gd name="T5" fmla="*/ 254 h 473"/>
                <a:gd name="T6" fmla="*/ 127 w 564"/>
                <a:gd name="T7" fmla="*/ 473 h 473"/>
                <a:gd name="T8" fmla="*/ 564 w 564"/>
                <a:gd name="T9" fmla="*/ 22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473">
                  <a:moveTo>
                    <a:pt x="564" y="220"/>
                  </a:moveTo>
                  <a:lnTo>
                    <a:pt x="437" y="0"/>
                  </a:lnTo>
                  <a:lnTo>
                    <a:pt x="0" y="254"/>
                  </a:lnTo>
                  <a:lnTo>
                    <a:pt x="127" y="473"/>
                  </a:lnTo>
                  <a:lnTo>
                    <a:pt x="564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51" name="Freeform 9"/>
            <p:cNvSpPr/>
            <p:nvPr/>
          </p:nvSpPr>
          <p:spPr bwMode="auto">
            <a:xfrm>
              <a:off x="2132" y="78"/>
              <a:ext cx="564" cy="473"/>
            </a:xfrm>
            <a:custGeom>
              <a:avLst/>
              <a:gdLst>
                <a:gd name="T0" fmla="*/ 127 w 564"/>
                <a:gd name="T1" fmla="*/ 0 h 473"/>
                <a:gd name="T2" fmla="*/ 0 w 564"/>
                <a:gd name="T3" fmla="*/ 220 h 473"/>
                <a:gd name="T4" fmla="*/ 437 w 564"/>
                <a:gd name="T5" fmla="*/ 473 h 473"/>
                <a:gd name="T6" fmla="*/ 564 w 564"/>
                <a:gd name="T7" fmla="*/ 254 h 473"/>
                <a:gd name="T8" fmla="*/ 127 w 564"/>
                <a:gd name="T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473">
                  <a:moveTo>
                    <a:pt x="127" y="0"/>
                  </a:moveTo>
                  <a:lnTo>
                    <a:pt x="0" y="220"/>
                  </a:lnTo>
                  <a:lnTo>
                    <a:pt x="437" y="473"/>
                  </a:lnTo>
                  <a:lnTo>
                    <a:pt x="564" y="254"/>
                  </a:lnTo>
                  <a:lnTo>
                    <a:pt x="1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52" name="Freeform 10"/>
            <p:cNvSpPr/>
            <p:nvPr/>
          </p:nvSpPr>
          <p:spPr bwMode="auto">
            <a:xfrm>
              <a:off x="4984" y="1725"/>
              <a:ext cx="564" cy="473"/>
            </a:xfrm>
            <a:custGeom>
              <a:avLst/>
              <a:gdLst>
                <a:gd name="T0" fmla="*/ 437 w 564"/>
                <a:gd name="T1" fmla="*/ 473 h 473"/>
                <a:gd name="T2" fmla="*/ 564 w 564"/>
                <a:gd name="T3" fmla="*/ 253 h 473"/>
                <a:gd name="T4" fmla="*/ 127 w 564"/>
                <a:gd name="T5" fmla="*/ 0 h 473"/>
                <a:gd name="T6" fmla="*/ 0 w 564"/>
                <a:gd name="T7" fmla="*/ 220 h 473"/>
                <a:gd name="T8" fmla="*/ 437 w 564"/>
                <a:gd name="T9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473">
                  <a:moveTo>
                    <a:pt x="437" y="473"/>
                  </a:moveTo>
                  <a:lnTo>
                    <a:pt x="564" y="253"/>
                  </a:lnTo>
                  <a:lnTo>
                    <a:pt x="127" y="0"/>
                  </a:lnTo>
                  <a:lnTo>
                    <a:pt x="0" y="220"/>
                  </a:lnTo>
                  <a:lnTo>
                    <a:pt x="437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53" name="Rectangle 11"/>
            <p:cNvSpPr>
              <a:spLocks noChangeArrowheads="1"/>
            </p:cNvSpPr>
            <p:nvPr/>
          </p:nvSpPr>
          <p:spPr bwMode="auto">
            <a:xfrm>
              <a:off x="1940" y="1011"/>
              <a:ext cx="507" cy="2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54" name="Rectangle 12"/>
            <p:cNvSpPr>
              <a:spLocks noChangeArrowheads="1"/>
            </p:cNvSpPr>
            <p:nvPr/>
          </p:nvSpPr>
          <p:spPr bwMode="auto">
            <a:xfrm>
              <a:off x="5234" y="1011"/>
              <a:ext cx="506" cy="2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55" name="Freeform 13"/>
            <p:cNvSpPr/>
            <p:nvPr/>
          </p:nvSpPr>
          <p:spPr bwMode="auto">
            <a:xfrm>
              <a:off x="1678" y="3309"/>
              <a:ext cx="4324" cy="1013"/>
            </a:xfrm>
            <a:custGeom>
              <a:avLst/>
              <a:gdLst>
                <a:gd name="T0" fmla="*/ 1928 w 2048"/>
                <a:gd name="T1" fmla="*/ 0 h 480"/>
                <a:gd name="T2" fmla="*/ 1144 w 2048"/>
                <a:gd name="T3" fmla="*/ 0 h 480"/>
                <a:gd name="T4" fmla="*/ 1024 w 2048"/>
                <a:gd name="T5" fmla="*/ 47 h 480"/>
                <a:gd name="T6" fmla="*/ 904 w 2048"/>
                <a:gd name="T7" fmla="*/ 0 h 480"/>
                <a:gd name="T8" fmla="*/ 120 w 2048"/>
                <a:gd name="T9" fmla="*/ 0 h 480"/>
                <a:gd name="T10" fmla="*/ 120 w 2048"/>
                <a:gd name="T11" fmla="*/ 240 h 480"/>
                <a:gd name="T12" fmla="*/ 0 w 2048"/>
                <a:gd name="T13" fmla="*/ 240 h 480"/>
                <a:gd name="T14" fmla="*/ 0 w 2048"/>
                <a:gd name="T15" fmla="*/ 360 h 480"/>
                <a:gd name="T16" fmla="*/ 724 w 2048"/>
                <a:gd name="T17" fmla="*/ 360 h 480"/>
                <a:gd name="T18" fmla="*/ 724 w 2048"/>
                <a:gd name="T19" fmla="*/ 480 h 480"/>
                <a:gd name="T20" fmla="*/ 1324 w 2048"/>
                <a:gd name="T21" fmla="*/ 480 h 480"/>
                <a:gd name="T22" fmla="*/ 1324 w 2048"/>
                <a:gd name="T23" fmla="*/ 360 h 480"/>
                <a:gd name="T24" fmla="*/ 2048 w 2048"/>
                <a:gd name="T25" fmla="*/ 360 h 480"/>
                <a:gd name="T26" fmla="*/ 2048 w 2048"/>
                <a:gd name="T27" fmla="*/ 240 h 480"/>
                <a:gd name="T28" fmla="*/ 1928 w 2048"/>
                <a:gd name="T29" fmla="*/ 240 h 480"/>
                <a:gd name="T30" fmla="*/ 1928 w 2048"/>
                <a:gd name="T31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8" h="480">
                  <a:moveTo>
                    <a:pt x="1928" y="0"/>
                  </a:moveTo>
                  <a:cubicBezTo>
                    <a:pt x="1144" y="0"/>
                    <a:pt x="1144" y="0"/>
                    <a:pt x="1144" y="0"/>
                  </a:cubicBezTo>
                  <a:cubicBezTo>
                    <a:pt x="1098" y="0"/>
                    <a:pt x="1056" y="18"/>
                    <a:pt x="1024" y="47"/>
                  </a:cubicBezTo>
                  <a:cubicBezTo>
                    <a:pt x="992" y="18"/>
                    <a:pt x="950" y="0"/>
                    <a:pt x="904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240"/>
                    <a:pt x="120" y="240"/>
                    <a:pt x="120" y="24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724" y="360"/>
                    <a:pt x="724" y="360"/>
                    <a:pt x="724" y="360"/>
                  </a:cubicBezTo>
                  <a:cubicBezTo>
                    <a:pt x="724" y="480"/>
                    <a:pt x="724" y="480"/>
                    <a:pt x="724" y="480"/>
                  </a:cubicBezTo>
                  <a:cubicBezTo>
                    <a:pt x="1324" y="480"/>
                    <a:pt x="1324" y="480"/>
                    <a:pt x="1324" y="480"/>
                  </a:cubicBezTo>
                  <a:cubicBezTo>
                    <a:pt x="1324" y="360"/>
                    <a:pt x="1324" y="360"/>
                    <a:pt x="1324" y="360"/>
                  </a:cubicBezTo>
                  <a:cubicBezTo>
                    <a:pt x="2048" y="360"/>
                    <a:pt x="2048" y="360"/>
                    <a:pt x="2048" y="360"/>
                  </a:cubicBezTo>
                  <a:cubicBezTo>
                    <a:pt x="2048" y="240"/>
                    <a:pt x="2048" y="240"/>
                    <a:pt x="2048" y="240"/>
                  </a:cubicBezTo>
                  <a:cubicBezTo>
                    <a:pt x="1928" y="240"/>
                    <a:pt x="1928" y="240"/>
                    <a:pt x="1928" y="240"/>
                  </a:cubicBezTo>
                  <a:lnTo>
                    <a:pt x="19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0112038" y="3042987"/>
            <a:ext cx="675046" cy="675046"/>
            <a:chOff x="7175473" y="2965163"/>
            <a:chExt cx="675046" cy="675046"/>
          </a:xfrm>
        </p:grpSpPr>
        <p:sp>
          <p:nvSpPr>
            <p:cNvPr id="26" name="Oval 71"/>
            <p:cNvSpPr/>
            <p:nvPr/>
          </p:nvSpPr>
          <p:spPr>
            <a:xfrm>
              <a:off x="7175473" y="2965163"/>
              <a:ext cx="675046" cy="675046"/>
            </a:xfrm>
            <a:prstGeom prst="ellipse">
              <a:avLst/>
            </a:prstGeom>
            <a:solidFill>
              <a:srgbClr val="0096FF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72000" tIns="72000" rIns="72000" bIns="72000" rtlCol="0" anchor="t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  <p:grpSp>
          <p:nvGrpSpPr>
            <p:cNvPr id="56" name="Group 121"/>
            <p:cNvGrpSpPr/>
            <p:nvPr/>
          </p:nvGrpSpPr>
          <p:grpSpPr>
            <a:xfrm>
              <a:off x="7309016" y="3117197"/>
              <a:ext cx="407962" cy="370978"/>
              <a:chOff x="5259558" y="2668102"/>
              <a:chExt cx="1667470" cy="1516308"/>
            </a:xfrm>
            <a:solidFill>
              <a:srgbClr val="FFFFFF"/>
            </a:solidFill>
          </p:grpSpPr>
          <p:sp>
            <p:nvSpPr>
              <p:cNvPr id="57" name="Freeform: Shape 116"/>
              <p:cNvSpPr/>
              <p:nvPr/>
            </p:nvSpPr>
            <p:spPr>
              <a:xfrm>
                <a:off x="5337612" y="3826850"/>
                <a:ext cx="283820" cy="357558"/>
              </a:xfrm>
              <a:custGeom>
                <a:avLst/>
                <a:gdLst>
                  <a:gd name="connsiteX0" fmla="*/ 0 w 283820"/>
                  <a:gd name="connsiteY0" fmla="*/ 0 h 357558"/>
                  <a:gd name="connsiteX1" fmla="*/ 283820 w 283820"/>
                  <a:gd name="connsiteY1" fmla="*/ 0 h 357558"/>
                  <a:gd name="connsiteX2" fmla="*/ 283820 w 283820"/>
                  <a:gd name="connsiteY2" fmla="*/ 357559 h 357558"/>
                  <a:gd name="connsiteX3" fmla="*/ 0 w 283820"/>
                  <a:gd name="connsiteY3" fmla="*/ 357559 h 357558"/>
                  <a:gd name="connsiteX4" fmla="*/ 0 w 283820"/>
                  <a:gd name="connsiteY4" fmla="*/ 0 h 357558"/>
                  <a:gd name="connsiteX5" fmla="*/ 0 w 283820"/>
                  <a:gd name="connsiteY5" fmla="*/ 0 h 357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3820" h="357558">
                    <a:moveTo>
                      <a:pt x="0" y="0"/>
                    </a:moveTo>
                    <a:lnTo>
                      <a:pt x="283820" y="0"/>
                    </a:lnTo>
                    <a:lnTo>
                      <a:pt x="283820" y="357559"/>
                    </a:lnTo>
                    <a:lnTo>
                      <a:pt x="0" y="35755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58" name="Freeform: Shape 117"/>
              <p:cNvSpPr/>
              <p:nvPr/>
            </p:nvSpPr>
            <p:spPr>
              <a:xfrm>
                <a:off x="5770441" y="3460243"/>
                <a:ext cx="290913" cy="724165"/>
              </a:xfrm>
              <a:custGeom>
                <a:avLst/>
                <a:gdLst>
                  <a:gd name="connsiteX0" fmla="*/ 0 w 290913"/>
                  <a:gd name="connsiteY0" fmla="*/ 0 h 724165"/>
                  <a:gd name="connsiteX1" fmla="*/ 290913 w 290913"/>
                  <a:gd name="connsiteY1" fmla="*/ 0 h 724165"/>
                  <a:gd name="connsiteX2" fmla="*/ 290913 w 290913"/>
                  <a:gd name="connsiteY2" fmla="*/ 724165 h 724165"/>
                  <a:gd name="connsiteX3" fmla="*/ 0 w 290913"/>
                  <a:gd name="connsiteY3" fmla="*/ 724165 h 724165"/>
                  <a:gd name="connsiteX4" fmla="*/ 0 w 290913"/>
                  <a:gd name="connsiteY4" fmla="*/ 0 h 724165"/>
                  <a:gd name="connsiteX5" fmla="*/ 0 w 290913"/>
                  <a:gd name="connsiteY5" fmla="*/ 0 h 724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913" h="724165">
                    <a:moveTo>
                      <a:pt x="0" y="0"/>
                    </a:moveTo>
                    <a:lnTo>
                      <a:pt x="290913" y="0"/>
                    </a:lnTo>
                    <a:lnTo>
                      <a:pt x="290913" y="724165"/>
                    </a:lnTo>
                    <a:lnTo>
                      <a:pt x="0" y="72416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59" name="Freeform: Shape 118"/>
              <p:cNvSpPr/>
              <p:nvPr/>
            </p:nvSpPr>
            <p:spPr>
              <a:xfrm>
                <a:off x="6203274" y="3599781"/>
                <a:ext cx="288552" cy="584629"/>
              </a:xfrm>
              <a:custGeom>
                <a:avLst/>
                <a:gdLst>
                  <a:gd name="connsiteX0" fmla="*/ 0 w 288552"/>
                  <a:gd name="connsiteY0" fmla="*/ 0 h 584629"/>
                  <a:gd name="connsiteX1" fmla="*/ 288553 w 288552"/>
                  <a:gd name="connsiteY1" fmla="*/ 0 h 584629"/>
                  <a:gd name="connsiteX2" fmla="*/ 288553 w 288552"/>
                  <a:gd name="connsiteY2" fmla="*/ 584629 h 584629"/>
                  <a:gd name="connsiteX3" fmla="*/ 0 w 288552"/>
                  <a:gd name="connsiteY3" fmla="*/ 584629 h 584629"/>
                  <a:gd name="connsiteX4" fmla="*/ 0 w 288552"/>
                  <a:gd name="connsiteY4" fmla="*/ 0 h 584629"/>
                  <a:gd name="connsiteX5" fmla="*/ 0 w 288552"/>
                  <a:gd name="connsiteY5" fmla="*/ 0 h 58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8552" h="584629">
                    <a:moveTo>
                      <a:pt x="0" y="0"/>
                    </a:moveTo>
                    <a:lnTo>
                      <a:pt x="288553" y="0"/>
                    </a:lnTo>
                    <a:lnTo>
                      <a:pt x="288553" y="584629"/>
                    </a:lnTo>
                    <a:lnTo>
                      <a:pt x="0" y="58462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61" name="Freeform: Shape 119"/>
              <p:cNvSpPr/>
              <p:nvPr/>
            </p:nvSpPr>
            <p:spPr>
              <a:xfrm>
                <a:off x="6636104" y="3245006"/>
                <a:ext cx="290924" cy="939404"/>
              </a:xfrm>
              <a:custGeom>
                <a:avLst/>
                <a:gdLst>
                  <a:gd name="connsiteX0" fmla="*/ 0 w 290924"/>
                  <a:gd name="connsiteY0" fmla="*/ 0 h 939404"/>
                  <a:gd name="connsiteX1" fmla="*/ 290925 w 290924"/>
                  <a:gd name="connsiteY1" fmla="*/ 0 h 939404"/>
                  <a:gd name="connsiteX2" fmla="*/ 290925 w 290924"/>
                  <a:gd name="connsiteY2" fmla="*/ 939404 h 939404"/>
                  <a:gd name="connsiteX3" fmla="*/ 0 w 290924"/>
                  <a:gd name="connsiteY3" fmla="*/ 939404 h 939404"/>
                  <a:gd name="connsiteX4" fmla="*/ 0 w 290924"/>
                  <a:gd name="connsiteY4" fmla="*/ 0 h 939404"/>
                  <a:gd name="connsiteX5" fmla="*/ 0 w 290924"/>
                  <a:gd name="connsiteY5" fmla="*/ 0 h 939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924" h="939404">
                    <a:moveTo>
                      <a:pt x="0" y="0"/>
                    </a:moveTo>
                    <a:lnTo>
                      <a:pt x="290925" y="0"/>
                    </a:lnTo>
                    <a:lnTo>
                      <a:pt x="290925" y="939404"/>
                    </a:lnTo>
                    <a:lnTo>
                      <a:pt x="0" y="93940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63" name="Freeform: Shape 120"/>
              <p:cNvSpPr/>
              <p:nvPr/>
            </p:nvSpPr>
            <p:spPr>
              <a:xfrm>
                <a:off x="5259558" y="2668102"/>
                <a:ext cx="1667470" cy="937456"/>
              </a:xfrm>
              <a:custGeom>
                <a:avLst/>
                <a:gdLst>
                  <a:gd name="connsiteX0" fmla="*/ 0 w 1667470"/>
                  <a:gd name="connsiteY0" fmla="*/ 803965 h 937456"/>
                  <a:gd name="connsiteX1" fmla="*/ 674083 w 1667470"/>
                  <a:gd name="connsiteY1" fmla="*/ 184277 h 937456"/>
                  <a:gd name="connsiteX2" fmla="*/ 1060932 w 1667470"/>
                  <a:gd name="connsiteY2" fmla="*/ 564326 h 937456"/>
                  <a:gd name="connsiteX3" fmla="*/ 1426213 w 1667470"/>
                  <a:gd name="connsiteY3" fmla="*/ 139338 h 937456"/>
                  <a:gd name="connsiteX4" fmla="*/ 1293759 w 1667470"/>
                  <a:gd name="connsiteY4" fmla="*/ 0 h 937456"/>
                  <a:gd name="connsiteX5" fmla="*/ 1667470 w 1667470"/>
                  <a:gd name="connsiteY5" fmla="*/ 0 h 937456"/>
                  <a:gd name="connsiteX6" fmla="*/ 1667470 w 1667470"/>
                  <a:gd name="connsiteY6" fmla="*/ 361669 h 937456"/>
                  <a:gd name="connsiteX7" fmla="*/ 1536813 w 1667470"/>
                  <a:gd name="connsiteY7" fmla="*/ 227027 h 937456"/>
                  <a:gd name="connsiteX8" fmla="*/ 1060932 w 1667470"/>
                  <a:gd name="connsiteY8" fmla="*/ 803023 h 937456"/>
                  <a:gd name="connsiteX9" fmla="*/ 669965 w 1667470"/>
                  <a:gd name="connsiteY9" fmla="*/ 401072 h 937456"/>
                  <a:gd name="connsiteX10" fmla="*/ 93803 w 1667470"/>
                  <a:gd name="connsiteY10" fmla="*/ 937457 h 937456"/>
                  <a:gd name="connsiteX11" fmla="*/ 0 w 1667470"/>
                  <a:gd name="connsiteY11" fmla="*/ 803965 h 93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67470" h="937456">
                    <a:moveTo>
                      <a:pt x="0" y="803965"/>
                    </a:moveTo>
                    <a:lnTo>
                      <a:pt x="674083" y="184277"/>
                    </a:lnTo>
                    <a:lnTo>
                      <a:pt x="1060932" y="564326"/>
                    </a:lnTo>
                    <a:lnTo>
                      <a:pt x="1426213" y="139338"/>
                    </a:lnTo>
                    <a:lnTo>
                      <a:pt x="1293759" y="0"/>
                    </a:lnTo>
                    <a:lnTo>
                      <a:pt x="1667470" y="0"/>
                    </a:lnTo>
                    <a:lnTo>
                      <a:pt x="1667470" y="361669"/>
                    </a:lnTo>
                    <a:lnTo>
                      <a:pt x="1536813" y="227027"/>
                    </a:lnTo>
                    <a:lnTo>
                      <a:pt x="1060932" y="803023"/>
                    </a:lnTo>
                    <a:lnTo>
                      <a:pt x="669965" y="401072"/>
                    </a:lnTo>
                    <a:lnTo>
                      <a:pt x="93803" y="937457"/>
                    </a:lnTo>
                    <a:lnTo>
                      <a:pt x="0" y="803965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7175475" y="3042987"/>
            <a:ext cx="675046" cy="675046"/>
            <a:chOff x="10112038" y="2965163"/>
            <a:chExt cx="675046" cy="675046"/>
          </a:xfrm>
        </p:grpSpPr>
        <p:sp>
          <p:nvSpPr>
            <p:cNvPr id="28" name="Oval 73"/>
            <p:cNvSpPr/>
            <p:nvPr/>
          </p:nvSpPr>
          <p:spPr>
            <a:xfrm>
              <a:off x="10112038" y="2965163"/>
              <a:ext cx="675046" cy="675046"/>
            </a:xfrm>
            <a:prstGeom prst="ellipse">
              <a:avLst/>
            </a:prstGeom>
            <a:solidFill>
              <a:srgbClr val="0096FF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72000" tIns="72000" rIns="72000" bIns="72000" rtlCol="0" anchor="t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  <p:sp>
          <p:nvSpPr>
            <p:cNvPr id="64" name="Graphic 123"/>
            <p:cNvSpPr/>
            <p:nvPr/>
          </p:nvSpPr>
          <p:spPr>
            <a:xfrm>
              <a:off x="10248105" y="3105254"/>
              <a:ext cx="402913" cy="394865"/>
            </a:xfrm>
            <a:custGeom>
              <a:avLst/>
              <a:gdLst>
                <a:gd name="connsiteX0" fmla="*/ 0 w 1943828"/>
                <a:gd name="connsiteY0" fmla="*/ 1591679 h 1905000"/>
                <a:gd name="connsiteX1" fmla="*/ 971914 w 1943828"/>
                <a:gd name="connsiteY1" fmla="*/ 1278288 h 1905000"/>
                <a:gd name="connsiteX2" fmla="*/ 1943829 w 1943828"/>
                <a:gd name="connsiteY2" fmla="*/ 1591679 h 1905000"/>
                <a:gd name="connsiteX3" fmla="*/ 971914 w 1943828"/>
                <a:gd name="connsiteY3" fmla="*/ 1905000 h 1905000"/>
                <a:gd name="connsiteX4" fmla="*/ 0 w 1943828"/>
                <a:gd name="connsiteY4" fmla="*/ 1591679 h 1905000"/>
                <a:gd name="connsiteX5" fmla="*/ 80114 w 1943828"/>
                <a:gd name="connsiteY5" fmla="*/ 1591679 h 1905000"/>
                <a:gd name="connsiteX6" fmla="*/ 971914 w 1943828"/>
                <a:gd name="connsiteY6" fmla="*/ 1825146 h 1905000"/>
                <a:gd name="connsiteX7" fmla="*/ 1863785 w 1943828"/>
                <a:gd name="connsiteY7" fmla="*/ 1591679 h 1905000"/>
                <a:gd name="connsiteX8" fmla="*/ 971914 w 1943828"/>
                <a:gd name="connsiteY8" fmla="*/ 1358142 h 1905000"/>
                <a:gd name="connsiteX9" fmla="*/ 80114 w 1943828"/>
                <a:gd name="connsiteY9" fmla="*/ 1591679 h 1905000"/>
                <a:gd name="connsiteX10" fmla="*/ 451385 w 1943828"/>
                <a:gd name="connsiteY10" fmla="*/ 1591679 h 1905000"/>
                <a:gd name="connsiteX11" fmla="*/ 972053 w 1943828"/>
                <a:gd name="connsiteY11" fmla="*/ 1410708 h 1905000"/>
                <a:gd name="connsiteX12" fmla="*/ 1492722 w 1943828"/>
                <a:gd name="connsiteY12" fmla="*/ 1591679 h 1905000"/>
                <a:gd name="connsiteX13" fmla="*/ 972053 w 1943828"/>
                <a:gd name="connsiteY13" fmla="*/ 1772579 h 1905000"/>
                <a:gd name="connsiteX14" fmla="*/ 451385 w 1943828"/>
                <a:gd name="connsiteY14" fmla="*/ 1591679 h 1905000"/>
                <a:gd name="connsiteX15" fmla="*/ 531498 w 1943828"/>
                <a:gd name="connsiteY15" fmla="*/ 1591679 h 1905000"/>
                <a:gd name="connsiteX16" fmla="*/ 971984 w 1943828"/>
                <a:gd name="connsiteY16" fmla="*/ 1692656 h 1905000"/>
                <a:gd name="connsiteX17" fmla="*/ 1412400 w 1943828"/>
                <a:gd name="connsiteY17" fmla="*/ 1591679 h 1905000"/>
                <a:gd name="connsiteX18" fmla="*/ 971984 w 1943828"/>
                <a:gd name="connsiteY18" fmla="*/ 1490632 h 1905000"/>
                <a:gd name="connsiteX19" fmla="*/ 531429 w 1943828"/>
                <a:gd name="connsiteY19" fmla="*/ 1591679 h 1905000"/>
                <a:gd name="connsiteX20" fmla="*/ 1634343 w 1943828"/>
                <a:gd name="connsiteY20" fmla="*/ 267611 h 1905000"/>
                <a:gd name="connsiteX21" fmla="*/ 1233429 w 1943828"/>
                <a:gd name="connsiteY21" fmla="*/ 99731 h 1905000"/>
                <a:gd name="connsiteX22" fmla="*/ 967680 w 1943828"/>
                <a:gd name="connsiteY22" fmla="*/ 0 h 1905000"/>
                <a:gd name="connsiteX23" fmla="*/ 962126 w 1943828"/>
                <a:gd name="connsiteY23" fmla="*/ 0 h 1905000"/>
                <a:gd name="connsiteX24" fmla="*/ 879374 w 1943828"/>
                <a:gd name="connsiteY24" fmla="*/ 20777 h 1905000"/>
                <a:gd name="connsiteX25" fmla="*/ 332742 w 1943828"/>
                <a:gd name="connsiteY25" fmla="*/ 267196 h 1905000"/>
                <a:gd name="connsiteX26" fmla="*/ 280744 w 1943828"/>
                <a:gd name="connsiteY26" fmla="*/ 335345 h 1905000"/>
                <a:gd name="connsiteX27" fmla="*/ 952615 w 1943828"/>
                <a:gd name="connsiteY27" fmla="*/ 1614880 h 1905000"/>
                <a:gd name="connsiteX28" fmla="*/ 1025508 w 1943828"/>
                <a:gd name="connsiteY28" fmla="*/ 1614880 h 1905000"/>
                <a:gd name="connsiteX29" fmla="*/ 1686966 w 1943828"/>
                <a:gd name="connsiteY29" fmla="*/ 335345 h 1905000"/>
                <a:gd name="connsiteX30" fmla="*/ 1634760 w 1943828"/>
                <a:gd name="connsiteY30" fmla="*/ 267542 h 1905000"/>
                <a:gd name="connsiteX31" fmla="*/ 1101040 w 1943828"/>
                <a:gd name="connsiteY31" fmla="*/ 1163528 h 1905000"/>
                <a:gd name="connsiteX32" fmla="*/ 984549 w 1943828"/>
                <a:gd name="connsiteY32" fmla="*/ 1279742 h 1905000"/>
                <a:gd name="connsiteX33" fmla="*/ 868044 w 1943828"/>
                <a:gd name="connsiteY33" fmla="*/ 1163543 h 1905000"/>
                <a:gd name="connsiteX34" fmla="*/ 984520 w 1943828"/>
                <a:gd name="connsiteY34" fmla="*/ 1047314 h 1905000"/>
                <a:gd name="connsiteX35" fmla="*/ 984549 w 1943828"/>
                <a:gd name="connsiteY35" fmla="*/ 1047314 h 1905000"/>
                <a:gd name="connsiteX36" fmla="*/ 1101040 w 1943828"/>
                <a:gd name="connsiteY36" fmla="*/ 1163528 h 1905000"/>
                <a:gd name="connsiteX37" fmla="*/ 1101734 w 1943828"/>
                <a:gd name="connsiteY37" fmla="*/ 815231 h 1905000"/>
                <a:gd name="connsiteX38" fmla="*/ 984673 w 1943828"/>
                <a:gd name="connsiteY38" fmla="*/ 931985 h 1905000"/>
                <a:gd name="connsiteX39" fmla="*/ 867642 w 1943828"/>
                <a:gd name="connsiteY39" fmla="*/ 815231 h 1905000"/>
                <a:gd name="connsiteX40" fmla="*/ 867642 w 1943828"/>
                <a:gd name="connsiteY40" fmla="*/ 466242 h 1905000"/>
                <a:gd name="connsiteX41" fmla="*/ 984653 w 1943828"/>
                <a:gd name="connsiteY41" fmla="*/ 349509 h 1905000"/>
                <a:gd name="connsiteX42" fmla="*/ 1101665 w 1943828"/>
                <a:gd name="connsiteY42" fmla="*/ 466242 h 1905000"/>
                <a:gd name="connsiteX43" fmla="*/ 1101665 w 1943828"/>
                <a:gd name="connsiteY43" fmla="*/ 815508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943828" h="1905000">
                  <a:moveTo>
                    <a:pt x="0" y="1591679"/>
                  </a:moveTo>
                  <a:cubicBezTo>
                    <a:pt x="0" y="1405514"/>
                    <a:pt x="433543" y="1278288"/>
                    <a:pt x="971914" y="1278288"/>
                  </a:cubicBezTo>
                  <a:cubicBezTo>
                    <a:pt x="1510286" y="1278288"/>
                    <a:pt x="1943829" y="1405445"/>
                    <a:pt x="1943829" y="1591679"/>
                  </a:cubicBezTo>
                  <a:cubicBezTo>
                    <a:pt x="1943829" y="1777912"/>
                    <a:pt x="1510286" y="1905000"/>
                    <a:pt x="971914" y="1905000"/>
                  </a:cubicBezTo>
                  <a:cubicBezTo>
                    <a:pt x="433543" y="1905000"/>
                    <a:pt x="0" y="1777843"/>
                    <a:pt x="0" y="1591679"/>
                  </a:cubicBezTo>
                  <a:close/>
                  <a:moveTo>
                    <a:pt x="80114" y="1591679"/>
                  </a:moveTo>
                  <a:cubicBezTo>
                    <a:pt x="80114" y="1707547"/>
                    <a:pt x="481028" y="1825146"/>
                    <a:pt x="971914" y="1825146"/>
                  </a:cubicBezTo>
                  <a:cubicBezTo>
                    <a:pt x="1462801" y="1825146"/>
                    <a:pt x="1863785" y="1707408"/>
                    <a:pt x="1863785" y="1591679"/>
                  </a:cubicBezTo>
                  <a:cubicBezTo>
                    <a:pt x="1863785" y="1475949"/>
                    <a:pt x="1462870" y="1358142"/>
                    <a:pt x="971914" y="1358142"/>
                  </a:cubicBezTo>
                  <a:cubicBezTo>
                    <a:pt x="480959" y="1358142"/>
                    <a:pt x="80114" y="1475741"/>
                    <a:pt x="80114" y="1591679"/>
                  </a:cubicBezTo>
                  <a:close/>
                  <a:moveTo>
                    <a:pt x="451385" y="1591679"/>
                  </a:moveTo>
                  <a:cubicBezTo>
                    <a:pt x="451385" y="1478650"/>
                    <a:pt x="682839" y="1410708"/>
                    <a:pt x="972053" y="1410708"/>
                  </a:cubicBezTo>
                  <a:cubicBezTo>
                    <a:pt x="1261267" y="1410708"/>
                    <a:pt x="1492722" y="1478650"/>
                    <a:pt x="1492722" y="1591679"/>
                  </a:cubicBezTo>
                  <a:cubicBezTo>
                    <a:pt x="1492722" y="1704707"/>
                    <a:pt x="1261267" y="1772579"/>
                    <a:pt x="972053" y="1772579"/>
                  </a:cubicBezTo>
                  <a:cubicBezTo>
                    <a:pt x="682839" y="1772579"/>
                    <a:pt x="451385" y="1704638"/>
                    <a:pt x="451385" y="1591679"/>
                  </a:cubicBezTo>
                  <a:close/>
                  <a:moveTo>
                    <a:pt x="531498" y="1591679"/>
                  </a:moveTo>
                  <a:cubicBezTo>
                    <a:pt x="531498" y="1634341"/>
                    <a:pt x="730324" y="1692656"/>
                    <a:pt x="971984" y="1692656"/>
                  </a:cubicBezTo>
                  <a:cubicBezTo>
                    <a:pt x="1213643" y="1692656"/>
                    <a:pt x="1412400" y="1634341"/>
                    <a:pt x="1412400" y="1591679"/>
                  </a:cubicBezTo>
                  <a:cubicBezTo>
                    <a:pt x="1412400" y="1549016"/>
                    <a:pt x="1213643" y="1490632"/>
                    <a:pt x="971984" y="1490632"/>
                  </a:cubicBezTo>
                  <a:cubicBezTo>
                    <a:pt x="730324" y="1490632"/>
                    <a:pt x="531429" y="1548947"/>
                    <a:pt x="531429" y="1591679"/>
                  </a:cubicBezTo>
                  <a:close/>
                  <a:moveTo>
                    <a:pt x="1634343" y="267611"/>
                  </a:moveTo>
                  <a:cubicBezTo>
                    <a:pt x="1495683" y="224428"/>
                    <a:pt x="1361444" y="168216"/>
                    <a:pt x="1233429" y="99731"/>
                  </a:cubicBezTo>
                  <a:cubicBezTo>
                    <a:pt x="1150122" y="62886"/>
                    <a:pt x="1087642" y="0"/>
                    <a:pt x="967680" y="0"/>
                  </a:cubicBezTo>
                  <a:lnTo>
                    <a:pt x="962126" y="0"/>
                  </a:lnTo>
                  <a:cubicBezTo>
                    <a:pt x="933743" y="3249"/>
                    <a:pt x="905917" y="10235"/>
                    <a:pt x="879374" y="20777"/>
                  </a:cubicBezTo>
                  <a:cubicBezTo>
                    <a:pt x="702416" y="99315"/>
                    <a:pt x="540870" y="214699"/>
                    <a:pt x="332742" y="267196"/>
                  </a:cubicBezTo>
                  <a:cubicBezTo>
                    <a:pt x="301401" y="274734"/>
                    <a:pt x="279682" y="303201"/>
                    <a:pt x="280744" y="335345"/>
                  </a:cubicBezTo>
                  <a:cubicBezTo>
                    <a:pt x="296434" y="1090254"/>
                    <a:pt x="619179" y="1389446"/>
                    <a:pt x="952615" y="1614880"/>
                  </a:cubicBezTo>
                  <a:cubicBezTo>
                    <a:pt x="974310" y="1630746"/>
                    <a:pt x="1003813" y="1630746"/>
                    <a:pt x="1025508" y="1614880"/>
                  </a:cubicBezTo>
                  <a:cubicBezTo>
                    <a:pt x="1405666" y="1384183"/>
                    <a:pt x="1671137" y="938510"/>
                    <a:pt x="1686966" y="335345"/>
                  </a:cubicBezTo>
                  <a:cubicBezTo>
                    <a:pt x="1686018" y="303886"/>
                    <a:pt x="1664983" y="276567"/>
                    <a:pt x="1634760" y="267542"/>
                  </a:cubicBezTo>
                  <a:close/>
                  <a:moveTo>
                    <a:pt x="1101040" y="1163528"/>
                  </a:moveTo>
                  <a:cubicBezTo>
                    <a:pt x="1101040" y="1227711"/>
                    <a:pt x="1048885" y="1279742"/>
                    <a:pt x="984549" y="1279742"/>
                  </a:cubicBezTo>
                  <a:cubicBezTo>
                    <a:pt x="920213" y="1279750"/>
                    <a:pt x="868052" y="1227726"/>
                    <a:pt x="868044" y="1163543"/>
                  </a:cubicBezTo>
                  <a:cubicBezTo>
                    <a:pt x="868035" y="1099359"/>
                    <a:pt x="920184" y="1047322"/>
                    <a:pt x="984520" y="1047314"/>
                  </a:cubicBezTo>
                  <a:cubicBezTo>
                    <a:pt x="984530" y="1047314"/>
                    <a:pt x="984539" y="1047314"/>
                    <a:pt x="984549" y="1047314"/>
                  </a:cubicBezTo>
                  <a:cubicBezTo>
                    <a:pt x="1048885" y="1047314"/>
                    <a:pt x="1101040" y="1099345"/>
                    <a:pt x="1101040" y="1163528"/>
                  </a:cubicBezTo>
                  <a:close/>
                  <a:moveTo>
                    <a:pt x="1101734" y="815231"/>
                  </a:moveTo>
                  <a:cubicBezTo>
                    <a:pt x="1101726" y="879721"/>
                    <a:pt x="1049316" y="931993"/>
                    <a:pt x="984673" y="931985"/>
                  </a:cubicBezTo>
                  <a:cubicBezTo>
                    <a:pt x="920042" y="931977"/>
                    <a:pt x="867650" y="879709"/>
                    <a:pt x="867642" y="815231"/>
                  </a:cubicBezTo>
                  <a:lnTo>
                    <a:pt x="867642" y="466242"/>
                  </a:lnTo>
                  <a:cubicBezTo>
                    <a:pt x="867642" y="401772"/>
                    <a:pt x="920030" y="349509"/>
                    <a:pt x="984653" y="349509"/>
                  </a:cubicBezTo>
                  <a:cubicBezTo>
                    <a:pt x="1049277" y="349509"/>
                    <a:pt x="1101665" y="401772"/>
                    <a:pt x="1101665" y="466242"/>
                  </a:cubicBezTo>
                  <a:lnTo>
                    <a:pt x="1101665" y="815508"/>
                  </a:lnTo>
                  <a:close/>
                </a:path>
              </a:pathLst>
            </a:custGeom>
            <a:solidFill>
              <a:srgbClr val="FFFFFF"/>
            </a:solidFill>
            <a:ln w="18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sp>
        <p:nvSpPr>
          <p:cNvPr id="72" name="SplitText_44_faf6a2b3-db13-4b3c-b79f-c14bff19c4ea"/>
          <p:cNvSpPr txBox="1"/>
          <p:nvPr/>
        </p:nvSpPr>
        <p:spPr>
          <a:xfrm>
            <a:off x="3406433" y="4811945"/>
            <a:ext cx="2340000" cy="1907620"/>
          </a:xfrm>
          <a:prstGeom prst="rect">
            <a:avLst/>
          </a:prstGeom>
          <a:noFill/>
          <a:ln w="6350" cmpd="sng">
            <a:noFill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285750" marR="0" lvl="0" indent="-285750" fontAlgn="base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</a:defRPr>
            </a:lvl1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ym typeface="+mn-lt"/>
              </a:rPr>
              <a:t>笃学强记：</a:t>
            </a:r>
            <a:r>
              <a:rPr lang="zh-CN" altLang="en-US" sz="1100" dirty="0">
                <a:sym typeface="+mn-lt"/>
              </a:rPr>
              <a:t>要求全员学习“一口清”文档内容，做到“熟记于心、脱口而出”，提升沟通效率、展现专业形象</a:t>
            </a:r>
            <a:endParaRPr lang="en-US" altLang="zh-CN" sz="1100" dirty="0">
              <a:sym typeface="+mn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ym typeface="+mn-lt"/>
              </a:rPr>
              <a:t>精进砺能：</a:t>
            </a:r>
            <a:r>
              <a:rPr lang="zh-CN" altLang="en-US" sz="1100" dirty="0">
                <a:sym typeface="+mn-lt"/>
              </a:rPr>
              <a:t>要求全员对参股企业情况再了解、再精通，定期根据参股企业实际经营及个人管理心得，对文档内容进行更新</a:t>
            </a:r>
            <a:endParaRPr lang="en-US" altLang="zh-CN" sz="1100" dirty="0">
              <a:sym typeface="+mn-lt"/>
            </a:endParaRPr>
          </a:p>
        </p:txBody>
      </p:sp>
      <p:sp>
        <p:nvSpPr>
          <p:cNvPr id="73" name="SplitText_44_faf6a2b3-db13-4b3c-b79f-c14bff19c4ea"/>
          <p:cNvSpPr txBox="1"/>
          <p:nvPr/>
        </p:nvSpPr>
        <p:spPr>
          <a:xfrm>
            <a:off x="6342998" y="4811945"/>
            <a:ext cx="2340000" cy="1907620"/>
          </a:xfrm>
          <a:prstGeom prst="rect">
            <a:avLst/>
          </a:prstGeom>
          <a:noFill/>
          <a:ln w="6350" cmpd="sng">
            <a:noFill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285750" marR="0" lvl="0" indent="-285750" fontAlgn="base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</a:defRPr>
            </a:lvl1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ym typeface="+mn-lt"/>
              </a:rPr>
              <a:t>以督促学：</a:t>
            </a:r>
            <a:r>
              <a:rPr lang="zh-CN" altLang="en-US" sz="1100" dirty="0">
                <a:sym typeface="+mn-lt"/>
              </a:rPr>
              <a:t>总监月度听取投后报告了解经营情况考察员工一口清落实，“以督促学”常态化岗位练兵强化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ym typeface="+mn-lt"/>
              </a:rPr>
              <a:t>以考促练：</a:t>
            </a:r>
            <a:r>
              <a:rPr lang="zh-CN" altLang="en-US" sz="1100" dirty="0">
                <a:sym typeface="+mn-lt"/>
              </a:rPr>
              <a:t>利用股权小智筹备“一口清”全员过关考试，“以考促练”，保障“一口清”落地效果</a:t>
            </a:r>
            <a:endParaRPr lang="en-US" altLang="zh-CN" sz="1100" dirty="0">
              <a:sym typeface="+mn-lt"/>
            </a:endParaRPr>
          </a:p>
        </p:txBody>
      </p:sp>
      <p:sp>
        <p:nvSpPr>
          <p:cNvPr id="74" name="SplitText_44_faf6a2b3-db13-4b3c-b79f-c14bff19c4ea"/>
          <p:cNvSpPr txBox="1"/>
          <p:nvPr/>
        </p:nvSpPr>
        <p:spPr>
          <a:xfrm>
            <a:off x="9279561" y="4811945"/>
            <a:ext cx="2340000" cy="1907620"/>
          </a:xfrm>
          <a:prstGeom prst="rect">
            <a:avLst/>
          </a:prstGeom>
          <a:noFill/>
          <a:ln w="6350" cmpd="sng">
            <a:noFill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285750" marR="0" lvl="0" indent="-285750" fontAlgn="base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Calibri" panose="020F0502020204030204"/>
              </a:defRPr>
            </a:lvl1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ym typeface="+mn-lt"/>
              </a:rPr>
              <a:t>通关定级：</a:t>
            </a:r>
            <a:r>
              <a:rPr lang="zh-CN" altLang="en-US" sz="1100" dirty="0">
                <a:sym typeface="+mn-lt"/>
              </a:rPr>
              <a:t>要求“一口清”考试全员过关，并与勋章体系衔接，直接影响年度能力评价</a:t>
            </a:r>
            <a:endParaRPr lang="en-US" altLang="zh-CN" sz="1100" dirty="0">
              <a:sym typeface="+mn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ym typeface="+mn-lt"/>
              </a:rPr>
              <a:t>复盘启新：</a:t>
            </a:r>
            <a:r>
              <a:rPr lang="zh-CN" altLang="en-US" sz="1100" dirty="0">
                <a:sym typeface="+mn-lt"/>
              </a:rPr>
              <a:t>复盘当前工作情况，思考不足，启动“一口清”迭代工作</a:t>
            </a:r>
            <a:endParaRPr lang="en-US" altLang="zh-CN" sz="1100" dirty="0"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Straight Connector 24"/>
          <p:cNvCxnSpPr/>
          <p:nvPr/>
        </p:nvCxnSpPr>
        <p:spPr>
          <a:xfrm flipH="1">
            <a:off x="11334717" y="2547609"/>
            <a:ext cx="0" cy="3816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150" name="Straight Connector 24"/>
          <p:cNvCxnSpPr/>
          <p:nvPr/>
        </p:nvCxnSpPr>
        <p:spPr>
          <a:xfrm flipH="1">
            <a:off x="10239309" y="2556861"/>
            <a:ext cx="0" cy="3816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137" name="Straight Connector 24"/>
          <p:cNvCxnSpPr/>
          <p:nvPr/>
        </p:nvCxnSpPr>
        <p:spPr>
          <a:xfrm flipH="1">
            <a:off x="7401231" y="2535182"/>
            <a:ext cx="0" cy="2088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144" name="Straight Connector 24"/>
          <p:cNvCxnSpPr/>
          <p:nvPr/>
        </p:nvCxnSpPr>
        <p:spPr>
          <a:xfrm flipH="1">
            <a:off x="8616273" y="2558460"/>
            <a:ext cx="0" cy="2916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136" name="Straight Connector 24"/>
          <p:cNvCxnSpPr/>
          <p:nvPr/>
        </p:nvCxnSpPr>
        <p:spPr>
          <a:xfrm flipH="1">
            <a:off x="6151998" y="2535182"/>
            <a:ext cx="0" cy="2088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3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600" kern="0" dirty="0">
                <a:solidFill>
                  <a:srgbClr val="152A8C"/>
                </a:solidFill>
              </a:rPr>
              <a:t>工作进展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cs typeface="+mn-cs"/>
            </a:endParaRPr>
          </a:p>
        </p:txBody>
      </p:sp>
      <p:cxnSp>
        <p:nvCxnSpPr>
          <p:cNvPr id="7" name="Straight Arrow Connector 12"/>
          <p:cNvCxnSpPr/>
          <p:nvPr/>
        </p:nvCxnSpPr>
        <p:spPr>
          <a:xfrm>
            <a:off x="383716" y="2622440"/>
            <a:ext cx="11370011" cy="0"/>
          </a:xfrm>
          <a:prstGeom prst="straightConnector1">
            <a:avLst/>
          </a:prstGeom>
          <a:noFill/>
          <a:ln w="19050" cap="flat" cmpd="sng" algn="ctr">
            <a:solidFill>
              <a:srgbClr val="0096FF"/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11" name="SplitText95"/>
          <p:cNvSpPr txBox="1"/>
          <p:nvPr/>
        </p:nvSpPr>
        <p:spPr>
          <a:xfrm>
            <a:off x="1476983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7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cxnSp>
        <p:nvCxnSpPr>
          <p:cNvPr id="13" name="Straight Connector 24"/>
          <p:cNvCxnSpPr/>
          <p:nvPr/>
        </p:nvCxnSpPr>
        <p:spPr>
          <a:xfrm flipH="1">
            <a:off x="1825646" y="2535182"/>
            <a:ext cx="0" cy="1188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14" name="Oval 25"/>
          <p:cNvSpPr/>
          <p:nvPr/>
        </p:nvSpPr>
        <p:spPr>
          <a:xfrm>
            <a:off x="1764428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2" name="Straight Connector 27"/>
          <p:cNvCxnSpPr/>
          <p:nvPr/>
        </p:nvCxnSpPr>
        <p:spPr>
          <a:xfrm>
            <a:off x="1276655" y="2898994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cxnSp>
        <p:nvCxnSpPr>
          <p:cNvPr id="67" name="Straight Connector 30"/>
          <p:cNvCxnSpPr/>
          <p:nvPr/>
        </p:nvCxnSpPr>
        <p:spPr>
          <a:xfrm>
            <a:off x="1276655" y="3769444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cxnSp>
        <p:nvCxnSpPr>
          <p:cNvPr id="68" name="Straight Connector 6"/>
          <p:cNvCxnSpPr/>
          <p:nvPr/>
        </p:nvCxnSpPr>
        <p:spPr>
          <a:xfrm>
            <a:off x="1276655" y="4639894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sp>
        <p:nvSpPr>
          <p:cNvPr id="69" name="Rectangle 8"/>
          <p:cNvSpPr/>
          <p:nvPr/>
        </p:nvSpPr>
        <p:spPr>
          <a:xfrm>
            <a:off x="1285646" y="2961813"/>
            <a:ext cx="1080000" cy="687308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公司领导提出“计划一盘棋、业务一口清”工作要求</a:t>
            </a:r>
          </a:p>
        </p:txBody>
      </p:sp>
      <p:sp>
        <p:nvSpPr>
          <p:cNvPr id="70" name="Isosceles Triangle 2"/>
          <p:cNvSpPr/>
          <p:nvPr/>
        </p:nvSpPr>
        <p:spPr>
          <a:xfrm flipV="1">
            <a:off x="1726220" y="2797648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1" name="RbLeanShape Arrow Option 1 54"/>
          <p:cNvSpPr/>
          <p:nvPr/>
        </p:nvSpPr>
        <p:spPr>
          <a:xfrm rot="5400000">
            <a:off x="381808" y="2898352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400" b="1" kern="0" dirty="0">
                <a:solidFill>
                  <a:srgbClr val="152A8C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编册立架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6" name="RbLeanShape Arrow Option 1 54"/>
          <p:cNvSpPr/>
          <p:nvPr/>
        </p:nvSpPr>
        <p:spPr>
          <a:xfrm rot="5400000">
            <a:off x="369531" y="3803918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400" b="1" kern="0" dirty="0">
                <a:solidFill>
                  <a:srgbClr val="152A8C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研学提能</a:t>
            </a:r>
            <a:endParaRPr lang="en-US" altLang="zh-CN" sz="1400" b="1" kern="0" dirty="0">
              <a:solidFill>
                <a:srgbClr val="152A8C"/>
              </a:solidFill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7" name="RbLeanShape Arrow Option 1 54"/>
          <p:cNvSpPr/>
          <p:nvPr/>
        </p:nvSpPr>
        <p:spPr>
          <a:xfrm rot="5400000">
            <a:off x="367121" y="4709484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督考评效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8" name="RbLeanShape Arrow Option 1 54"/>
          <p:cNvSpPr/>
          <p:nvPr/>
        </p:nvSpPr>
        <p:spPr>
          <a:xfrm rot="5400000">
            <a:off x="375571" y="5615050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落地深耕</a:t>
            </a:r>
          </a:p>
        </p:txBody>
      </p:sp>
      <p:cxnSp>
        <p:nvCxnSpPr>
          <p:cNvPr id="119" name="Straight Connector 6"/>
          <p:cNvCxnSpPr/>
          <p:nvPr/>
        </p:nvCxnSpPr>
        <p:spPr>
          <a:xfrm>
            <a:off x="1276655" y="5510344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cxnSp>
        <p:nvCxnSpPr>
          <p:cNvPr id="120" name="Straight Connector 6"/>
          <p:cNvCxnSpPr/>
          <p:nvPr/>
        </p:nvCxnSpPr>
        <p:spPr>
          <a:xfrm>
            <a:off x="1276655" y="6380792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sp>
        <p:nvSpPr>
          <p:cNvPr id="121" name="SplitText95"/>
          <p:cNvSpPr txBox="1"/>
          <p:nvPr/>
        </p:nvSpPr>
        <p:spPr>
          <a:xfrm>
            <a:off x="2682631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8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cxnSp>
        <p:nvCxnSpPr>
          <p:cNvPr id="122" name="Straight Connector 24"/>
          <p:cNvCxnSpPr/>
          <p:nvPr/>
        </p:nvCxnSpPr>
        <p:spPr>
          <a:xfrm flipH="1">
            <a:off x="3031294" y="2535182"/>
            <a:ext cx="0" cy="1188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123" name="Oval 25"/>
          <p:cNvSpPr/>
          <p:nvPr/>
        </p:nvSpPr>
        <p:spPr>
          <a:xfrm>
            <a:off x="2970076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4" name="Rectangle 8"/>
          <p:cNvSpPr/>
          <p:nvPr/>
        </p:nvSpPr>
        <p:spPr>
          <a:xfrm>
            <a:off x="2491294" y="2961813"/>
            <a:ext cx="1080000" cy="687308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快速落实要求形成首版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《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参股公司一口清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》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5" name="Isosceles Triangle 2"/>
          <p:cNvSpPr/>
          <p:nvPr/>
        </p:nvSpPr>
        <p:spPr>
          <a:xfrm flipV="1">
            <a:off x="2931868" y="2797648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6" name="SplitText95"/>
          <p:cNvSpPr txBox="1"/>
          <p:nvPr/>
        </p:nvSpPr>
        <p:spPr>
          <a:xfrm>
            <a:off x="4083749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9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cxnSp>
        <p:nvCxnSpPr>
          <p:cNvPr id="127" name="Straight Connector 24"/>
          <p:cNvCxnSpPr/>
          <p:nvPr/>
        </p:nvCxnSpPr>
        <p:spPr>
          <a:xfrm flipH="1">
            <a:off x="4432412" y="2535182"/>
            <a:ext cx="0" cy="205200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128" name="Oval 25"/>
          <p:cNvSpPr/>
          <p:nvPr/>
        </p:nvSpPr>
        <p:spPr>
          <a:xfrm>
            <a:off x="4371194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3676412" y="3559926"/>
            <a:ext cx="1512000" cy="61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对首版材料进行标准化、结构化，形成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《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参股企业一口清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》V2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版本</a:t>
            </a:r>
          </a:p>
        </p:txBody>
      </p:sp>
      <p:sp>
        <p:nvSpPr>
          <p:cNvPr id="130" name="Isosceles Triangle 2"/>
          <p:cNvSpPr/>
          <p:nvPr/>
        </p:nvSpPr>
        <p:spPr>
          <a:xfrm flipV="1">
            <a:off x="4332986" y="3394799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1" name="SplitText95"/>
          <p:cNvSpPr txBox="1"/>
          <p:nvPr/>
        </p:nvSpPr>
        <p:spPr>
          <a:xfrm>
            <a:off x="5708758" y="2293383"/>
            <a:ext cx="875241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12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32" name="Oval 25"/>
          <p:cNvSpPr/>
          <p:nvPr/>
        </p:nvSpPr>
        <p:spPr>
          <a:xfrm>
            <a:off x="6090780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4" name="Isosceles Triangle 2"/>
          <p:cNvSpPr/>
          <p:nvPr/>
        </p:nvSpPr>
        <p:spPr>
          <a:xfrm flipV="1">
            <a:off x="6052572" y="3394799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5" name="Rectangle 8"/>
          <p:cNvSpPr/>
          <p:nvPr/>
        </p:nvSpPr>
        <p:spPr>
          <a:xfrm>
            <a:off x="5341998" y="3559926"/>
            <a:ext cx="1620000" cy="61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根据参股企业经营情况更新基础信息，研判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2026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年度重点课题及管理方向</a:t>
            </a:r>
          </a:p>
        </p:txBody>
      </p:sp>
      <p:sp>
        <p:nvSpPr>
          <p:cNvPr id="138" name="SplitText95"/>
          <p:cNvSpPr txBox="1"/>
          <p:nvPr/>
        </p:nvSpPr>
        <p:spPr>
          <a:xfrm>
            <a:off x="7052568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39" name="Oval 25"/>
          <p:cNvSpPr/>
          <p:nvPr/>
        </p:nvSpPr>
        <p:spPr>
          <a:xfrm>
            <a:off x="7340013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0" name="Isosceles Triangle 2"/>
          <p:cNvSpPr/>
          <p:nvPr/>
        </p:nvSpPr>
        <p:spPr>
          <a:xfrm flipV="1">
            <a:off x="7301805" y="4215607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1" name="Rectangle 8"/>
          <p:cNvSpPr/>
          <p:nvPr/>
        </p:nvSpPr>
        <p:spPr>
          <a:xfrm>
            <a:off x="4332986" y="4404384"/>
            <a:ext cx="7234174" cy="419796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总监月度听取投后报告了解经营情况考察员工一口清落实，常态化岗位练兵强化</a:t>
            </a:r>
          </a:p>
        </p:txBody>
      </p:sp>
      <p:sp>
        <p:nvSpPr>
          <p:cNvPr id="142" name="SplitText95"/>
          <p:cNvSpPr txBox="1"/>
          <p:nvPr/>
        </p:nvSpPr>
        <p:spPr>
          <a:xfrm>
            <a:off x="8225942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4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43" name="Rectangle 8"/>
          <p:cNvSpPr/>
          <p:nvPr/>
        </p:nvSpPr>
        <p:spPr>
          <a:xfrm>
            <a:off x="7593851" y="5003114"/>
            <a:ext cx="2044845" cy="46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利用股权小智筹备“一口清”全员过关考试，成绩挂钩勋章体系及能力评价</a:t>
            </a:r>
          </a:p>
        </p:txBody>
      </p:sp>
      <p:sp>
        <p:nvSpPr>
          <p:cNvPr id="145" name="Isosceles Triangle 2"/>
          <p:cNvSpPr/>
          <p:nvPr/>
        </p:nvSpPr>
        <p:spPr>
          <a:xfrm flipV="1">
            <a:off x="8516847" y="4238885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6" name="Oval 25"/>
          <p:cNvSpPr/>
          <p:nvPr/>
        </p:nvSpPr>
        <p:spPr>
          <a:xfrm>
            <a:off x="8555055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7" name="Isosceles Triangle 2"/>
          <p:cNvSpPr/>
          <p:nvPr/>
        </p:nvSpPr>
        <p:spPr>
          <a:xfrm flipV="1">
            <a:off x="8516847" y="4846887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8" name="Rectangle 8"/>
          <p:cNvSpPr/>
          <p:nvPr/>
        </p:nvSpPr>
        <p:spPr>
          <a:xfrm>
            <a:off x="7921492" y="3559926"/>
            <a:ext cx="1512000" cy="61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根据管理企业范围及经营情况变化进行再刷新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9" name="SplitText95"/>
          <p:cNvSpPr txBox="1"/>
          <p:nvPr/>
        </p:nvSpPr>
        <p:spPr>
          <a:xfrm>
            <a:off x="9848977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51" name="Rectangle 8"/>
          <p:cNvSpPr/>
          <p:nvPr/>
        </p:nvSpPr>
        <p:spPr>
          <a:xfrm>
            <a:off x="9719438" y="5228977"/>
            <a:ext cx="1044000" cy="46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“一口清”考试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完成全员通过</a:t>
            </a:r>
          </a:p>
        </p:txBody>
      </p:sp>
      <p:sp>
        <p:nvSpPr>
          <p:cNvPr id="153" name="Oval 25"/>
          <p:cNvSpPr/>
          <p:nvPr/>
        </p:nvSpPr>
        <p:spPr>
          <a:xfrm>
            <a:off x="10178091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4" name="SplitText95"/>
          <p:cNvSpPr txBox="1"/>
          <p:nvPr/>
        </p:nvSpPr>
        <p:spPr>
          <a:xfrm>
            <a:off x="10944385" y="2293383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55" name="Rectangle 8"/>
          <p:cNvSpPr/>
          <p:nvPr/>
        </p:nvSpPr>
        <p:spPr>
          <a:xfrm>
            <a:off x="9770179" y="5900344"/>
            <a:ext cx="938258" cy="419796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一阶段落地经验公司横展</a:t>
            </a:r>
            <a:endParaRPr lang="en-US" altLang="zh-CN" sz="1000" kern="0" dirty="0">
              <a:solidFill>
                <a:srgbClr val="000000"/>
              </a:solidFill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6" name="Isosceles Triangle 2"/>
          <p:cNvSpPr/>
          <p:nvPr/>
        </p:nvSpPr>
        <p:spPr>
          <a:xfrm flipV="1">
            <a:off x="8516847" y="3394799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7" name="Isosceles Triangle 2"/>
          <p:cNvSpPr/>
          <p:nvPr/>
        </p:nvSpPr>
        <p:spPr>
          <a:xfrm flipV="1">
            <a:off x="10139883" y="4215607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9" name="Oval 25"/>
          <p:cNvSpPr/>
          <p:nvPr/>
        </p:nvSpPr>
        <p:spPr>
          <a:xfrm>
            <a:off x="11273499" y="2556861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0" name="Isosceles Triangle 2"/>
          <p:cNvSpPr/>
          <p:nvPr/>
        </p:nvSpPr>
        <p:spPr>
          <a:xfrm flipV="1">
            <a:off x="11235291" y="4221651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2" name="Isosceles Triangle 2"/>
          <p:cNvSpPr/>
          <p:nvPr/>
        </p:nvSpPr>
        <p:spPr>
          <a:xfrm flipV="1">
            <a:off x="10149408" y="5739500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10813607" y="5900344"/>
            <a:ext cx="1033383" cy="419796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启动二阶段工作</a:t>
            </a:r>
          </a:p>
        </p:txBody>
      </p:sp>
      <p:sp>
        <p:nvSpPr>
          <p:cNvPr id="6" name="Isosceles Triangle 2"/>
          <p:cNvSpPr/>
          <p:nvPr/>
        </p:nvSpPr>
        <p:spPr>
          <a:xfrm flipV="1">
            <a:off x="6052572" y="4222467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Isosceles Triangle 2"/>
          <p:cNvSpPr/>
          <p:nvPr/>
        </p:nvSpPr>
        <p:spPr>
          <a:xfrm flipV="1">
            <a:off x="4334334" y="4238884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星形: 五角 8"/>
          <p:cNvSpPr/>
          <p:nvPr/>
        </p:nvSpPr>
        <p:spPr bwMode="auto">
          <a:xfrm>
            <a:off x="11202463" y="5664832"/>
            <a:ext cx="255669" cy="235512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 rot="16200000">
            <a:off x="623072" y="3265476"/>
            <a:ext cx="316097" cy="587993"/>
          </a:xfrm>
          <a:prstGeom prst="rect">
            <a:avLst/>
          </a:prstGeom>
          <a:noFill/>
        </p:spPr>
        <p:txBody>
          <a:bodyPr vert="vert" wrap="square" rtlCol="0" anchor="ctr" anchorCtr="0">
            <a:noAutofit/>
          </a:bodyPr>
          <a:lstStyle/>
          <a:p>
            <a:pPr algn="l"/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Plan</a:t>
            </a:r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5" name="文本框 14"/>
          <p:cNvSpPr txBox="1"/>
          <p:nvPr/>
        </p:nvSpPr>
        <p:spPr>
          <a:xfrm rot="16200000">
            <a:off x="623072" y="4160966"/>
            <a:ext cx="316097" cy="587993"/>
          </a:xfrm>
          <a:prstGeom prst="rect">
            <a:avLst/>
          </a:prstGeom>
          <a:noFill/>
        </p:spPr>
        <p:txBody>
          <a:bodyPr vert="vert" wrap="square" rtlCol="0" anchor="ctr" anchorCtr="0">
            <a:noAutofit/>
          </a:bodyPr>
          <a:lstStyle/>
          <a:p>
            <a:pPr algn="l"/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Do</a:t>
            </a:r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6" name="文本框 15"/>
          <p:cNvSpPr txBox="1"/>
          <p:nvPr/>
        </p:nvSpPr>
        <p:spPr>
          <a:xfrm rot="16200000">
            <a:off x="547327" y="5052470"/>
            <a:ext cx="316097" cy="587993"/>
          </a:xfrm>
          <a:prstGeom prst="rect">
            <a:avLst/>
          </a:prstGeom>
          <a:noFill/>
        </p:spPr>
        <p:txBody>
          <a:bodyPr vert="vert" wrap="square" rtlCol="0" anchor="ctr" anchorCtr="0">
            <a:noAutofit/>
          </a:bodyPr>
          <a:lstStyle/>
          <a:p>
            <a:pPr algn="l"/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Check</a:t>
            </a:r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7" name="文本框 16"/>
          <p:cNvSpPr txBox="1"/>
          <p:nvPr/>
        </p:nvSpPr>
        <p:spPr>
          <a:xfrm rot="16200000">
            <a:off x="623072" y="5974294"/>
            <a:ext cx="316097" cy="587993"/>
          </a:xfrm>
          <a:prstGeom prst="rect">
            <a:avLst/>
          </a:prstGeom>
          <a:noFill/>
        </p:spPr>
        <p:txBody>
          <a:bodyPr vert="vert" wrap="square" rtlCol="0" anchor="ctr" anchorCtr="0">
            <a:noAutofit/>
          </a:bodyPr>
          <a:lstStyle/>
          <a:p>
            <a:pPr algn="l"/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Act</a:t>
            </a:r>
            <a:r>
              <a:rPr lang="zh-CN" altLang="en-US" sz="10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8" name="标题 6">
            <a:hlinkClick r:id="rId5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一、</a:t>
            </a:r>
            <a:r>
              <a:rPr lang="zh-CN" altLang="en-US" sz="2400" dirty="0">
                <a:solidFill>
                  <a:srgbClr val="152A8C"/>
                </a:solidFill>
                <a:sym typeface="微软雅黑" panose="020B0503020204020204" charset="-122"/>
              </a:rPr>
              <a:t>“一口清”工作开展情况</a:t>
            </a:r>
          </a:p>
          <a:p>
            <a:pPr lvl="0">
              <a:defRPr/>
            </a:pPr>
            <a:endParaRPr lang="zh-CN" altLang="en-US" sz="2400" dirty="0">
              <a:solidFill>
                <a:srgbClr val="152A8C"/>
              </a:solidFill>
            </a:endParaRPr>
          </a:p>
          <a:p>
            <a:pPr lvl="0">
              <a:defRPr/>
            </a:pPr>
            <a:endParaRPr lang="zh-CN" altLang="en-US" sz="2400" dirty="0">
              <a:solidFill>
                <a:srgbClr val="152A8C"/>
              </a:solidFill>
            </a:endParaRPr>
          </a:p>
        </p:txBody>
      </p:sp>
      <p:sp>
        <p:nvSpPr>
          <p:cNvPr id="2" name="星形: 五角 1"/>
          <p:cNvSpPr/>
          <p:nvPr/>
        </p:nvSpPr>
        <p:spPr bwMode="auto">
          <a:xfrm>
            <a:off x="10111473" y="4940744"/>
            <a:ext cx="255669" cy="235512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458328" y="1280453"/>
            <a:ext cx="11221100" cy="6251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just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自工作启动以来，按照“编册立架（</a:t>
            </a:r>
            <a:r>
              <a:rPr lang="en-US" altLang="zh-CN" b="0" kern="0" dirty="0">
                <a:solidFill>
                  <a:srgbClr val="152A8C"/>
                </a:solidFill>
              </a:rPr>
              <a:t>Plan</a:t>
            </a:r>
            <a:r>
              <a:rPr lang="zh-CN" altLang="en-US" b="0" kern="0" dirty="0">
                <a:solidFill>
                  <a:srgbClr val="152A8C"/>
                </a:solidFill>
              </a:rPr>
              <a:t>）、研学提能（</a:t>
            </a:r>
            <a:r>
              <a:rPr lang="en-US" altLang="zh-CN" b="0" kern="0" dirty="0">
                <a:solidFill>
                  <a:srgbClr val="152A8C"/>
                </a:solidFill>
              </a:rPr>
              <a:t>Do</a:t>
            </a:r>
            <a:r>
              <a:rPr lang="zh-CN" altLang="en-US" b="0" kern="0" dirty="0">
                <a:solidFill>
                  <a:srgbClr val="152A8C"/>
                </a:solidFill>
              </a:rPr>
              <a:t>）、督考评效（</a:t>
            </a:r>
            <a:r>
              <a:rPr lang="en-US" altLang="zh-CN" b="0" kern="0" dirty="0">
                <a:solidFill>
                  <a:srgbClr val="152A8C"/>
                </a:solidFill>
              </a:rPr>
              <a:t>Check</a:t>
            </a:r>
            <a:r>
              <a:rPr lang="zh-CN" altLang="en-US" b="0" kern="0" dirty="0">
                <a:solidFill>
                  <a:srgbClr val="152A8C"/>
                </a:solidFill>
              </a:rPr>
              <a:t>）、落地深耕（</a:t>
            </a:r>
            <a:r>
              <a:rPr lang="en-US" altLang="zh-CN" b="0" kern="0" dirty="0">
                <a:solidFill>
                  <a:srgbClr val="152A8C"/>
                </a:solidFill>
              </a:rPr>
              <a:t>Act</a:t>
            </a:r>
            <a:r>
              <a:rPr lang="zh-CN" altLang="en-US" b="0" kern="0" dirty="0">
                <a:solidFill>
                  <a:srgbClr val="152A8C"/>
                </a:solidFill>
              </a:rPr>
              <a:t>）”思路推进“一口清”阶段性落地，相关经验已在公司内横展。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3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1600" kern="0" dirty="0">
                <a:solidFill>
                  <a:srgbClr val="152A8C"/>
                </a:solidFill>
              </a:rPr>
              <a:t>工作实效与不足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6" name="Title66"/>
          <p:cNvSpPr txBox="1"/>
          <p:nvPr/>
        </p:nvSpPr>
        <p:spPr>
          <a:xfrm>
            <a:off x="1252842" y="1985308"/>
            <a:ext cx="820738" cy="2215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Arial Narrow" panose="020B0606020202030204" pitchFamily="34" charset="0"/>
              </a:rPr>
              <a:t>工作实效</a:t>
            </a:r>
          </a:p>
        </p:txBody>
      </p:sp>
      <p:cxnSp>
        <p:nvCxnSpPr>
          <p:cNvPr id="73" name="HorizontalLine4"/>
          <p:cNvCxnSpPr/>
          <p:nvPr/>
        </p:nvCxnSpPr>
        <p:spPr bwMode="auto">
          <a:xfrm>
            <a:off x="740592" y="2291348"/>
            <a:ext cx="7190442" cy="0"/>
          </a:xfrm>
          <a:prstGeom prst="line">
            <a:avLst/>
          </a:prstGeom>
          <a:noFill/>
          <a:ln w="25400" cap="flat" cmpd="sng" algn="ctr">
            <a:gradFill flip="none" rotWithShape="1">
              <a:gsLst>
                <a:gs pos="12000">
                  <a:srgbClr val="000082"/>
                </a:gs>
                <a:gs pos="86000">
                  <a:srgbClr val="FFFFFF"/>
                </a:gs>
              </a:gsLst>
              <a:lin ang="10800000" scaled="1"/>
              <a:tileRect/>
            </a:gradFill>
            <a:prstDash val="solid"/>
          </a:ln>
          <a:effectLst/>
        </p:spPr>
      </p:cxnSp>
      <p:grpSp>
        <p:nvGrpSpPr>
          <p:cNvPr id="91" name="组合 90"/>
          <p:cNvGrpSpPr/>
          <p:nvPr/>
        </p:nvGrpSpPr>
        <p:grpSpPr>
          <a:xfrm>
            <a:off x="277263" y="2486786"/>
            <a:ext cx="1548000" cy="3859071"/>
            <a:chOff x="277263" y="2590483"/>
            <a:chExt cx="1794947" cy="3859071"/>
          </a:xfrm>
        </p:grpSpPr>
        <p:sp>
          <p:nvSpPr>
            <p:cNvPr id="11" name="Rectangle 155"/>
            <p:cNvSpPr/>
            <p:nvPr/>
          </p:nvSpPr>
          <p:spPr>
            <a:xfrm>
              <a:off x="358681" y="2677336"/>
              <a:ext cx="1632111" cy="2106672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</a:ln>
            <a:effectLst/>
          </p:spPr>
          <p:txBody>
            <a:bodyPr wrap="square" lIns="72000" tIns="72000" rIns="72000" bIns="72000" rtlCol="0" anchor="t"/>
            <a:lstStyle/>
            <a:p>
              <a:pPr marL="146050" marR="0" lvl="1" indent="-14605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+mn-lt"/>
                <a:buChar char="•"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  <p:grpSp>
          <p:nvGrpSpPr>
            <p:cNvPr id="12" name="Group 171"/>
            <p:cNvGrpSpPr/>
            <p:nvPr/>
          </p:nvGrpSpPr>
          <p:grpSpPr>
            <a:xfrm>
              <a:off x="277263" y="2590483"/>
              <a:ext cx="1794947" cy="3859071"/>
              <a:chOff x="4574429" y="2156399"/>
              <a:chExt cx="1794947" cy="3859071"/>
            </a:xfrm>
          </p:grpSpPr>
          <p:grpSp>
            <p:nvGrpSpPr>
              <p:cNvPr id="13" name="Group 66"/>
              <p:cNvGrpSpPr/>
              <p:nvPr/>
            </p:nvGrpSpPr>
            <p:grpSpPr>
              <a:xfrm>
                <a:off x="4574429" y="2156399"/>
                <a:ext cx="217783" cy="208651"/>
                <a:chOff x="1505445" y="1702800"/>
                <a:chExt cx="351965" cy="337204"/>
              </a:xfrm>
            </p:grpSpPr>
            <p:sp>
              <p:nvSpPr>
                <p:cNvPr id="20" name="Freeform 62"/>
                <p:cNvSpPr/>
                <p:nvPr/>
              </p:nvSpPr>
              <p:spPr bwMode="auto">
                <a:xfrm flipH="1">
                  <a:off x="1505445" y="1702800"/>
                  <a:ext cx="318529" cy="308486"/>
                </a:xfrm>
                <a:custGeom>
                  <a:avLst/>
                  <a:gdLst>
                    <a:gd name="T0" fmla="*/ 311 w 311"/>
                    <a:gd name="T1" fmla="*/ 0 h 301"/>
                    <a:gd name="T2" fmla="*/ 311 w 311"/>
                    <a:gd name="T3" fmla="*/ 0 h 301"/>
                    <a:gd name="T4" fmla="*/ 311 w 311"/>
                    <a:gd name="T5" fmla="*/ 0 h 301"/>
                    <a:gd name="T6" fmla="*/ 94 w 311"/>
                    <a:gd name="T7" fmla="*/ 0 h 301"/>
                    <a:gd name="T8" fmla="*/ 0 w 311"/>
                    <a:gd name="T9" fmla="*/ 91 h 301"/>
                    <a:gd name="T10" fmla="*/ 0 w 311"/>
                    <a:gd name="T11" fmla="*/ 91 h 301"/>
                    <a:gd name="T12" fmla="*/ 217 w 311"/>
                    <a:gd name="T13" fmla="*/ 91 h 301"/>
                    <a:gd name="T14" fmla="*/ 217 w 311"/>
                    <a:gd name="T15" fmla="*/ 301 h 301"/>
                    <a:gd name="T16" fmla="*/ 217 w 311"/>
                    <a:gd name="T17" fmla="*/ 301 h 301"/>
                    <a:gd name="T18" fmla="*/ 311 w 311"/>
                    <a:gd name="T19" fmla="*/ 210 h 301"/>
                    <a:gd name="T20" fmla="*/ 311 w 311"/>
                    <a:gd name="T21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11" h="301">
                      <a:moveTo>
                        <a:pt x="311" y="0"/>
                      </a:moveTo>
                      <a:cubicBezTo>
                        <a:pt x="311" y="0"/>
                        <a:pt x="311" y="0"/>
                        <a:pt x="311" y="0"/>
                      </a:cubicBezTo>
                      <a:cubicBezTo>
                        <a:pt x="311" y="0"/>
                        <a:pt x="311" y="0"/>
                        <a:pt x="311" y="0"/>
                      </a:cubicBezTo>
                      <a:cubicBezTo>
                        <a:pt x="239" y="0"/>
                        <a:pt x="167" y="0"/>
                        <a:pt x="94" y="0"/>
                      </a:cubicBezTo>
                      <a:cubicBezTo>
                        <a:pt x="43" y="0"/>
                        <a:pt x="0" y="41"/>
                        <a:pt x="0" y="91"/>
                      </a:cubicBezTo>
                      <a:cubicBezTo>
                        <a:pt x="0" y="91"/>
                        <a:pt x="0" y="91"/>
                        <a:pt x="0" y="91"/>
                      </a:cubicBezTo>
                      <a:cubicBezTo>
                        <a:pt x="217" y="91"/>
                        <a:pt x="217" y="91"/>
                        <a:pt x="217" y="91"/>
                      </a:cubicBezTo>
                      <a:cubicBezTo>
                        <a:pt x="217" y="301"/>
                        <a:pt x="217" y="301"/>
                        <a:pt x="217" y="301"/>
                      </a:cubicBezTo>
                      <a:cubicBezTo>
                        <a:pt x="217" y="301"/>
                        <a:pt x="217" y="301"/>
                        <a:pt x="217" y="301"/>
                      </a:cubicBezTo>
                      <a:cubicBezTo>
                        <a:pt x="269" y="301"/>
                        <a:pt x="311" y="260"/>
                        <a:pt x="311" y="210"/>
                      </a:cubicBezTo>
                      <a:cubicBezTo>
                        <a:pt x="311" y="140"/>
                        <a:pt x="311" y="70"/>
                        <a:pt x="311" y="0"/>
                      </a:cubicBezTo>
                      <a:close/>
                    </a:path>
                  </a:pathLst>
                </a:custGeom>
                <a:solidFill>
                  <a:srgbClr val="000082"/>
                </a:solidFill>
                <a:ln w="19050" cmpd="sng">
                  <a:solidFill>
                    <a:srgbClr val="FFFFFF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cs typeface="Segoe UI" panose="020B0502040204020203"/>
                  </a:endParaRPr>
                </a:p>
              </p:txBody>
            </p:sp>
            <p:sp>
              <p:nvSpPr>
                <p:cNvPr id="29" name="Freeform 66"/>
                <p:cNvSpPr/>
                <p:nvPr/>
              </p:nvSpPr>
              <p:spPr bwMode="auto">
                <a:xfrm flipH="1">
                  <a:off x="1630917" y="1822005"/>
                  <a:ext cx="226493" cy="217999"/>
                </a:xfrm>
                <a:custGeom>
                  <a:avLst/>
                  <a:gdLst>
                    <a:gd name="T0" fmla="*/ 223 w 223"/>
                    <a:gd name="T1" fmla="*/ 1 h 216"/>
                    <a:gd name="T2" fmla="*/ 223 w 223"/>
                    <a:gd name="T3" fmla="*/ 1 h 216"/>
                    <a:gd name="T4" fmla="*/ 223 w 223"/>
                    <a:gd name="T5" fmla="*/ 0 h 216"/>
                    <a:gd name="T6" fmla="*/ 68 w 223"/>
                    <a:gd name="T7" fmla="*/ 1 h 216"/>
                    <a:gd name="T8" fmla="*/ 0 w 223"/>
                    <a:gd name="T9" fmla="*/ 66 h 216"/>
                    <a:gd name="T10" fmla="*/ 0 w 223"/>
                    <a:gd name="T11" fmla="*/ 66 h 216"/>
                    <a:gd name="T12" fmla="*/ 156 w 223"/>
                    <a:gd name="T13" fmla="*/ 66 h 216"/>
                    <a:gd name="T14" fmla="*/ 156 w 223"/>
                    <a:gd name="T15" fmla="*/ 216 h 216"/>
                    <a:gd name="T16" fmla="*/ 156 w 223"/>
                    <a:gd name="T17" fmla="*/ 216 h 216"/>
                    <a:gd name="T18" fmla="*/ 223 w 223"/>
                    <a:gd name="T19" fmla="*/ 151 h 216"/>
                    <a:gd name="T20" fmla="*/ 223 w 223"/>
                    <a:gd name="T21" fmla="*/ 1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3" h="216">
                      <a:moveTo>
                        <a:pt x="223" y="1"/>
                      </a:moveTo>
                      <a:cubicBezTo>
                        <a:pt x="223" y="1"/>
                        <a:pt x="223" y="1"/>
                        <a:pt x="223" y="1"/>
                      </a:cubicBezTo>
                      <a:cubicBezTo>
                        <a:pt x="223" y="0"/>
                        <a:pt x="223" y="0"/>
                        <a:pt x="223" y="0"/>
                      </a:cubicBezTo>
                      <a:cubicBezTo>
                        <a:pt x="171" y="0"/>
                        <a:pt x="120" y="1"/>
                        <a:pt x="68" y="1"/>
                      </a:cubicBezTo>
                      <a:cubicBezTo>
                        <a:pt x="31" y="1"/>
                        <a:pt x="0" y="30"/>
                        <a:pt x="0" y="66"/>
                      </a:cubicBezTo>
                      <a:cubicBezTo>
                        <a:pt x="0" y="66"/>
                        <a:pt x="0" y="66"/>
                        <a:pt x="0" y="66"/>
                      </a:cubicBezTo>
                      <a:cubicBezTo>
                        <a:pt x="156" y="66"/>
                        <a:pt x="156" y="66"/>
                        <a:pt x="156" y="66"/>
                      </a:cubicBezTo>
                      <a:cubicBezTo>
                        <a:pt x="156" y="216"/>
                        <a:pt x="156" y="216"/>
                        <a:pt x="156" y="216"/>
                      </a:cubicBezTo>
                      <a:cubicBezTo>
                        <a:pt x="156" y="216"/>
                        <a:pt x="156" y="216"/>
                        <a:pt x="156" y="216"/>
                      </a:cubicBezTo>
                      <a:cubicBezTo>
                        <a:pt x="193" y="216"/>
                        <a:pt x="223" y="187"/>
                        <a:pt x="223" y="151"/>
                      </a:cubicBezTo>
                      <a:cubicBezTo>
                        <a:pt x="223" y="101"/>
                        <a:pt x="223" y="51"/>
                        <a:pt x="223" y="1"/>
                      </a:cubicBezTo>
                      <a:close/>
                    </a:path>
                  </a:pathLst>
                </a:custGeom>
                <a:solidFill>
                  <a:srgbClr val="77CDF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cs typeface="Segoe UI" panose="020B0502040204020203"/>
                  </a:endParaRPr>
                </a:p>
              </p:txBody>
            </p:sp>
          </p:grpSp>
          <p:grpSp>
            <p:nvGrpSpPr>
              <p:cNvPr id="15" name="Group 66"/>
              <p:cNvGrpSpPr/>
              <p:nvPr/>
            </p:nvGrpSpPr>
            <p:grpSpPr>
              <a:xfrm rot="10800000">
                <a:off x="6151593" y="5806819"/>
                <a:ext cx="217783" cy="208651"/>
                <a:chOff x="1505445" y="1702800"/>
                <a:chExt cx="351965" cy="337204"/>
              </a:xfrm>
            </p:grpSpPr>
            <p:sp>
              <p:nvSpPr>
                <p:cNvPr id="16" name="Freeform 62"/>
                <p:cNvSpPr/>
                <p:nvPr/>
              </p:nvSpPr>
              <p:spPr bwMode="auto">
                <a:xfrm flipH="1">
                  <a:off x="1505445" y="1702800"/>
                  <a:ext cx="318529" cy="308486"/>
                </a:xfrm>
                <a:custGeom>
                  <a:avLst/>
                  <a:gdLst>
                    <a:gd name="T0" fmla="*/ 311 w 311"/>
                    <a:gd name="T1" fmla="*/ 0 h 301"/>
                    <a:gd name="T2" fmla="*/ 311 w 311"/>
                    <a:gd name="T3" fmla="*/ 0 h 301"/>
                    <a:gd name="T4" fmla="*/ 311 w 311"/>
                    <a:gd name="T5" fmla="*/ 0 h 301"/>
                    <a:gd name="T6" fmla="*/ 94 w 311"/>
                    <a:gd name="T7" fmla="*/ 0 h 301"/>
                    <a:gd name="T8" fmla="*/ 0 w 311"/>
                    <a:gd name="T9" fmla="*/ 91 h 301"/>
                    <a:gd name="T10" fmla="*/ 0 w 311"/>
                    <a:gd name="T11" fmla="*/ 91 h 301"/>
                    <a:gd name="T12" fmla="*/ 217 w 311"/>
                    <a:gd name="T13" fmla="*/ 91 h 301"/>
                    <a:gd name="T14" fmla="*/ 217 w 311"/>
                    <a:gd name="T15" fmla="*/ 301 h 301"/>
                    <a:gd name="T16" fmla="*/ 217 w 311"/>
                    <a:gd name="T17" fmla="*/ 301 h 301"/>
                    <a:gd name="T18" fmla="*/ 311 w 311"/>
                    <a:gd name="T19" fmla="*/ 210 h 301"/>
                    <a:gd name="T20" fmla="*/ 311 w 311"/>
                    <a:gd name="T21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11" h="301">
                      <a:moveTo>
                        <a:pt x="311" y="0"/>
                      </a:moveTo>
                      <a:cubicBezTo>
                        <a:pt x="311" y="0"/>
                        <a:pt x="311" y="0"/>
                        <a:pt x="311" y="0"/>
                      </a:cubicBezTo>
                      <a:cubicBezTo>
                        <a:pt x="311" y="0"/>
                        <a:pt x="311" y="0"/>
                        <a:pt x="311" y="0"/>
                      </a:cubicBezTo>
                      <a:cubicBezTo>
                        <a:pt x="239" y="0"/>
                        <a:pt x="167" y="0"/>
                        <a:pt x="94" y="0"/>
                      </a:cubicBezTo>
                      <a:cubicBezTo>
                        <a:pt x="43" y="0"/>
                        <a:pt x="0" y="41"/>
                        <a:pt x="0" y="91"/>
                      </a:cubicBezTo>
                      <a:cubicBezTo>
                        <a:pt x="0" y="91"/>
                        <a:pt x="0" y="91"/>
                        <a:pt x="0" y="91"/>
                      </a:cubicBezTo>
                      <a:cubicBezTo>
                        <a:pt x="217" y="91"/>
                        <a:pt x="217" y="91"/>
                        <a:pt x="217" y="91"/>
                      </a:cubicBezTo>
                      <a:cubicBezTo>
                        <a:pt x="217" y="301"/>
                        <a:pt x="217" y="301"/>
                        <a:pt x="217" y="301"/>
                      </a:cubicBezTo>
                      <a:cubicBezTo>
                        <a:pt x="217" y="301"/>
                        <a:pt x="217" y="301"/>
                        <a:pt x="217" y="301"/>
                      </a:cubicBezTo>
                      <a:cubicBezTo>
                        <a:pt x="269" y="301"/>
                        <a:pt x="311" y="260"/>
                        <a:pt x="311" y="210"/>
                      </a:cubicBezTo>
                      <a:cubicBezTo>
                        <a:pt x="311" y="140"/>
                        <a:pt x="311" y="70"/>
                        <a:pt x="311" y="0"/>
                      </a:cubicBezTo>
                      <a:close/>
                    </a:path>
                  </a:pathLst>
                </a:custGeom>
                <a:solidFill>
                  <a:srgbClr val="000082"/>
                </a:solidFill>
                <a:ln w="19050" cmpd="sng">
                  <a:solidFill>
                    <a:srgbClr val="FFFFFF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cs typeface="Segoe UI" panose="020B0502040204020203"/>
                  </a:endParaRPr>
                </a:p>
              </p:txBody>
            </p:sp>
            <p:sp>
              <p:nvSpPr>
                <p:cNvPr id="17" name="Freeform 66"/>
                <p:cNvSpPr/>
                <p:nvPr/>
              </p:nvSpPr>
              <p:spPr bwMode="auto">
                <a:xfrm flipH="1">
                  <a:off x="1630917" y="1822005"/>
                  <a:ext cx="226493" cy="217999"/>
                </a:xfrm>
                <a:custGeom>
                  <a:avLst/>
                  <a:gdLst>
                    <a:gd name="T0" fmla="*/ 223 w 223"/>
                    <a:gd name="T1" fmla="*/ 1 h 216"/>
                    <a:gd name="T2" fmla="*/ 223 w 223"/>
                    <a:gd name="T3" fmla="*/ 1 h 216"/>
                    <a:gd name="T4" fmla="*/ 223 w 223"/>
                    <a:gd name="T5" fmla="*/ 0 h 216"/>
                    <a:gd name="T6" fmla="*/ 68 w 223"/>
                    <a:gd name="T7" fmla="*/ 1 h 216"/>
                    <a:gd name="T8" fmla="*/ 0 w 223"/>
                    <a:gd name="T9" fmla="*/ 66 h 216"/>
                    <a:gd name="T10" fmla="*/ 0 w 223"/>
                    <a:gd name="T11" fmla="*/ 66 h 216"/>
                    <a:gd name="T12" fmla="*/ 156 w 223"/>
                    <a:gd name="T13" fmla="*/ 66 h 216"/>
                    <a:gd name="T14" fmla="*/ 156 w 223"/>
                    <a:gd name="T15" fmla="*/ 216 h 216"/>
                    <a:gd name="T16" fmla="*/ 156 w 223"/>
                    <a:gd name="T17" fmla="*/ 216 h 216"/>
                    <a:gd name="T18" fmla="*/ 223 w 223"/>
                    <a:gd name="T19" fmla="*/ 151 h 216"/>
                    <a:gd name="T20" fmla="*/ 223 w 223"/>
                    <a:gd name="T21" fmla="*/ 1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3" h="216">
                      <a:moveTo>
                        <a:pt x="223" y="1"/>
                      </a:moveTo>
                      <a:cubicBezTo>
                        <a:pt x="223" y="1"/>
                        <a:pt x="223" y="1"/>
                        <a:pt x="223" y="1"/>
                      </a:cubicBezTo>
                      <a:cubicBezTo>
                        <a:pt x="223" y="0"/>
                        <a:pt x="223" y="0"/>
                        <a:pt x="223" y="0"/>
                      </a:cubicBezTo>
                      <a:cubicBezTo>
                        <a:pt x="171" y="0"/>
                        <a:pt x="120" y="1"/>
                        <a:pt x="68" y="1"/>
                      </a:cubicBezTo>
                      <a:cubicBezTo>
                        <a:pt x="31" y="1"/>
                        <a:pt x="0" y="30"/>
                        <a:pt x="0" y="66"/>
                      </a:cubicBezTo>
                      <a:cubicBezTo>
                        <a:pt x="0" y="66"/>
                        <a:pt x="0" y="66"/>
                        <a:pt x="0" y="66"/>
                      </a:cubicBezTo>
                      <a:cubicBezTo>
                        <a:pt x="156" y="66"/>
                        <a:pt x="156" y="66"/>
                        <a:pt x="156" y="66"/>
                      </a:cubicBezTo>
                      <a:cubicBezTo>
                        <a:pt x="156" y="216"/>
                        <a:pt x="156" y="216"/>
                        <a:pt x="156" y="216"/>
                      </a:cubicBezTo>
                      <a:cubicBezTo>
                        <a:pt x="156" y="216"/>
                        <a:pt x="156" y="216"/>
                        <a:pt x="156" y="216"/>
                      </a:cubicBezTo>
                      <a:cubicBezTo>
                        <a:pt x="193" y="216"/>
                        <a:pt x="223" y="187"/>
                        <a:pt x="223" y="151"/>
                      </a:cubicBezTo>
                      <a:cubicBezTo>
                        <a:pt x="223" y="101"/>
                        <a:pt x="223" y="51"/>
                        <a:pt x="223" y="1"/>
                      </a:cubicBezTo>
                      <a:close/>
                    </a:path>
                  </a:pathLst>
                </a:custGeom>
                <a:solidFill>
                  <a:srgbClr val="77CDF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30" name="Group 172"/>
            <p:cNvGrpSpPr/>
            <p:nvPr/>
          </p:nvGrpSpPr>
          <p:grpSpPr>
            <a:xfrm>
              <a:off x="298785" y="2609645"/>
              <a:ext cx="1751903" cy="3820746"/>
              <a:chOff x="4595951" y="2175562"/>
              <a:chExt cx="1751903" cy="3820746"/>
            </a:xfrm>
          </p:grpSpPr>
          <p:sp>
            <p:nvSpPr>
              <p:cNvPr id="31" name="RBLeftAngle"/>
              <p:cNvSpPr/>
              <p:nvPr/>
            </p:nvSpPr>
            <p:spPr>
              <a:xfrm>
                <a:off x="4792212" y="2175562"/>
                <a:ext cx="1555642" cy="3626314"/>
              </a:xfrm>
              <a:custGeom>
                <a:avLst/>
                <a:gdLst>
                  <a:gd name="connsiteX0" fmla="*/ 0 w 1270000"/>
                  <a:gd name="connsiteY0" fmla="*/ 0 h 476250"/>
                  <a:gd name="connsiteX1" fmla="*/ 1270000 w 1270000"/>
                  <a:gd name="connsiteY1" fmla="*/ 0 h 476250"/>
                  <a:gd name="connsiteX2" fmla="*/ 1270000 w 1270000"/>
                  <a:gd name="connsiteY2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70000" h="47625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476250"/>
                    </a:lnTo>
                  </a:path>
                </a:pathLst>
              </a:custGeom>
              <a:noFill/>
              <a:ln w="6350" cap="flat" cmpd="sng" algn="ctr">
                <a:solidFill>
                  <a:srgbClr val="000050"/>
                </a:solidFill>
                <a:prstDash val="solid"/>
              </a:ln>
              <a:effectLst>
                <a:glow rad="38100">
                  <a:srgbClr val="000082">
                    <a:alpha val="40000"/>
                  </a:srgbClr>
                </a:glow>
              </a:effectLst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RBLeftAngle"/>
              <p:cNvSpPr/>
              <p:nvPr/>
            </p:nvSpPr>
            <p:spPr>
              <a:xfrm rot="10800000">
                <a:off x="4595951" y="2378664"/>
                <a:ext cx="1531311" cy="3617644"/>
              </a:xfrm>
              <a:custGeom>
                <a:avLst/>
                <a:gdLst>
                  <a:gd name="connsiteX0" fmla="*/ 0 w 1270000"/>
                  <a:gd name="connsiteY0" fmla="*/ 0 h 476250"/>
                  <a:gd name="connsiteX1" fmla="*/ 1270000 w 1270000"/>
                  <a:gd name="connsiteY1" fmla="*/ 0 h 476250"/>
                  <a:gd name="connsiteX2" fmla="*/ 1270000 w 1270000"/>
                  <a:gd name="connsiteY2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70000" h="47625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476250"/>
                    </a:lnTo>
                  </a:path>
                </a:pathLst>
              </a:custGeom>
              <a:noFill/>
              <a:ln w="6350" cap="flat" cmpd="sng" algn="ctr">
                <a:solidFill>
                  <a:srgbClr val="000050"/>
                </a:solidFill>
                <a:prstDash val="solid"/>
              </a:ln>
              <a:effectLst>
                <a:glow rad="38100">
                  <a:srgbClr val="000082">
                    <a:alpha val="40000"/>
                  </a:srgbClr>
                </a:glow>
              </a:effectLst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20" name="Rectangle 8"/>
            <p:cNvSpPr/>
            <p:nvPr/>
          </p:nvSpPr>
          <p:spPr>
            <a:xfrm>
              <a:off x="424973" y="4027864"/>
              <a:ext cx="1396977" cy="30777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kumimoji="0" lang="zh-CN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glow rad="101600">
                      <a:srgbClr val="000050"/>
                    </a:glow>
                  </a:effectLst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“一口清”</a:t>
              </a:r>
              <a:endPara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rgbClr val="000050"/>
                  </a:glow>
                </a:effectLst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  <p:pic>
          <p:nvPicPr>
            <p:cNvPr id="130" name="图片 1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2302" y="5223776"/>
              <a:ext cx="1550307" cy="1056932"/>
            </a:xfrm>
            <a:prstGeom prst="rect">
              <a:avLst/>
            </a:prstGeom>
          </p:spPr>
        </p:pic>
        <p:sp>
          <p:nvSpPr>
            <p:cNvPr id="126" name="Rectangle 99"/>
            <p:cNvSpPr/>
            <p:nvPr/>
          </p:nvSpPr>
          <p:spPr>
            <a:xfrm>
              <a:off x="315345" y="5149175"/>
              <a:ext cx="1602750" cy="1206133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noFill/>
              <a:prstDash val="solid"/>
            </a:ln>
            <a:effectLst/>
          </p:spPr>
          <p:txBody>
            <a:bodyPr wrap="square" lIns="72000" tIns="72000" rIns="72000" bIns="72000" rtlCol="0" anchor="t"/>
            <a:lstStyle/>
            <a:p>
              <a:pPr marL="146050" marR="0" lvl="1" indent="-14605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+mn-lt"/>
                <a:buChar char="•"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</p:grpSp>
      <p:sp>
        <p:nvSpPr>
          <p:cNvPr id="187" name="TextBox 3"/>
          <p:cNvSpPr txBox="1"/>
          <p:nvPr>
            <p:custDataLst>
              <p:tags r:id="rId2"/>
            </p:custDataLst>
          </p:nvPr>
        </p:nvSpPr>
        <p:spPr>
          <a:xfrm>
            <a:off x="462280" y="1275095"/>
            <a:ext cx="11221100" cy="3450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just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“一口清”虽通过四项环节取得一些工作实效，但在内容建设、能力提升、机制建设仍存在不足，需系统化提升</a:t>
            </a:r>
            <a:endParaRPr lang="en-US" altLang="zh-CN" b="0" kern="0" dirty="0">
              <a:solidFill>
                <a:srgbClr val="152A8C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11671" y="2495371"/>
            <a:ext cx="6786774" cy="3776726"/>
            <a:chOff x="462278" y="1480789"/>
            <a:chExt cx="11524573" cy="5318847"/>
          </a:xfrm>
        </p:grpSpPr>
        <p:sp>
          <p:nvSpPr>
            <p:cNvPr id="3" name="Rectangle 41"/>
            <p:cNvSpPr/>
            <p:nvPr/>
          </p:nvSpPr>
          <p:spPr>
            <a:xfrm>
              <a:off x="462280" y="1480789"/>
              <a:ext cx="2668339" cy="373812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000082"/>
              </a:solidFill>
              <a:prstDash val="solid"/>
            </a:ln>
            <a:effectLst>
              <a:glow rad="63500">
                <a:srgbClr val="000082">
                  <a:alpha val="20000"/>
                </a:srgbClr>
              </a:glow>
            </a:effectLst>
          </p:spPr>
          <p:txBody>
            <a:bodyPr vert="horz" wrap="square" lIns="36000" tIns="0" rIns="3600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kumimoji="0" lang="zh-CN" altLang="en-US" sz="1000" b="1" i="0" u="none" strike="noStrike" kern="0" cap="none" spc="-4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编册立架（</a:t>
              </a:r>
              <a:r>
                <a:rPr kumimoji="0" lang="en-US" altLang="zh-CN" sz="1000" b="1" i="0" u="none" strike="noStrike" kern="0" cap="none" spc="-4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Plan</a:t>
              </a:r>
              <a:r>
                <a:rPr kumimoji="0" lang="zh-CN" altLang="en-US" sz="1000" b="1" i="0" u="none" strike="noStrike" kern="0" cap="none" spc="-4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）</a:t>
              </a:r>
            </a:p>
          </p:txBody>
        </p:sp>
        <p:sp>
          <p:nvSpPr>
            <p:cNvPr id="5" name="Rectangle 124"/>
            <p:cNvSpPr/>
            <p:nvPr/>
          </p:nvSpPr>
          <p:spPr>
            <a:xfrm>
              <a:off x="3364833" y="1480789"/>
              <a:ext cx="2668339" cy="373812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000082"/>
              </a:solidFill>
              <a:prstDash val="solid"/>
            </a:ln>
            <a:effectLst>
              <a:glow rad="63500">
                <a:srgbClr val="000082">
                  <a:alpha val="20000"/>
                </a:srgbClr>
              </a:glow>
            </a:effectLst>
          </p:spPr>
          <p:txBody>
            <a:bodyPr vert="horz" wrap="square" lIns="36000" tIns="0" rIns="36000" bIns="0" rtlCol="0" anchor="ctr"/>
            <a:lstStyle/>
            <a:p>
              <a:pPr algn="ctr" fontAlgn="base">
                <a:spcBef>
                  <a:spcPts val="400"/>
                </a:spcBef>
                <a:spcAft>
                  <a:spcPct val="0"/>
                </a:spcAft>
                <a:buSzPct val="100000"/>
              </a:pPr>
              <a:r>
                <a:rPr lang="zh-CN" altLang="en-US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研学提能（</a:t>
              </a:r>
              <a:r>
                <a:rPr lang="en-US" altLang="zh-CN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Do</a:t>
              </a:r>
              <a:r>
                <a:rPr lang="zh-CN" altLang="en-US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）</a:t>
              </a:r>
            </a:p>
          </p:txBody>
        </p:sp>
        <p:sp>
          <p:nvSpPr>
            <p:cNvPr id="6" name="Rectangle 125"/>
            <p:cNvSpPr/>
            <p:nvPr/>
          </p:nvSpPr>
          <p:spPr>
            <a:xfrm>
              <a:off x="6267386" y="1480789"/>
              <a:ext cx="2668339" cy="373812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000082"/>
              </a:solidFill>
              <a:prstDash val="solid"/>
            </a:ln>
            <a:effectLst>
              <a:glow rad="63500">
                <a:srgbClr val="000082">
                  <a:alpha val="20000"/>
                </a:srgbClr>
              </a:glow>
            </a:effectLst>
          </p:spPr>
          <p:txBody>
            <a:bodyPr vert="horz" wrap="square" lIns="36000" tIns="0" rIns="36000" bIns="0" rtlCol="0" anchor="ctr"/>
            <a:lstStyle/>
            <a:p>
              <a:pPr algn="ctr" fontAlgn="base">
                <a:spcBef>
                  <a:spcPts val="400"/>
                </a:spcBef>
                <a:spcAft>
                  <a:spcPct val="0"/>
                </a:spcAft>
                <a:buSzPct val="100000"/>
              </a:pPr>
              <a:r>
                <a:rPr lang="zh-CN" altLang="en-US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督考评效（</a:t>
              </a:r>
              <a:r>
                <a:rPr lang="en-US" altLang="zh-CN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Check</a:t>
              </a:r>
              <a:r>
                <a:rPr lang="zh-CN" altLang="en-US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）</a:t>
              </a:r>
            </a:p>
          </p:txBody>
        </p:sp>
        <p:sp>
          <p:nvSpPr>
            <p:cNvPr id="7" name="Rectangle 126"/>
            <p:cNvSpPr/>
            <p:nvPr/>
          </p:nvSpPr>
          <p:spPr>
            <a:xfrm>
              <a:off x="9169939" y="1480789"/>
              <a:ext cx="2668339" cy="373812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000082"/>
              </a:solidFill>
              <a:prstDash val="solid"/>
            </a:ln>
            <a:effectLst>
              <a:glow rad="63500">
                <a:srgbClr val="000082">
                  <a:alpha val="20000"/>
                </a:srgbClr>
              </a:glow>
            </a:effectLst>
          </p:spPr>
          <p:txBody>
            <a:bodyPr vert="horz" wrap="square" lIns="36000" tIns="0" rIns="36000" bIns="0" rtlCol="0" anchor="ctr"/>
            <a:lstStyle/>
            <a:p>
              <a:pPr algn="ctr" fontAlgn="base">
                <a:spcBef>
                  <a:spcPts val="400"/>
                </a:spcBef>
                <a:spcAft>
                  <a:spcPct val="0"/>
                </a:spcAft>
                <a:buSzPct val="100000"/>
              </a:pPr>
              <a:r>
                <a:rPr lang="zh-CN" altLang="en-US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落地深耕（</a:t>
              </a:r>
              <a:r>
                <a:rPr lang="en-US" altLang="zh-CN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Act</a:t>
              </a:r>
              <a:r>
                <a:rPr lang="zh-CN" altLang="en-US" sz="1000" b="1" kern="0" spc="-40" dirty="0">
                  <a:solidFill>
                    <a:srgbClr val="152A8C"/>
                  </a:solidFill>
                  <a:latin typeface="RB Office"/>
                  <a:ea typeface="微软雅黑" panose="020B0503020204020204" charset="-122"/>
                  <a:cs typeface="Segoe UI" panose="020B0502040204020203"/>
                  <a:sym typeface="+mn-lt"/>
                </a:rPr>
                <a:t>）</a:t>
              </a: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247726" y="1942279"/>
              <a:ext cx="0" cy="4104000"/>
            </a:xfrm>
            <a:prstGeom prst="line">
              <a:avLst/>
            </a:prstGeom>
            <a:noFill/>
            <a:ln w="6350" cap="flat" cmpd="sng" algn="ctr">
              <a:solidFill>
                <a:srgbClr val="C8C8C8"/>
              </a:solidFill>
              <a:prstDash val="dash"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>
              <a:off x="6150279" y="1942279"/>
              <a:ext cx="0" cy="4104000"/>
            </a:xfrm>
            <a:prstGeom prst="line">
              <a:avLst/>
            </a:prstGeom>
            <a:noFill/>
            <a:ln w="6350" cap="flat" cmpd="sng" algn="ctr">
              <a:solidFill>
                <a:srgbClr val="C8C8C8"/>
              </a:solidFill>
              <a:prstDash val="dash"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>
            <a:xfrm>
              <a:off x="9052832" y="1942279"/>
              <a:ext cx="0" cy="4104000"/>
            </a:xfrm>
            <a:prstGeom prst="line">
              <a:avLst/>
            </a:prstGeom>
            <a:noFill/>
            <a:ln w="6350" cap="flat" cmpd="sng" algn="ctr">
              <a:solidFill>
                <a:srgbClr val="C8C8C8"/>
              </a:solidFill>
              <a:prstDash val="dash"/>
              <a:headEnd type="none" w="med" len="med"/>
              <a:tailEnd type="none" w="med" len="med"/>
            </a:ln>
            <a:effectLst/>
          </p:spPr>
        </p:cxn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583" y="2649601"/>
              <a:ext cx="1961730" cy="170390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62278" y="1942279"/>
              <a:ext cx="2668339" cy="598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marR="0" lvl="0" indent="-22860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快速落实要求形成首版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《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参股公司一口清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》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并根据实际情况持续更新迭代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n-ea"/>
                <a:cs typeface="Segoe UI" panose="020B0502040204020203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79906" y="4719224"/>
              <a:ext cx="2248225" cy="131597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14726" y="2489299"/>
              <a:ext cx="2360571" cy="2007394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3294449" y="1942278"/>
              <a:ext cx="2668339" cy="598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marR="0" lvl="0" indent="-22860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总监</a:t>
              </a:r>
              <a:r>
                <a:rPr lang="zh-CN" altLang="en-US" sz="800" kern="0" dirty="0">
                  <a:solidFill>
                    <a:srgbClr val="152A8C"/>
                  </a:solidFill>
                  <a:latin typeface="+mn-ea"/>
                  <a:cs typeface="Segoe UI" panose="020B0502040204020203"/>
                </a:rPr>
                <a:t>每月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听取投后报告</a:t>
              </a:r>
              <a:r>
                <a:rPr lang="zh-CN" altLang="en-US" sz="800" kern="0" dirty="0">
                  <a:solidFill>
                    <a:srgbClr val="152A8C"/>
                  </a:solidFill>
                  <a:latin typeface="+mn-ea"/>
                  <a:cs typeface="Segoe UI" panose="020B0502040204020203"/>
                </a:rPr>
                <a:t>并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考察员工一口清落实，常态化岗位练兵强化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90353" y="2557411"/>
              <a:ext cx="1887496" cy="1871169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43695" y="4534047"/>
              <a:ext cx="2153922" cy="2068618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6229212" y="1942278"/>
              <a:ext cx="2821458" cy="598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marR="0" lvl="0" indent="-22860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利用股权小智完成全员“一口清”过关考试，成绩挂钩勋章体系及能力评价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050672" y="1942278"/>
              <a:ext cx="2880000" cy="442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marR="0" lvl="0" indent="-22860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+mn-ea"/>
                  <a:cs typeface="Segoe UI" panose="020B0502040204020203"/>
                </a:rPr>
                <a:t>“一口清”建设经验向公司横向推广</a:t>
              </a: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7588" y="4346138"/>
              <a:ext cx="2153922" cy="2453498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123742" y="2783309"/>
              <a:ext cx="2760731" cy="1419371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123742" y="4794375"/>
              <a:ext cx="2863109" cy="1251904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445825" y="1789992"/>
            <a:ext cx="502152" cy="487743"/>
            <a:chOff x="4588737" y="1368180"/>
            <a:chExt cx="502152" cy="487743"/>
          </a:xfrm>
        </p:grpSpPr>
        <p:grpSp>
          <p:nvGrpSpPr>
            <p:cNvPr id="40" name="Group 28"/>
            <p:cNvGrpSpPr/>
            <p:nvPr/>
          </p:nvGrpSpPr>
          <p:grpSpPr bwMode="auto">
            <a:xfrm>
              <a:off x="4588737" y="1368180"/>
              <a:ext cx="502152" cy="487743"/>
              <a:chOff x="4452938" y="3930020"/>
              <a:chExt cx="2056229" cy="1997251"/>
            </a:xfrm>
            <a:solidFill>
              <a:srgbClr val="000050"/>
            </a:solidFill>
          </p:grpSpPr>
          <p:sp>
            <p:nvSpPr>
              <p:cNvPr id="53" name="Hexagon 30"/>
              <p:cNvSpPr/>
              <p:nvPr/>
            </p:nvSpPr>
            <p:spPr bwMode="auto">
              <a:xfrm>
                <a:off x="4502150" y="4063552"/>
                <a:ext cx="2007017" cy="1730187"/>
              </a:xfrm>
              <a:prstGeom prst="hexagon">
                <a:avLst>
                  <a:gd name="adj" fmla="val 29167"/>
                  <a:gd name="vf" fmla="val 115470"/>
                </a:avLst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4" name="Freeform: Shape 31"/>
              <p:cNvSpPr/>
              <p:nvPr/>
            </p:nvSpPr>
            <p:spPr bwMode="auto">
              <a:xfrm>
                <a:off x="4636594" y="3930020"/>
                <a:ext cx="1738128" cy="1997251"/>
              </a:xfrm>
              <a:custGeom>
                <a:avLst/>
                <a:gdLst>
                  <a:gd name="connsiteX0" fmla="*/ 869582 w 1738128"/>
                  <a:gd name="connsiteY0" fmla="*/ 0 h 1997251"/>
                  <a:gd name="connsiteX1" fmla="*/ 1733641 w 1738128"/>
                  <a:gd name="connsiteY1" fmla="*/ 498865 h 1997251"/>
                  <a:gd name="connsiteX2" fmla="*/ 1738128 w 1738128"/>
                  <a:gd name="connsiteY2" fmla="*/ 1500380 h 1997251"/>
                  <a:gd name="connsiteX3" fmla="*/ 868547 w 1738128"/>
                  <a:gd name="connsiteY3" fmla="*/ 1997251 h 1997251"/>
                  <a:gd name="connsiteX4" fmla="*/ 4488 w 1738128"/>
                  <a:gd name="connsiteY4" fmla="*/ 1498386 h 1997251"/>
                  <a:gd name="connsiteX5" fmla="*/ 0 w 1738128"/>
                  <a:gd name="connsiteY5" fmla="*/ 496871 h 199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38128" h="1997251">
                    <a:moveTo>
                      <a:pt x="869582" y="0"/>
                    </a:moveTo>
                    <a:lnTo>
                      <a:pt x="1733641" y="498865"/>
                    </a:lnTo>
                    <a:lnTo>
                      <a:pt x="1738128" y="1500380"/>
                    </a:lnTo>
                    <a:lnTo>
                      <a:pt x="868547" y="1997251"/>
                    </a:lnTo>
                    <a:lnTo>
                      <a:pt x="4488" y="1498386"/>
                    </a:lnTo>
                    <a:lnTo>
                      <a:pt x="0" y="496871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5" name="Freeform: Shape 32"/>
              <p:cNvSpPr/>
              <p:nvPr/>
            </p:nvSpPr>
            <p:spPr bwMode="auto">
              <a:xfrm>
                <a:off x="4452938" y="4233863"/>
                <a:ext cx="300037" cy="266700"/>
              </a:xfrm>
              <a:custGeom>
                <a:avLst/>
                <a:gdLst>
                  <a:gd name="connsiteX0" fmla="*/ 0 w 300037"/>
                  <a:gd name="connsiteY0" fmla="*/ 47625 h 266700"/>
                  <a:gd name="connsiteX1" fmla="*/ 300037 w 300037"/>
                  <a:gd name="connsiteY1" fmla="*/ 0 h 266700"/>
                  <a:gd name="connsiteX2" fmla="*/ 85725 w 300037"/>
                  <a:gd name="connsiteY2" fmla="*/ 114300 h 266700"/>
                  <a:gd name="connsiteX3" fmla="*/ 90487 w 300037"/>
                  <a:gd name="connsiteY3" fmla="*/ 266700 h 266700"/>
                  <a:gd name="connsiteX4" fmla="*/ 0 w 300037"/>
                  <a:gd name="connsiteY4" fmla="*/ 47625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37" h="266700">
                    <a:moveTo>
                      <a:pt x="0" y="47625"/>
                    </a:moveTo>
                    <a:lnTo>
                      <a:pt x="300037" y="0"/>
                    </a:lnTo>
                    <a:lnTo>
                      <a:pt x="85725" y="114300"/>
                    </a:lnTo>
                    <a:lnTo>
                      <a:pt x="90487" y="26670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6" name="Freeform: Shape 33"/>
              <p:cNvSpPr/>
              <p:nvPr/>
            </p:nvSpPr>
            <p:spPr bwMode="auto">
              <a:xfrm>
                <a:off x="6276975" y="5281613"/>
                <a:ext cx="209550" cy="271462"/>
              </a:xfrm>
              <a:custGeom>
                <a:avLst/>
                <a:gdLst>
                  <a:gd name="connsiteX0" fmla="*/ 180975 w 209550"/>
                  <a:gd name="connsiteY0" fmla="*/ 0 h 271462"/>
                  <a:gd name="connsiteX1" fmla="*/ 209550 w 209550"/>
                  <a:gd name="connsiteY1" fmla="*/ 223837 h 271462"/>
                  <a:gd name="connsiteX2" fmla="*/ 0 w 209550"/>
                  <a:gd name="connsiteY2" fmla="*/ 271462 h 271462"/>
                  <a:gd name="connsiteX3" fmla="*/ 166688 w 209550"/>
                  <a:gd name="connsiteY3" fmla="*/ 157162 h 271462"/>
                  <a:gd name="connsiteX4" fmla="*/ 180975 w 209550"/>
                  <a:gd name="connsiteY4" fmla="*/ 0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0" h="271462">
                    <a:moveTo>
                      <a:pt x="180975" y="0"/>
                    </a:moveTo>
                    <a:lnTo>
                      <a:pt x="209550" y="223837"/>
                    </a:lnTo>
                    <a:lnTo>
                      <a:pt x="0" y="271462"/>
                    </a:lnTo>
                    <a:lnTo>
                      <a:pt x="166688" y="157162"/>
                    </a:lnTo>
                    <a:lnTo>
                      <a:pt x="180975" y="0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41" name="Group 4"/>
            <p:cNvGrpSpPr>
              <a:grpSpLocks noChangeAspect="1"/>
            </p:cNvGrpSpPr>
            <p:nvPr/>
          </p:nvGrpSpPr>
          <p:grpSpPr bwMode="auto">
            <a:xfrm>
              <a:off x="4707849" y="1456832"/>
              <a:ext cx="263929" cy="305677"/>
              <a:chOff x="1975" y="0"/>
              <a:chExt cx="3730" cy="4320"/>
            </a:xfrm>
            <a:solidFill>
              <a:srgbClr val="FFFFFF"/>
            </a:solidFill>
          </p:grpSpPr>
          <p:sp>
            <p:nvSpPr>
              <p:cNvPr id="42" name="Oval 5"/>
              <p:cNvSpPr>
                <a:spLocks noChangeArrowheads="1"/>
              </p:cNvSpPr>
              <p:nvPr/>
            </p:nvSpPr>
            <p:spPr bwMode="auto">
              <a:xfrm>
                <a:off x="3389" y="0"/>
                <a:ext cx="903" cy="90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3" name="Freeform 6"/>
              <p:cNvSpPr/>
              <p:nvPr/>
            </p:nvSpPr>
            <p:spPr bwMode="auto">
              <a:xfrm>
                <a:off x="3070" y="1074"/>
                <a:ext cx="1540" cy="2791"/>
              </a:xfrm>
              <a:custGeom>
                <a:avLst/>
                <a:gdLst>
                  <a:gd name="T0" fmla="*/ 808 w 808"/>
                  <a:gd name="T1" fmla="*/ 636 h 1465"/>
                  <a:gd name="T2" fmla="*/ 808 w 808"/>
                  <a:gd name="T3" fmla="*/ 223 h 1465"/>
                  <a:gd name="T4" fmla="*/ 664 w 808"/>
                  <a:gd name="T5" fmla="*/ 24 h 1465"/>
                  <a:gd name="T6" fmla="*/ 664 w 808"/>
                  <a:gd name="T7" fmla="*/ 24 h 1465"/>
                  <a:gd name="T8" fmla="*/ 596 w 808"/>
                  <a:gd name="T9" fmla="*/ 4 h 1465"/>
                  <a:gd name="T10" fmla="*/ 570 w 808"/>
                  <a:gd name="T11" fmla="*/ 16 h 1465"/>
                  <a:gd name="T12" fmla="*/ 428 w 808"/>
                  <a:gd name="T13" fmla="*/ 406 h 1465"/>
                  <a:gd name="T14" fmla="*/ 380 w 808"/>
                  <a:gd name="T15" fmla="*/ 406 h 1465"/>
                  <a:gd name="T16" fmla="*/ 238 w 808"/>
                  <a:gd name="T17" fmla="*/ 16 h 1465"/>
                  <a:gd name="T18" fmla="*/ 218 w 808"/>
                  <a:gd name="T19" fmla="*/ 3 h 1465"/>
                  <a:gd name="T20" fmla="*/ 144 w 808"/>
                  <a:gd name="T21" fmla="*/ 24 h 1465"/>
                  <a:gd name="T22" fmla="*/ 0 w 808"/>
                  <a:gd name="T23" fmla="*/ 224 h 1465"/>
                  <a:gd name="T24" fmla="*/ 0 w 808"/>
                  <a:gd name="T25" fmla="*/ 636 h 1465"/>
                  <a:gd name="T26" fmla="*/ 4 w 808"/>
                  <a:gd name="T27" fmla="*/ 648 h 1465"/>
                  <a:gd name="T28" fmla="*/ 152 w 808"/>
                  <a:gd name="T29" fmla="*/ 873 h 1465"/>
                  <a:gd name="T30" fmla="*/ 152 w 808"/>
                  <a:gd name="T31" fmla="*/ 1444 h 1465"/>
                  <a:gd name="T32" fmla="*/ 173 w 808"/>
                  <a:gd name="T33" fmla="*/ 1465 h 1465"/>
                  <a:gd name="T34" fmla="*/ 635 w 808"/>
                  <a:gd name="T35" fmla="*/ 1465 h 1465"/>
                  <a:gd name="T36" fmla="*/ 656 w 808"/>
                  <a:gd name="T37" fmla="*/ 1444 h 1465"/>
                  <a:gd name="T38" fmla="*/ 656 w 808"/>
                  <a:gd name="T39" fmla="*/ 873 h 1465"/>
                  <a:gd name="T40" fmla="*/ 804 w 808"/>
                  <a:gd name="T41" fmla="*/ 648 h 1465"/>
                  <a:gd name="T42" fmla="*/ 808 w 808"/>
                  <a:gd name="T43" fmla="*/ 636 h 1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8" h="1465">
                    <a:moveTo>
                      <a:pt x="808" y="636"/>
                    </a:moveTo>
                    <a:cubicBezTo>
                      <a:pt x="808" y="223"/>
                      <a:pt x="808" y="223"/>
                      <a:pt x="808" y="223"/>
                    </a:cubicBezTo>
                    <a:cubicBezTo>
                      <a:pt x="808" y="132"/>
                      <a:pt x="750" y="53"/>
                      <a:pt x="664" y="24"/>
                    </a:cubicBezTo>
                    <a:cubicBezTo>
                      <a:pt x="664" y="24"/>
                      <a:pt x="664" y="24"/>
                      <a:pt x="664" y="24"/>
                    </a:cubicBezTo>
                    <a:cubicBezTo>
                      <a:pt x="596" y="4"/>
                      <a:pt x="596" y="4"/>
                      <a:pt x="596" y="4"/>
                    </a:cubicBezTo>
                    <a:cubicBezTo>
                      <a:pt x="585" y="0"/>
                      <a:pt x="574" y="6"/>
                      <a:pt x="570" y="16"/>
                    </a:cubicBezTo>
                    <a:cubicBezTo>
                      <a:pt x="428" y="406"/>
                      <a:pt x="428" y="406"/>
                      <a:pt x="428" y="406"/>
                    </a:cubicBezTo>
                    <a:cubicBezTo>
                      <a:pt x="420" y="429"/>
                      <a:pt x="388" y="429"/>
                      <a:pt x="380" y="406"/>
                    </a:cubicBezTo>
                    <a:cubicBezTo>
                      <a:pt x="238" y="16"/>
                      <a:pt x="238" y="16"/>
                      <a:pt x="238" y="16"/>
                    </a:cubicBezTo>
                    <a:cubicBezTo>
                      <a:pt x="235" y="8"/>
                      <a:pt x="227" y="3"/>
                      <a:pt x="218" y="3"/>
                    </a:cubicBezTo>
                    <a:cubicBezTo>
                      <a:pt x="216" y="3"/>
                      <a:pt x="144" y="24"/>
                      <a:pt x="144" y="24"/>
                    </a:cubicBezTo>
                    <a:cubicBezTo>
                      <a:pt x="58" y="53"/>
                      <a:pt x="0" y="133"/>
                      <a:pt x="0" y="224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640"/>
                      <a:pt x="2" y="644"/>
                      <a:pt x="4" y="648"/>
                    </a:cubicBezTo>
                    <a:cubicBezTo>
                      <a:pt x="152" y="873"/>
                      <a:pt x="152" y="873"/>
                      <a:pt x="152" y="873"/>
                    </a:cubicBezTo>
                    <a:cubicBezTo>
                      <a:pt x="152" y="1444"/>
                      <a:pt x="152" y="1444"/>
                      <a:pt x="152" y="1444"/>
                    </a:cubicBezTo>
                    <a:cubicBezTo>
                      <a:pt x="152" y="1456"/>
                      <a:pt x="162" y="1465"/>
                      <a:pt x="173" y="1465"/>
                    </a:cubicBezTo>
                    <a:cubicBezTo>
                      <a:pt x="635" y="1465"/>
                      <a:pt x="635" y="1465"/>
                      <a:pt x="635" y="1465"/>
                    </a:cubicBezTo>
                    <a:cubicBezTo>
                      <a:pt x="646" y="1465"/>
                      <a:pt x="656" y="1456"/>
                      <a:pt x="656" y="1444"/>
                    </a:cubicBezTo>
                    <a:cubicBezTo>
                      <a:pt x="656" y="873"/>
                      <a:pt x="656" y="873"/>
                      <a:pt x="656" y="873"/>
                    </a:cubicBezTo>
                    <a:cubicBezTo>
                      <a:pt x="804" y="648"/>
                      <a:pt x="804" y="648"/>
                      <a:pt x="804" y="648"/>
                    </a:cubicBezTo>
                    <a:cubicBezTo>
                      <a:pt x="806" y="644"/>
                      <a:pt x="808" y="640"/>
                      <a:pt x="808" y="6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4" name="Freeform 7"/>
              <p:cNvSpPr/>
              <p:nvPr/>
            </p:nvSpPr>
            <p:spPr bwMode="auto">
              <a:xfrm>
                <a:off x="1975" y="3337"/>
                <a:ext cx="1244" cy="930"/>
              </a:xfrm>
              <a:custGeom>
                <a:avLst/>
                <a:gdLst>
                  <a:gd name="T0" fmla="*/ 244 w 653"/>
                  <a:gd name="T1" fmla="*/ 104 h 488"/>
                  <a:gd name="T2" fmla="*/ 209 w 653"/>
                  <a:gd name="T3" fmla="*/ 15 h 488"/>
                  <a:gd name="T4" fmla="*/ 120 w 653"/>
                  <a:gd name="T5" fmla="*/ 50 h 488"/>
                  <a:gd name="T6" fmla="*/ 15 w 653"/>
                  <a:gd name="T7" fmla="*/ 289 h 488"/>
                  <a:gd name="T8" fmla="*/ 50 w 653"/>
                  <a:gd name="T9" fmla="*/ 378 h 488"/>
                  <a:gd name="T10" fmla="*/ 289 w 653"/>
                  <a:gd name="T11" fmla="*/ 483 h 488"/>
                  <a:gd name="T12" fmla="*/ 316 w 653"/>
                  <a:gd name="T13" fmla="*/ 488 h 488"/>
                  <a:gd name="T14" fmla="*/ 378 w 653"/>
                  <a:gd name="T15" fmla="*/ 448 h 488"/>
                  <a:gd name="T16" fmla="*/ 343 w 653"/>
                  <a:gd name="T17" fmla="*/ 359 h 488"/>
                  <a:gd name="T18" fmla="*/ 253 w 653"/>
                  <a:gd name="T19" fmla="*/ 320 h 488"/>
                  <a:gd name="T20" fmla="*/ 653 w 653"/>
                  <a:gd name="T21" fmla="*/ 164 h 488"/>
                  <a:gd name="T22" fmla="*/ 653 w 653"/>
                  <a:gd name="T23" fmla="*/ 19 h 488"/>
                  <a:gd name="T24" fmla="*/ 204 w 653"/>
                  <a:gd name="T25" fmla="*/ 194 h 488"/>
                  <a:gd name="T26" fmla="*/ 244 w 653"/>
                  <a:gd name="T27" fmla="*/ 10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3" h="488">
                    <a:moveTo>
                      <a:pt x="244" y="104"/>
                    </a:moveTo>
                    <a:cubicBezTo>
                      <a:pt x="258" y="70"/>
                      <a:pt x="243" y="30"/>
                      <a:pt x="209" y="15"/>
                    </a:cubicBezTo>
                    <a:cubicBezTo>
                      <a:pt x="175" y="0"/>
                      <a:pt x="135" y="16"/>
                      <a:pt x="120" y="50"/>
                    </a:cubicBezTo>
                    <a:cubicBezTo>
                      <a:pt x="15" y="289"/>
                      <a:pt x="15" y="289"/>
                      <a:pt x="15" y="289"/>
                    </a:cubicBezTo>
                    <a:cubicBezTo>
                      <a:pt x="0" y="323"/>
                      <a:pt x="16" y="363"/>
                      <a:pt x="50" y="378"/>
                    </a:cubicBezTo>
                    <a:cubicBezTo>
                      <a:pt x="289" y="483"/>
                      <a:pt x="289" y="483"/>
                      <a:pt x="289" y="483"/>
                    </a:cubicBezTo>
                    <a:cubicBezTo>
                      <a:pt x="298" y="486"/>
                      <a:pt x="307" y="488"/>
                      <a:pt x="316" y="488"/>
                    </a:cubicBezTo>
                    <a:cubicBezTo>
                      <a:pt x="342" y="488"/>
                      <a:pt x="367" y="473"/>
                      <a:pt x="378" y="448"/>
                    </a:cubicBezTo>
                    <a:cubicBezTo>
                      <a:pt x="393" y="414"/>
                      <a:pt x="377" y="374"/>
                      <a:pt x="343" y="359"/>
                    </a:cubicBezTo>
                    <a:cubicBezTo>
                      <a:pt x="253" y="320"/>
                      <a:pt x="253" y="320"/>
                      <a:pt x="253" y="320"/>
                    </a:cubicBezTo>
                    <a:cubicBezTo>
                      <a:pt x="653" y="164"/>
                      <a:pt x="653" y="164"/>
                      <a:pt x="653" y="164"/>
                    </a:cubicBezTo>
                    <a:cubicBezTo>
                      <a:pt x="653" y="19"/>
                      <a:pt x="653" y="19"/>
                      <a:pt x="653" y="19"/>
                    </a:cubicBezTo>
                    <a:cubicBezTo>
                      <a:pt x="204" y="194"/>
                      <a:pt x="204" y="194"/>
                      <a:pt x="204" y="194"/>
                    </a:cubicBezTo>
                    <a:cubicBezTo>
                      <a:pt x="244" y="104"/>
                      <a:pt x="244" y="104"/>
                      <a:pt x="244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5" name="Freeform 8"/>
              <p:cNvSpPr/>
              <p:nvPr/>
            </p:nvSpPr>
            <p:spPr bwMode="auto">
              <a:xfrm>
                <a:off x="2005" y="2202"/>
                <a:ext cx="1214" cy="935"/>
              </a:xfrm>
              <a:custGeom>
                <a:avLst/>
                <a:gdLst>
                  <a:gd name="T0" fmla="*/ 344 w 637"/>
                  <a:gd name="T1" fmla="*/ 139 h 491"/>
                  <a:gd name="T2" fmla="*/ 383 w 637"/>
                  <a:gd name="T3" fmla="*/ 52 h 491"/>
                  <a:gd name="T4" fmla="*/ 295 w 637"/>
                  <a:gd name="T5" fmla="*/ 14 h 491"/>
                  <a:gd name="T6" fmla="*/ 52 w 637"/>
                  <a:gd name="T7" fmla="*/ 108 h 491"/>
                  <a:gd name="T8" fmla="*/ 14 w 637"/>
                  <a:gd name="T9" fmla="*/ 196 h 491"/>
                  <a:gd name="T10" fmla="*/ 109 w 637"/>
                  <a:gd name="T11" fmla="*/ 439 h 491"/>
                  <a:gd name="T12" fmla="*/ 171 w 637"/>
                  <a:gd name="T13" fmla="*/ 482 h 491"/>
                  <a:gd name="T14" fmla="*/ 196 w 637"/>
                  <a:gd name="T15" fmla="*/ 477 h 491"/>
                  <a:gd name="T16" fmla="*/ 234 w 637"/>
                  <a:gd name="T17" fmla="*/ 390 h 491"/>
                  <a:gd name="T18" fmla="*/ 198 w 637"/>
                  <a:gd name="T19" fmla="*/ 298 h 491"/>
                  <a:gd name="T20" fmla="*/ 637 w 637"/>
                  <a:gd name="T21" fmla="*/ 491 h 491"/>
                  <a:gd name="T22" fmla="*/ 637 w 637"/>
                  <a:gd name="T23" fmla="*/ 344 h 491"/>
                  <a:gd name="T24" fmla="*/ 252 w 637"/>
                  <a:gd name="T25" fmla="*/ 175 h 491"/>
                  <a:gd name="T26" fmla="*/ 344 w 637"/>
                  <a:gd name="T27" fmla="*/ 139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7" h="491">
                    <a:moveTo>
                      <a:pt x="344" y="139"/>
                    </a:moveTo>
                    <a:cubicBezTo>
                      <a:pt x="379" y="125"/>
                      <a:pt x="396" y="86"/>
                      <a:pt x="383" y="52"/>
                    </a:cubicBezTo>
                    <a:cubicBezTo>
                      <a:pt x="369" y="17"/>
                      <a:pt x="330" y="0"/>
                      <a:pt x="295" y="14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18" y="122"/>
                      <a:pt x="0" y="161"/>
                      <a:pt x="14" y="196"/>
                    </a:cubicBezTo>
                    <a:cubicBezTo>
                      <a:pt x="109" y="439"/>
                      <a:pt x="109" y="439"/>
                      <a:pt x="109" y="439"/>
                    </a:cubicBezTo>
                    <a:cubicBezTo>
                      <a:pt x="119" y="465"/>
                      <a:pt x="144" y="482"/>
                      <a:pt x="171" y="482"/>
                    </a:cubicBezTo>
                    <a:cubicBezTo>
                      <a:pt x="180" y="482"/>
                      <a:pt x="188" y="480"/>
                      <a:pt x="196" y="477"/>
                    </a:cubicBezTo>
                    <a:cubicBezTo>
                      <a:pt x="230" y="464"/>
                      <a:pt x="248" y="425"/>
                      <a:pt x="234" y="390"/>
                    </a:cubicBezTo>
                    <a:cubicBezTo>
                      <a:pt x="198" y="298"/>
                      <a:pt x="198" y="298"/>
                      <a:pt x="198" y="298"/>
                    </a:cubicBezTo>
                    <a:cubicBezTo>
                      <a:pt x="637" y="491"/>
                      <a:pt x="637" y="491"/>
                      <a:pt x="637" y="491"/>
                    </a:cubicBezTo>
                    <a:cubicBezTo>
                      <a:pt x="637" y="344"/>
                      <a:pt x="637" y="344"/>
                      <a:pt x="637" y="344"/>
                    </a:cubicBezTo>
                    <a:cubicBezTo>
                      <a:pt x="252" y="175"/>
                      <a:pt x="252" y="175"/>
                      <a:pt x="252" y="175"/>
                    </a:cubicBezTo>
                    <a:cubicBezTo>
                      <a:pt x="344" y="139"/>
                      <a:pt x="344" y="139"/>
                      <a:pt x="344" y="1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0" name="Freeform 9"/>
              <p:cNvSpPr/>
              <p:nvPr/>
            </p:nvSpPr>
            <p:spPr bwMode="auto">
              <a:xfrm>
                <a:off x="4461" y="3402"/>
                <a:ext cx="1214" cy="918"/>
              </a:xfrm>
              <a:custGeom>
                <a:avLst/>
                <a:gdLst>
                  <a:gd name="T0" fmla="*/ 528 w 637"/>
                  <a:gd name="T1" fmla="*/ 52 h 482"/>
                  <a:gd name="T2" fmla="*/ 441 w 637"/>
                  <a:gd name="T3" fmla="*/ 14 h 482"/>
                  <a:gd name="T4" fmla="*/ 403 w 637"/>
                  <a:gd name="T5" fmla="*/ 101 h 482"/>
                  <a:gd name="T6" fmla="*/ 439 w 637"/>
                  <a:gd name="T7" fmla="*/ 193 h 482"/>
                  <a:gd name="T8" fmla="*/ 0 w 637"/>
                  <a:gd name="T9" fmla="*/ 0 h 482"/>
                  <a:gd name="T10" fmla="*/ 0 w 637"/>
                  <a:gd name="T11" fmla="*/ 147 h 482"/>
                  <a:gd name="T12" fmla="*/ 385 w 637"/>
                  <a:gd name="T13" fmla="*/ 316 h 482"/>
                  <a:gd name="T14" fmla="*/ 293 w 637"/>
                  <a:gd name="T15" fmla="*/ 352 h 482"/>
                  <a:gd name="T16" fmla="*/ 254 w 637"/>
                  <a:gd name="T17" fmla="*/ 439 h 482"/>
                  <a:gd name="T18" fmla="*/ 317 w 637"/>
                  <a:gd name="T19" fmla="*/ 482 h 482"/>
                  <a:gd name="T20" fmla="*/ 342 w 637"/>
                  <a:gd name="T21" fmla="*/ 477 h 482"/>
                  <a:gd name="T22" fmla="*/ 585 w 637"/>
                  <a:gd name="T23" fmla="*/ 382 h 482"/>
                  <a:gd name="T24" fmla="*/ 623 w 637"/>
                  <a:gd name="T25" fmla="*/ 295 h 482"/>
                  <a:gd name="T26" fmla="*/ 528 w 637"/>
                  <a:gd name="T27" fmla="*/ 52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7" h="482">
                    <a:moveTo>
                      <a:pt x="528" y="52"/>
                    </a:moveTo>
                    <a:cubicBezTo>
                      <a:pt x="515" y="17"/>
                      <a:pt x="476" y="0"/>
                      <a:pt x="441" y="14"/>
                    </a:cubicBezTo>
                    <a:cubicBezTo>
                      <a:pt x="407" y="27"/>
                      <a:pt x="389" y="66"/>
                      <a:pt x="403" y="101"/>
                    </a:cubicBezTo>
                    <a:cubicBezTo>
                      <a:pt x="439" y="193"/>
                      <a:pt x="439" y="193"/>
                      <a:pt x="439" y="19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385" y="316"/>
                      <a:pt x="385" y="316"/>
                      <a:pt x="385" y="316"/>
                    </a:cubicBezTo>
                    <a:cubicBezTo>
                      <a:pt x="293" y="352"/>
                      <a:pt x="293" y="352"/>
                      <a:pt x="293" y="352"/>
                    </a:cubicBezTo>
                    <a:cubicBezTo>
                      <a:pt x="258" y="365"/>
                      <a:pt x="241" y="404"/>
                      <a:pt x="254" y="439"/>
                    </a:cubicBezTo>
                    <a:cubicBezTo>
                      <a:pt x="265" y="466"/>
                      <a:pt x="290" y="482"/>
                      <a:pt x="317" y="482"/>
                    </a:cubicBezTo>
                    <a:cubicBezTo>
                      <a:pt x="325" y="482"/>
                      <a:pt x="334" y="480"/>
                      <a:pt x="342" y="477"/>
                    </a:cubicBezTo>
                    <a:cubicBezTo>
                      <a:pt x="585" y="382"/>
                      <a:pt x="585" y="382"/>
                      <a:pt x="585" y="382"/>
                    </a:cubicBezTo>
                    <a:cubicBezTo>
                      <a:pt x="619" y="369"/>
                      <a:pt x="637" y="330"/>
                      <a:pt x="623" y="295"/>
                    </a:cubicBezTo>
                    <a:cubicBezTo>
                      <a:pt x="528" y="52"/>
                      <a:pt x="528" y="52"/>
                      <a:pt x="5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1" name="Freeform 10"/>
              <p:cNvSpPr/>
              <p:nvPr/>
            </p:nvSpPr>
            <p:spPr bwMode="auto">
              <a:xfrm>
                <a:off x="4461" y="2253"/>
                <a:ext cx="1244" cy="930"/>
              </a:xfrm>
              <a:custGeom>
                <a:avLst/>
                <a:gdLst>
                  <a:gd name="T0" fmla="*/ 603 w 653"/>
                  <a:gd name="T1" fmla="*/ 120 h 488"/>
                  <a:gd name="T2" fmla="*/ 364 w 653"/>
                  <a:gd name="T3" fmla="*/ 15 h 488"/>
                  <a:gd name="T4" fmla="*/ 275 w 653"/>
                  <a:gd name="T5" fmla="*/ 50 h 488"/>
                  <a:gd name="T6" fmla="*/ 310 w 653"/>
                  <a:gd name="T7" fmla="*/ 138 h 488"/>
                  <a:gd name="T8" fmla="*/ 400 w 653"/>
                  <a:gd name="T9" fmla="*/ 178 h 488"/>
                  <a:gd name="T10" fmla="*/ 0 w 653"/>
                  <a:gd name="T11" fmla="*/ 334 h 488"/>
                  <a:gd name="T12" fmla="*/ 0 w 653"/>
                  <a:gd name="T13" fmla="*/ 478 h 488"/>
                  <a:gd name="T14" fmla="*/ 449 w 653"/>
                  <a:gd name="T15" fmla="*/ 304 h 488"/>
                  <a:gd name="T16" fmla="*/ 409 w 653"/>
                  <a:gd name="T17" fmla="*/ 394 h 488"/>
                  <a:gd name="T18" fmla="*/ 444 w 653"/>
                  <a:gd name="T19" fmla="*/ 483 h 488"/>
                  <a:gd name="T20" fmla="*/ 471 w 653"/>
                  <a:gd name="T21" fmla="*/ 488 h 488"/>
                  <a:gd name="T22" fmla="*/ 533 w 653"/>
                  <a:gd name="T23" fmla="*/ 448 h 488"/>
                  <a:gd name="T24" fmla="*/ 638 w 653"/>
                  <a:gd name="T25" fmla="*/ 209 h 488"/>
                  <a:gd name="T26" fmla="*/ 603 w 653"/>
                  <a:gd name="T27" fmla="*/ 12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3" h="488">
                    <a:moveTo>
                      <a:pt x="603" y="120"/>
                    </a:moveTo>
                    <a:cubicBezTo>
                      <a:pt x="364" y="15"/>
                      <a:pt x="364" y="15"/>
                      <a:pt x="364" y="15"/>
                    </a:cubicBezTo>
                    <a:cubicBezTo>
                      <a:pt x="330" y="0"/>
                      <a:pt x="290" y="16"/>
                      <a:pt x="275" y="50"/>
                    </a:cubicBezTo>
                    <a:cubicBezTo>
                      <a:pt x="260" y="84"/>
                      <a:pt x="276" y="124"/>
                      <a:pt x="310" y="138"/>
                    </a:cubicBezTo>
                    <a:cubicBezTo>
                      <a:pt x="400" y="178"/>
                      <a:pt x="400" y="178"/>
                      <a:pt x="400" y="178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449" y="304"/>
                      <a:pt x="449" y="304"/>
                      <a:pt x="449" y="304"/>
                    </a:cubicBezTo>
                    <a:cubicBezTo>
                      <a:pt x="409" y="394"/>
                      <a:pt x="409" y="394"/>
                      <a:pt x="409" y="394"/>
                    </a:cubicBezTo>
                    <a:cubicBezTo>
                      <a:pt x="395" y="428"/>
                      <a:pt x="410" y="468"/>
                      <a:pt x="444" y="483"/>
                    </a:cubicBezTo>
                    <a:cubicBezTo>
                      <a:pt x="453" y="486"/>
                      <a:pt x="462" y="488"/>
                      <a:pt x="471" y="488"/>
                    </a:cubicBezTo>
                    <a:cubicBezTo>
                      <a:pt x="497" y="488"/>
                      <a:pt x="522" y="473"/>
                      <a:pt x="533" y="448"/>
                    </a:cubicBezTo>
                    <a:cubicBezTo>
                      <a:pt x="638" y="209"/>
                      <a:pt x="638" y="209"/>
                      <a:pt x="638" y="209"/>
                    </a:cubicBezTo>
                    <a:cubicBezTo>
                      <a:pt x="653" y="175"/>
                      <a:pt x="637" y="135"/>
                      <a:pt x="603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2" name="Freeform 11"/>
              <p:cNvSpPr/>
              <p:nvPr/>
            </p:nvSpPr>
            <p:spPr bwMode="auto">
              <a:xfrm>
                <a:off x="3718" y="1078"/>
                <a:ext cx="244" cy="606"/>
              </a:xfrm>
              <a:custGeom>
                <a:avLst/>
                <a:gdLst>
                  <a:gd name="T0" fmla="*/ 118 w 128"/>
                  <a:gd name="T1" fmla="*/ 9 h 318"/>
                  <a:gd name="T2" fmla="*/ 95 w 128"/>
                  <a:gd name="T3" fmla="*/ 0 h 318"/>
                  <a:gd name="T4" fmla="*/ 33 w 128"/>
                  <a:gd name="T5" fmla="*/ 0 h 318"/>
                  <a:gd name="T6" fmla="*/ 10 w 128"/>
                  <a:gd name="T7" fmla="*/ 9 h 318"/>
                  <a:gd name="T8" fmla="*/ 6 w 128"/>
                  <a:gd name="T9" fmla="*/ 44 h 318"/>
                  <a:gd name="T10" fmla="*/ 40 w 128"/>
                  <a:gd name="T11" fmla="*/ 94 h 318"/>
                  <a:gd name="T12" fmla="*/ 24 w 128"/>
                  <a:gd name="T13" fmla="*/ 227 h 318"/>
                  <a:gd name="T14" fmla="*/ 55 w 128"/>
                  <a:gd name="T15" fmla="*/ 310 h 318"/>
                  <a:gd name="T16" fmla="*/ 73 w 128"/>
                  <a:gd name="T17" fmla="*/ 310 h 318"/>
                  <a:gd name="T18" fmla="*/ 104 w 128"/>
                  <a:gd name="T19" fmla="*/ 227 h 318"/>
                  <a:gd name="T20" fmla="*/ 88 w 128"/>
                  <a:gd name="T21" fmla="*/ 94 h 318"/>
                  <a:gd name="T22" fmla="*/ 122 w 128"/>
                  <a:gd name="T23" fmla="*/ 44 h 318"/>
                  <a:gd name="T24" fmla="*/ 118 w 128"/>
                  <a:gd name="T25" fmla="*/ 9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318">
                    <a:moveTo>
                      <a:pt x="118" y="9"/>
                    </a:moveTo>
                    <a:cubicBezTo>
                      <a:pt x="112" y="3"/>
                      <a:pt x="104" y="0"/>
                      <a:pt x="95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4" y="0"/>
                      <a:pt x="16" y="3"/>
                      <a:pt x="10" y="9"/>
                    </a:cubicBezTo>
                    <a:cubicBezTo>
                      <a:pt x="1" y="19"/>
                      <a:pt x="0" y="33"/>
                      <a:pt x="6" y="44"/>
                    </a:cubicBezTo>
                    <a:cubicBezTo>
                      <a:pt x="40" y="94"/>
                      <a:pt x="40" y="94"/>
                      <a:pt x="40" y="94"/>
                    </a:cubicBezTo>
                    <a:cubicBezTo>
                      <a:pt x="24" y="227"/>
                      <a:pt x="24" y="227"/>
                      <a:pt x="24" y="227"/>
                    </a:cubicBezTo>
                    <a:cubicBezTo>
                      <a:pt x="55" y="310"/>
                      <a:pt x="55" y="310"/>
                      <a:pt x="55" y="310"/>
                    </a:cubicBezTo>
                    <a:cubicBezTo>
                      <a:pt x="58" y="318"/>
                      <a:pt x="70" y="318"/>
                      <a:pt x="73" y="310"/>
                    </a:cubicBezTo>
                    <a:cubicBezTo>
                      <a:pt x="104" y="227"/>
                      <a:pt x="104" y="227"/>
                      <a:pt x="104" y="227"/>
                    </a:cubicBezTo>
                    <a:cubicBezTo>
                      <a:pt x="88" y="94"/>
                      <a:pt x="88" y="94"/>
                      <a:pt x="88" y="9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8" y="33"/>
                      <a:pt x="127" y="19"/>
                      <a:pt x="11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grpSp>
        <p:nvGrpSpPr>
          <p:cNvPr id="64" name="Group 47"/>
          <p:cNvGrpSpPr/>
          <p:nvPr/>
        </p:nvGrpSpPr>
        <p:grpSpPr>
          <a:xfrm>
            <a:off x="8822129" y="2486786"/>
            <a:ext cx="347875" cy="3850255"/>
            <a:chOff x="4953577" y="2649608"/>
            <a:chExt cx="279879" cy="3678424"/>
          </a:xfrm>
        </p:grpSpPr>
        <p:sp>
          <p:nvSpPr>
            <p:cNvPr id="65" name="Freeform 60"/>
            <p:cNvSpPr/>
            <p:nvPr/>
          </p:nvSpPr>
          <p:spPr>
            <a:xfrm rot="16200000">
              <a:off x="3254305" y="4348880"/>
              <a:ext cx="3678424" cy="279879"/>
            </a:xfrm>
            <a:custGeom>
              <a:avLst/>
              <a:gdLst>
                <a:gd name="connsiteX0" fmla="*/ 0 w 5194300"/>
                <a:gd name="connsiteY0" fmla="*/ 0 h 412750"/>
                <a:gd name="connsiteX1" fmla="*/ 2578100 w 5194300"/>
                <a:gd name="connsiteY1" fmla="*/ 412750 h 412750"/>
                <a:gd name="connsiteX2" fmla="*/ 5194300 w 5194300"/>
                <a:gd name="connsiteY2" fmla="*/ 0 h 41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94300" h="412750">
                  <a:moveTo>
                    <a:pt x="0" y="0"/>
                  </a:moveTo>
                  <a:lnTo>
                    <a:pt x="2578100" y="412750"/>
                  </a:lnTo>
                  <a:lnTo>
                    <a:pt x="5194300" y="0"/>
                  </a:lnTo>
                </a:path>
              </a:pathLst>
            </a:custGeom>
            <a:noFill/>
            <a:ln w="22225" cap="flat" cmpd="sng" algn="ctr">
              <a:gradFill>
                <a:gsLst>
                  <a:gs pos="83000">
                    <a:schemeClr val="accent3"/>
                  </a:gs>
                  <a:gs pos="0">
                    <a:srgbClr val="FFFFFF">
                      <a:shade val="100000"/>
                      <a:satMod val="115000"/>
                    </a:srgbClr>
                  </a:gs>
                </a:gsLst>
                <a:lin ang="5400000" scaled="0"/>
              </a:gradFill>
              <a:prstDash val="solid"/>
            </a:ln>
            <a:effectLst/>
          </p:spPr>
          <p:txBody>
            <a:bodyPr rtlCol="0" anchor="ctr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66" name="Freeform 73"/>
            <p:cNvSpPr/>
            <p:nvPr/>
          </p:nvSpPr>
          <p:spPr>
            <a:xfrm rot="16200000">
              <a:off x="4173901" y="4418849"/>
              <a:ext cx="1839232" cy="139941"/>
            </a:xfrm>
            <a:custGeom>
              <a:avLst/>
              <a:gdLst>
                <a:gd name="connsiteX0" fmla="*/ 0 w 5194300"/>
                <a:gd name="connsiteY0" fmla="*/ 0 h 412750"/>
                <a:gd name="connsiteX1" fmla="*/ 2578100 w 5194300"/>
                <a:gd name="connsiteY1" fmla="*/ 412750 h 412750"/>
                <a:gd name="connsiteX2" fmla="*/ 5194300 w 5194300"/>
                <a:gd name="connsiteY2" fmla="*/ 0 h 41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94300" h="412750">
                  <a:moveTo>
                    <a:pt x="0" y="0"/>
                  </a:moveTo>
                  <a:lnTo>
                    <a:pt x="2578100" y="412750"/>
                  </a:lnTo>
                  <a:lnTo>
                    <a:pt x="5194300" y="0"/>
                  </a:lnTo>
                </a:path>
              </a:pathLst>
            </a:custGeom>
            <a:noFill/>
            <a:ln w="22225" cap="flat" cmpd="sng" algn="ctr">
              <a:gradFill>
                <a:gsLst>
                  <a:gs pos="83000">
                    <a:schemeClr val="accent3"/>
                  </a:gs>
                  <a:gs pos="0">
                    <a:srgbClr val="FFFFFF">
                      <a:shade val="100000"/>
                      <a:satMod val="115000"/>
                    </a:srgbClr>
                  </a:gs>
                </a:gsLst>
                <a:lin ang="5400000" scaled="0"/>
              </a:gradFill>
              <a:prstDash val="solid"/>
            </a:ln>
            <a:effectLst/>
          </p:spPr>
          <p:txBody>
            <a:bodyPr rtlCol="0" anchor="ctr"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</p:grpSp>
      <p:sp>
        <p:nvSpPr>
          <p:cNvPr id="68" name="Parallelogram 15"/>
          <p:cNvSpPr/>
          <p:nvPr/>
        </p:nvSpPr>
        <p:spPr>
          <a:xfrm>
            <a:off x="9399253" y="2480131"/>
            <a:ext cx="1260000" cy="329184"/>
          </a:xfrm>
          <a:prstGeom prst="parallelogram">
            <a:avLst/>
          </a:prstGeom>
          <a:solidFill>
            <a:srgbClr val="0096FF"/>
          </a:solidFill>
          <a:ln w="6350" cap="flat" cmpd="sng" algn="ctr">
            <a:noFill/>
            <a:prstDash val="solid"/>
          </a:ln>
          <a:effectLst>
            <a:outerShdw blurRad="50800" dist="12700" dir="2700000" algn="tl" rotWithShape="0">
              <a:srgbClr val="0096FF">
                <a:alpha val="40000"/>
              </a:srgbClr>
            </a:outerShdw>
          </a:effectLst>
        </p:spPr>
        <p:txBody>
          <a:bodyPr wrap="none"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egoe UI" panose="020B0502040204020203"/>
                <a:sym typeface="+mn-lt"/>
              </a:rPr>
              <a:t>内容建设</a:t>
            </a:r>
          </a:p>
        </p:txBody>
      </p:sp>
      <p:sp>
        <p:nvSpPr>
          <p:cNvPr id="70" name="Rectangle 49"/>
          <p:cNvSpPr/>
          <p:nvPr/>
        </p:nvSpPr>
        <p:spPr>
          <a:xfrm>
            <a:off x="9321789" y="2842356"/>
            <a:ext cx="2765239" cy="100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0096FF"/>
            </a:solidFill>
            <a:prstDash val="solid"/>
          </a:ln>
          <a:effectLst/>
        </p:spPr>
        <p:txBody>
          <a:bodyPr wrap="square" lIns="108000" tIns="108000" rIns="108000" bIns="127440" rtlCol="0" anchor="t">
            <a:spAutoFit/>
          </a:bodyPr>
          <a:lstStyle/>
          <a:p>
            <a:pPr marL="171450" indent="-171450" algn="just" fontAlgn="base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深度、广度不足：</a:t>
            </a: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仅包含参股企业基础信息，未完整覆盖股权运营六大领域</a:t>
            </a:r>
            <a:endParaRPr lang="en-US" altLang="zh-CN" sz="10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  <a:p>
            <a:pPr marL="171450" indent="-171450" algn="just" fontAlgn="base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数智化程度不足：</a:t>
            </a: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信息更新依赖线下人工完成，数据无法实时更新</a:t>
            </a:r>
          </a:p>
        </p:txBody>
      </p:sp>
      <p:grpSp>
        <p:nvGrpSpPr>
          <p:cNvPr id="82" name="Group 19"/>
          <p:cNvGrpSpPr/>
          <p:nvPr/>
        </p:nvGrpSpPr>
        <p:grpSpPr>
          <a:xfrm>
            <a:off x="8864823" y="1878644"/>
            <a:ext cx="3168000" cy="487743"/>
            <a:chOff x="407988" y="1525192"/>
            <a:chExt cx="3168000" cy="487743"/>
          </a:xfrm>
        </p:grpSpPr>
        <p:cxnSp>
          <p:nvCxnSpPr>
            <p:cNvPr id="83" name="HorizontalLine4"/>
            <p:cNvCxnSpPr/>
            <p:nvPr/>
          </p:nvCxnSpPr>
          <p:spPr bwMode="auto">
            <a:xfrm>
              <a:off x="407988" y="2005600"/>
              <a:ext cx="3168000" cy="0"/>
            </a:xfrm>
            <a:prstGeom prst="line">
              <a:avLst/>
            </a:prstGeom>
            <a:noFill/>
            <a:ln w="19050" cap="flat" cmpd="sng" algn="ctr">
              <a:gradFill flip="none" rotWithShape="1">
                <a:gsLst>
                  <a:gs pos="12000">
                    <a:srgbClr val="0096FF"/>
                  </a:gs>
                  <a:gs pos="86000">
                    <a:srgbClr val="FFFFFF"/>
                  </a:gs>
                </a:gsLst>
                <a:lin ang="10800000" scaled="1"/>
                <a:tileRect/>
              </a:gradFill>
              <a:prstDash val="solid"/>
            </a:ln>
            <a:effectLst/>
          </p:spPr>
        </p:cxnSp>
        <p:sp>
          <p:nvSpPr>
            <p:cNvPr id="84" name="Title66"/>
            <p:cNvSpPr txBox="1"/>
            <p:nvPr/>
          </p:nvSpPr>
          <p:spPr>
            <a:xfrm>
              <a:off x="1048242" y="1665189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b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000000"/>
                  </a:solidFill>
                  <a:latin typeface="RB Office"/>
                  <a:cs typeface="Arial Narrow" panose="020B0606020202030204" pitchFamily="34" charset="0"/>
                </a:rPr>
                <a:t>存在不足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Arial Narrow" panose="020B0606020202030204" pitchFamily="34" charset="0"/>
              </a:endParaRPr>
            </a:p>
          </p:txBody>
        </p:sp>
        <p:grpSp>
          <p:nvGrpSpPr>
            <p:cNvPr id="85" name="Group 7"/>
            <p:cNvGrpSpPr/>
            <p:nvPr/>
          </p:nvGrpSpPr>
          <p:grpSpPr bwMode="auto">
            <a:xfrm>
              <a:off x="409167" y="1525192"/>
              <a:ext cx="502152" cy="487743"/>
              <a:chOff x="4452938" y="3930020"/>
              <a:chExt cx="2056229" cy="1997251"/>
            </a:xfrm>
            <a:solidFill>
              <a:srgbClr val="000050"/>
            </a:solidFill>
          </p:grpSpPr>
          <p:sp>
            <p:nvSpPr>
              <p:cNvPr id="87" name="Hexagon 9"/>
              <p:cNvSpPr/>
              <p:nvPr/>
            </p:nvSpPr>
            <p:spPr bwMode="auto">
              <a:xfrm>
                <a:off x="4502150" y="4063552"/>
                <a:ext cx="2007017" cy="1730187"/>
              </a:xfrm>
              <a:prstGeom prst="hexagon">
                <a:avLst>
                  <a:gd name="adj" fmla="val 29167"/>
                  <a:gd name="vf" fmla="val 115470"/>
                </a:avLst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88" name="Freeform: Shape 10"/>
              <p:cNvSpPr/>
              <p:nvPr/>
            </p:nvSpPr>
            <p:spPr bwMode="auto">
              <a:xfrm>
                <a:off x="4636594" y="3930020"/>
                <a:ext cx="1738128" cy="1997251"/>
              </a:xfrm>
              <a:custGeom>
                <a:avLst/>
                <a:gdLst>
                  <a:gd name="connsiteX0" fmla="*/ 869582 w 1738128"/>
                  <a:gd name="connsiteY0" fmla="*/ 0 h 1997251"/>
                  <a:gd name="connsiteX1" fmla="*/ 1733641 w 1738128"/>
                  <a:gd name="connsiteY1" fmla="*/ 498865 h 1997251"/>
                  <a:gd name="connsiteX2" fmla="*/ 1738128 w 1738128"/>
                  <a:gd name="connsiteY2" fmla="*/ 1500380 h 1997251"/>
                  <a:gd name="connsiteX3" fmla="*/ 868547 w 1738128"/>
                  <a:gd name="connsiteY3" fmla="*/ 1997251 h 1997251"/>
                  <a:gd name="connsiteX4" fmla="*/ 4488 w 1738128"/>
                  <a:gd name="connsiteY4" fmla="*/ 1498386 h 1997251"/>
                  <a:gd name="connsiteX5" fmla="*/ 0 w 1738128"/>
                  <a:gd name="connsiteY5" fmla="*/ 496871 h 199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38128" h="1997251">
                    <a:moveTo>
                      <a:pt x="869582" y="0"/>
                    </a:moveTo>
                    <a:lnTo>
                      <a:pt x="1733641" y="498865"/>
                    </a:lnTo>
                    <a:lnTo>
                      <a:pt x="1738128" y="1500380"/>
                    </a:lnTo>
                    <a:lnTo>
                      <a:pt x="868547" y="1997251"/>
                    </a:lnTo>
                    <a:lnTo>
                      <a:pt x="4488" y="1498386"/>
                    </a:lnTo>
                    <a:lnTo>
                      <a:pt x="0" y="496871"/>
                    </a:lnTo>
                    <a:close/>
                  </a:path>
                </a:pathLst>
              </a:custGeom>
              <a:solidFill>
                <a:srgbClr val="0096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89" name="Freeform: Shape 11"/>
              <p:cNvSpPr/>
              <p:nvPr/>
            </p:nvSpPr>
            <p:spPr bwMode="auto">
              <a:xfrm>
                <a:off x="4452938" y="4233863"/>
                <a:ext cx="300037" cy="266700"/>
              </a:xfrm>
              <a:custGeom>
                <a:avLst/>
                <a:gdLst>
                  <a:gd name="connsiteX0" fmla="*/ 0 w 300037"/>
                  <a:gd name="connsiteY0" fmla="*/ 47625 h 266700"/>
                  <a:gd name="connsiteX1" fmla="*/ 300037 w 300037"/>
                  <a:gd name="connsiteY1" fmla="*/ 0 h 266700"/>
                  <a:gd name="connsiteX2" fmla="*/ 85725 w 300037"/>
                  <a:gd name="connsiteY2" fmla="*/ 114300 h 266700"/>
                  <a:gd name="connsiteX3" fmla="*/ 90487 w 300037"/>
                  <a:gd name="connsiteY3" fmla="*/ 266700 h 266700"/>
                  <a:gd name="connsiteX4" fmla="*/ 0 w 300037"/>
                  <a:gd name="connsiteY4" fmla="*/ 47625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37" h="266700">
                    <a:moveTo>
                      <a:pt x="0" y="47625"/>
                    </a:moveTo>
                    <a:lnTo>
                      <a:pt x="300037" y="0"/>
                    </a:lnTo>
                    <a:lnTo>
                      <a:pt x="85725" y="114300"/>
                    </a:lnTo>
                    <a:lnTo>
                      <a:pt x="90487" y="26670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0096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90" name="Freeform: Shape 12"/>
              <p:cNvSpPr/>
              <p:nvPr/>
            </p:nvSpPr>
            <p:spPr bwMode="auto">
              <a:xfrm>
                <a:off x="6276975" y="5281613"/>
                <a:ext cx="209550" cy="271462"/>
              </a:xfrm>
              <a:custGeom>
                <a:avLst/>
                <a:gdLst>
                  <a:gd name="connsiteX0" fmla="*/ 180975 w 209550"/>
                  <a:gd name="connsiteY0" fmla="*/ 0 h 271462"/>
                  <a:gd name="connsiteX1" fmla="*/ 209550 w 209550"/>
                  <a:gd name="connsiteY1" fmla="*/ 223837 h 271462"/>
                  <a:gd name="connsiteX2" fmla="*/ 0 w 209550"/>
                  <a:gd name="connsiteY2" fmla="*/ 271462 h 271462"/>
                  <a:gd name="connsiteX3" fmla="*/ 166688 w 209550"/>
                  <a:gd name="connsiteY3" fmla="*/ 157162 h 271462"/>
                  <a:gd name="connsiteX4" fmla="*/ 180975 w 209550"/>
                  <a:gd name="connsiteY4" fmla="*/ 0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0" h="271462">
                    <a:moveTo>
                      <a:pt x="180975" y="0"/>
                    </a:moveTo>
                    <a:lnTo>
                      <a:pt x="209550" y="223837"/>
                    </a:lnTo>
                    <a:lnTo>
                      <a:pt x="0" y="271462"/>
                    </a:lnTo>
                    <a:lnTo>
                      <a:pt x="166688" y="157162"/>
                    </a:lnTo>
                    <a:lnTo>
                      <a:pt x="180975" y="0"/>
                    </a:lnTo>
                    <a:close/>
                  </a:path>
                </a:pathLst>
              </a:custGeom>
              <a:solidFill>
                <a:srgbClr val="0096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86" name="Graphic 16"/>
            <p:cNvSpPr/>
            <p:nvPr/>
          </p:nvSpPr>
          <p:spPr>
            <a:xfrm>
              <a:off x="539436" y="1650670"/>
              <a:ext cx="241614" cy="236788"/>
            </a:xfrm>
            <a:custGeom>
              <a:avLst/>
              <a:gdLst>
                <a:gd name="connsiteX0" fmla="*/ 0 w 1943828"/>
                <a:gd name="connsiteY0" fmla="*/ 1591679 h 1905000"/>
                <a:gd name="connsiteX1" fmla="*/ 971914 w 1943828"/>
                <a:gd name="connsiteY1" fmla="*/ 1278288 h 1905000"/>
                <a:gd name="connsiteX2" fmla="*/ 1943829 w 1943828"/>
                <a:gd name="connsiteY2" fmla="*/ 1591679 h 1905000"/>
                <a:gd name="connsiteX3" fmla="*/ 971914 w 1943828"/>
                <a:gd name="connsiteY3" fmla="*/ 1905000 h 1905000"/>
                <a:gd name="connsiteX4" fmla="*/ 0 w 1943828"/>
                <a:gd name="connsiteY4" fmla="*/ 1591679 h 1905000"/>
                <a:gd name="connsiteX5" fmla="*/ 80114 w 1943828"/>
                <a:gd name="connsiteY5" fmla="*/ 1591679 h 1905000"/>
                <a:gd name="connsiteX6" fmla="*/ 971914 w 1943828"/>
                <a:gd name="connsiteY6" fmla="*/ 1825146 h 1905000"/>
                <a:gd name="connsiteX7" fmla="*/ 1863785 w 1943828"/>
                <a:gd name="connsiteY7" fmla="*/ 1591679 h 1905000"/>
                <a:gd name="connsiteX8" fmla="*/ 971914 w 1943828"/>
                <a:gd name="connsiteY8" fmla="*/ 1358142 h 1905000"/>
                <a:gd name="connsiteX9" fmla="*/ 80114 w 1943828"/>
                <a:gd name="connsiteY9" fmla="*/ 1591679 h 1905000"/>
                <a:gd name="connsiteX10" fmla="*/ 451385 w 1943828"/>
                <a:gd name="connsiteY10" fmla="*/ 1591679 h 1905000"/>
                <a:gd name="connsiteX11" fmla="*/ 972053 w 1943828"/>
                <a:gd name="connsiteY11" fmla="*/ 1410708 h 1905000"/>
                <a:gd name="connsiteX12" fmla="*/ 1492722 w 1943828"/>
                <a:gd name="connsiteY12" fmla="*/ 1591679 h 1905000"/>
                <a:gd name="connsiteX13" fmla="*/ 972053 w 1943828"/>
                <a:gd name="connsiteY13" fmla="*/ 1772579 h 1905000"/>
                <a:gd name="connsiteX14" fmla="*/ 451385 w 1943828"/>
                <a:gd name="connsiteY14" fmla="*/ 1591679 h 1905000"/>
                <a:gd name="connsiteX15" fmla="*/ 531498 w 1943828"/>
                <a:gd name="connsiteY15" fmla="*/ 1591679 h 1905000"/>
                <a:gd name="connsiteX16" fmla="*/ 971984 w 1943828"/>
                <a:gd name="connsiteY16" fmla="*/ 1692656 h 1905000"/>
                <a:gd name="connsiteX17" fmla="*/ 1412400 w 1943828"/>
                <a:gd name="connsiteY17" fmla="*/ 1591679 h 1905000"/>
                <a:gd name="connsiteX18" fmla="*/ 971984 w 1943828"/>
                <a:gd name="connsiteY18" fmla="*/ 1490632 h 1905000"/>
                <a:gd name="connsiteX19" fmla="*/ 531429 w 1943828"/>
                <a:gd name="connsiteY19" fmla="*/ 1591679 h 1905000"/>
                <a:gd name="connsiteX20" fmla="*/ 1634343 w 1943828"/>
                <a:gd name="connsiteY20" fmla="*/ 267611 h 1905000"/>
                <a:gd name="connsiteX21" fmla="*/ 1233429 w 1943828"/>
                <a:gd name="connsiteY21" fmla="*/ 99731 h 1905000"/>
                <a:gd name="connsiteX22" fmla="*/ 967680 w 1943828"/>
                <a:gd name="connsiteY22" fmla="*/ 0 h 1905000"/>
                <a:gd name="connsiteX23" fmla="*/ 962126 w 1943828"/>
                <a:gd name="connsiteY23" fmla="*/ 0 h 1905000"/>
                <a:gd name="connsiteX24" fmla="*/ 879374 w 1943828"/>
                <a:gd name="connsiteY24" fmla="*/ 20777 h 1905000"/>
                <a:gd name="connsiteX25" fmla="*/ 332742 w 1943828"/>
                <a:gd name="connsiteY25" fmla="*/ 267196 h 1905000"/>
                <a:gd name="connsiteX26" fmla="*/ 280744 w 1943828"/>
                <a:gd name="connsiteY26" fmla="*/ 335345 h 1905000"/>
                <a:gd name="connsiteX27" fmla="*/ 952615 w 1943828"/>
                <a:gd name="connsiteY27" fmla="*/ 1614880 h 1905000"/>
                <a:gd name="connsiteX28" fmla="*/ 1025508 w 1943828"/>
                <a:gd name="connsiteY28" fmla="*/ 1614880 h 1905000"/>
                <a:gd name="connsiteX29" fmla="*/ 1686966 w 1943828"/>
                <a:gd name="connsiteY29" fmla="*/ 335345 h 1905000"/>
                <a:gd name="connsiteX30" fmla="*/ 1634760 w 1943828"/>
                <a:gd name="connsiteY30" fmla="*/ 267542 h 1905000"/>
                <a:gd name="connsiteX31" fmla="*/ 1101040 w 1943828"/>
                <a:gd name="connsiteY31" fmla="*/ 1163528 h 1905000"/>
                <a:gd name="connsiteX32" fmla="*/ 984549 w 1943828"/>
                <a:gd name="connsiteY32" fmla="*/ 1279742 h 1905000"/>
                <a:gd name="connsiteX33" fmla="*/ 868044 w 1943828"/>
                <a:gd name="connsiteY33" fmla="*/ 1163543 h 1905000"/>
                <a:gd name="connsiteX34" fmla="*/ 984520 w 1943828"/>
                <a:gd name="connsiteY34" fmla="*/ 1047314 h 1905000"/>
                <a:gd name="connsiteX35" fmla="*/ 984549 w 1943828"/>
                <a:gd name="connsiteY35" fmla="*/ 1047314 h 1905000"/>
                <a:gd name="connsiteX36" fmla="*/ 1101040 w 1943828"/>
                <a:gd name="connsiteY36" fmla="*/ 1163528 h 1905000"/>
                <a:gd name="connsiteX37" fmla="*/ 1101734 w 1943828"/>
                <a:gd name="connsiteY37" fmla="*/ 815231 h 1905000"/>
                <a:gd name="connsiteX38" fmla="*/ 984673 w 1943828"/>
                <a:gd name="connsiteY38" fmla="*/ 931985 h 1905000"/>
                <a:gd name="connsiteX39" fmla="*/ 867642 w 1943828"/>
                <a:gd name="connsiteY39" fmla="*/ 815231 h 1905000"/>
                <a:gd name="connsiteX40" fmla="*/ 867642 w 1943828"/>
                <a:gd name="connsiteY40" fmla="*/ 466242 h 1905000"/>
                <a:gd name="connsiteX41" fmla="*/ 984653 w 1943828"/>
                <a:gd name="connsiteY41" fmla="*/ 349509 h 1905000"/>
                <a:gd name="connsiteX42" fmla="*/ 1101665 w 1943828"/>
                <a:gd name="connsiteY42" fmla="*/ 466242 h 1905000"/>
                <a:gd name="connsiteX43" fmla="*/ 1101665 w 1943828"/>
                <a:gd name="connsiteY43" fmla="*/ 815508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943828" h="1905000">
                  <a:moveTo>
                    <a:pt x="0" y="1591679"/>
                  </a:moveTo>
                  <a:cubicBezTo>
                    <a:pt x="0" y="1405514"/>
                    <a:pt x="433543" y="1278288"/>
                    <a:pt x="971914" y="1278288"/>
                  </a:cubicBezTo>
                  <a:cubicBezTo>
                    <a:pt x="1510286" y="1278288"/>
                    <a:pt x="1943829" y="1405445"/>
                    <a:pt x="1943829" y="1591679"/>
                  </a:cubicBezTo>
                  <a:cubicBezTo>
                    <a:pt x="1943829" y="1777912"/>
                    <a:pt x="1510286" y="1905000"/>
                    <a:pt x="971914" y="1905000"/>
                  </a:cubicBezTo>
                  <a:cubicBezTo>
                    <a:pt x="433543" y="1905000"/>
                    <a:pt x="0" y="1777843"/>
                    <a:pt x="0" y="1591679"/>
                  </a:cubicBezTo>
                  <a:close/>
                  <a:moveTo>
                    <a:pt x="80114" y="1591679"/>
                  </a:moveTo>
                  <a:cubicBezTo>
                    <a:pt x="80114" y="1707547"/>
                    <a:pt x="481028" y="1825146"/>
                    <a:pt x="971914" y="1825146"/>
                  </a:cubicBezTo>
                  <a:cubicBezTo>
                    <a:pt x="1462801" y="1825146"/>
                    <a:pt x="1863785" y="1707408"/>
                    <a:pt x="1863785" y="1591679"/>
                  </a:cubicBezTo>
                  <a:cubicBezTo>
                    <a:pt x="1863785" y="1475949"/>
                    <a:pt x="1462870" y="1358142"/>
                    <a:pt x="971914" y="1358142"/>
                  </a:cubicBezTo>
                  <a:cubicBezTo>
                    <a:pt x="480959" y="1358142"/>
                    <a:pt x="80114" y="1475741"/>
                    <a:pt x="80114" y="1591679"/>
                  </a:cubicBezTo>
                  <a:close/>
                  <a:moveTo>
                    <a:pt x="451385" y="1591679"/>
                  </a:moveTo>
                  <a:cubicBezTo>
                    <a:pt x="451385" y="1478650"/>
                    <a:pt x="682839" y="1410708"/>
                    <a:pt x="972053" y="1410708"/>
                  </a:cubicBezTo>
                  <a:cubicBezTo>
                    <a:pt x="1261267" y="1410708"/>
                    <a:pt x="1492722" y="1478650"/>
                    <a:pt x="1492722" y="1591679"/>
                  </a:cubicBezTo>
                  <a:cubicBezTo>
                    <a:pt x="1492722" y="1704707"/>
                    <a:pt x="1261267" y="1772579"/>
                    <a:pt x="972053" y="1772579"/>
                  </a:cubicBezTo>
                  <a:cubicBezTo>
                    <a:pt x="682839" y="1772579"/>
                    <a:pt x="451385" y="1704638"/>
                    <a:pt x="451385" y="1591679"/>
                  </a:cubicBezTo>
                  <a:close/>
                  <a:moveTo>
                    <a:pt x="531498" y="1591679"/>
                  </a:moveTo>
                  <a:cubicBezTo>
                    <a:pt x="531498" y="1634341"/>
                    <a:pt x="730324" y="1692656"/>
                    <a:pt x="971984" y="1692656"/>
                  </a:cubicBezTo>
                  <a:cubicBezTo>
                    <a:pt x="1213643" y="1692656"/>
                    <a:pt x="1412400" y="1634341"/>
                    <a:pt x="1412400" y="1591679"/>
                  </a:cubicBezTo>
                  <a:cubicBezTo>
                    <a:pt x="1412400" y="1549016"/>
                    <a:pt x="1213643" y="1490632"/>
                    <a:pt x="971984" y="1490632"/>
                  </a:cubicBezTo>
                  <a:cubicBezTo>
                    <a:pt x="730324" y="1490632"/>
                    <a:pt x="531429" y="1548947"/>
                    <a:pt x="531429" y="1591679"/>
                  </a:cubicBezTo>
                  <a:close/>
                  <a:moveTo>
                    <a:pt x="1634343" y="267611"/>
                  </a:moveTo>
                  <a:cubicBezTo>
                    <a:pt x="1495683" y="224428"/>
                    <a:pt x="1361444" y="168216"/>
                    <a:pt x="1233429" y="99731"/>
                  </a:cubicBezTo>
                  <a:cubicBezTo>
                    <a:pt x="1150122" y="62886"/>
                    <a:pt x="1087642" y="0"/>
                    <a:pt x="967680" y="0"/>
                  </a:cubicBezTo>
                  <a:lnTo>
                    <a:pt x="962126" y="0"/>
                  </a:lnTo>
                  <a:cubicBezTo>
                    <a:pt x="933743" y="3249"/>
                    <a:pt x="905917" y="10235"/>
                    <a:pt x="879374" y="20777"/>
                  </a:cubicBezTo>
                  <a:cubicBezTo>
                    <a:pt x="702416" y="99315"/>
                    <a:pt x="540870" y="214699"/>
                    <a:pt x="332742" y="267196"/>
                  </a:cubicBezTo>
                  <a:cubicBezTo>
                    <a:pt x="301401" y="274734"/>
                    <a:pt x="279682" y="303201"/>
                    <a:pt x="280744" y="335345"/>
                  </a:cubicBezTo>
                  <a:cubicBezTo>
                    <a:pt x="296434" y="1090254"/>
                    <a:pt x="619179" y="1389446"/>
                    <a:pt x="952615" y="1614880"/>
                  </a:cubicBezTo>
                  <a:cubicBezTo>
                    <a:pt x="974310" y="1630746"/>
                    <a:pt x="1003813" y="1630746"/>
                    <a:pt x="1025508" y="1614880"/>
                  </a:cubicBezTo>
                  <a:cubicBezTo>
                    <a:pt x="1405666" y="1384183"/>
                    <a:pt x="1671137" y="938510"/>
                    <a:pt x="1686966" y="335345"/>
                  </a:cubicBezTo>
                  <a:cubicBezTo>
                    <a:pt x="1686018" y="303886"/>
                    <a:pt x="1664983" y="276567"/>
                    <a:pt x="1634760" y="267542"/>
                  </a:cubicBezTo>
                  <a:close/>
                  <a:moveTo>
                    <a:pt x="1101040" y="1163528"/>
                  </a:moveTo>
                  <a:cubicBezTo>
                    <a:pt x="1101040" y="1227711"/>
                    <a:pt x="1048885" y="1279742"/>
                    <a:pt x="984549" y="1279742"/>
                  </a:cubicBezTo>
                  <a:cubicBezTo>
                    <a:pt x="920213" y="1279750"/>
                    <a:pt x="868052" y="1227726"/>
                    <a:pt x="868044" y="1163543"/>
                  </a:cubicBezTo>
                  <a:cubicBezTo>
                    <a:pt x="868035" y="1099359"/>
                    <a:pt x="920184" y="1047322"/>
                    <a:pt x="984520" y="1047314"/>
                  </a:cubicBezTo>
                  <a:cubicBezTo>
                    <a:pt x="984530" y="1047314"/>
                    <a:pt x="984539" y="1047314"/>
                    <a:pt x="984549" y="1047314"/>
                  </a:cubicBezTo>
                  <a:cubicBezTo>
                    <a:pt x="1048885" y="1047314"/>
                    <a:pt x="1101040" y="1099345"/>
                    <a:pt x="1101040" y="1163528"/>
                  </a:cubicBezTo>
                  <a:close/>
                  <a:moveTo>
                    <a:pt x="1101734" y="815231"/>
                  </a:moveTo>
                  <a:cubicBezTo>
                    <a:pt x="1101726" y="879721"/>
                    <a:pt x="1049316" y="931993"/>
                    <a:pt x="984673" y="931985"/>
                  </a:cubicBezTo>
                  <a:cubicBezTo>
                    <a:pt x="920042" y="931977"/>
                    <a:pt x="867650" y="879709"/>
                    <a:pt x="867642" y="815231"/>
                  </a:cubicBezTo>
                  <a:lnTo>
                    <a:pt x="867642" y="466242"/>
                  </a:lnTo>
                  <a:cubicBezTo>
                    <a:pt x="867642" y="401772"/>
                    <a:pt x="920030" y="349509"/>
                    <a:pt x="984653" y="349509"/>
                  </a:cubicBezTo>
                  <a:cubicBezTo>
                    <a:pt x="1049277" y="349509"/>
                    <a:pt x="1101665" y="401772"/>
                    <a:pt x="1101665" y="466242"/>
                  </a:cubicBezTo>
                  <a:lnTo>
                    <a:pt x="1101665" y="815508"/>
                  </a:lnTo>
                  <a:close/>
                </a:path>
              </a:pathLst>
            </a:custGeom>
            <a:solidFill>
              <a:srgbClr val="FFFFFF"/>
            </a:solidFill>
            <a:ln w="18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sp>
        <p:nvSpPr>
          <p:cNvPr id="92" name="Parallelogram 15"/>
          <p:cNvSpPr/>
          <p:nvPr/>
        </p:nvSpPr>
        <p:spPr>
          <a:xfrm>
            <a:off x="9431443" y="3883397"/>
            <a:ext cx="1260000" cy="329184"/>
          </a:xfrm>
          <a:prstGeom prst="parallelogram">
            <a:avLst/>
          </a:prstGeom>
          <a:solidFill>
            <a:srgbClr val="0096FF"/>
          </a:solidFill>
          <a:ln w="6350" cap="flat" cmpd="sng" algn="ctr">
            <a:noFill/>
            <a:prstDash val="solid"/>
          </a:ln>
          <a:effectLst>
            <a:outerShdw blurRad="50800" dist="12700" dir="2700000" algn="tl" rotWithShape="0">
              <a:srgbClr val="0096FF">
                <a:alpha val="40000"/>
              </a:srgbClr>
            </a:outerShdw>
          </a:effectLst>
        </p:spPr>
        <p:txBody>
          <a:bodyPr wrap="none"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egoe UI" panose="020B0502040204020203"/>
                <a:sym typeface="+mn-lt"/>
              </a:rPr>
              <a:t>能力提升</a:t>
            </a:r>
          </a:p>
        </p:txBody>
      </p:sp>
      <p:sp>
        <p:nvSpPr>
          <p:cNvPr id="93" name="Rectangle 49"/>
          <p:cNvSpPr/>
          <p:nvPr/>
        </p:nvSpPr>
        <p:spPr>
          <a:xfrm>
            <a:off x="9353980" y="4245622"/>
            <a:ext cx="2733048" cy="936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0096FF"/>
            </a:solidFill>
            <a:prstDash val="solid"/>
          </a:ln>
          <a:effectLst/>
        </p:spPr>
        <p:txBody>
          <a:bodyPr wrap="square" lIns="108000" tIns="108000" rIns="108000" bIns="127440" rtlCol="0" anchor="t">
            <a:spAutoFit/>
          </a:bodyPr>
          <a:lstStyle/>
          <a:p>
            <a:pPr marL="171450" indent="-171450" algn="just" fontAlgn="base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能力延展不足：</a:t>
            </a: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仅针对个人能力提升，未延展至体系、组织能力提升</a:t>
            </a:r>
            <a:endParaRPr lang="en-US" altLang="zh-CN" sz="10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  <a:p>
            <a:pPr marL="171450" indent="-171450" algn="just" fontAlgn="base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体系搭建不足：</a:t>
            </a: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未形成持续演进的能力提升体系</a:t>
            </a:r>
            <a:endParaRPr lang="en-US" altLang="zh-CN" sz="10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94" name="Parallelogram 15"/>
          <p:cNvSpPr/>
          <p:nvPr/>
        </p:nvSpPr>
        <p:spPr>
          <a:xfrm>
            <a:off x="9422755" y="5214663"/>
            <a:ext cx="1260000" cy="329184"/>
          </a:xfrm>
          <a:prstGeom prst="parallelogram">
            <a:avLst/>
          </a:prstGeom>
          <a:solidFill>
            <a:srgbClr val="0096FF"/>
          </a:solidFill>
          <a:ln w="6350" cap="flat" cmpd="sng" algn="ctr">
            <a:noFill/>
            <a:prstDash val="solid"/>
          </a:ln>
          <a:effectLst>
            <a:outerShdw blurRad="50800" dist="12700" dir="2700000" algn="tl" rotWithShape="0">
              <a:srgbClr val="0096FF">
                <a:alpha val="40000"/>
              </a:srgbClr>
            </a:outerShdw>
          </a:effectLst>
        </p:spPr>
        <p:txBody>
          <a:bodyPr wrap="none" lIns="72000" tIns="72000" rIns="72000" bIns="72000" rtlCol="0" anchor="ctr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200" b="1" kern="0" dirty="0">
                <a:solidFill>
                  <a:srgbClr val="FFFFFF"/>
                </a:solidFill>
                <a:latin typeface="+mj-ea"/>
                <a:ea typeface="+mj-ea"/>
                <a:cs typeface="Segoe UI" panose="020B0502040204020203"/>
                <a:sym typeface="+mn-lt"/>
              </a:rPr>
              <a:t>机制建设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Segoe UI" panose="020B0502040204020203"/>
              <a:sym typeface="+mn-lt"/>
            </a:endParaRPr>
          </a:p>
        </p:txBody>
      </p:sp>
      <p:sp>
        <p:nvSpPr>
          <p:cNvPr id="95" name="Rectangle 49"/>
          <p:cNvSpPr/>
          <p:nvPr/>
        </p:nvSpPr>
        <p:spPr>
          <a:xfrm>
            <a:off x="9345448" y="5576889"/>
            <a:ext cx="2674614" cy="1069762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0096FF"/>
            </a:solidFill>
            <a:prstDash val="solid"/>
          </a:ln>
          <a:effectLst/>
        </p:spPr>
        <p:txBody>
          <a:bodyPr wrap="square" lIns="108000" tIns="108000" rIns="108000" bIns="127440" rtlCol="0" anchor="t">
            <a:spAutoFit/>
          </a:bodyPr>
          <a:lstStyle/>
          <a:p>
            <a:pPr marL="171450" indent="-171450" algn="just" fontAlgn="base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考核联动不足</a:t>
            </a: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：仅与勋章体系衔接，未充分联动能力提升、日常考核等</a:t>
            </a:r>
            <a:endParaRPr lang="en-US" altLang="zh-CN" sz="10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  <a:p>
            <a:pPr marL="171450" indent="-171450" algn="just" fontAlgn="base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业务反哺不足：</a:t>
            </a: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未形成机制对业务流程优化、数智化建设形成反哺</a:t>
            </a:r>
          </a:p>
        </p:txBody>
      </p:sp>
      <p:sp>
        <p:nvSpPr>
          <p:cNvPr id="96" name="标题 6">
            <a:hlinkClick r:id="rId14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一、</a:t>
            </a:r>
            <a:r>
              <a:rPr lang="zh-CN" altLang="en-US" sz="2400" dirty="0">
                <a:solidFill>
                  <a:srgbClr val="152A8C"/>
                </a:solidFill>
                <a:sym typeface="微软雅黑" panose="020B0503020204020204" charset="-122"/>
              </a:rPr>
              <a:t>“一口清”工作开展情况</a:t>
            </a:r>
          </a:p>
          <a:p>
            <a:pPr lvl="0">
              <a:defRPr/>
            </a:pPr>
            <a:endParaRPr lang="zh-CN" altLang="en-US" sz="2400" dirty="0">
              <a:solidFill>
                <a:srgbClr val="152A8C"/>
              </a:solidFill>
            </a:endParaRPr>
          </a:p>
          <a:p>
            <a:pPr lvl="0">
              <a:defRPr/>
            </a:pPr>
            <a:endParaRPr lang="zh-CN" altLang="en-US" sz="2400" dirty="0">
              <a:solidFill>
                <a:srgbClr val="152A8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9580" y="306705"/>
            <a:ext cx="10367010" cy="509905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目录</a:t>
            </a:r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2449195" y="1999205"/>
            <a:ext cx="6556375" cy="758190"/>
            <a:chOff x="3857" y="3179"/>
            <a:chExt cx="10325" cy="1194"/>
          </a:xfrm>
        </p:grpSpPr>
        <p:sp>
          <p:nvSpPr>
            <p:cNvPr id="13" name="矩形 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226" y="3179"/>
              <a:ext cx="8957" cy="1194"/>
            </a:xfrm>
            <a:prstGeom prst="rect">
              <a:avLst/>
            </a:prstGeom>
            <a:noFill/>
            <a:ln w="19050">
              <a:solidFill>
                <a:srgbClr val="A6A6A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>
                      <a:lumMod val="95000"/>
                    </a:schemeClr>
                  </a:solidFill>
                </a14:hiddenFill>
              </a:ext>
            </a:extLst>
          </p:spPr>
          <p:txBody>
            <a:bodyPr anchor="ctr">
              <a:noAutofit/>
            </a:bodyPr>
            <a:lstStyle/>
            <a:p>
              <a:pPr lvl="0" eaLnBrk="0" fontAlgn="base" hangingPunct="0">
                <a:defRPr/>
              </a:pPr>
              <a:r>
                <a:rPr lang="zh-CN" altLang="en-US" sz="2200" b="1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“一口清”工作开展情况</a:t>
              </a:r>
            </a:p>
          </p:txBody>
        </p:sp>
        <p:sp>
          <p:nvSpPr>
            <p:cNvPr id="14" name="矩形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57" y="3179"/>
              <a:ext cx="1213" cy="1194"/>
            </a:xfrm>
            <a:prstGeom prst="rect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2449195" y="3443258"/>
            <a:ext cx="6556375" cy="758825"/>
            <a:chOff x="3857" y="5106"/>
            <a:chExt cx="10325" cy="1195"/>
          </a:xfrm>
        </p:grpSpPr>
        <p:sp>
          <p:nvSpPr>
            <p:cNvPr id="15" name="矩形 4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57" y="5106"/>
              <a:ext cx="1213" cy="1194"/>
            </a:xfrm>
            <a:prstGeom prst="rect">
              <a:avLst/>
            </a:prstGeom>
            <a:solidFill>
              <a:srgbClr val="152A8C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二</a:t>
              </a:r>
            </a:p>
          </p:txBody>
        </p:sp>
        <p:sp>
          <p:nvSpPr>
            <p:cNvPr id="2" name="矩形 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26" y="5107"/>
              <a:ext cx="8957" cy="1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52A8C"/>
              </a:solidFill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“一口清”工作迭代方案</a:t>
              </a:r>
            </a:p>
          </p:txBody>
        </p:sp>
      </p:grp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2449830" y="4887945"/>
            <a:ext cx="6556375" cy="758825"/>
            <a:chOff x="3857" y="7634"/>
            <a:chExt cx="10325" cy="1195"/>
          </a:xfrm>
        </p:grpSpPr>
        <p:sp>
          <p:nvSpPr>
            <p:cNvPr id="3" name="矩形 4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857" y="7634"/>
              <a:ext cx="1213" cy="11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三</a:t>
              </a:r>
            </a:p>
          </p:txBody>
        </p:sp>
        <p:sp>
          <p:nvSpPr>
            <p:cNvPr id="4" name="矩形 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26" y="7635"/>
              <a:ext cx="8957" cy="1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6A6A6"/>
              </a:solidFill>
              <a:miter lim="800000"/>
            </a:ln>
          </p:spPr>
          <p:txBody>
            <a:bodyPr anchor="ctr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下一步工作计划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6">
            <a:hlinkClick r:id="rId17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二、“一口清”工作迭代方案</a:t>
            </a:r>
          </a:p>
          <a:p>
            <a:pPr lvl="0">
              <a:defRPr/>
            </a:pPr>
            <a:endParaRPr lang="zh-CN" altLang="en-US" sz="2400" dirty="0">
              <a:solidFill>
                <a:srgbClr val="152A8C"/>
              </a:solidFill>
            </a:endParaRPr>
          </a:p>
        </p:txBody>
      </p:sp>
      <p:sp>
        <p:nvSpPr>
          <p:cNvPr id="63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2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什么是“一口清”</a:t>
            </a:r>
          </a:p>
        </p:txBody>
      </p:sp>
      <p:sp>
        <p:nvSpPr>
          <p:cNvPr id="64" name="TextBox 3"/>
          <p:cNvSpPr txBox="1"/>
          <p:nvPr>
            <p:custDataLst>
              <p:tags r:id="rId2"/>
            </p:custDataLst>
          </p:nvPr>
        </p:nvSpPr>
        <p:spPr>
          <a:xfrm>
            <a:off x="462280" y="1280453"/>
            <a:ext cx="11307445" cy="6502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它要求我们部门的每一位员工，对自己负责的业务都能做到像专家一样，问不倒、说得准、答得全。这不仅是对业务熟练度的要求，更是对我们专业素养和职业化水平的综合体现。我们遵循内容精炼、精准无误、脱口而出和逻辑清晰这四大原则。</a:t>
            </a:r>
          </a:p>
        </p:txBody>
      </p:sp>
      <p:sp>
        <p:nvSpPr>
          <p:cNvPr id="8" name="AutoShape 4"/>
          <p:cNvSpPr/>
          <p:nvPr/>
        </p:nvSpPr>
        <p:spPr>
          <a:xfrm>
            <a:off x="972820" y="5744845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通过专业讲解与系统化梳理，让核心业务知识在团队内部形成统一认知，夯实全员专业基础，</a:t>
            </a:r>
            <a:r>
              <a:rPr lang="zh-CN" altLang="en-US" sz="1400" b="0" i="0" u="none" strike="noStrike" kern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实现能力提升</a:t>
            </a:r>
            <a:r>
              <a:rPr lang="en-US" sz="1400" b="0" i="0" u="none" strike="noStrike" kern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cxnSp>
        <p:nvCxnSpPr>
          <p:cNvPr id="17" name="Connector 5"/>
          <p:cNvCxnSpPr/>
          <p:nvPr/>
        </p:nvCxnSpPr>
        <p:spPr>
          <a:xfrm rot="5389889">
            <a:off x="3893820" y="4163704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6"/>
          <p:cNvSpPr/>
          <p:nvPr/>
        </p:nvSpPr>
        <p:spPr>
          <a:xfrm>
            <a:off x="6306820" y="2011045"/>
            <a:ext cx="4826000" cy="1714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AutoShape 7"/>
          <p:cNvSpPr/>
          <p:nvPr/>
        </p:nvSpPr>
        <p:spPr>
          <a:xfrm>
            <a:off x="6306820" y="2011045"/>
            <a:ext cx="76200" cy="1714500"/>
          </a:xfrm>
          <a:prstGeom prst="roundRect">
            <a:avLst>
              <a:gd name="adj" fmla="val 0"/>
            </a:avLst>
          </a:prstGeom>
          <a:solidFill>
            <a:srgbClr val="152A8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AutoShape 8"/>
          <p:cNvSpPr/>
          <p:nvPr/>
        </p:nvSpPr>
        <p:spPr>
          <a:xfrm>
            <a:off x="6560820" y="2138045"/>
            <a:ext cx="4381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核心定义：熟记于心，脱口而出</a:t>
            </a:r>
            <a:endParaRPr lang="en-US" sz="1100" kern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“业务一口清”要求全员对本岗位核心业务知识、管理流程、关键指标及权责边界精准掌握。它不仅是业务熟练度的体现，更是衡量专业素养与职业化水平的核心标准。</a:t>
            </a:r>
          </a:p>
        </p:txBody>
      </p:sp>
      <p:sp>
        <p:nvSpPr>
          <p:cNvPr id="22" name="AutoShape 9"/>
          <p:cNvSpPr/>
          <p:nvPr>
            <p:custDataLst>
              <p:tags r:id="rId3"/>
            </p:custDataLst>
          </p:nvPr>
        </p:nvSpPr>
        <p:spPr>
          <a:xfrm>
            <a:off x="6306820" y="4043045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33820" y="4170045"/>
            <a:ext cx="304800" cy="304800"/>
          </a:xfrm>
          <a:prstGeom prst="rect">
            <a:avLst/>
          </a:prstGeom>
        </p:spPr>
      </p:pic>
      <p:sp>
        <p:nvSpPr>
          <p:cNvPr id="26" name="AutoShape 11"/>
          <p:cNvSpPr/>
          <p:nvPr>
            <p:custDataLst>
              <p:tags r:id="rId5"/>
            </p:custDataLst>
          </p:nvPr>
        </p:nvSpPr>
        <p:spPr>
          <a:xfrm>
            <a:off x="6814820" y="4144645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内容精炼</a:t>
            </a:r>
            <a:endParaRPr lang="en-US" sz="1100" kern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摒弃冗余信息，紧扣核心要点，做到条理清晰、重点突出，便于快速理解与记忆。</a:t>
            </a:r>
          </a:p>
        </p:txBody>
      </p:sp>
      <p:sp>
        <p:nvSpPr>
          <p:cNvPr id="27" name="AutoShape 12"/>
          <p:cNvSpPr/>
          <p:nvPr>
            <p:custDataLst>
              <p:tags r:id="rId6"/>
            </p:custDataLst>
          </p:nvPr>
        </p:nvSpPr>
        <p:spPr>
          <a:xfrm>
            <a:off x="8783320" y="4043045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10320" y="4170045"/>
            <a:ext cx="304800" cy="304800"/>
          </a:xfrm>
          <a:prstGeom prst="rect">
            <a:avLst/>
          </a:prstGeom>
        </p:spPr>
      </p:pic>
      <p:sp>
        <p:nvSpPr>
          <p:cNvPr id="31" name="AutoShape 14"/>
          <p:cNvSpPr/>
          <p:nvPr>
            <p:custDataLst>
              <p:tags r:id="rId8"/>
            </p:custDataLst>
          </p:nvPr>
        </p:nvSpPr>
        <p:spPr>
          <a:xfrm>
            <a:off x="9291320" y="4144645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精准无误</a:t>
            </a:r>
            <a:endParaRPr lang="en-US" sz="1100" kern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确保数据准确、口径统一、政策明晰，为业务决策与执行提供坚实可靠的信息支撑。</a:t>
            </a:r>
          </a:p>
        </p:txBody>
      </p:sp>
      <p:sp>
        <p:nvSpPr>
          <p:cNvPr id="32" name="AutoShape 15"/>
          <p:cNvSpPr/>
          <p:nvPr>
            <p:custDataLst>
              <p:tags r:id="rId9"/>
            </p:custDataLst>
          </p:nvPr>
        </p:nvSpPr>
        <p:spPr>
          <a:xfrm>
            <a:off x="6306820" y="5313045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33820" y="5440045"/>
            <a:ext cx="304800" cy="304800"/>
          </a:xfrm>
          <a:prstGeom prst="rect">
            <a:avLst/>
          </a:prstGeom>
        </p:spPr>
      </p:pic>
      <p:sp>
        <p:nvSpPr>
          <p:cNvPr id="35" name="AutoShape 17"/>
          <p:cNvSpPr/>
          <p:nvPr>
            <p:custDataLst>
              <p:tags r:id="rId11"/>
            </p:custDataLst>
          </p:nvPr>
        </p:nvSpPr>
        <p:spPr>
          <a:xfrm>
            <a:off x="6814820" y="5414645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脱口而出</a:t>
            </a:r>
            <a:endParaRPr lang="en-US" sz="1100" kern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将业务知识内化于心，实现常态化、即时性的熟练表达，提升沟通效率与专业形象。</a:t>
            </a:r>
          </a:p>
        </p:txBody>
      </p:sp>
      <p:sp>
        <p:nvSpPr>
          <p:cNvPr id="42" name="AutoShape 18"/>
          <p:cNvSpPr/>
          <p:nvPr>
            <p:custDataLst>
              <p:tags r:id="rId12"/>
            </p:custDataLst>
          </p:nvPr>
        </p:nvSpPr>
        <p:spPr>
          <a:xfrm>
            <a:off x="8783320" y="5313045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3" name="Picture 1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10320" y="5440045"/>
            <a:ext cx="304800" cy="304800"/>
          </a:xfrm>
          <a:prstGeom prst="rect">
            <a:avLst/>
          </a:prstGeom>
        </p:spPr>
      </p:pic>
      <p:sp>
        <p:nvSpPr>
          <p:cNvPr id="45" name="AutoShape 20"/>
          <p:cNvSpPr/>
          <p:nvPr>
            <p:custDataLst>
              <p:tags r:id="rId14"/>
            </p:custDataLst>
          </p:nvPr>
        </p:nvSpPr>
        <p:spPr>
          <a:xfrm>
            <a:off x="9291320" y="5414645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逻辑清晰</a:t>
            </a:r>
            <a:endParaRPr lang="en-US" sz="1100" kern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对业务内容分层级梳理，构建完整知识体系，形成脉络清晰、结构严谨的认知框架。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6"/>
          <a:srcRect l="12868" r="17765"/>
          <a:stretch>
            <a:fillRect/>
          </a:stretch>
        </p:blipFill>
        <p:spPr>
          <a:xfrm>
            <a:off x="935990" y="1991995"/>
            <a:ext cx="4789805" cy="3798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6">
            <a:hlinkClick r:id="rId4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二、“一口清”工作迭代方案</a:t>
            </a:r>
          </a:p>
        </p:txBody>
      </p:sp>
      <p:sp>
        <p:nvSpPr>
          <p:cNvPr id="63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3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整体工作思路</a:t>
            </a:r>
          </a:p>
        </p:txBody>
      </p:sp>
      <p:sp>
        <p:nvSpPr>
          <p:cNvPr id="15" name="矩形 14"/>
          <p:cNvSpPr/>
          <p:nvPr/>
        </p:nvSpPr>
        <p:spPr>
          <a:xfrm>
            <a:off x="2149394" y="2920240"/>
            <a:ext cx="9390495" cy="102031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10947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Isosceles Triangle 43"/>
          <p:cNvSpPr/>
          <p:nvPr/>
        </p:nvSpPr>
        <p:spPr>
          <a:xfrm>
            <a:off x="2152485" y="1818430"/>
            <a:ext cx="9360000" cy="728167"/>
          </a:xfrm>
          <a:prstGeom prst="triangle">
            <a:avLst/>
          </a:prstGeom>
          <a:noFill/>
          <a:ln w="19050" cap="flat" cmpd="sng" algn="ctr">
            <a:gradFill flip="none" rotWithShape="1">
              <a:gsLst>
                <a:gs pos="0">
                  <a:srgbClr val="B3E7FF">
                    <a:lumMod val="5000"/>
                    <a:lumOff val="95000"/>
                    <a:alpha val="0"/>
                  </a:srgbClr>
                </a:gs>
                <a:gs pos="74000">
                  <a:srgbClr val="004AC2"/>
                </a:gs>
              </a:gsLst>
              <a:lin ang="16200000" scaled="1"/>
              <a:tileRect/>
            </a:gradFill>
            <a:prstDash val="solid"/>
          </a:ln>
          <a:effectLst/>
        </p:spPr>
        <p:txBody>
          <a:bodyPr wrap="none" lIns="72000" tIns="274320" rIns="72000" bIns="72000" rtlCol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00"/>
              </a:spcBef>
              <a:buSzPct val="100000"/>
              <a:defRPr/>
            </a:pPr>
            <a:endParaRPr lang="zh-CN" altLang="en-US" sz="2000">
              <a:solidFill>
                <a:srgbClr val="FFFFFF">
                  <a:lumMod val="100000"/>
                </a:srgbClr>
              </a:solidFill>
              <a:effectLst>
                <a:glow rad="127000">
                  <a:srgbClr val="004AC2"/>
                </a:glow>
              </a:effectLst>
              <a:latin typeface="RB Office"/>
              <a:cs typeface="Segoe UI" panose="020B0502040204020203"/>
              <a:sym typeface="+mn-lt"/>
            </a:endParaRPr>
          </a:p>
        </p:txBody>
      </p:sp>
      <p:grpSp>
        <p:nvGrpSpPr>
          <p:cNvPr id="23" name="Group 44"/>
          <p:cNvGrpSpPr/>
          <p:nvPr/>
        </p:nvGrpSpPr>
        <p:grpSpPr>
          <a:xfrm>
            <a:off x="2152485" y="1907534"/>
            <a:ext cx="9360000" cy="639063"/>
            <a:chOff x="3341943" y="1585354"/>
            <a:chExt cx="8248174" cy="728167"/>
          </a:xfrm>
        </p:grpSpPr>
        <p:pic>
          <p:nvPicPr>
            <p:cNvPr id="24" name="Picture 17" descr="A colorful lines and dots&#10;&#10;Description automatically generated with medium confidence"/>
            <p:cNvPicPr/>
            <p:nvPr/>
          </p:nvPicPr>
          <p:blipFill rotWithShape="1">
            <a:blip r:embed="rId5"/>
            <a:srcRect t="53713" b="34455"/>
            <a:stretch>
              <a:fillRect/>
            </a:stretch>
          </p:blipFill>
          <p:spPr>
            <a:xfrm>
              <a:off x="3341943" y="1585354"/>
              <a:ext cx="8248174" cy="728167"/>
            </a:xfrm>
            <a:prstGeom prst="triangle">
              <a:avLst/>
            </a:prstGeom>
          </p:spPr>
        </p:pic>
        <p:sp>
          <p:nvSpPr>
            <p:cNvPr id="25" name="Isosceles Triangle 19"/>
            <p:cNvSpPr/>
            <p:nvPr/>
          </p:nvSpPr>
          <p:spPr>
            <a:xfrm>
              <a:off x="3341943" y="1585354"/>
              <a:ext cx="8248174" cy="728167"/>
            </a:xfrm>
            <a:prstGeom prst="triangle">
              <a:avLst/>
            </a:prstGeom>
            <a:solidFill>
              <a:srgbClr val="004AC2">
                <a:alpha val="60000"/>
              </a:srgbClr>
            </a:solidFill>
            <a:ln w="6350" cap="flat" cmpd="sng" algn="ctr">
              <a:noFill/>
              <a:prstDash val="solid"/>
            </a:ln>
            <a:effectLst/>
          </p:spPr>
          <p:txBody>
            <a:bodyPr wrap="none" lIns="72000" tIns="274320" rIns="72000" bIns="72000" rtlCol="0" anchor="b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400"/>
                </a:spcBef>
                <a:buSzPct val="100000"/>
                <a:defRPr/>
              </a:pPr>
              <a:r>
                <a:rPr lang="zh-CN" altLang="en-US" sz="1800" dirty="0">
                  <a:solidFill>
                    <a:srgbClr val="FFFFFF"/>
                  </a:solidFill>
                  <a:effectLst>
                    <a:glow rad="127000">
                      <a:srgbClr val="004AC2"/>
                    </a:glow>
                  </a:effectLst>
                  <a:latin typeface="RB Office"/>
                  <a:cs typeface="Segoe UI" panose="020B0502040204020203"/>
                  <a:sym typeface="+mn-lt"/>
                </a:rPr>
                <a:t>全面提升</a:t>
              </a:r>
              <a:r>
                <a:rPr lang="zh-CN" altLang="en-US" sz="1800" dirty="0">
                  <a:solidFill>
                    <a:srgbClr val="FF0000"/>
                  </a:solidFill>
                  <a:effectLst>
                    <a:glow rad="127000">
                      <a:srgbClr val="004AC2"/>
                    </a:glow>
                  </a:effectLst>
                  <a:latin typeface="RB Office"/>
                  <a:cs typeface="Segoe UI" panose="020B0502040204020203"/>
                  <a:sym typeface="+mn-lt"/>
                </a:rPr>
                <a:t>个人</a:t>
              </a:r>
              <a:r>
                <a:rPr lang="zh-CN" altLang="en-US" sz="1800" dirty="0">
                  <a:solidFill>
                    <a:srgbClr val="FFFFFF"/>
                  </a:solidFill>
                  <a:effectLst>
                    <a:glow rad="127000">
                      <a:srgbClr val="004AC2"/>
                    </a:glow>
                  </a:effectLst>
                  <a:latin typeface="RB Office"/>
                  <a:cs typeface="Segoe UI" panose="020B0502040204020203"/>
                  <a:sym typeface="+mn-lt"/>
                </a:rPr>
                <a:t>能力、协同精进</a:t>
              </a:r>
              <a:r>
                <a:rPr lang="zh-CN" altLang="en-US" sz="1800" dirty="0">
                  <a:solidFill>
                    <a:srgbClr val="FF0000"/>
                  </a:solidFill>
                  <a:effectLst>
                    <a:glow rad="127000">
                      <a:srgbClr val="004AC2"/>
                    </a:glow>
                  </a:effectLst>
                  <a:latin typeface="RB Office"/>
                  <a:cs typeface="Segoe UI" panose="020B0502040204020203"/>
                  <a:sym typeface="+mn-lt"/>
                </a:rPr>
                <a:t>团队</a:t>
              </a:r>
              <a:r>
                <a:rPr lang="zh-CN" altLang="en-US" sz="1800" dirty="0">
                  <a:solidFill>
                    <a:srgbClr val="FFFFFF"/>
                  </a:solidFill>
                  <a:effectLst>
                    <a:glow rad="127000">
                      <a:srgbClr val="004AC2"/>
                    </a:glow>
                  </a:effectLst>
                  <a:latin typeface="RB Office"/>
                  <a:cs typeface="Segoe UI" panose="020B0502040204020203"/>
                  <a:sym typeface="+mn-lt"/>
                </a:rPr>
                <a:t>效能</a:t>
              </a:r>
            </a:p>
          </p:txBody>
        </p:sp>
      </p:grpSp>
      <p:cxnSp>
        <p:nvCxnSpPr>
          <p:cNvPr id="26" name="Straight Connector 33"/>
          <p:cNvCxnSpPr/>
          <p:nvPr/>
        </p:nvCxnSpPr>
        <p:spPr>
          <a:xfrm>
            <a:off x="2179889" y="2601114"/>
            <a:ext cx="9360000" cy="0"/>
          </a:xfrm>
          <a:prstGeom prst="line">
            <a:avLst/>
          </a:prstGeom>
          <a:noFill/>
          <a:ln w="19050" cap="flat" cmpd="sng" algn="ctr">
            <a:solidFill>
              <a:srgbClr val="004AC2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7" name="Rechteck 23"/>
          <p:cNvSpPr/>
          <p:nvPr/>
        </p:nvSpPr>
        <p:spPr>
          <a:xfrm>
            <a:off x="2182065" y="2920950"/>
            <a:ext cx="1296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基础底数</a:t>
            </a: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清</a:t>
            </a:r>
          </a:p>
        </p:txBody>
      </p:sp>
      <p:sp>
        <p:nvSpPr>
          <p:cNvPr id="29" name="矩形 28"/>
          <p:cNvSpPr/>
          <p:nvPr/>
        </p:nvSpPr>
        <p:spPr bwMode="auto">
          <a:xfrm>
            <a:off x="2182065" y="3384379"/>
            <a:ext cx="1296000" cy="432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cs typeface="Segoe UI" panose="020B0502040204020203"/>
              </a:rPr>
              <a:t>详实无遗漏</a:t>
            </a:r>
          </a:p>
        </p:txBody>
      </p:sp>
      <p:sp>
        <p:nvSpPr>
          <p:cNvPr id="28" name="Rechteck 23"/>
          <p:cNvSpPr/>
          <p:nvPr/>
        </p:nvSpPr>
        <p:spPr>
          <a:xfrm>
            <a:off x="7019160" y="2920950"/>
            <a:ext cx="1296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产业协同</a:t>
            </a: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清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7019160" y="3384379"/>
            <a:ext cx="1296000" cy="432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cs typeface="Segoe UI" panose="020B0502040204020203"/>
              </a:rPr>
              <a:t>精准可协同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8631525" y="3384379"/>
            <a:ext cx="1296000" cy="432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cs typeface="Segoe UI" panose="020B0502040204020203"/>
              </a:rPr>
              <a:t>闭环可防控</a:t>
            </a:r>
          </a:p>
        </p:txBody>
      </p:sp>
      <p:sp>
        <p:nvSpPr>
          <p:cNvPr id="33" name="Rechteck 23"/>
          <p:cNvSpPr/>
          <p:nvPr/>
        </p:nvSpPr>
        <p:spPr>
          <a:xfrm>
            <a:off x="5406795" y="2920950"/>
            <a:ext cx="1296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治理行权</a:t>
            </a: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清</a:t>
            </a:r>
          </a:p>
        </p:txBody>
      </p:sp>
      <p:sp>
        <p:nvSpPr>
          <p:cNvPr id="34" name="矩形 33"/>
          <p:cNvSpPr/>
          <p:nvPr/>
        </p:nvSpPr>
        <p:spPr bwMode="auto">
          <a:xfrm>
            <a:off x="5403990" y="3384379"/>
            <a:ext cx="1304285" cy="432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cs typeface="Segoe UI" panose="020B0502040204020203"/>
                <a:sym typeface="+mn-ea"/>
              </a:rPr>
              <a:t>规范可追溯</a:t>
            </a:r>
            <a:endParaRPr lang="zh-CN" altLang="en-US" sz="1200" kern="0" dirty="0">
              <a:solidFill>
                <a:srgbClr val="152A8C"/>
              </a:solidFill>
              <a:latin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3" name="Straight Connector 33"/>
          <p:cNvCxnSpPr/>
          <p:nvPr/>
        </p:nvCxnSpPr>
        <p:spPr>
          <a:xfrm>
            <a:off x="2217989" y="5701660"/>
            <a:ext cx="9360000" cy="0"/>
          </a:xfrm>
          <a:prstGeom prst="line">
            <a:avLst/>
          </a:prstGeom>
          <a:noFill/>
          <a:ln w="9525" cap="flat" cmpd="sng" algn="ctr">
            <a:solidFill>
              <a:srgbClr val="0B283D"/>
            </a:solidFill>
            <a:prstDash val="dash"/>
            <a:headEnd type="none" w="med" len="med"/>
            <a:tailEnd type="none" w="med" len="med"/>
          </a:ln>
          <a:effectLst/>
        </p:spPr>
      </p:cxnSp>
      <p:grpSp>
        <p:nvGrpSpPr>
          <p:cNvPr id="128" name="组合 127"/>
          <p:cNvGrpSpPr/>
          <p:nvPr/>
        </p:nvGrpSpPr>
        <p:grpSpPr>
          <a:xfrm>
            <a:off x="410320" y="2037949"/>
            <a:ext cx="1528183" cy="440452"/>
            <a:chOff x="574857" y="1830632"/>
            <a:chExt cx="1528183" cy="440452"/>
          </a:xfrm>
        </p:grpSpPr>
        <p:sp>
          <p:nvSpPr>
            <p:cNvPr id="44" name="矩形 43"/>
            <p:cNvSpPr/>
            <p:nvPr/>
          </p:nvSpPr>
          <p:spPr>
            <a:xfrm>
              <a:off x="988632" y="1901752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latin typeface="RB Office"/>
                  <a:cs typeface="Segoe UI" panose="020B0502040204020203"/>
                  <a:sym typeface="+mn-lt"/>
                </a:rPr>
                <a:t>发展目标</a:t>
              </a:r>
              <a:endParaRPr lang="zh-CN" altLang="en-US" kern="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45" name="RBContent85"/>
            <p:cNvSpPr txBox="1"/>
            <p:nvPr/>
          </p:nvSpPr>
          <p:spPr>
            <a:xfrm>
              <a:off x="574857" y="1830632"/>
              <a:ext cx="36869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ctr" anchorCtr="0">
              <a:spAutoFit/>
            </a:bodyPr>
            <a:lstStyle/>
            <a:p>
              <a:pPr algn="ctr" defTabSz="685800" fontAlgn="base">
                <a:spcBef>
                  <a:spcPts val="300"/>
                </a:spcBef>
                <a:spcAft>
                  <a:spcPct val="0"/>
                </a:spcAft>
                <a:buSzPct val="100000"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微软雅黑" panose="020B0503020204020204" charset="-122"/>
                  <a:cs typeface="Segoe UI" panose="020B0502040204020203"/>
                  <a:sym typeface="+mn-lt"/>
                </a:rPr>
                <a:t>1</a:t>
              </a:r>
              <a:r>
                <a:rPr lang="zh-CN" altLang="en-US" sz="1400" b="1" kern="0" dirty="0">
                  <a:solidFill>
                    <a:srgbClr val="C00000"/>
                  </a:solidFill>
                  <a:latin typeface="微软雅黑" panose="020B0503020204020204" charset="-122"/>
                  <a:cs typeface="Segoe UI" panose="020B0502040204020203"/>
                  <a:sym typeface="+mn-lt"/>
                </a:rPr>
                <a:t>个</a:t>
              </a:r>
              <a:endParaRPr lang="en-US" sz="1500" b="1" kern="0" dirty="0">
                <a:solidFill>
                  <a:srgbClr val="C00000"/>
                </a:solidFill>
                <a:latin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502065" y="5913116"/>
            <a:ext cx="1376499" cy="440452"/>
            <a:chOff x="714493" y="5134184"/>
            <a:chExt cx="1376499" cy="440452"/>
          </a:xfrm>
        </p:grpSpPr>
        <p:sp>
          <p:nvSpPr>
            <p:cNvPr id="42" name="矩形 41"/>
            <p:cNvSpPr/>
            <p:nvPr/>
          </p:nvSpPr>
          <p:spPr>
            <a:xfrm>
              <a:off x="982996" y="5205304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latin typeface="RB Office"/>
                  <a:cs typeface="Segoe UI" panose="020B0502040204020203"/>
                  <a:sym typeface="+mn-lt"/>
                </a:rPr>
                <a:t>“衔接”</a:t>
              </a:r>
              <a:endParaRPr lang="zh-CN" altLang="en-US" kern="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47" name="RBContent85"/>
            <p:cNvSpPr txBox="1"/>
            <p:nvPr/>
          </p:nvSpPr>
          <p:spPr>
            <a:xfrm>
              <a:off x="714493" y="5134184"/>
              <a:ext cx="18915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ctr" anchorCtr="0">
              <a:spAutoFit/>
            </a:bodyPr>
            <a:lstStyle/>
            <a:p>
              <a:pPr algn="ctr" defTabSz="685800" fontAlgn="base">
                <a:spcBef>
                  <a:spcPts val="300"/>
                </a:spcBef>
                <a:spcAft>
                  <a:spcPct val="0"/>
                </a:spcAft>
                <a:buSzPct val="100000"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微软雅黑" panose="020B0503020204020204" charset="-122"/>
                  <a:cs typeface="Segoe UI" panose="020B0502040204020203"/>
                  <a:sym typeface="+mn-lt"/>
                </a:rPr>
                <a:t>4</a:t>
              </a:r>
              <a:endParaRPr lang="en-US" sz="1500" b="1" kern="0" dirty="0">
                <a:solidFill>
                  <a:srgbClr val="C00000"/>
                </a:solidFill>
                <a:latin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502066" y="2920950"/>
            <a:ext cx="1201168" cy="440968"/>
            <a:chOff x="664627" y="2415876"/>
            <a:chExt cx="1201168" cy="440968"/>
          </a:xfrm>
        </p:grpSpPr>
        <p:sp>
          <p:nvSpPr>
            <p:cNvPr id="41" name="矩形 40"/>
            <p:cNvSpPr/>
            <p:nvPr/>
          </p:nvSpPr>
          <p:spPr>
            <a:xfrm>
              <a:off x="988632" y="2487512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latin typeface="RB Office"/>
                  <a:cs typeface="Segoe UI" panose="020B0502040204020203"/>
                </a:rPr>
                <a:t>“清”</a:t>
              </a:r>
            </a:p>
          </p:txBody>
        </p:sp>
        <p:sp>
          <p:nvSpPr>
            <p:cNvPr id="48" name="RBContent85"/>
            <p:cNvSpPr txBox="1"/>
            <p:nvPr/>
          </p:nvSpPr>
          <p:spPr>
            <a:xfrm>
              <a:off x="664627" y="2415876"/>
              <a:ext cx="18915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ctr" anchorCtr="0">
              <a:spAutoFit/>
            </a:bodyPr>
            <a:lstStyle/>
            <a:p>
              <a:pPr algn="ctr" defTabSz="685800" fontAlgn="base">
                <a:spcBef>
                  <a:spcPts val="300"/>
                </a:spcBef>
                <a:spcAft>
                  <a:spcPct val="0"/>
                </a:spcAft>
                <a:buSzPct val="100000"/>
                <a:defRPr/>
              </a:pPr>
              <a:r>
                <a:rPr lang="en-US" sz="2400" b="1" kern="0" dirty="0">
                  <a:solidFill>
                    <a:srgbClr val="C00000"/>
                  </a:solidFill>
                  <a:latin typeface="微软雅黑" panose="020B0503020204020204" charset="-122"/>
                  <a:cs typeface="Segoe UI" panose="020B0502040204020203"/>
                  <a:sym typeface="+mn-lt"/>
                </a:rPr>
                <a:t>6</a:t>
              </a:r>
              <a:endParaRPr lang="en-US" sz="1500" b="1" kern="0" dirty="0">
                <a:solidFill>
                  <a:srgbClr val="C00000"/>
                </a:solidFill>
                <a:latin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502065" y="4528188"/>
            <a:ext cx="1201169" cy="440969"/>
            <a:chOff x="664626" y="3633476"/>
            <a:chExt cx="1201169" cy="440969"/>
          </a:xfrm>
        </p:grpSpPr>
        <p:sp>
          <p:nvSpPr>
            <p:cNvPr id="46" name="矩形 45"/>
            <p:cNvSpPr/>
            <p:nvPr/>
          </p:nvSpPr>
          <p:spPr>
            <a:xfrm>
              <a:off x="988632" y="3705113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latin typeface="RB Office"/>
                  <a:cs typeface="Segoe UI" panose="020B0502040204020203"/>
                  <a:sym typeface="+mn-lt"/>
                </a:rPr>
                <a:t>“促”</a:t>
              </a:r>
              <a:endParaRPr lang="zh-CN" altLang="en-US" kern="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49" name="RBContent85"/>
            <p:cNvSpPr txBox="1"/>
            <p:nvPr/>
          </p:nvSpPr>
          <p:spPr>
            <a:xfrm>
              <a:off x="664626" y="3633476"/>
              <a:ext cx="18915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ctr" anchorCtr="0">
              <a:spAutoFit/>
            </a:bodyPr>
            <a:lstStyle/>
            <a:p>
              <a:pPr algn="ctr" defTabSz="685800" fontAlgn="base">
                <a:spcBef>
                  <a:spcPts val="300"/>
                </a:spcBef>
                <a:spcAft>
                  <a:spcPct val="0"/>
                </a:spcAft>
                <a:buSzPct val="100000"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微软雅黑" panose="020B0503020204020204" charset="-122"/>
                  <a:cs typeface="Segoe UI" panose="020B0502040204020203"/>
                  <a:sym typeface="+mn-lt"/>
                </a:rPr>
                <a:t>3</a:t>
              </a:r>
              <a:endParaRPr lang="en-US" sz="1500" b="1" kern="0" dirty="0">
                <a:solidFill>
                  <a:srgbClr val="C00000"/>
                </a:solidFill>
                <a:latin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</p:grpSp>
      <p:sp>
        <p:nvSpPr>
          <p:cNvPr id="53" name="Rechteck 23"/>
          <p:cNvSpPr/>
          <p:nvPr/>
        </p:nvSpPr>
        <p:spPr>
          <a:xfrm>
            <a:off x="2172925" y="5913116"/>
            <a:ext cx="2117090" cy="547643"/>
          </a:xfrm>
          <a:prstGeom prst="rect">
            <a:avLst/>
          </a:prstGeom>
          <a:gradFill flip="none" rotWithShape="1">
            <a:gsLst>
              <a:gs pos="0">
                <a:srgbClr val="000082"/>
              </a:gs>
              <a:gs pos="100000">
                <a:srgbClr val="004AC2"/>
              </a:gs>
            </a:gsLst>
            <a:lin ang="13500000" scaled="1"/>
            <a:tileRect/>
          </a:gradFill>
          <a:ln w="6350" cap="flat" cmpd="sng" algn="ctr">
            <a:noFill/>
            <a:prstDash val="solid"/>
          </a:ln>
          <a:effectLst/>
        </p:spPr>
        <p:txBody>
          <a:bodyPr wrap="square" lIns="0" tIns="71755" rIns="0" bIns="0" rtlCol="0" anchor="ctr" anchorCtr="0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6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勋章体系</a:t>
            </a:r>
            <a:endParaRPr lang="en-US" sz="1600" b="1" kern="0" dirty="0">
              <a:solidFill>
                <a:srgbClr val="FFFFFF"/>
              </a:solidFill>
              <a:latin typeface="Arial" panose="020B0604020202020204"/>
              <a:cs typeface="Segoe UI" panose="020B0502040204020203"/>
            </a:endParaRPr>
          </a:p>
        </p:txBody>
      </p:sp>
      <p:sp>
        <p:nvSpPr>
          <p:cNvPr id="66" name="Rechteck 23"/>
          <p:cNvSpPr/>
          <p:nvPr/>
        </p:nvSpPr>
        <p:spPr>
          <a:xfrm>
            <a:off x="8631525" y="2920950"/>
            <a:ext cx="1296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风险隐患</a:t>
            </a: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清</a:t>
            </a:r>
          </a:p>
        </p:txBody>
      </p:sp>
      <p:sp>
        <p:nvSpPr>
          <p:cNvPr id="31" name="Rechteck 23"/>
          <p:cNvSpPr/>
          <p:nvPr/>
        </p:nvSpPr>
        <p:spPr>
          <a:xfrm>
            <a:off x="3794430" y="2920950"/>
            <a:ext cx="1296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财务状况</a:t>
            </a: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清</a:t>
            </a:r>
          </a:p>
        </p:txBody>
      </p:sp>
      <p:sp>
        <p:nvSpPr>
          <p:cNvPr id="67" name="矩形 66"/>
          <p:cNvSpPr/>
          <p:nvPr/>
        </p:nvSpPr>
        <p:spPr bwMode="auto">
          <a:xfrm>
            <a:off x="3786145" y="3384379"/>
            <a:ext cx="1304285" cy="432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cs typeface="Segoe UI" panose="020B0502040204020203"/>
                <a:sym typeface="+mn-ea"/>
              </a:rPr>
              <a:t>清晰可分析</a:t>
            </a:r>
            <a:endParaRPr lang="zh-CN" altLang="en-US" sz="1200" kern="0" dirty="0">
              <a:solidFill>
                <a:srgbClr val="152A8C"/>
              </a:solidFill>
              <a:latin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03" name="Straight Connector 33"/>
          <p:cNvCxnSpPr/>
          <p:nvPr/>
        </p:nvCxnSpPr>
        <p:spPr>
          <a:xfrm>
            <a:off x="2149394" y="4160090"/>
            <a:ext cx="9360000" cy="0"/>
          </a:xfrm>
          <a:prstGeom prst="line">
            <a:avLst/>
          </a:prstGeom>
          <a:noFill/>
          <a:ln w="9525" cap="flat" cmpd="sng" algn="ctr">
            <a:solidFill>
              <a:srgbClr val="0B283D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04" name="Rechteck 23"/>
          <p:cNvSpPr/>
          <p:nvPr/>
        </p:nvSpPr>
        <p:spPr>
          <a:xfrm>
            <a:off x="2182065" y="4396210"/>
            <a:ext cx="2844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促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能力提升</a:t>
            </a:r>
          </a:p>
        </p:txBody>
      </p:sp>
      <p:sp>
        <p:nvSpPr>
          <p:cNvPr id="105" name="Rechteck 23"/>
          <p:cNvSpPr/>
          <p:nvPr/>
        </p:nvSpPr>
        <p:spPr>
          <a:xfrm>
            <a:off x="5438977" y="4396210"/>
            <a:ext cx="2844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促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信息集成</a:t>
            </a:r>
          </a:p>
        </p:txBody>
      </p:sp>
      <p:sp>
        <p:nvSpPr>
          <p:cNvPr id="107" name="Rechteck 23"/>
          <p:cNvSpPr/>
          <p:nvPr/>
        </p:nvSpPr>
        <p:spPr>
          <a:xfrm>
            <a:off x="8695889" y="4396210"/>
            <a:ext cx="2844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促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数智建设</a:t>
            </a:r>
          </a:p>
        </p:txBody>
      </p:sp>
      <p:sp>
        <p:nvSpPr>
          <p:cNvPr id="108" name="矩形 107"/>
          <p:cNvSpPr/>
          <p:nvPr/>
        </p:nvSpPr>
        <p:spPr bwMode="auto">
          <a:xfrm>
            <a:off x="2177921" y="4804319"/>
            <a:ext cx="2844000" cy="720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促个人能力提升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促体系能力提升</a:t>
            </a:r>
          </a:p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促组织能力提升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9" name="矩形 108"/>
          <p:cNvSpPr/>
          <p:nvPr/>
        </p:nvSpPr>
        <p:spPr bwMode="auto">
          <a:xfrm>
            <a:off x="5438977" y="4804319"/>
            <a:ext cx="2844000" cy="720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促历史档案梳理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促参股公司数据治理</a:t>
            </a:r>
          </a:p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促全生命周期数据管理</a:t>
            </a:r>
          </a:p>
        </p:txBody>
      </p:sp>
      <p:sp>
        <p:nvSpPr>
          <p:cNvPr id="110" name="矩形 109"/>
          <p:cNvSpPr/>
          <p:nvPr/>
        </p:nvSpPr>
        <p:spPr bwMode="auto">
          <a:xfrm>
            <a:off x="8684955" y="4805868"/>
            <a:ext cx="2844000" cy="720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促“一口清”数智化建设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marR="0" lvl="0" indent="0" algn="ctr" defTabSz="914400" rtl="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促股权运营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Agent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建设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促数智化工作台优化</a:t>
            </a:r>
          </a:p>
        </p:txBody>
      </p:sp>
      <p:sp>
        <p:nvSpPr>
          <p:cNvPr id="120" name="Rechteck 23"/>
          <p:cNvSpPr/>
          <p:nvPr/>
        </p:nvSpPr>
        <p:spPr>
          <a:xfrm>
            <a:off x="4585905" y="5913116"/>
            <a:ext cx="2117090" cy="547643"/>
          </a:xfrm>
          <a:prstGeom prst="rect">
            <a:avLst/>
          </a:prstGeom>
          <a:gradFill flip="none" rotWithShape="1">
            <a:gsLst>
              <a:gs pos="0">
                <a:srgbClr val="000082"/>
              </a:gs>
              <a:gs pos="100000">
                <a:srgbClr val="004AC2"/>
              </a:gs>
            </a:gsLst>
            <a:lin ang="13500000" scaled="1"/>
            <a:tileRect/>
          </a:gradFill>
          <a:ln w="6350" cap="flat" cmpd="sng" algn="ctr">
            <a:noFill/>
            <a:prstDash val="solid"/>
          </a:ln>
          <a:effectLst/>
        </p:spPr>
        <p:txBody>
          <a:bodyPr wrap="square" lIns="0" tIns="71755" rIns="0" bIns="0" rtlCol="0" anchor="ctr" anchorCtr="0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6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能力评价</a:t>
            </a:r>
            <a:endParaRPr lang="en-US" sz="1600" b="1" kern="0" dirty="0">
              <a:solidFill>
                <a:srgbClr val="FFFFFF"/>
              </a:solidFill>
              <a:latin typeface="Arial" panose="020B0604020202020204"/>
              <a:cs typeface="Segoe UI" panose="020B0502040204020203"/>
            </a:endParaRPr>
          </a:p>
        </p:txBody>
      </p:sp>
      <p:sp>
        <p:nvSpPr>
          <p:cNvPr id="121" name="Rechteck 23"/>
          <p:cNvSpPr/>
          <p:nvPr/>
        </p:nvSpPr>
        <p:spPr>
          <a:xfrm>
            <a:off x="6998885" y="5913116"/>
            <a:ext cx="2117090" cy="547643"/>
          </a:xfrm>
          <a:prstGeom prst="rect">
            <a:avLst/>
          </a:prstGeom>
          <a:gradFill flip="none" rotWithShape="1">
            <a:gsLst>
              <a:gs pos="0">
                <a:srgbClr val="000082"/>
              </a:gs>
              <a:gs pos="100000">
                <a:srgbClr val="004AC2"/>
              </a:gs>
            </a:gsLst>
            <a:lin ang="13500000" scaled="1"/>
            <a:tileRect/>
          </a:gradFill>
          <a:ln w="6350" cap="flat" cmpd="sng" algn="ctr">
            <a:noFill/>
            <a:prstDash val="solid"/>
          </a:ln>
          <a:effectLst/>
        </p:spPr>
        <p:txBody>
          <a:bodyPr wrap="square" lIns="0" tIns="71755" rIns="0" bIns="0" rtlCol="0" anchor="ctr" anchorCtr="0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6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激励约束</a:t>
            </a:r>
            <a:endParaRPr lang="en-US" sz="1600" b="1" kern="0" dirty="0">
              <a:solidFill>
                <a:srgbClr val="FFFFFF"/>
              </a:solidFill>
              <a:latin typeface="Arial" panose="020B0604020202020204"/>
              <a:cs typeface="Segoe UI" panose="020B0502040204020203"/>
            </a:endParaRPr>
          </a:p>
        </p:txBody>
      </p:sp>
      <p:sp>
        <p:nvSpPr>
          <p:cNvPr id="122" name="Rechteck 23"/>
          <p:cNvSpPr/>
          <p:nvPr/>
        </p:nvSpPr>
        <p:spPr>
          <a:xfrm>
            <a:off x="9411865" y="5913116"/>
            <a:ext cx="2117090" cy="547643"/>
          </a:xfrm>
          <a:prstGeom prst="rect">
            <a:avLst/>
          </a:prstGeom>
          <a:gradFill flip="none" rotWithShape="1">
            <a:gsLst>
              <a:gs pos="0">
                <a:srgbClr val="000082"/>
              </a:gs>
              <a:gs pos="100000">
                <a:srgbClr val="004AC2"/>
              </a:gs>
            </a:gsLst>
            <a:lin ang="13500000" scaled="1"/>
            <a:tileRect/>
          </a:gradFill>
          <a:ln w="6350" cap="flat" cmpd="sng" algn="ctr">
            <a:noFill/>
            <a:prstDash val="solid"/>
          </a:ln>
          <a:effectLst/>
        </p:spPr>
        <p:txBody>
          <a:bodyPr wrap="square" lIns="0" tIns="71755" rIns="0" bIns="0" rtlCol="0" anchor="ctr" anchorCtr="0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6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文化落地</a:t>
            </a:r>
            <a:endParaRPr lang="en-US" sz="1600" b="1" kern="0" dirty="0">
              <a:solidFill>
                <a:srgbClr val="FFFFFF"/>
              </a:solidFill>
              <a:latin typeface="Arial" panose="020B0604020202020204"/>
              <a:cs typeface="Segoe UI" panose="020B0502040204020203"/>
            </a:endParaRPr>
          </a:p>
        </p:txBody>
      </p:sp>
      <p:sp>
        <p:nvSpPr>
          <p:cNvPr id="2" name="Rechteck 23">
            <a:extLst>
              <a:ext uri="{FF2B5EF4-FFF2-40B4-BE49-F238E27FC236}">
                <a16:creationId xmlns:a16="http://schemas.microsoft.com/office/drawing/2014/main" id="{A06A85EB-4A45-CEBF-6E5E-7F471896E375}"/>
              </a:ext>
            </a:extLst>
          </p:cNvPr>
          <p:cNvSpPr/>
          <p:nvPr/>
        </p:nvSpPr>
        <p:spPr>
          <a:xfrm>
            <a:off x="10243889" y="2920950"/>
            <a:ext cx="1296000" cy="324000"/>
          </a:xfrm>
          <a:prstGeom prst="rect">
            <a:avLst/>
          </a:prstGeom>
          <a:solidFill>
            <a:srgbClr val="2D8ED8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 defTabSz="685800" fontAlgn="base">
              <a:spcBef>
                <a:spcPts val="300"/>
              </a:spcBef>
              <a:spcAft>
                <a:spcPct val="0"/>
              </a:spcAft>
              <a:buSzPct val="100000"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cs typeface="Segoe UI" panose="020B0502040204020203"/>
              </a:rPr>
              <a:t>管理策略</a:t>
            </a:r>
            <a:r>
              <a:rPr lang="zh-CN" altLang="en-US" b="1" dirty="0">
                <a:solidFill>
                  <a:srgbClr val="FF0000"/>
                </a:solidFill>
                <a:effectLst>
                  <a:glow rad="127000">
                    <a:srgbClr val="004AC2"/>
                  </a:glow>
                </a:effectLst>
                <a:latin typeface="RB Office"/>
                <a:cs typeface="Segoe UI" panose="020B0502040204020203"/>
              </a:rPr>
              <a:t>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DE6F7A-0A09-8AFF-2119-3A95619AC7BC}"/>
              </a:ext>
            </a:extLst>
          </p:cNvPr>
          <p:cNvSpPr/>
          <p:nvPr/>
        </p:nvSpPr>
        <p:spPr bwMode="auto">
          <a:xfrm>
            <a:off x="10232955" y="3387084"/>
            <a:ext cx="1296000" cy="43200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/>
          <a:lstStyle/>
          <a:p>
            <a:pPr algn="ctr" fontAlgn="base">
              <a:lnSpc>
                <a:spcPct val="120000"/>
              </a:lnSpc>
              <a:spcAft>
                <a:spcPct val="0"/>
              </a:spcAft>
              <a:buSzPct val="100000"/>
              <a:defRPr/>
            </a:pPr>
            <a:r>
              <a: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cs typeface="Segoe UI" panose="020B0502040204020203"/>
              </a:rPr>
              <a:t>适配可执行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组合 212"/>
          <p:cNvGrpSpPr/>
          <p:nvPr/>
        </p:nvGrpSpPr>
        <p:grpSpPr>
          <a:xfrm>
            <a:off x="651867" y="3119206"/>
            <a:ext cx="3023535" cy="504000"/>
            <a:chOff x="946265" y="3014299"/>
            <a:chExt cx="3023535" cy="504000"/>
          </a:xfrm>
        </p:grpSpPr>
        <p:sp>
          <p:nvSpPr>
            <p:cNvPr id="149" name="Rectangle 51"/>
            <p:cNvSpPr/>
            <p:nvPr/>
          </p:nvSpPr>
          <p:spPr>
            <a:xfrm>
              <a:off x="946265" y="3014299"/>
              <a:ext cx="3023535" cy="504000"/>
            </a:xfrm>
            <a:prstGeom prst="rect">
              <a:avLst/>
            </a:prstGeom>
            <a:gradFill flip="none" rotWithShape="1">
              <a:gsLst>
                <a:gs pos="0">
                  <a:srgbClr val="B3E7FF"/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/>
          </p:spPr>
          <p:txBody>
            <a:bodyPr vert="horz"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</a:endParaRPr>
            </a:p>
          </p:txBody>
        </p:sp>
        <p:sp>
          <p:nvSpPr>
            <p:cNvPr id="150" name="TextBox 18"/>
            <p:cNvSpPr txBox="1"/>
            <p:nvPr/>
          </p:nvSpPr>
          <p:spPr>
            <a:xfrm>
              <a:off x="2047663" y="3155500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212121"/>
                  </a:solidFill>
                  <a:latin typeface="RB Office" panose="00000600000000000000" pitchFamily="2" charset="0"/>
                  <a:cs typeface="Calibri" panose="020F0502020204030204"/>
                  <a:sym typeface="+mn-lt"/>
                </a:rPr>
                <a:t>公司治理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endParaRPr>
            </a:p>
          </p:txBody>
        </p:sp>
      </p:grpSp>
      <p:sp>
        <p:nvSpPr>
          <p:cNvPr id="238" name="Rectangle 64"/>
          <p:cNvSpPr/>
          <p:nvPr/>
        </p:nvSpPr>
        <p:spPr>
          <a:xfrm>
            <a:off x="4437744" y="2638723"/>
            <a:ext cx="7535719" cy="3593136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77CDFF"/>
            </a:solidFill>
            <a:prstDash val="solid"/>
          </a:ln>
          <a:effectLst>
            <a:outerShdw blurRad="38100" dist="25400" dir="2700000" algn="tl" rotWithShape="0">
              <a:srgbClr val="C8C8C8">
                <a:alpha val="40000"/>
              </a:srgbClr>
            </a:outerShdw>
          </a:effectLst>
        </p:spPr>
        <p:txBody>
          <a:bodyPr wrap="square" lIns="0" tIns="72000" rIns="0" bIns="50400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endParaRPr kumimoji="0" lang="zh-CN" altLang="en-US" sz="2300" b="0" i="1" u="none" strike="noStrike" kern="0" cap="none" spc="0" normalizeH="0" baseline="30000" noProof="0" dirty="0">
              <a:ln>
                <a:noFill/>
              </a:ln>
              <a:solidFill>
                <a:srgbClr val="156C9C"/>
              </a:solidFill>
              <a:effectLst/>
              <a:uLnTx/>
              <a:uFillTx/>
              <a:latin typeface="RB Office" panose="00000600000000000000" pitchFamily="2" charset="0"/>
              <a:cs typeface="Segoe UI" panose="020B0502040204020203"/>
            </a:endParaRPr>
          </a:p>
        </p:txBody>
      </p:sp>
      <p:sp>
        <p:nvSpPr>
          <p:cNvPr id="63" name="TextBox 3"/>
          <p:cNvSpPr txBox="1"/>
          <p:nvPr>
            <p:custDataLst>
              <p:tags r:id="rId1"/>
            </p:custDataLst>
          </p:nvPr>
        </p:nvSpPr>
        <p:spPr>
          <a:xfrm>
            <a:off x="462280" y="930328"/>
            <a:ext cx="295244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“一口清”</a:t>
            </a:r>
            <a:r>
              <a:rPr lang="zh-CN" altLang="en-US" sz="1600" kern="0" dirty="0">
                <a:solidFill>
                  <a:srgbClr val="152A8C"/>
                </a:solidFill>
              </a:rPr>
              <a:t>清什么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4" name="TextBox 3"/>
          <p:cNvSpPr txBox="1"/>
          <p:nvPr>
            <p:custDataLst>
              <p:tags r:id="rId2"/>
            </p:custDataLst>
          </p:nvPr>
        </p:nvSpPr>
        <p:spPr>
          <a:xfrm>
            <a:off x="459593" y="1280453"/>
            <a:ext cx="11307445" cy="6251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从股权运营六大核心维度系统萃取参股公司信息数据，实现基础底数、产业协同、治理行权、财务状况、风险隐患 、管理策略</a:t>
            </a:r>
            <a:r>
              <a:rPr lang="en-US" altLang="zh-CN" b="0" kern="0" dirty="0">
                <a:solidFill>
                  <a:srgbClr val="152A8C"/>
                </a:solidFill>
              </a:rPr>
              <a:t>“</a:t>
            </a:r>
            <a:r>
              <a:rPr lang="zh-CN" altLang="en-US" b="0" kern="0" dirty="0">
                <a:solidFill>
                  <a:srgbClr val="152A8C"/>
                </a:solidFill>
              </a:rPr>
              <a:t>六清</a:t>
            </a:r>
            <a:r>
              <a:rPr lang="en-US" altLang="zh-CN" b="0" kern="0" dirty="0">
                <a:solidFill>
                  <a:srgbClr val="152A8C"/>
                </a:solidFill>
              </a:rPr>
              <a:t>”</a:t>
            </a:r>
            <a:r>
              <a:rPr lang="zh-CN" altLang="en-US" b="0" kern="0" dirty="0">
                <a:solidFill>
                  <a:srgbClr val="152A8C"/>
                </a:solidFill>
              </a:rPr>
              <a:t>管理，确保核心信息“清”，全面准确、随时可查，一口说“清”。</a:t>
            </a:r>
            <a:endParaRPr lang="en-US" altLang="zh-CN" b="0" kern="0" dirty="0">
              <a:solidFill>
                <a:srgbClr val="152A8C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679986" y="2811108"/>
            <a:ext cx="1955800" cy="1620000"/>
            <a:chOff x="688975" y="7985760"/>
            <a:chExt cx="1955800" cy="1778000"/>
          </a:xfrm>
        </p:grpSpPr>
        <p:sp>
          <p:nvSpPr>
            <p:cNvPr id="5" name="AutoShape 7"/>
            <p:cNvSpPr/>
            <p:nvPr/>
          </p:nvSpPr>
          <p:spPr>
            <a:xfrm>
              <a:off x="688975" y="7985760"/>
              <a:ext cx="1955800" cy="17780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4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6" name="AutoShape 8"/>
            <p:cNvSpPr/>
            <p:nvPr/>
          </p:nvSpPr>
          <p:spPr>
            <a:xfrm>
              <a:off x="688975" y="7985760"/>
              <a:ext cx="1955800" cy="508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7" name="AutoShape 9"/>
            <p:cNvSpPr/>
            <p:nvPr/>
          </p:nvSpPr>
          <p:spPr>
            <a:xfrm>
              <a:off x="815975" y="8176260"/>
              <a:ext cx="17018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01 基础底数清</a:t>
              </a:r>
              <a:endParaRPr lang="en-US" sz="1050" dirty="0">
                <a:solidFill>
                  <a:srgbClr val="152A8C"/>
                </a:solidFill>
                <a:latin typeface="+mn-ea"/>
              </a:endParaRPr>
            </a:p>
          </p:txBody>
        </p:sp>
        <p:cxnSp>
          <p:nvCxnSpPr>
            <p:cNvPr id="9" name="Connector 10"/>
            <p:cNvCxnSpPr/>
            <p:nvPr/>
          </p:nvCxnSpPr>
          <p:spPr>
            <a:xfrm rot="21574346">
              <a:off x="815999" y="8614410"/>
              <a:ext cx="1701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3366">
                  <a:alpha val="15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0" name="AutoShape 11"/>
            <p:cNvSpPr/>
            <p:nvPr/>
          </p:nvSpPr>
          <p:spPr>
            <a:xfrm>
              <a:off x="815975" y="8747760"/>
              <a:ext cx="17018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全面掌握参股企业股权结构、组织架构、人员配置及主体资质等基础信息，确保底数详实无遗漏。</a:t>
              </a:r>
              <a:endParaRPr lang="en-US" sz="1100" dirty="0">
                <a:solidFill>
                  <a:srgbClr val="152A8C"/>
                </a:solidFill>
                <a:latin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245612" y="2811108"/>
            <a:ext cx="1955800" cy="1620000"/>
            <a:chOff x="2847975" y="7985760"/>
            <a:chExt cx="1955800" cy="1778000"/>
          </a:xfrm>
        </p:grpSpPr>
        <p:sp>
          <p:nvSpPr>
            <p:cNvPr id="11" name="AutoShape 12"/>
            <p:cNvSpPr/>
            <p:nvPr/>
          </p:nvSpPr>
          <p:spPr>
            <a:xfrm>
              <a:off x="2847975" y="7985760"/>
              <a:ext cx="1955800" cy="17780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4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12" name="AutoShape 13"/>
            <p:cNvSpPr/>
            <p:nvPr/>
          </p:nvSpPr>
          <p:spPr>
            <a:xfrm>
              <a:off x="2847975" y="7985760"/>
              <a:ext cx="1955800" cy="508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13" name="AutoShape 14"/>
            <p:cNvSpPr/>
            <p:nvPr/>
          </p:nvSpPr>
          <p:spPr>
            <a:xfrm>
              <a:off x="2974975" y="8176260"/>
              <a:ext cx="17018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02 </a:t>
              </a:r>
              <a:r>
                <a:rPr lang="en-US" altLang="zh-CN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财务状况清</a:t>
              </a:r>
              <a:endParaRPr lang="en-US" sz="1400" b="1" dirty="0">
                <a:solidFill>
                  <a:srgbClr val="152A8C"/>
                </a:solidFill>
                <a:latin typeface="+mn-ea"/>
              </a:endParaRPr>
            </a:p>
          </p:txBody>
        </p:sp>
        <p:cxnSp>
          <p:nvCxnSpPr>
            <p:cNvPr id="14" name="Connector 15"/>
            <p:cNvCxnSpPr/>
            <p:nvPr/>
          </p:nvCxnSpPr>
          <p:spPr>
            <a:xfrm rot="21574346">
              <a:off x="2974999" y="8614410"/>
              <a:ext cx="1701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3366">
                  <a:alpha val="15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5" name="AutoShape 16"/>
            <p:cNvSpPr/>
            <p:nvPr/>
          </p:nvSpPr>
          <p:spPr>
            <a:xfrm>
              <a:off x="2974975" y="8747760"/>
              <a:ext cx="17018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000"/>
                </a:lnSpc>
                <a:defRPr/>
              </a:pPr>
              <a:r>
                <a:rPr lang="en-US" altLang="zh-CN" sz="1200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精准掌握经营指标、年度预算、收益分红及行业对标数据，动态跟踪财务健康与价值创造能力。</a:t>
              </a:r>
              <a:endParaRPr lang="en-US" altLang="zh-CN" sz="1200" dirty="0">
                <a:solidFill>
                  <a:srgbClr val="152A8C"/>
                </a:solidFill>
                <a:latin typeface="+mn-ea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811238" y="2811108"/>
            <a:ext cx="1955800" cy="1620000"/>
            <a:chOff x="5006975" y="7985760"/>
            <a:chExt cx="1955800" cy="1778000"/>
          </a:xfrm>
        </p:grpSpPr>
        <p:sp>
          <p:nvSpPr>
            <p:cNvPr id="16" name="AutoShape 17"/>
            <p:cNvSpPr/>
            <p:nvPr/>
          </p:nvSpPr>
          <p:spPr>
            <a:xfrm>
              <a:off x="5006975" y="7985760"/>
              <a:ext cx="1955800" cy="17780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4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20" name="AutoShape 18"/>
            <p:cNvSpPr/>
            <p:nvPr/>
          </p:nvSpPr>
          <p:spPr>
            <a:xfrm>
              <a:off x="5006975" y="7985760"/>
              <a:ext cx="1955800" cy="508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24" name="AutoShape 19"/>
            <p:cNvSpPr/>
            <p:nvPr/>
          </p:nvSpPr>
          <p:spPr>
            <a:xfrm>
              <a:off x="5133975" y="8176260"/>
              <a:ext cx="17018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03 </a:t>
              </a:r>
              <a:r>
                <a:rPr lang="en-US" altLang="zh-CN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治理行权清</a:t>
              </a:r>
              <a:endParaRPr lang="en-US" sz="1400" b="1" dirty="0">
                <a:solidFill>
                  <a:srgbClr val="152A8C"/>
                </a:solidFill>
                <a:latin typeface="+mn-ea"/>
              </a:endParaRPr>
            </a:p>
          </p:txBody>
        </p:sp>
        <p:cxnSp>
          <p:nvCxnSpPr>
            <p:cNvPr id="25" name="Connector 20"/>
            <p:cNvCxnSpPr/>
            <p:nvPr/>
          </p:nvCxnSpPr>
          <p:spPr>
            <a:xfrm rot="21574346">
              <a:off x="5133999" y="8614410"/>
              <a:ext cx="1701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3366">
                  <a:alpha val="15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8" name="AutoShape 21"/>
            <p:cNvSpPr/>
            <p:nvPr/>
          </p:nvSpPr>
          <p:spPr>
            <a:xfrm>
              <a:off x="5133975" y="8747760"/>
              <a:ext cx="17018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000"/>
                </a:lnSpc>
                <a:defRPr/>
              </a:pPr>
              <a:r>
                <a:rPr lang="en-US" altLang="zh-CN" sz="1200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严格明晰三会运作、董监高履职规范、公司章程及内控规则，确保治理合规与行权有序。</a:t>
              </a:r>
              <a:endParaRPr lang="en-US" altLang="zh-CN" sz="1200" dirty="0">
                <a:solidFill>
                  <a:srgbClr val="152A8C"/>
                </a:solidFill>
                <a:latin typeface="+mn-ea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679986" y="4547652"/>
            <a:ext cx="1955800" cy="1620000"/>
            <a:chOff x="7165975" y="7985760"/>
            <a:chExt cx="1955800" cy="1778000"/>
          </a:xfrm>
        </p:grpSpPr>
        <p:sp>
          <p:nvSpPr>
            <p:cNvPr id="30" name="AutoShape 22"/>
            <p:cNvSpPr/>
            <p:nvPr/>
          </p:nvSpPr>
          <p:spPr>
            <a:xfrm>
              <a:off x="7165975" y="7985760"/>
              <a:ext cx="1955800" cy="17780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4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33" name="AutoShape 23"/>
            <p:cNvSpPr/>
            <p:nvPr/>
          </p:nvSpPr>
          <p:spPr>
            <a:xfrm>
              <a:off x="7165975" y="7985760"/>
              <a:ext cx="1955800" cy="508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36" name="AutoShape 24"/>
            <p:cNvSpPr/>
            <p:nvPr/>
          </p:nvSpPr>
          <p:spPr>
            <a:xfrm>
              <a:off x="7292975" y="8176260"/>
              <a:ext cx="17018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04</a:t>
              </a:r>
              <a:r>
                <a:rPr lang="zh-CN" altLang="en-US" sz="1400" b="1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产业</a:t>
              </a:r>
              <a:r>
                <a:rPr lang="en-US" altLang="zh-CN" sz="1400" b="1" dirty="0" err="1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协同清</a:t>
              </a:r>
              <a:endParaRPr lang="en-US" sz="1050" dirty="0">
                <a:solidFill>
                  <a:srgbClr val="152A8C"/>
                </a:solidFill>
                <a:latin typeface="+mn-ea"/>
              </a:endParaRPr>
            </a:p>
          </p:txBody>
        </p:sp>
        <p:cxnSp>
          <p:nvCxnSpPr>
            <p:cNvPr id="37" name="Connector 25"/>
            <p:cNvCxnSpPr/>
            <p:nvPr/>
          </p:nvCxnSpPr>
          <p:spPr>
            <a:xfrm rot="21574346">
              <a:off x="7292999" y="8614410"/>
              <a:ext cx="1701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3366">
                  <a:alpha val="15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38" name="AutoShape 26"/>
            <p:cNvSpPr/>
            <p:nvPr/>
          </p:nvSpPr>
          <p:spPr>
            <a:xfrm>
              <a:off x="7292975" y="8747760"/>
              <a:ext cx="17018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000"/>
                </a:lnSpc>
                <a:defRPr/>
              </a:pPr>
              <a:r>
                <a:rPr lang="en-US" altLang="zh-CN" sz="1200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深度把控产业联动、资源整合、技术赋能及降本提效等事项，推动战略意图精准落地与协同发展。</a:t>
              </a:r>
              <a:endParaRPr lang="en-US" altLang="zh-CN" sz="1200" dirty="0">
                <a:solidFill>
                  <a:srgbClr val="152A8C"/>
                </a:solidFill>
                <a:latin typeface="+mn-ea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245612" y="4547652"/>
            <a:ext cx="1955800" cy="1620000"/>
            <a:chOff x="9248775" y="7985760"/>
            <a:chExt cx="1955800" cy="1778000"/>
          </a:xfrm>
        </p:grpSpPr>
        <p:sp>
          <p:nvSpPr>
            <p:cNvPr id="39" name="AutoShape 27"/>
            <p:cNvSpPr/>
            <p:nvPr/>
          </p:nvSpPr>
          <p:spPr>
            <a:xfrm>
              <a:off x="9248775" y="7985760"/>
              <a:ext cx="1955800" cy="17780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4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40" name="AutoShape 28"/>
            <p:cNvSpPr/>
            <p:nvPr/>
          </p:nvSpPr>
          <p:spPr>
            <a:xfrm>
              <a:off x="9248775" y="7985760"/>
              <a:ext cx="1955800" cy="508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41" name="AutoShape 29"/>
            <p:cNvSpPr/>
            <p:nvPr/>
          </p:nvSpPr>
          <p:spPr>
            <a:xfrm>
              <a:off x="9375775" y="8176260"/>
              <a:ext cx="17018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05 </a:t>
              </a:r>
              <a:r>
                <a:rPr lang="en-US" altLang="zh-CN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风险隐患清</a:t>
              </a:r>
              <a:endParaRPr lang="en-US" sz="1400" b="1" dirty="0">
                <a:solidFill>
                  <a:srgbClr val="152A8C"/>
                </a:solidFill>
                <a:latin typeface="+mn-ea"/>
              </a:endParaRPr>
            </a:p>
          </p:txBody>
        </p:sp>
        <p:cxnSp>
          <p:nvCxnSpPr>
            <p:cNvPr id="44" name="Connector 30"/>
            <p:cNvCxnSpPr/>
            <p:nvPr/>
          </p:nvCxnSpPr>
          <p:spPr>
            <a:xfrm rot="21574346">
              <a:off x="9375799" y="8614410"/>
              <a:ext cx="1701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3366">
                  <a:alpha val="15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AutoShape 31"/>
            <p:cNvSpPr/>
            <p:nvPr/>
          </p:nvSpPr>
          <p:spPr>
            <a:xfrm>
              <a:off x="9375775" y="8747760"/>
              <a:ext cx="17018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000"/>
                </a:lnSpc>
                <a:defRPr/>
              </a:pPr>
              <a:r>
                <a:rPr lang="en-US" altLang="zh-CN" sz="1200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全面排查经营短板、历史遗留问题及潜在风险点，制定闭环处置举措，筑牢风险防控底线。</a:t>
              </a:r>
              <a:endParaRPr lang="en-US" altLang="zh-CN" sz="1200" dirty="0">
                <a:solidFill>
                  <a:srgbClr val="152A8C"/>
                </a:solidFill>
                <a:latin typeface="+mn-ea"/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651867" y="2411869"/>
            <a:ext cx="3023535" cy="504000"/>
            <a:chOff x="946266" y="2145390"/>
            <a:chExt cx="3023535" cy="504000"/>
          </a:xfrm>
        </p:grpSpPr>
        <p:sp>
          <p:nvSpPr>
            <p:cNvPr id="116" name="Rectangle 51"/>
            <p:cNvSpPr/>
            <p:nvPr/>
          </p:nvSpPr>
          <p:spPr>
            <a:xfrm>
              <a:off x="946266" y="2145390"/>
              <a:ext cx="3023535" cy="504000"/>
            </a:xfrm>
            <a:prstGeom prst="rect">
              <a:avLst/>
            </a:prstGeom>
            <a:gradFill flip="none" rotWithShape="1">
              <a:gsLst>
                <a:gs pos="0">
                  <a:srgbClr val="B3E7FF"/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/>
          </p:spPr>
          <p:txBody>
            <a:bodyPr vert="horz"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</a:endParaRPr>
            </a:p>
          </p:txBody>
        </p:sp>
        <p:sp>
          <p:nvSpPr>
            <p:cNvPr id="117" name="TextBox 18"/>
            <p:cNvSpPr txBox="1"/>
            <p:nvPr/>
          </p:nvSpPr>
          <p:spPr>
            <a:xfrm>
              <a:off x="2047664" y="2286591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212121"/>
                  </a:solidFill>
                  <a:latin typeface="RB Office" panose="00000600000000000000" pitchFamily="2" charset="0"/>
                  <a:cs typeface="Calibri" panose="020F0502020204030204"/>
                  <a:sym typeface="+mn-lt"/>
                </a:rPr>
                <a:t>战略管理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776414" y="2397693"/>
            <a:ext cx="502152" cy="487743"/>
            <a:chOff x="4588737" y="1525192"/>
            <a:chExt cx="502152" cy="487743"/>
          </a:xfrm>
        </p:grpSpPr>
        <p:grpSp>
          <p:nvGrpSpPr>
            <p:cNvPr id="135" name="Group 28"/>
            <p:cNvGrpSpPr/>
            <p:nvPr/>
          </p:nvGrpSpPr>
          <p:grpSpPr bwMode="auto">
            <a:xfrm>
              <a:off x="4588737" y="1525192"/>
              <a:ext cx="502152" cy="487743"/>
              <a:chOff x="4452938" y="3930020"/>
              <a:chExt cx="2056229" cy="1997251"/>
            </a:xfrm>
            <a:solidFill>
              <a:srgbClr val="000050"/>
            </a:solidFill>
          </p:grpSpPr>
          <p:sp>
            <p:nvSpPr>
              <p:cNvPr id="144" name="Hexagon 30"/>
              <p:cNvSpPr/>
              <p:nvPr/>
            </p:nvSpPr>
            <p:spPr bwMode="auto">
              <a:xfrm>
                <a:off x="4502150" y="4063552"/>
                <a:ext cx="2007017" cy="1730187"/>
              </a:xfrm>
              <a:prstGeom prst="hexagon">
                <a:avLst>
                  <a:gd name="adj" fmla="val 29167"/>
                  <a:gd name="vf" fmla="val 115470"/>
                </a:avLst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5" name="Freeform: Shape 31"/>
              <p:cNvSpPr/>
              <p:nvPr/>
            </p:nvSpPr>
            <p:spPr bwMode="auto">
              <a:xfrm>
                <a:off x="4636594" y="3930020"/>
                <a:ext cx="1738128" cy="1997251"/>
              </a:xfrm>
              <a:custGeom>
                <a:avLst/>
                <a:gdLst>
                  <a:gd name="connsiteX0" fmla="*/ 869582 w 1738128"/>
                  <a:gd name="connsiteY0" fmla="*/ 0 h 1997251"/>
                  <a:gd name="connsiteX1" fmla="*/ 1733641 w 1738128"/>
                  <a:gd name="connsiteY1" fmla="*/ 498865 h 1997251"/>
                  <a:gd name="connsiteX2" fmla="*/ 1738128 w 1738128"/>
                  <a:gd name="connsiteY2" fmla="*/ 1500380 h 1997251"/>
                  <a:gd name="connsiteX3" fmla="*/ 868547 w 1738128"/>
                  <a:gd name="connsiteY3" fmla="*/ 1997251 h 1997251"/>
                  <a:gd name="connsiteX4" fmla="*/ 4488 w 1738128"/>
                  <a:gd name="connsiteY4" fmla="*/ 1498386 h 1997251"/>
                  <a:gd name="connsiteX5" fmla="*/ 0 w 1738128"/>
                  <a:gd name="connsiteY5" fmla="*/ 496871 h 199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38128" h="1997251">
                    <a:moveTo>
                      <a:pt x="869582" y="0"/>
                    </a:moveTo>
                    <a:lnTo>
                      <a:pt x="1733641" y="498865"/>
                    </a:lnTo>
                    <a:lnTo>
                      <a:pt x="1738128" y="1500380"/>
                    </a:lnTo>
                    <a:lnTo>
                      <a:pt x="868547" y="1997251"/>
                    </a:lnTo>
                    <a:lnTo>
                      <a:pt x="4488" y="1498386"/>
                    </a:lnTo>
                    <a:lnTo>
                      <a:pt x="0" y="496871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6" name="Freeform: Shape 32"/>
              <p:cNvSpPr/>
              <p:nvPr/>
            </p:nvSpPr>
            <p:spPr bwMode="auto">
              <a:xfrm>
                <a:off x="4452938" y="4233863"/>
                <a:ext cx="300037" cy="266700"/>
              </a:xfrm>
              <a:custGeom>
                <a:avLst/>
                <a:gdLst>
                  <a:gd name="connsiteX0" fmla="*/ 0 w 300037"/>
                  <a:gd name="connsiteY0" fmla="*/ 47625 h 266700"/>
                  <a:gd name="connsiteX1" fmla="*/ 300037 w 300037"/>
                  <a:gd name="connsiteY1" fmla="*/ 0 h 266700"/>
                  <a:gd name="connsiteX2" fmla="*/ 85725 w 300037"/>
                  <a:gd name="connsiteY2" fmla="*/ 114300 h 266700"/>
                  <a:gd name="connsiteX3" fmla="*/ 90487 w 300037"/>
                  <a:gd name="connsiteY3" fmla="*/ 266700 h 266700"/>
                  <a:gd name="connsiteX4" fmla="*/ 0 w 300037"/>
                  <a:gd name="connsiteY4" fmla="*/ 47625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37" h="266700">
                    <a:moveTo>
                      <a:pt x="0" y="47625"/>
                    </a:moveTo>
                    <a:lnTo>
                      <a:pt x="300037" y="0"/>
                    </a:lnTo>
                    <a:lnTo>
                      <a:pt x="85725" y="114300"/>
                    </a:lnTo>
                    <a:lnTo>
                      <a:pt x="90487" y="26670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7" name="Freeform: Shape 33"/>
              <p:cNvSpPr/>
              <p:nvPr/>
            </p:nvSpPr>
            <p:spPr bwMode="auto">
              <a:xfrm>
                <a:off x="6276975" y="5281613"/>
                <a:ext cx="209550" cy="271462"/>
              </a:xfrm>
              <a:custGeom>
                <a:avLst/>
                <a:gdLst>
                  <a:gd name="connsiteX0" fmla="*/ 180975 w 209550"/>
                  <a:gd name="connsiteY0" fmla="*/ 0 h 271462"/>
                  <a:gd name="connsiteX1" fmla="*/ 209550 w 209550"/>
                  <a:gd name="connsiteY1" fmla="*/ 223837 h 271462"/>
                  <a:gd name="connsiteX2" fmla="*/ 0 w 209550"/>
                  <a:gd name="connsiteY2" fmla="*/ 271462 h 271462"/>
                  <a:gd name="connsiteX3" fmla="*/ 166688 w 209550"/>
                  <a:gd name="connsiteY3" fmla="*/ 157162 h 271462"/>
                  <a:gd name="connsiteX4" fmla="*/ 180975 w 209550"/>
                  <a:gd name="connsiteY4" fmla="*/ 0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0" h="271462">
                    <a:moveTo>
                      <a:pt x="180975" y="0"/>
                    </a:moveTo>
                    <a:lnTo>
                      <a:pt x="209550" y="223837"/>
                    </a:lnTo>
                    <a:lnTo>
                      <a:pt x="0" y="271462"/>
                    </a:lnTo>
                    <a:lnTo>
                      <a:pt x="166688" y="157162"/>
                    </a:lnTo>
                    <a:lnTo>
                      <a:pt x="180975" y="0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136" name="Group 4"/>
            <p:cNvGrpSpPr>
              <a:grpSpLocks noChangeAspect="1"/>
            </p:cNvGrpSpPr>
            <p:nvPr/>
          </p:nvGrpSpPr>
          <p:grpSpPr bwMode="auto">
            <a:xfrm>
              <a:off x="4707849" y="1613844"/>
              <a:ext cx="263929" cy="305677"/>
              <a:chOff x="1975" y="0"/>
              <a:chExt cx="3730" cy="4320"/>
            </a:xfrm>
            <a:solidFill>
              <a:srgbClr val="FFFFFF"/>
            </a:solidFill>
          </p:grpSpPr>
          <p:sp>
            <p:nvSpPr>
              <p:cNvPr id="137" name="Oval 5"/>
              <p:cNvSpPr>
                <a:spLocks noChangeArrowheads="1"/>
              </p:cNvSpPr>
              <p:nvPr/>
            </p:nvSpPr>
            <p:spPr bwMode="auto">
              <a:xfrm>
                <a:off x="3389" y="0"/>
                <a:ext cx="903" cy="90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38" name="Freeform 6"/>
              <p:cNvSpPr/>
              <p:nvPr/>
            </p:nvSpPr>
            <p:spPr bwMode="auto">
              <a:xfrm>
                <a:off x="3070" y="1074"/>
                <a:ext cx="1540" cy="2791"/>
              </a:xfrm>
              <a:custGeom>
                <a:avLst/>
                <a:gdLst>
                  <a:gd name="T0" fmla="*/ 808 w 808"/>
                  <a:gd name="T1" fmla="*/ 636 h 1465"/>
                  <a:gd name="T2" fmla="*/ 808 w 808"/>
                  <a:gd name="T3" fmla="*/ 223 h 1465"/>
                  <a:gd name="T4" fmla="*/ 664 w 808"/>
                  <a:gd name="T5" fmla="*/ 24 h 1465"/>
                  <a:gd name="T6" fmla="*/ 664 w 808"/>
                  <a:gd name="T7" fmla="*/ 24 h 1465"/>
                  <a:gd name="T8" fmla="*/ 596 w 808"/>
                  <a:gd name="T9" fmla="*/ 4 h 1465"/>
                  <a:gd name="T10" fmla="*/ 570 w 808"/>
                  <a:gd name="T11" fmla="*/ 16 h 1465"/>
                  <a:gd name="T12" fmla="*/ 428 w 808"/>
                  <a:gd name="T13" fmla="*/ 406 h 1465"/>
                  <a:gd name="T14" fmla="*/ 380 w 808"/>
                  <a:gd name="T15" fmla="*/ 406 h 1465"/>
                  <a:gd name="T16" fmla="*/ 238 w 808"/>
                  <a:gd name="T17" fmla="*/ 16 h 1465"/>
                  <a:gd name="T18" fmla="*/ 218 w 808"/>
                  <a:gd name="T19" fmla="*/ 3 h 1465"/>
                  <a:gd name="T20" fmla="*/ 144 w 808"/>
                  <a:gd name="T21" fmla="*/ 24 h 1465"/>
                  <a:gd name="T22" fmla="*/ 0 w 808"/>
                  <a:gd name="T23" fmla="*/ 224 h 1465"/>
                  <a:gd name="T24" fmla="*/ 0 w 808"/>
                  <a:gd name="T25" fmla="*/ 636 h 1465"/>
                  <a:gd name="T26" fmla="*/ 4 w 808"/>
                  <a:gd name="T27" fmla="*/ 648 h 1465"/>
                  <a:gd name="T28" fmla="*/ 152 w 808"/>
                  <a:gd name="T29" fmla="*/ 873 h 1465"/>
                  <a:gd name="T30" fmla="*/ 152 w 808"/>
                  <a:gd name="T31" fmla="*/ 1444 h 1465"/>
                  <a:gd name="T32" fmla="*/ 173 w 808"/>
                  <a:gd name="T33" fmla="*/ 1465 h 1465"/>
                  <a:gd name="T34" fmla="*/ 635 w 808"/>
                  <a:gd name="T35" fmla="*/ 1465 h 1465"/>
                  <a:gd name="T36" fmla="*/ 656 w 808"/>
                  <a:gd name="T37" fmla="*/ 1444 h 1465"/>
                  <a:gd name="T38" fmla="*/ 656 w 808"/>
                  <a:gd name="T39" fmla="*/ 873 h 1465"/>
                  <a:gd name="T40" fmla="*/ 804 w 808"/>
                  <a:gd name="T41" fmla="*/ 648 h 1465"/>
                  <a:gd name="T42" fmla="*/ 808 w 808"/>
                  <a:gd name="T43" fmla="*/ 636 h 1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8" h="1465">
                    <a:moveTo>
                      <a:pt x="808" y="636"/>
                    </a:moveTo>
                    <a:cubicBezTo>
                      <a:pt x="808" y="223"/>
                      <a:pt x="808" y="223"/>
                      <a:pt x="808" y="223"/>
                    </a:cubicBezTo>
                    <a:cubicBezTo>
                      <a:pt x="808" y="132"/>
                      <a:pt x="750" y="53"/>
                      <a:pt x="664" y="24"/>
                    </a:cubicBezTo>
                    <a:cubicBezTo>
                      <a:pt x="664" y="24"/>
                      <a:pt x="664" y="24"/>
                      <a:pt x="664" y="24"/>
                    </a:cubicBezTo>
                    <a:cubicBezTo>
                      <a:pt x="596" y="4"/>
                      <a:pt x="596" y="4"/>
                      <a:pt x="596" y="4"/>
                    </a:cubicBezTo>
                    <a:cubicBezTo>
                      <a:pt x="585" y="0"/>
                      <a:pt x="574" y="6"/>
                      <a:pt x="570" y="16"/>
                    </a:cubicBezTo>
                    <a:cubicBezTo>
                      <a:pt x="428" y="406"/>
                      <a:pt x="428" y="406"/>
                      <a:pt x="428" y="406"/>
                    </a:cubicBezTo>
                    <a:cubicBezTo>
                      <a:pt x="420" y="429"/>
                      <a:pt x="388" y="429"/>
                      <a:pt x="380" y="406"/>
                    </a:cubicBezTo>
                    <a:cubicBezTo>
                      <a:pt x="238" y="16"/>
                      <a:pt x="238" y="16"/>
                      <a:pt x="238" y="16"/>
                    </a:cubicBezTo>
                    <a:cubicBezTo>
                      <a:pt x="235" y="8"/>
                      <a:pt x="227" y="3"/>
                      <a:pt x="218" y="3"/>
                    </a:cubicBezTo>
                    <a:cubicBezTo>
                      <a:pt x="216" y="3"/>
                      <a:pt x="144" y="24"/>
                      <a:pt x="144" y="24"/>
                    </a:cubicBezTo>
                    <a:cubicBezTo>
                      <a:pt x="58" y="53"/>
                      <a:pt x="0" y="133"/>
                      <a:pt x="0" y="224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640"/>
                      <a:pt x="2" y="644"/>
                      <a:pt x="4" y="648"/>
                    </a:cubicBezTo>
                    <a:cubicBezTo>
                      <a:pt x="152" y="873"/>
                      <a:pt x="152" y="873"/>
                      <a:pt x="152" y="873"/>
                    </a:cubicBezTo>
                    <a:cubicBezTo>
                      <a:pt x="152" y="1444"/>
                      <a:pt x="152" y="1444"/>
                      <a:pt x="152" y="1444"/>
                    </a:cubicBezTo>
                    <a:cubicBezTo>
                      <a:pt x="152" y="1456"/>
                      <a:pt x="162" y="1465"/>
                      <a:pt x="173" y="1465"/>
                    </a:cubicBezTo>
                    <a:cubicBezTo>
                      <a:pt x="635" y="1465"/>
                      <a:pt x="635" y="1465"/>
                      <a:pt x="635" y="1465"/>
                    </a:cubicBezTo>
                    <a:cubicBezTo>
                      <a:pt x="646" y="1465"/>
                      <a:pt x="656" y="1456"/>
                      <a:pt x="656" y="1444"/>
                    </a:cubicBezTo>
                    <a:cubicBezTo>
                      <a:pt x="656" y="873"/>
                      <a:pt x="656" y="873"/>
                      <a:pt x="656" y="873"/>
                    </a:cubicBezTo>
                    <a:cubicBezTo>
                      <a:pt x="804" y="648"/>
                      <a:pt x="804" y="648"/>
                      <a:pt x="804" y="648"/>
                    </a:cubicBezTo>
                    <a:cubicBezTo>
                      <a:pt x="806" y="644"/>
                      <a:pt x="808" y="640"/>
                      <a:pt x="808" y="6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39" name="Freeform 7"/>
              <p:cNvSpPr/>
              <p:nvPr/>
            </p:nvSpPr>
            <p:spPr bwMode="auto">
              <a:xfrm>
                <a:off x="1975" y="3337"/>
                <a:ext cx="1244" cy="930"/>
              </a:xfrm>
              <a:custGeom>
                <a:avLst/>
                <a:gdLst>
                  <a:gd name="T0" fmla="*/ 244 w 653"/>
                  <a:gd name="T1" fmla="*/ 104 h 488"/>
                  <a:gd name="T2" fmla="*/ 209 w 653"/>
                  <a:gd name="T3" fmla="*/ 15 h 488"/>
                  <a:gd name="T4" fmla="*/ 120 w 653"/>
                  <a:gd name="T5" fmla="*/ 50 h 488"/>
                  <a:gd name="T6" fmla="*/ 15 w 653"/>
                  <a:gd name="T7" fmla="*/ 289 h 488"/>
                  <a:gd name="T8" fmla="*/ 50 w 653"/>
                  <a:gd name="T9" fmla="*/ 378 h 488"/>
                  <a:gd name="T10" fmla="*/ 289 w 653"/>
                  <a:gd name="T11" fmla="*/ 483 h 488"/>
                  <a:gd name="T12" fmla="*/ 316 w 653"/>
                  <a:gd name="T13" fmla="*/ 488 h 488"/>
                  <a:gd name="T14" fmla="*/ 378 w 653"/>
                  <a:gd name="T15" fmla="*/ 448 h 488"/>
                  <a:gd name="T16" fmla="*/ 343 w 653"/>
                  <a:gd name="T17" fmla="*/ 359 h 488"/>
                  <a:gd name="T18" fmla="*/ 253 w 653"/>
                  <a:gd name="T19" fmla="*/ 320 h 488"/>
                  <a:gd name="T20" fmla="*/ 653 w 653"/>
                  <a:gd name="T21" fmla="*/ 164 h 488"/>
                  <a:gd name="T22" fmla="*/ 653 w 653"/>
                  <a:gd name="T23" fmla="*/ 19 h 488"/>
                  <a:gd name="T24" fmla="*/ 204 w 653"/>
                  <a:gd name="T25" fmla="*/ 194 h 488"/>
                  <a:gd name="T26" fmla="*/ 244 w 653"/>
                  <a:gd name="T27" fmla="*/ 10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3" h="488">
                    <a:moveTo>
                      <a:pt x="244" y="104"/>
                    </a:moveTo>
                    <a:cubicBezTo>
                      <a:pt x="258" y="70"/>
                      <a:pt x="243" y="30"/>
                      <a:pt x="209" y="15"/>
                    </a:cubicBezTo>
                    <a:cubicBezTo>
                      <a:pt x="175" y="0"/>
                      <a:pt x="135" y="16"/>
                      <a:pt x="120" y="50"/>
                    </a:cubicBezTo>
                    <a:cubicBezTo>
                      <a:pt x="15" y="289"/>
                      <a:pt x="15" y="289"/>
                      <a:pt x="15" y="289"/>
                    </a:cubicBezTo>
                    <a:cubicBezTo>
                      <a:pt x="0" y="323"/>
                      <a:pt x="16" y="363"/>
                      <a:pt x="50" y="378"/>
                    </a:cubicBezTo>
                    <a:cubicBezTo>
                      <a:pt x="289" y="483"/>
                      <a:pt x="289" y="483"/>
                      <a:pt x="289" y="483"/>
                    </a:cubicBezTo>
                    <a:cubicBezTo>
                      <a:pt x="298" y="486"/>
                      <a:pt x="307" y="488"/>
                      <a:pt x="316" y="488"/>
                    </a:cubicBezTo>
                    <a:cubicBezTo>
                      <a:pt x="342" y="488"/>
                      <a:pt x="367" y="473"/>
                      <a:pt x="378" y="448"/>
                    </a:cubicBezTo>
                    <a:cubicBezTo>
                      <a:pt x="393" y="414"/>
                      <a:pt x="377" y="374"/>
                      <a:pt x="343" y="359"/>
                    </a:cubicBezTo>
                    <a:cubicBezTo>
                      <a:pt x="253" y="320"/>
                      <a:pt x="253" y="320"/>
                      <a:pt x="253" y="320"/>
                    </a:cubicBezTo>
                    <a:cubicBezTo>
                      <a:pt x="653" y="164"/>
                      <a:pt x="653" y="164"/>
                      <a:pt x="653" y="164"/>
                    </a:cubicBezTo>
                    <a:cubicBezTo>
                      <a:pt x="653" y="19"/>
                      <a:pt x="653" y="19"/>
                      <a:pt x="653" y="19"/>
                    </a:cubicBezTo>
                    <a:cubicBezTo>
                      <a:pt x="204" y="194"/>
                      <a:pt x="204" y="194"/>
                      <a:pt x="204" y="194"/>
                    </a:cubicBezTo>
                    <a:cubicBezTo>
                      <a:pt x="244" y="104"/>
                      <a:pt x="244" y="104"/>
                      <a:pt x="244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40" name="Freeform 8"/>
              <p:cNvSpPr/>
              <p:nvPr/>
            </p:nvSpPr>
            <p:spPr bwMode="auto">
              <a:xfrm>
                <a:off x="2005" y="2202"/>
                <a:ext cx="1214" cy="935"/>
              </a:xfrm>
              <a:custGeom>
                <a:avLst/>
                <a:gdLst>
                  <a:gd name="T0" fmla="*/ 344 w 637"/>
                  <a:gd name="T1" fmla="*/ 139 h 491"/>
                  <a:gd name="T2" fmla="*/ 383 w 637"/>
                  <a:gd name="T3" fmla="*/ 52 h 491"/>
                  <a:gd name="T4" fmla="*/ 295 w 637"/>
                  <a:gd name="T5" fmla="*/ 14 h 491"/>
                  <a:gd name="T6" fmla="*/ 52 w 637"/>
                  <a:gd name="T7" fmla="*/ 108 h 491"/>
                  <a:gd name="T8" fmla="*/ 14 w 637"/>
                  <a:gd name="T9" fmla="*/ 196 h 491"/>
                  <a:gd name="T10" fmla="*/ 109 w 637"/>
                  <a:gd name="T11" fmla="*/ 439 h 491"/>
                  <a:gd name="T12" fmla="*/ 171 w 637"/>
                  <a:gd name="T13" fmla="*/ 482 h 491"/>
                  <a:gd name="T14" fmla="*/ 196 w 637"/>
                  <a:gd name="T15" fmla="*/ 477 h 491"/>
                  <a:gd name="T16" fmla="*/ 234 w 637"/>
                  <a:gd name="T17" fmla="*/ 390 h 491"/>
                  <a:gd name="T18" fmla="*/ 198 w 637"/>
                  <a:gd name="T19" fmla="*/ 298 h 491"/>
                  <a:gd name="T20" fmla="*/ 637 w 637"/>
                  <a:gd name="T21" fmla="*/ 491 h 491"/>
                  <a:gd name="T22" fmla="*/ 637 w 637"/>
                  <a:gd name="T23" fmla="*/ 344 h 491"/>
                  <a:gd name="T24" fmla="*/ 252 w 637"/>
                  <a:gd name="T25" fmla="*/ 175 h 491"/>
                  <a:gd name="T26" fmla="*/ 344 w 637"/>
                  <a:gd name="T27" fmla="*/ 139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7" h="491">
                    <a:moveTo>
                      <a:pt x="344" y="139"/>
                    </a:moveTo>
                    <a:cubicBezTo>
                      <a:pt x="379" y="125"/>
                      <a:pt x="396" y="86"/>
                      <a:pt x="383" y="52"/>
                    </a:cubicBezTo>
                    <a:cubicBezTo>
                      <a:pt x="369" y="17"/>
                      <a:pt x="330" y="0"/>
                      <a:pt x="295" y="14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18" y="122"/>
                      <a:pt x="0" y="161"/>
                      <a:pt x="14" y="196"/>
                    </a:cubicBezTo>
                    <a:cubicBezTo>
                      <a:pt x="109" y="439"/>
                      <a:pt x="109" y="439"/>
                      <a:pt x="109" y="439"/>
                    </a:cubicBezTo>
                    <a:cubicBezTo>
                      <a:pt x="119" y="465"/>
                      <a:pt x="144" y="482"/>
                      <a:pt x="171" y="482"/>
                    </a:cubicBezTo>
                    <a:cubicBezTo>
                      <a:pt x="180" y="482"/>
                      <a:pt x="188" y="480"/>
                      <a:pt x="196" y="477"/>
                    </a:cubicBezTo>
                    <a:cubicBezTo>
                      <a:pt x="230" y="464"/>
                      <a:pt x="248" y="425"/>
                      <a:pt x="234" y="390"/>
                    </a:cubicBezTo>
                    <a:cubicBezTo>
                      <a:pt x="198" y="298"/>
                      <a:pt x="198" y="298"/>
                      <a:pt x="198" y="298"/>
                    </a:cubicBezTo>
                    <a:cubicBezTo>
                      <a:pt x="637" y="491"/>
                      <a:pt x="637" y="491"/>
                      <a:pt x="637" y="491"/>
                    </a:cubicBezTo>
                    <a:cubicBezTo>
                      <a:pt x="637" y="344"/>
                      <a:pt x="637" y="344"/>
                      <a:pt x="637" y="344"/>
                    </a:cubicBezTo>
                    <a:cubicBezTo>
                      <a:pt x="252" y="175"/>
                      <a:pt x="252" y="175"/>
                      <a:pt x="252" y="175"/>
                    </a:cubicBezTo>
                    <a:cubicBezTo>
                      <a:pt x="344" y="139"/>
                      <a:pt x="344" y="139"/>
                      <a:pt x="344" y="1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41" name="Freeform 9"/>
              <p:cNvSpPr/>
              <p:nvPr/>
            </p:nvSpPr>
            <p:spPr bwMode="auto">
              <a:xfrm>
                <a:off x="4461" y="3402"/>
                <a:ext cx="1214" cy="918"/>
              </a:xfrm>
              <a:custGeom>
                <a:avLst/>
                <a:gdLst>
                  <a:gd name="T0" fmla="*/ 528 w 637"/>
                  <a:gd name="T1" fmla="*/ 52 h 482"/>
                  <a:gd name="T2" fmla="*/ 441 w 637"/>
                  <a:gd name="T3" fmla="*/ 14 h 482"/>
                  <a:gd name="T4" fmla="*/ 403 w 637"/>
                  <a:gd name="T5" fmla="*/ 101 h 482"/>
                  <a:gd name="T6" fmla="*/ 439 w 637"/>
                  <a:gd name="T7" fmla="*/ 193 h 482"/>
                  <a:gd name="T8" fmla="*/ 0 w 637"/>
                  <a:gd name="T9" fmla="*/ 0 h 482"/>
                  <a:gd name="T10" fmla="*/ 0 w 637"/>
                  <a:gd name="T11" fmla="*/ 147 h 482"/>
                  <a:gd name="T12" fmla="*/ 385 w 637"/>
                  <a:gd name="T13" fmla="*/ 316 h 482"/>
                  <a:gd name="T14" fmla="*/ 293 w 637"/>
                  <a:gd name="T15" fmla="*/ 352 h 482"/>
                  <a:gd name="T16" fmla="*/ 254 w 637"/>
                  <a:gd name="T17" fmla="*/ 439 h 482"/>
                  <a:gd name="T18" fmla="*/ 317 w 637"/>
                  <a:gd name="T19" fmla="*/ 482 h 482"/>
                  <a:gd name="T20" fmla="*/ 342 w 637"/>
                  <a:gd name="T21" fmla="*/ 477 h 482"/>
                  <a:gd name="T22" fmla="*/ 585 w 637"/>
                  <a:gd name="T23" fmla="*/ 382 h 482"/>
                  <a:gd name="T24" fmla="*/ 623 w 637"/>
                  <a:gd name="T25" fmla="*/ 295 h 482"/>
                  <a:gd name="T26" fmla="*/ 528 w 637"/>
                  <a:gd name="T27" fmla="*/ 52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7" h="482">
                    <a:moveTo>
                      <a:pt x="528" y="52"/>
                    </a:moveTo>
                    <a:cubicBezTo>
                      <a:pt x="515" y="17"/>
                      <a:pt x="476" y="0"/>
                      <a:pt x="441" y="14"/>
                    </a:cubicBezTo>
                    <a:cubicBezTo>
                      <a:pt x="407" y="27"/>
                      <a:pt x="389" y="66"/>
                      <a:pt x="403" y="101"/>
                    </a:cubicBezTo>
                    <a:cubicBezTo>
                      <a:pt x="439" y="193"/>
                      <a:pt x="439" y="193"/>
                      <a:pt x="439" y="19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385" y="316"/>
                      <a:pt x="385" y="316"/>
                      <a:pt x="385" y="316"/>
                    </a:cubicBezTo>
                    <a:cubicBezTo>
                      <a:pt x="293" y="352"/>
                      <a:pt x="293" y="352"/>
                      <a:pt x="293" y="352"/>
                    </a:cubicBezTo>
                    <a:cubicBezTo>
                      <a:pt x="258" y="365"/>
                      <a:pt x="241" y="404"/>
                      <a:pt x="254" y="439"/>
                    </a:cubicBezTo>
                    <a:cubicBezTo>
                      <a:pt x="265" y="466"/>
                      <a:pt x="290" y="482"/>
                      <a:pt x="317" y="482"/>
                    </a:cubicBezTo>
                    <a:cubicBezTo>
                      <a:pt x="325" y="482"/>
                      <a:pt x="334" y="480"/>
                      <a:pt x="342" y="477"/>
                    </a:cubicBezTo>
                    <a:cubicBezTo>
                      <a:pt x="585" y="382"/>
                      <a:pt x="585" y="382"/>
                      <a:pt x="585" y="382"/>
                    </a:cubicBezTo>
                    <a:cubicBezTo>
                      <a:pt x="619" y="369"/>
                      <a:pt x="637" y="330"/>
                      <a:pt x="623" y="295"/>
                    </a:cubicBezTo>
                    <a:cubicBezTo>
                      <a:pt x="528" y="52"/>
                      <a:pt x="528" y="52"/>
                      <a:pt x="5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42" name="Freeform 10"/>
              <p:cNvSpPr/>
              <p:nvPr/>
            </p:nvSpPr>
            <p:spPr bwMode="auto">
              <a:xfrm>
                <a:off x="4461" y="2253"/>
                <a:ext cx="1244" cy="930"/>
              </a:xfrm>
              <a:custGeom>
                <a:avLst/>
                <a:gdLst>
                  <a:gd name="T0" fmla="*/ 603 w 653"/>
                  <a:gd name="T1" fmla="*/ 120 h 488"/>
                  <a:gd name="T2" fmla="*/ 364 w 653"/>
                  <a:gd name="T3" fmla="*/ 15 h 488"/>
                  <a:gd name="T4" fmla="*/ 275 w 653"/>
                  <a:gd name="T5" fmla="*/ 50 h 488"/>
                  <a:gd name="T6" fmla="*/ 310 w 653"/>
                  <a:gd name="T7" fmla="*/ 138 h 488"/>
                  <a:gd name="T8" fmla="*/ 400 w 653"/>
                  <a:gd name="T9" fmla="*/ 178 h 488"/>
                  <a:gd name="T10" fmla="*/ 0 w 653"/>
                  <a:gd name="T11" fmla="*/ 334 h 488"/>
                  <a:gd name="T12" fmla="*/ 0 w 653"/>
                  <a:gd name="T13" fmla="*/ 478 h 488"/>
                  <a:gd name="T14" fmla="*/ 449 w 653"/>
                  <a:gd name="T15" fmla="*/ 304 h 488"/>
                  <a:gd name="T16" fmla="*/ 409 w 653"/>
                  <a:gd name="T17" fmla="*/ 394 h 488"/>
                  <a:gd name="T18" fmla="*/ 444 w 653"/>
                  <a:gd name="T19" fmla="*/ 483 h 488"/>
                  <a:gd name="T20" fmla="*/ 471 w 653"/>
                  <a:gd name="T21" fmla="*/ 488 h 488"/>
                  <a:gd name="T22" fmla="*/ 533 w 653"/>
                  <a:gd name="T23" fmla="*/ 448 h 488"/>
                  <a:gd name="T24" fmla="*/ 638 w 653"/>
                  <a:gd name="T25" fmla="*/ 209 h 488"/>
                  <a:gd name="T26" fmla="*/ 603 w 653"/>
                  <a:gd name="T27" fmla="*/ 12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3" h="488">
                    <a:moveTo>
                      <a:pt x="603" y="120"/>
                    </a:moveTo>
                    <a:cubicBezTo>
                      <a:pt x="364" y="15"/>
                      <a:pt x="364" y="15"/>
                      <a:pt x="364" y="15"/>
                    </a:cubicBezTo>
                    <a:cubicBezTo>
                      <a:pt x="330" y="0"/>
                      <a:pt x="290" y="16"/>
                      <a:pt x="275" y="50"/>
                    </a:cubicBezTo>
                    <a:cubicBezTo>
                      <a:pt x="260" y="84"/>
                      <a:pt x="276" y="124"/>
                      <a:pt x="310" y="138"/>
                    </a:cubicBezTo>
                    <a:cubicBezTo>
                      <a:pt x="400" y="178"/>
                      <a:pt x="400" y="178"/>
                      <a:pt x="400" y="178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449" y="304"/>
                      <a:pt x="449" y="304"/>
                      <a:pt x="449" y="304"/>
                    </a:cubicBezTo>
                    <a:cubicBezTo>
                      <a:pt x="409" y="394"/>
                      <a:pt x="409" y="394"/>
                      <a:pt x="409" y="394"/>
                    </a:cubicBezTo>
                    <a:cubicBezTo>
                      <a:pt x="395" y="428"/>
                      <a:pt x="410" y="468"/>
                      <a:pt x="444" y="483"/>
                    </a:cubicBezTo>
                    <a:cubicBezTo>
                      <a:pt x="453" y="486"/>
                      <a:pt x="462" y="488"/>
                      <a:pt x="471" y="488"/>
                    </a:cubicBezTo>
                    <a:cubicBezTo>
                      <a:pt x="497" y="488"/>
                      <a:pt x="522" y="473"/>
                      <a:pt x="533" y="448"/>
                    </a:cubicBezTo>
                    <a:cubicBezTo>
                      <a:pt x="638" y="209"/>
                      <a:pt x="638" y="209"/>
                      <a:pt x="638" y="209"/>
                    </a:cubicBezTo>
                    <a:cubicBezTo>
                      <a:pt x="653" y="175"/>
                      <a:pt x="637" y="135"/>
                      <a:pt x="603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43" name="Freeform 11"/>
              <p:cNvSpPr/>
              <p:nvPr/>
            </p:nvSpPr>
            <p:spPr bwMode="auto">
              <a:xfrm>
                <a:off x="3718" y="1078"/>
                <a:ext cx="244" cy="606"/>
              </a:xfrm>
              <a:custGeom>
                <a:avLst/>
                <a:gdLst>
                  <a:gd name="T0" fmla="*/ 118 w 128"/>
                  <a:gd name="T1" fmla="*/ 9 h 318"/>
                  <a:gd name="T2" fmla="*/ 95 w 128"/>
                  <a:gd name="T3" fmla="*/ 0 h 318"/>
                  <a:gd name="T4" fmla="*/ 33 w 128"/>
                  <a:gd name="T5" fmla="*/ 0 h 318"/>
                  <a:gd name="T6" fmla="*/ 10 w 128"/>
                  <a:gd name="T7" fmla="*/ 9 h 318"/>
                  <a:gd name="T8" fmla="*/ 6 w 128"/>
                  <a:gd name="T9" fmla="*/ 44 h 318"/>
                  <a:gd name="T10" fmla="*/ 40 w 128"/>
                  <a:gd name="T11" fmla="*/ 94 h 318"/>
                  <a:gd name="T12" fmla="*/ 24 w 128"/>
                  <a:gd name="T13" fmla="*/ 227 h 318"/>
                  <a:gd name="T14" fmla="*/ 55 w 128"/>
                  <a:gd name="T15" fmla="*/ 310 h 318"/>
                  <a:gd name="T16" fmla="*/ 73 w 128"/>
                  <a:gd name="T17" fmla="*/ 310 h 318"/>
                  <a:gd name="T18" fmla="*/ 104 w 128"/>
                  <a:gd name="T19" fmla="*/ 227 h 318"/>
                  <a:gd name="T20" fmla="*/ 88 w 128"/>
                  <a:gd name="T21" fmla="*/ 94 h 318"/>
                  <a:gd name="T22" fmla="*/ 122 w 128"/>
                  <a:gd name="T23" fmla="*/ 44 h 318"/>
                  <a:gd name="T24" fmla="*/ 118 w 128"/>
                  <a:gd name="T25" fmla="*/ 9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318">
                    <a:moveTo>
                      <a:pt x="118" y="9"/>
                    </a:moveTo>
                    <a:cubicBezTo>
                      <a:pt x="112" y="3"/>
                      <a:pt x="104" y="0"/>
                      <a:pt x="95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4" y="0"/>
                      <a:pt x="16" y="3"/>
                      <a:pt x="10" y="9"/>
                    </a:cubicBezTo>
                    <a:cubicBezTo>
                      <a:pt x="1" y="19"/>
                      <a:pt x="0" y="33"/>
                      <a:pt x="6" y="44"/>
                    </a:cubicBezTo>
                    <a:cubicBezTo>
                      <a:pt x="40" y="94"/>
                      <a:pt x="40" y="94"/>
                      <a:pt x="40" y="94"/>
                    </a:cubicBezTo>
                    <a:cubicBezTo>
                      <a:pt x="24" y="227"/>
                      <a:pt x="24" y="227"/>
                      <a:pt x="24" y="227"/>
                    </a:cubicBezTo>
                    <a:cubicBezTo>
                      <a:pt x="55" y="310"/>
                      <a:pt x="55" y="310"/>
                      <a:pt x="55" y="310"/>
                    </a:cubicBezTo>
                    <a:cubicBezTo>
                      <a:pt x="58" y="318"/>
                      <a:pt x="70" y="318"/>
                      <a:pt x="73" y="310"/>
                    </a:cubicBezTo>
                    <a:cubicBezTo>
                      <a:pt x="104" y="227"/>
                      <a:pt x="104" y="227"/>
                      <a:pt x="104" y="227"/>
                    </a:cubicBezTo>
                    <a:cubicBezTo>
                      <a:pt x="88" y="94"/>
                      <a:pt x="88" y="94"/>
                      <a:pt x="88" y="9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8" y="33"/>
                      <a:pt x="127" y="19"/>
                      <a:pt x="11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</p:grpSp>
      </p:grpSp>
      <p:grpSp>
        <p:nvGrpSpPr>
          <p:cNvPr id="212" name="组合 211"/>
          <p:cNvGrpSpPr/>
          <p:nvPr/>
        </p:nvGrpSpPr>
        <p:grpSpPr>
          <a:xfrm>
            <a:off x="651867" y="3826543"/>
            <a:ext cx="3023535" cy="504000"/>
            <a:chOff x="946264" y="3883208"/>
            <a:chExt cx="3023535" cy="504000"/>
          </a:xfrm>
        </p:grpSpPr>
        <p:sp>
          <p:nvSpPr>
            <p:cNvPr id="177" name="Rectangle 51"/>
            <p:cNvSpPr/>
            <p:nvPr/>
          </p:nvSpPr>
          <p:spPr>
            <a:xfrm>
              <a:off x="946264" y="3883208"/>
              <a:ext cx="3023535" cy="504000"/>
            </a:xfrm>
            <a:prstGeom prst="rect">
              <a:avLst/>
            </a:prstGeom>
            <a:gradFill flip="none" rotWithShape="1">
              <a:gsLst>
                <a:gs pos="0">
                  <a:srgbClr val="B3E7FF"/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/>
          </p:spPr>
          <p:txBody>
            <a:bodyPr vert="horz"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</a:endParaRPr>
            </a:p>
          </p:txBody>
        </p:sp>
        <p:sp>
          <p:nvSpPr>
            <p:cNvPr id="178" name="TextBox 18"/>
            <p:cNvSpPr txBox="1"/>
            <p:nvPr/>
          </p:nvSpPr>
          <p:spPr>
            <a:xfrm>
              <a:off x="2047662" y="4024409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212121"/>
                  </a:solidFill>
                  <a:latin typeface="RB Office" panose="00000600000000000000" pitchFamily="2" charset="0"/>
                  <a:cs typeface="Calibri" panose="020F0502020204030204"/>
                  <a:sym typeface="+mn-lt"/>
                </a:rPr>
                <a:t>运营管理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651867" y="4533880"/>
            <a:ext cx="3023535" cy="504000"/>
            <a:chOff x="946264" y="4704062"/>
            <a:chExt cx="3023535" cy="504000"/>
          </a:xfrm>
        </p:grpSpPr>
        <p:sp>
          <p:nvSpPr>
            <p:cNvPr id="181" name="Rectangle 51"/>
            <p:cNvSpPr/>
            <p:nvPr/>
          </p:nvSpPr>
          <p:spPr>
            <a:xfrm>
              <a:off x="946264" y="4704062"/>
              <a:ext cx="3023535" cy="504000"/>
            </a:xfrm>
            <a:prstGeom prst="rect">
              <a:avLst/>
            </a:prstGeom>
            <a:gradFill flip="none" rotWithShape="1">
              <a:gsLst>
                <a:gs pos="0">
                  <a:srgbClr val="B3E7FF"/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/>
          </p:spPr>
          <p:txBody>
            <a:bodyPr vert="horz"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</a:endParaRPr>
            </a:p>
          </p:txBody>
        </p:sp>
        <p:sp>
          <p:nvSpPr>
            <p:cNvPr id="182" name="TextBox 18"/>
            <p:cNvSpPr txBox="1"/>
            <p:nvPr/>
          </p:nvSpPr>
          <p:spPr>
            <a:xfrm>
              <a:off x="2047662" y="4845263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212121"/>
                  </a:solidFill>
                  <a:latin typeface="RB Office" panose="00000600000000000000" pitchFamily="2" charset="0"/>
                  <a:cs typeface="Calibri" panose="020F0502020204030204"/>
                  <a:sym typeface="+mn-lt"/>
                </a:rPr>
                <a:t>委派人员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endParaRPr>
            </a:p>
          </p:txBody>
        </p:sp>
      </p:grpSp>
      <p:grpSp>
        <p:nvGrpSpPr>
          <p:cNvPr id="256" name="组合 255"/>
          <p:cNvGrpSpPr/>
          <p:nvPr/>
        </p:nvGrpSpPr>
        <p:grpSpPr>
          <a:xfrm>
            <a:off x="770876" y="4538657"/>
            <a:ext cx="513228" cy="486036"/>
            <a:chOff x="777898" y="4572392"/>
            <a:chExt cx="513228" cy="486036"/>
          </a:xfrm>
        </p:grpSpPr>
        <p:sp>
          <p:nvSpPr>
            <p:cNvPr id="184" name="Oval 1"/>
            <p:cNvSpPr/>
            <p:nvPr/>
          </p:nvSpPr>
          <p:spPr>
            <a:xfrm>
              <a:off x="777898" y="4572392"/>
              <a:ext cx="513228" cy="486036"/>
            </a:xfrm>
            <a:prstGeom prst="ellipse">
              <a:avLst/>
            </a:prstGeom>
            <a:solidFill>
              <a:srgbClr val="152A8C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grpSp>
          <p:nvGrpSpPr>
            <p:cNvPr id="185" name="Group 355"/>
            <p:cNvGrpSpPr/>
            <p:nvPr/>
          </p:nvGrpSpPr>
          <p:grpSpPr>
            <a:xfrm>
              <a:off x="908089" y="4689384"/>
              <a:ext cx="240086" cy="252052"/>
              <a:chOff x="-1652587" y="5035551"/>
              <a:chExt cx="1462087" cy="1620837"/>
            </a:xfrm>
            <a:solidFill>
              <a:srgbClr val="FFFFFF"/>
            </a:solidFill>
          </p:grpSpPr>
          <p:sp>
            <p:nvSpPr>
              <p:cNvPr id="186" name="Freeform 9"/>
              <p:cNvSpPr>
                <a:spLocks noEditPoints="1"/>
              </p:cNvSpPr>
              <p:nvPr/>
            </p:nvSpPr>
            <p:spPr bwMode="auto">
              <a:xfrm>
                <a:off x="-1652587" y="5735638"/>
                <a:ext cx="1462087" cy="920750"/>
              </a:xfrm>
              <a:custGeom>
                <a:avLst/>
                <a:gdLst>
                  <a:gd name="T0" fmla="*/ 1268 w 1566"/>
                  <a:gd name="T1" fmla="*/ 168 h 986"/>
                  <a:gd name="T2" fmla="*/ 918 w 1566"/>
                  <a:gd name="T3" fmla="*/ 3 h 986"/>
                  <a:gd name="T4" fmla="*/ 880 w 1566"/>
                  <a:gd name="T5" fmla="*/ 5 h 986"/>
                  <a:gd name="T6" fmla="*/ 610 w 1566"/>
                  <a:gd name="T7" fmla="*/ 33 h 986"/>
                  <a:gd name="T8" fmla="*/ 41 w 1566"/>
                  <a:gd name="T9" fmla="*/ 158 h 986"/>
                  <a:gd name="T10" fmla="*/ 0 w 1566"/>
                  <a:gd name="T11" fmla="*/ 658 h 986"/>
                  <a:gd name="T12" fmla="*/ 286 w 1566"/>
                  <a:gd name="T13" fmla="*/ 697 h 986"/>
                  <a:gd name="T14" fmla="*/ 372 w 1566"/>
                  <a:gd name="T15" fmla="*/ 845 h 986"/>
                  <a:gd name="T16" fmla="*/ 504 w 1566"/>
                  <a:gd name="T17" fmla="*/ 894 h 986"/>
                  <a:gd name="T18" fmla="*/ 654 w 1566"/>
                  <a:gd name="T19" fmla="*/ 965 h 986"/>
                  <a:gd name="T20" fmla="*/ 791 w 1566"/>
                  <a:gd name="T21" fmla="*/ 950 h 986"/>
                  <a:gd name="T22" fmla="*/ 913 w 1566"/>
                  <a:gd name="T23" fmla="*/ 927 h 986"/>
                  <a:gd name="T24" fmla="*/ 1213 w 1566"/>
                  <a:gd name="T25" fmla="*/ 750 h 986"/>
                  <a:gd name="T26" fmla="*/ 1262 w 1566"/>
                  <a:gd name="T27" fmla="*/ 703 h 986"/>
                  <a:gd name="T28" fmla="*/ 1531 w 1566"/>
                  <a:gd name="T29" fmla="*/ 706 h 986"/>
                  <a:gd name="T30" fmla="*/ 1530 w 1566"/>
                  <a:gd name="T31" fmla="*/ 167 h 986"/>
                  <a:gd name="T32" fmla="*/ 377 w 1566"/>
                  <a:gd name="T33" fmla="*/ 791 h 986"/>
                  <a:gd name="T34" fmla="*/ 359 w 1566"/>
                  <a:gd name="T35" fmla="*/ 699 h 986"/>
                  <a:gd name="T36" fmla="*/ 452 w 1566"/>
                  <a:gd name="T37" fmla="*/ 661 h 986"/>
                  <a:gd name="T38" fmla="*/ 493 w 1566"/>
                  <a:gd name="T39" fmla="*/ 838 h 986"/>
                  <a:gd name="T40" fmla="*/ 428 w 1566"/>
                  <a:gd name="T41" fmla="*/ 816 h 986"/>
                  <a:gd name="T42" fmla="*/ 639 w 1566"/>
                  <a:gd name="T43" fmla="*/ 583 h 986"/>
                  <a:gd name="T44" fmla="*/ 493 w 1566"/>
                  <a:gd name="T45" fmla="*/ 838 h 986"/>
                  <a:gd name="T46" fmla="*/ 596 w 1566"/>
                  <a:gd name="T47" fmla="*/ 897 h 986"/>
                  <a:gd name="T48" fmla="*/ 755 w 1566"/>
                  <a:gd name="T49" fmla="*/ 598 h 986"/>
                  <a:gd name="T50" fmla="*/ 816 w 1566"/>
                  <a:gd name="T51" fmla="*/ 651 h 986"/>
                  <a:gd name="T52" fmla="*/ 875 w 1566"/>
                  <a:gd name="T53" fmla="*/ 859 h 986"/>
                  <a:gd name="T54" fmla="*/ 894 w 1566"/>
                  <a:gd name="T55" fmla="*/ 748 h 986"/>
                  <a:gd name="T56" fmla="*/ 753 w 1566"/>
                  <a:gd name="T57" fmla="*/ 912 h 986"/>
                  <a:gd name="T58" fmla="*/ 677 w 1566"/>
                  <a:gd name="T59" fmla="*/ 911 h 986"/>
                  <a:gd name="T60" fmla="*/ 863 w 1566"/>
                  <a:gd name="T61" fmla="*/ 696 h 986"/>
                  <a:gd name="T62" fmla="*/ 894 w 1566"/>
                  <a:gd name="T63" fmla="*/ 748 h 986"/>
                  <a:gd name="T64" fmla="*/ 927 w 1566"/>
                  <a:gd name="T65" fmla="*/ 798 h 986"/>
                  <a:gd name="T66" fmla="*/ 877 w 1566"/>
                  <a:gd name="T67" fmla="*/ 644 h 986"/>
                  <a:gd name="T68" fmla="*/ 958 w 1566"/>
                  <a:gd name="T69" fmla="*/ 833 h 986"/>
                  <a:gd name="T70" fmla="*/ 1402 w 1566"/>
                  <a:gd name="T71" fmla="*/ 651 h 986"/>
                  <a:gd name="T72" fmla="*/ 1209 w 1566"/>
                  <a:gd name="T73" fmla="*/ 617 h 986"/>
                  <a:gd name="T74" fmla="*/ 994 w 1566"/>
                  <a:gd name="T75" fmla="*/ 313 h 986"/>
                  <a:gd name="T76" fmla="*/ 1160 w 1566"/>
                  <a:gd name="T77" fmla="*/ 738 h 986"/>
                  <a:gd name="T78" fmla="*/ 1104 w 1566"/>
                  <a:gd name="T79" fmla="*/ 576 h 986"/>
                  <a:gd name="T80" fmla="*/ 891 w 1566"/>
                  <a:gd name="T81" fmla="*/ 391 h 986"/>
                  <a:gd name="T82" fmla="*/ 1065 w 1566"/>
                  <a:gd name="T83" fmla="*/ 804 h 986"/>
                  <a:gd name="T84" fmla="*/ 938 w 1566"/>
                  <a:gd name="T85" fmla="*/ 577 h 986"/>
                  <a:gd name="T86" fmla="*/ 813 w 1566"/>
                  <a:gd name="T87" fmla="*/ 528 h 986"/>
                  <a:gd name="T88" fmla="*/ 785 w 1566"/>
                  <a:gd name="T89" fmla="*/ 532 h 986"/>
                  <a:gd name="T90" fmla="*/ 648 w 1566"/>
                  <a:gd name="T91" fmla="*/ 530 h 986"/>
                  <a:gd name="T92" fmla="*/ 497 w 1566"/>
                  <a:gd name="T93" fmla="*/ 631 h 986"/>
                  <a:gd name="T94" fmla="*/ 340 w 1566"/>
                  <a:gd name="T95" fmla="*/ 644 h 986"/>
                  <a:gd name="T96" fmla="*/ 348 w 1566"/>
                  <a:gd name="T97" fmla="*/ 200 h 986"/>
                  <a:gd name="T98" fmla="*/ 695 w 1566"/>
                  <a:gd name="T99" fmla="*/ 96 h 986"/>
                  <a:gd name="T100" fmla="*/ 603 w 1566"/>
                  <a:gd name="T101" fmla="*/ 211 h 986"/>
                  <a:gd name="T102" fmla="*/ 595 w 1566"/>
                  <a:gd name="T103" fmla="*/ 454 h 986"/>
                  <a:gd name="T104" fmla="*/ 777 w 1566"/>
                  <a:gd name="T105" fmla="*/ 378 h 986"/>
                  <a:gd name="T106" fmla="*/ 961 w 1566"/>
                  <a:gd name="T107" fmla="*/ 266 h 986"/>
                  <a:gd name="T108" fmla="*/ 879 w 1566"/>
                  <a:gd name="T109" fmla="*/ 216 h 986"/>
                  <a:gd name="T110" fmla="*/ 736 w 1566"/>
                  <a:gd name="T111" fmla="*/ 344 h 986"/>
                  <a:gd name="T112" fmla="*/ 604 w 1566"/>
                  <a:gd name="T113" fmla="*/ 396 h 986"/>
                  <a:gd name="T114" fmla="*/ 675 w 1566"/>
                  <a:gd name="T115" fmla="*/ 171 h 986"/>
                  <a:gd name="T116" fmla="*/ 986 w 1566"/>
                  <a:gd name="T117" fmla="*/ 79 h 986"/>
                  <a:gd name="T118" fmla="*/ 1403 w 1566"/>
                  <a:gd name="T119" fmla="*/ 222 h 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566" h="986">
                    <a:moveTo>
                      <a:pt x="1530" y="167"/>
                    </a:moveTo>
                    <a:cubicBezTo>
                      <a:pt x="1500" y="167"/>
                      <a:pt x="1500" y="167"/>
                      <a:pt x="1500" y="167"/>
                    </a:cubicBezTo>
                    <a:cubicBezTo>
                      <a:pt x="1448" y="167"/>
                      <a:pt x="1301" y="169"/>
                      <a:pt x="1268" y="168"/>
                    </a:cubicBezTo>
                    <a:cubicBezTo>
                      <a:pt x="1227" y="143"/>
                      <a:pt x="1188" y="118"/>
                      <a:pt x="1149" y="97"/>
                    </a:cubicBezTo>
                    <a:cubicBezTo>
                      <a:pt x="1103" y="71"/>
                      <a:pt x="1055" y="48"/>
                      <a:pt x="1005" y="28"/>
                    </a:cubicBezTo>
                    <a:cubicBezTo>
                      <a:pt x="977" y="17"/>
                      <a:pt x="948" y="8"/>
                      <a:pt x="918" y="3"/>
                    </a:cubicBezTo>
                    <a:cubicBezTo>
                      <a:pt x="910" y="2"/>
                      <a:pt x="910" y="2"/>
                      <a:pt x="910" y="2"/>
                    </a:cubicBezTo>
                    <a:cubicBezTo>
                      <a:pt x="901" y="0"/>
                      <a:pt x="891" y="1"/>
                      <a:pt x="882" y="5"/>
                    </a:cubicBezTo>
                    <a:cubicBezTo>
                      <a:pt x="880" y="5"/>
                      <a:pt x="880" y="5"/>
                      <a:pt x="880" y="5"/>
                    </a:cubicBezTo>
                    <a:cubicBezTo>
                      <a:pt x="877" y="6"/>
                      <a:pt x="803" y="36"/>
                      <a:pt x="782" y="47"/>
                    </a:cubicBezTo>
                    <a:cubicBezTo>
                      <a:pt x="762" y="57"/>
                      <a:pt x="762" y="57"/>
                      <a:pt x="762" y="57"/>
                    </a:cubicBezTo>
                    <a:cubicBezTo>
                      <a:pt x="723" y="43"/>
                      <a:pt x="637" y="30"/>
                      <a:pt x="610" y="33"/>
                    </a:cubicBezTo>
                    <a:cubicBezTo>
                      <a:pt x="583" y="36"/>
                      <a:pt x="480" y="66"/>
                      <a:pt x="459" y="72"/>
                    </a:cubicBezTo>
                    <a:cubicBezTo>
                      <a:pt x="405" y="87"/>
                      <a:pt x="355" y="116"/>
                      <a:pt x="316" y="156"/>
                    </a:cubicBezTo>
                    <a:cubicBezTo>
                      <a:pt x="277" y="157"/>
                      <a:pt x="133" y="158"/>
                      <a:pt x="41" y="158"/>
                    </a:cubicBezTo>
                    <a:cubicBezTo>
                      <a:pt x="20" y="156"/>
                      <a:pt x="2" y="172"/>
                      <a:pt x="1" y="193"/>
                    </a:cubicBezTo>
                    <a:cubicBezTo>
                      <a:pt x="1" y="195"/>
                      <a:pt x="1" y="196"/>
                      <a:pt x="1" y="198"/>
                    </a:cubicBezTo>
                    <a:cubicBezTo>
                      <a:pt x="0" y="658"/>
                      <a:pt x="0" y="658"/>
                      <a:pt x="0" y="658"/>
                    </a:cubicBezTo>
                    <a:cubicBezTo>
                      <a:pt x="0" y="669"/>
                      <a:pt x="4" y="680"/>
                      <a:pt x="11" y="688"/>
                    </a:cubicBezTo>
                    <a:cubicBezTo>
                      <a:pt x="19" y="696"/>
                      <a:pt x="30" y="699"/>
                      <a:pt x="42" y="699"/>
                    </a:cubicBezTo>
                    <a:cubicBezTo>
                      <a:pt x="54" y="699"/>
                      <a:pt x="202" y="697"/>
                      <a:pt x="286" y="697"/>
                    </a:cubicBezTo>
                    <a:cubicBezTo>
                      <a:pt x="286" y="697"/>
                      <a:pt x="286" y="697"/>
                      <a:pt x="286" y="697"/>
                    </a:cubicBezTo>
                    <a:cubicBezTo>
                      <a:pt x="275" y="714"/>
                      <a:pt x="270" y="734"/>
                      <a:pt x="272" y="754"/>
                    </a:cubicBezTo>
                    <a:cubicBezTo>
                      <a:pt x="280" y="804"/>
                      <a:pt x="321" y="841"/>
                      <a:pt x="372" y="845"/>
                    </a:cubicBezTo>
                    <a:cubicBezTo>
                      <a:pt x="375" y="845"/>
                      <a:pt x="378" y="845"/>
                      <a:pt x="381" y="845"/>
                    </a:cubicBezTo>
                    <a:cubicBezTo>
                      <a:pt x="395" y="879"/>
                      <a:pt x="428" y="902"/>
                      <a:pt x="465" y="905"/>
                    </a:cubicBezTo>
                    <a:cubicBezTo>
                      <a:pt x="478" y="905"/>
                      <a:pt x="492" y="901"/>
                      <a:pt x="504" y="894"/>
                    </a:cubicBezTo>
                    <a:cubicBezTo>
                      <a:pt x="521" y="925"/>
                      <a:pt x="552" y="945"/>
                      <a:pt x="586" y="950"/>
                    </a:cubicBezTo>
                    <a:cubicBezTo>
                      <a:pt x="602" y="951"/>
                      <a:pt x="618" y="949"/>
                      <a:pt x="633" y="942"/>
                    </a:cubicBezTo>
                    <a:cubicBezTo>
                      <a:pt x="638" y="951"/>
                      <a:pt x="646" y="959"/>
                      <a:pt x="654" y="965"/>
                    </a:cubicBezTo>
                    <a:cubicBezTo>
                      <a:pt x="677" y="979"/>
                      <a:pt x="703" y="986"/>
                      <a:pt x="730" y="986"/>
                    </a:cubicBezTo>
                    <a:cubicBezTo>
                      <a:pt x="734" y="986"/>
                      <a:pt x="738" y="986"/>
                      <a:pt x="742" y="985"/>
                    </a:cubicBezTo>
                    <a:cubicBezTo>
                      <a:pt x="755" y="984"/>
                      <a:pt x="766" y="975"/>
                      <a:pt x="791" y="950"/>
                    </a:cubicBezTo>
                    <a:cubicBezTo>
                      <a:pt x="797" y="945"/>
                      <a:pt x="797" y="945"/>
                      <a:pt x="797" y="945"/>
                    </a:cubicBezTo>
                    <a:cubicBezTo>
                      <a:pt x="803" y="945"/>
                      <a:pt x="813" y="946"/>
                      <a:pt x="818" y="947"/>
                    </a:cubicBezTo>
                    <a:cubicBezTo>
                      <a:pt x="851" y="957"/>
                      <a:pt x="887" y="949"/>
                      <a:pt x="913" y="927"/>
                    </a:cubicBezTo>
                    <a:cubicBezTo>
                      <a:pt x="942" y="928"/>
                      <a:pt x="982" y="921"/>
                      <a:pt x="1004" y="880"/>
                    </a:cubicBezTo>
                    <a:cubicBezTo>
                      <a:pt x="1048" y="887"/>
                      <a:pt x="1085" y="872"/>
                      <a:pt x="1108" y="838"/>
                    </a:cubicBezTo>
                    <a:cubicBezTo>
                      <a:pt x="1196" y="828"/>
                      <a:pt x="1208" y="772"/>
                      <a:pt x="1213" y="750"/>
                    </a:cubicBezTo>
                    <a:cubicBezTo>
                      <a:pt x="1213" y="750"/>
                      <a:pt x="1213" y="750"/>
                      <a:pt x="1213" y="750"/>
                    </a:cubicBezTo>
                    <a:cubicBezTo>
                      <a:pt x="1224" y="741"/>
                      <a:pt x="1237" y="728"/>
                      <a:pt x="1249" y="717"/>
                    </a:cubicBezTo>
                    <a:cubicBezTo>
                      <a:pt x="1262" y="703"/>
                      <a:pt x="1262" y="703"/>
                      <a:pt x="1262" y="703"/>
                    </a:cubicBezTo>
                    <a:cubicBezTo>
                      <a:pt x="1519" y="706"/>
                      <a:pt x="1519" y="706"/>
                      <a:pt x="1519" y="706"/>
                    </a:cubicBezTo>
                    <a:cubicBezTo>
                      <a:pt x="1521" y="706"/>
                      <a:pt x="1521" y="706"/>
                      <a:pt x="1521" y="706"/>
                    </a:cubicBezTo>
                    <a:cubicBezTo>
                      <a:pt x="1524" y="706"/>
                      <a:pt x="1528" y="706"/>
                      <a:pt x="1531" y="706"/>
                    </a:cubicBezTo>
                    <a:cubicBezTo>
                      <a:pt x="1549" y="705"/>
                      <a:pt x="1563" y="692"/>
                      <a:pt x="1565" y="674"/>
                    </a:cubicBezTo>
                    <a:cubicBezTo>
                      <a:pt x="1565" y="671"/>
                      <a:pt x="1566" y="208"/>
                      <a:pt x="1566" y="202"/>
                    </a:cubicBezTo>
                    <a:cubicBezTo>
                      <a:pt x="1565" y="183"/>
                      <a:pt x="1549" y="168"/>
                      <a:pt x="1530" y="167"/>
                    </a:cubicBezTo>
                    <a:close/>
                    <a:moveTo>
                      <a:pt x="379" y="791"/>
                    </a:moveTo>
                    <a:cubicBezTo>
                      <a:pt x="378" y="791"/>
                      <a:pt x="378" y="791"/>
                      <a:pt x="378" y="791"/>
                    </a:cubicBezTo>
                    <a:cubicBezTo>
                      <a:pt x="377" y="791"/>
                      <a:pt x="377" y="791"/>
                      <a:pt x="377" y="791"/>
                    </a:cubicBezTo>
                    <a:cubicBezTo>
                      <a:pt x="351" y="790"/>
                      <a:pt x="329" y="771"/>
                      <a:pt x="325" y="745"/>
                    </a:cubicBezTo>
                    <a:cubicBezTo>
                      <a:pt x="326" y="736"/>
                      <a:pt x="330" y="728"/>
                      <a:pt x="335" y="721"/>
                    </a:cubicBezTo>
                    <a:cubicBezTo>
                      <a:pt x="359" y="699"/>
                      <a:pt x="359" y="699"/>
                      <a:pt x="359" y="699"/>
                    </a:cubicBezTo>
                    <a:cubicBezTo>
                      <a:pt x="361" y="698"/>
                      <a:pt x="363" y="696"/>
                      <a:pt x="365" y="694"/>
                    </a:cubicBezTo>
                    <a:cubicBezTo>
                      <a:pt x="387" y="674"/>
                      <a:pt x="411" y="653"/>
                      <a:pt x="422" y="644"/>
                    </a:cubicBezTo>
                    <a:cubicBezTo>
                      <a:pt x="434" y="644"/>
                      <a:pt x="446" y="650"/>
                      <a:pt x="452" y="661"/>
                    </a:cubicBezTo>
                    <a:cubicBezTo>
                      <a:pt x="455" y="666"/>
                      <a:pt x="458" y="672"/>
                      <a:pt x="458" y="678"/>
                    </a:cubicBezTo>
                    <a:lnTo>
                      <a:pt x="379" y="791"/>
                    </a:lnTo>
                    <a:close/>
                    <a:moveTo>
                      <a:pt x="493" y="838"/>
                    </a:moveTo>
                    <a:cubicBezTo>
                      <a:pt x="493" y="838"/>
                      <a:pt x="493" y="838"/>
                      <a:pt x="493" y="838"/>
                    </a:cubicBezTo>
                    <a:cubicBezTo>
                      <a:pt x="485" y="844"/>
                      <a:pt x="477" y="848"/>
                      <a:pt x="468" y="851"/>
                    </a:cubicBezTo>
                    <a:cubicBezTo>
                      <a:pt x="449" y="850"/>
                      <a:pt x="432" y="836"/>
                      <a:pt x="428" y="816"/>
                    </a:cubicBezTo>
                    <a:cubicBezTo>
                      <a:pt x="519" y="686"/>
                      <a:pt x="519" y="686"/>
                      <a:pt x="519" y="686"/>
                    </a:cubicBezTo>
                    <a:cubicBezTo>
                      <a:pt x="524" y="680"/>
                      <a:pt x="598" y="599"/>
                      <a:pt x="604" y="592"/>
                    </a:cubicBezTo>
                    <a:cubicBezTo>
                      <a:pt x="614" y="584"/>
                      <a:pt x="626" y="581"/>
                      <a:pt x="639" y="583"/>
                    </a:cubicBezTo>
                    <a:cubicBezTo>
                      <a:pt x="653" y="585"/>
                      <a:pt x="665" y="593"/>
                      <a:pt x="672" y="605"/>
                    </a:cubicBezTo>
                    <a:cubicBezTo>
                      <a:pt x="673" y="606"/>
                      <a:pt x="673" y="608"/>
                      <a:pt x="674" y="609"/>
                    </a:cubicBezTo>
                    <a:lnTo>
                      <a:pt x="493" y="838"/>
                    </a:lnTo>
                    <a:close/>
                    <a:moveTo>
                      <a:pt x="627" y="886"/>
                    </a:moveTo>
                    <a:cubicBezTo>
                      <a:pt x="617" y="891"/>
                      <a:pt x="607" y="895"/>
                      <a:pt x="596" y="897"/>
                    </a:cubicBezTo>
                    <a:cubicBezTo>
                      <a:pt x="596" y="897"/>
                      <a:pt x="596" y="897"/>
                      <a:pt x="596" y="897"/>
                    </a:cubicBezTo>
                    <a:cubicBezTo>
                      <a:pt x="575" y="895"/>
                      <a:pt x="556" y="881"/>
                      <a:pt x="548" y="862"/>
                    </a:cubicBezTo>
                    <a:cubicBezTo>
                      <a:pt x="546" y="858"/>
                      <a:pt x="546" y="858"/>
                      <a:pt x="546" y="858"/>
                    </a:cubicBezTo>
                    <a:cubicBezTo>
                      <a:pt x="546" y="858"/>
                      <a:pt x="753" y="600"/>
                      <a:pt x="755" y="598"/>
                    </a:cubicBezTo>
                    <a:cubicBezTo>
                      <a:pt x="762" y="590"/>
                      <a:pt x="772" y="585"/>
                      <a:pt x="783" y="585"/>
                    </a:cubicBezTo>
                    <a:cubicBezTo>
                      <a:pt x="798" y="586"/>
                      <a:pt x="813" y="593"/>
                      <a:pt x="822" y="606"/>
                    </a:cubicBezTo>
                    <a:cubicBezTo>
                      <a:pt x="831" y="616"/>
                      <a:pt x="821" y="643"/>
                      <a:pt x="816" y="651"/>
                    </a:cubicBezTo>
                    <a:lnTo>
                      <a:pt x="627" y="886"/>
                    </a:lnTo>
                    <a:close/>
                    <a:moveTo>
                      <a:pt x="842" y="896"/>
                    </a:moveTo>
                    <a:cubicBezTo>
                      <a:pt x="875" y="859"/>
                      <a:pt x="875" y="859"/>
                      <a:pt x="875" y="859"/>
                    </a:cubicBezTo>
                    <a:cubicBezTo>
                      <a:pt x="875" y="869"/>
                      <a:pt x="875" y="880"/>
                      <a:pt x="875" y="887"/>
                    </a:cubicBezTo>
                    <a:cubicBezTo>
                      <a:pt x="866" y="895"/>
                      <a:pt x="854" y="898"/>
                      <a:pt x="842" y="896"/>
                    </a:cubicBezTo>
                    <a:close/>
                    <a:moveTo>
                      <a:pt x="894" y="748"/>
                    </a:moveTo>
                    <a:cubicBezTo>
                      <a:pt x="891" y="756"/>
                      <a:pt x="886" y="765"/>
                      <a:pt x="879" y="771"/>
                    </a:cubicBezTo>
                    <a:cubicBezTo>
                      <a:pt x="879" y="771"/>
                      <a:pt x="879" y="771"/>
                      <a:pt x="879" y="771"/>
                    </a:cubicBezTo>
                    <a:cubicBezTo>
                      <a:pt x="817" y="844"/>
                      <a:pt x="759" y="906"/>
                      <a:pt x="753" y="912"/>
                    </a:cubicBezTo>
                    <a:cubicBezTo>
                      <a:pt x="748" y="917"/>
                      <a:pt x="737" y="928"/>
                      <a:pt x="732" y="932"/>
                    </a:cubicBezTo>
                    <a:cubicBezTo>
                      <a:pt x="715" y="932"/>
                      <a:pt x="699" y="928"/>
                      <a:pt x="684" y="920"/>
                    </a:cubicBezTo>
                    <a:cubicBezTo>
                      <a:pt x="681" y="917"/>
                      <a:pt x="679" y="914"/>
                      <a:pt x="677" y="911"/>
                    </a:cubicBezTo>
                    <a:cubicBezTo>
                      <a:pt x="849" y="696"/>
                      <a:pt x="849" y="696"/>
                      <a:pt x="849" y="696"/>
                    </a:cubicBezTo>
                    <a:cubicBezTo>
                      <a:pt x="855" y="696"/>
                      <a:pt x="855" y="696"/>
                      <a:pt x="855" y="696"/>
                    </a:cubicBezTo>
                    <a:cubicBezTo>
                      <a:pt x="859" y="696"/>
                      <a:pt x="862" y="696"/>
                      <a:pt x="863" y="696"/>
                    </a:cubicBezTo>
                    <a:cubicBezTo>
                      <a:pt x="874" y="698"/>
                      <a:pt x="884" y="705"/>
                      <a:pt x="890" y="715"/>
                    </a:cubicBezTo>
                    <a:cubicBezTo>
                      <a:pt x="896" y="724"/>
                      <a:pt x="898" y="736"/>
                      <a:pt x="894" y="747"/>
                    </a:cubicBezTo>
                    <a:lnTo>
                      <a:pt x="894" y="748"/>
                    </a:lnTo>
                    <a:close/>
                    <a:moveTo>
                      <a:pt x="930" y="872"/>
                    </a:moveTo>
                    <a:cubicBezTo>
                      <a:pt x="930" y="856"/>
                      <a:pt x="928" y="837"/>
                      <a:pt x="928" y="820"/>
                    </a:cubicBezTo>
                    <a:cubicBezTo>
                      <a:pt x="928" y="812"/>
                      <a:pt x="927" y="804"/>
                      <a:pt x="927" y="798"/>
                    </a:cubicBezTo>
                    <a:cubicBezTo>
                      <a:pt x="935" y="788"/>
                      <a:pt x="942" y="776"/>
                      <a:pt x="946" y="764"/>
                    </a:cubicBezTo>
                    <a:cubicBezTo>
                      <a:pt x="961" y="714"/>
                      <a:pt x="933" y="661"/>
                      <a:pt x="883" y="646"/>
                    </a:cubicBezTo>
                    <a:cubicBezTo>
                      <a:pt x="881" y="645"/>
                      <a:pt x="879" y="645"/>
                      <a:pt x="877" y="644"/>
                    </a:cubicBezTo>
                    <a:cubicBezTo>
                      <a:pt x="882" y="626"/>
                      <a:pt x="881" y="606"/>
                      <a:pt x="874" y="588"/>
                    </a:cubicBezTo>
                    <a:cubicBezTo>
                      <a:pt x="905" y="620"/>
                      <a:pt x="935" y="652"/>
                      <a:pt x="945" y="664"/>
                    </a:cubicBezTo>
                    <a:cubicBezTo>
                      <a:pt x="954" y="720"/>
                      <a:pt x="958" y="776"/>
                      <a:pt x="958" y="833"/>
                    </a:cubicBezTo>
                    <a:cubicBezTo>
                      <a:pt x="958" y="849"/>
                      <a:pt x="958" y="849"/>
                      <a:pt x="958" y="849"/>
                    </a:cubicBezTo>
                    <a:cubicBezTo>
                      <a:pt x="954" y="862"/>
                      <a:pt x="943" y="871"/>
                      <a:pt x="930" y="872"/>
                    </a:cubicBezTo>
                    <a:close/>
                    <a:moveTo>
                      <a:pt x="1402" y="651"/>
                    </a:moveTo>
                    <a:cubicBezTo>
                      <a:pt x="1253" y="648"/>
                      <a:pt x="1253" y="648"/>
                      <a:pt x="1253" y="648"/>
                    </a:cubicBezTo>
                    <a:cubicBezTo>
                      <a:pt x="1240" y="648"/>
                      <a:pt x="1236" y="653"/>
                      <a:pt x="1212" y="676"/>
                    </a:cubicBezTo>
                    <a:cubicBezTo>
                      <a:pt x="1209" y="617"/>
                      <a:pt x="1209" y="617"/>
                      <a:pt x="1209" y="617"/>
                    </a:cubicBezTo>
                    <a:cubicBezTo>
                      <a:pt x="1206" y="542"/>
                      <a:pt x="1205" y="506"/>
                      <a:pt x="1204" y="502"/>
                    </a:cubicBezTo>
                    <a:cubicBezTo>
                      <a:pt x="1204" y="490"/>
                      <a:pt x="1203" y="488"/>
                      <a:pt x="1033" y="314"/>
                    </a:cubicBezTo>
                    <a:cubicBezTo>
                      <a:pt x="1022" y="303"/>
                      <a:pt x="1005" y="303"/>
                      <a:pt x="994" y="313"/>
                    </a:cubicBezTo>
                    <a:cubicBezTo>
                      <a:pt x="984" y="324"/>
                      <a:pt x="984" y="341"/>
                      <a:pt x="994" y="352"/>
                    </a:cubicBezTo>
                    <a:cubicBezTo>
                      <a:pt x="1016" y="374"/>
                      <a:pt x="1125" y="487"/>
                      <a:pt x="1151" y="514"/>
                    </a:cubicBezTo>
                    <a:cubicBezTo>
                      <a:pt x="1152" y="533"/>
                      <a:pt x="1160" y="736"/>
                      <a:pt x="1160" y="738"/>
                    </a:cubicBezTo>
                    <a:cubicBezTo>
                      <a:pt x="1160" y="738"/>
                      <a:pt x="1160" y="738"/>
                      <a:pt x="1160" y="738"/>
                    </a:cubicBezTo>
                    <a:cubicBezTo>
                      <a:pt x="1157" y="753"/>
                      <a:pt x="1151" y="772"/>
                      <a:pt x="1118" y="780"/>
                    </a:cubicBezTo>
                    <a:cubicBezTo>
                      <a:pt x="1116" y="749"/>
                      <a:pt x="1104" y="579"/>
                      <a:pt x="1104" y="576"/>
                    </a:cubicBezTo>
                    <a:cubicBezTo>
                      <a:pt x="1103" y="562"/>
                      <a:pt x="1103" y="562"/>
                      <a:pt x="952" y="414"/>
                    </a:cubicBezTo>
                    <a:cubicBezTo>
                      <a:pt x="929" y="392"/>
                      <a:pt x="929" y="392"/>
                      <a:pt x="929" y="392"/>
                    </a:cubicBezTo>
                    <a:cubicBezTo>
                      <a:pt x="919" y="381"/>
                      <a:pt x="902" y="381"/>
                      <a:pt x="891" y="391"/>
                    </a:cubicBezTo>
                    <a:cubicBezTo>
                      <a:pt x="880" y="402"/>
                      <a:pt x="880" y="419"/>
                      <a:pt x="890" y="430"/>
                    </a:cubicBezTo>
                    <a:cubicBezTo>
                      <a:pt x="891" y="432"/>
                      <a:pt x="1029" y="567"/>
                      <a:pt x="1050" y="590"/>
                    </a:cubicBezTo>
                    <a:cubicBezTo>
                      <a:pt x="1051" y="602"/>
                      <a:pt x="1064" y="795"/>
                      <a:pt x="1065" y="804"/>
                    </a:cubicBezTo>
                    <a:cubicBezTo>
                      <a:pt x="1060" y="813"/>
                      <a:pt x="1048" y="832"/>
                      <a:pt x="1012" y="826"/>
                    </a:cubicBezTo>
                    <a:cubicBezTo>
                      <a:pt x="1012" y="767"/>
                      <a:pt x="1007" y="708"/>
                      <a:pt x="997" y="649"/>
                    </a:cubicBezTo>
                    <a:cubicBezTo>
                      <a:pt x="997" y="639"/>
                      <a:pt x="992" y="634"/>
                      <a:pt x="938" y="577"/>
                    </a:cubicBezTo>
                    <a:cubicBezTo>
                      <a:pt x="918" y="554"/>
                      <a:pt x="878" y="513"/>
                      <a:pt x="850" y="488"/>
                    </a:cubicBezTo>
                    <a:cubicBezTo>
                      <a:pt x="839" y="478"/>
                      <a:pt x="821" y="478"/>
                      <a:pt x="811" y="490"/>
                    </a:cubicBezTo>
                    <a:cubicBezTo>
                      <a:pt x="801" y="501"/>
                      <a:pt x="802" y="518"/>
                      <a:pt x="813" y="528"/>
                    </a:cubicBezTo>
                    <a:cubicBezTo>
                      <a:pt x="813" y="528"/>
                      <a:pt x="813" y="528"/>
                      <a:pt x="813" y="528"/>
                    </a:cubicBezTo>
                    <a:cubicBezTo>
                      <a:pt x="818" y="533"/>
                      <a:pt x="824" y="538"/>
                      <a:pt x="830" y="543"/>
                    </a:cubicBezTo>
                    <a:cubicBezTo>
                      <a:pt x="816" y="536"/>
                      <a:pt x="801" y="532"/>
                      <a:pt x="785" y="532"/>
                    </a:cubicBezTo>
                    <a:cubicBezTo>
                      <a:pt x="759" y="531"/>
                      <a:pt x="733" y="541"/>
                      <a:pt x="715" y="562"/>
                    </a:cubicBezTo>
                    <a:cubicBezTo>
                      <a:pt x="711" y="567"/>
                      <a:pt x="711" y="567"/>
                      <a:pt x="711" y="567"/>
                    </a:cubicBezTo>
                    <a:cubicBezTo>
                      <a:pt x="695" y="547"/>
                      <a:pt x="673" y="534"/>
                      <a:pt x="648" y="530"/>
                    </a:cubicBezTo>
                    <a:cubicBezTo>
                      <a:pt x="620" y="525"/>
                      <a:pt x="591" y="533"/>
                      <a:pt x="570" y="551"/>
                    </a:cubicBezTo>
                    <a:cubicBezTo>
                      <a:pt x="567" y="553"/>
                      <a:pt x="567" y="554"/>
                      <a:pt x="499" y="629"/>
                    </a:cubicBezTo>
                    <a:cubicBezTo>
                      <a:pt x="497" y="631"/>
                      <a:pt x="497" y="631"/>
                      <a:pt x="497" y="631"/>
                    </a:cubicBezTo>
                    <a:cubicBezTo>
                      <a:pt x="496" y="630"/>
                      <a:pt x="496" y="630"/>
                      <a:pt x="496" y="630"/>
                    </a:cubicBezTo>
                    <a:cubicBezTo>
                      <a:pt x="477" y="600"/>
                      <a:pt x="442" y="585"/>
                      <a:pt x="407" y="592"/>
                    </a:cubicBezTo>
                    <a:cubicBezTo>
                      <a:pt x="402" y="593"/>
                      <a:pt x="396" y="594"/>
                      <a:pt x="340" y="644"/>
                    </a:cubicBezTo>
                    <a:cubicBezTo>
                      <a:pt x="317" y="642"/>
                      <a:pt x="269" y="641"/>
                      <a:pt x="163" y="644"/>
                    </a:cubicBezTo>
                    <a:cubicBezTo>
                      <a:pt x="163" y="212"/>
                      <a:pt x="163" y="212"/>
                      <a:pt x="163" y="212"/>
                    </a:cubicBezTo>
                    <a:cubicBezTo>
                      <a:pt x="339" y="212"/>
                      <a:pt x="340" y="210"/>
                      <a:pt x="348" y="200"/>
                    </a:cubicBezTo>
                    <a:cubicBezTo>
                      <a:pt x="382" y="163"/>
                      <a:pt x="426" y="137"/>
                      <a:pt x="474" y="124"/>
                    </a:cubicBezTo>
                    <a:cubicBezTo>
                      <a:pt x="532" y="107"/>
                      <a:pt x="602" y="89"/>
                      <a:pt x="616" y="87"/>
                    </a:cubicBezTo>
                    <a:cubicBezTo>
                      <a:pt x="643" y="88"/>
                      <a:pt x="669" y="91"/>
                      <a:pt x="695" y="96"/>
                    </a:cubicBezTo>
                    <a:cubicBezTo>
                      <a:pt x="645" y="125"/>
                      <a:pt x="645" y="125"/>
                      <a:pt x="645" y="125"/>
                    </a:cubicBezTo>
                    <a:cubicBezTo>
                      <a:pt x="636" y="130"/>
                      <a:pt x="628" y="139"/>
                      <a:pt x="625" y="149"/>
                    </a:cubicBezTo>
                    <a:cubicBezTo>
                      <a:pt x="617" y="170"/>
                      <a:pt x="610" y="190"/>
                      <a:pt x="603" y="211"/>
                    </a:cubicBezTo>
                    <a:cubicBezTo>
                      <a:pt x="591" y="243"/>
                      <a:pt x="579" y="276"/>
                      <a:pt x="568" y="309"/>
                    </a:cubicBezTo>
                    <a:cubicBezTo>
                      <a:pt x="568" y="310"/>
                      <a:pt x="545" y="383"/>
                      <a:pt x="550" y="405"/>
                    </a:cubicBezTo>
                    <a:cubicBezTo>
                      <a:pt x="555" y="428"/>
                      <a:pt x="572" y="447"/>
                      <a:pt x="595" y="454"/>
                    </a:cubicBezTo>
                    <a:cubicBezTo>
                      <a:pt x="608" y="459"/>
                      <a:pt x="622" y="461"/>
                      <a:pt x="636" y="461"/>
                    </a:cubicBezTo>
                    <a:cubicBezTo>
                      <a:pt x="661" y="461"/>
                      <a:pt x="685" y="454"/>
                      <a:pt x="706" y="441"/>
                    </a:cubicBezTo>
                    <a:cubicBezTo>
                      <a:pt x="733" y="425"/>
                      <a:pt x="757" y="403"/>
                      <a:pt x="777" y="378"/>
                    </a:cubicBezTo>
                    <a:cubicBezTo>
                      <a:pt x="806" y="344"/>
                      <a:pt x="830" y="305"/>
                      <a:pt x="849" y="265"/>
                    </a:cubicBezTo>
                    <a:cubicBezTo>
                      <a:pt x="855" y="266"/>
                      <a:pt x="907" y="278"/>
                      <a:pt x="927" y="284"/>
                    </a:cubicBezTo>
                    <a:cubicBezTo>
                      <a:pt x="941" y="288"/>
                      <a:pt x="957" y="280"/>
                      <a:pt x="961" y="266"/>
                    </a:cubicBezTo>
                    <a:cubicBezTo>
                      <a:pt x="965" y="251"/>
                      <a:pt x="957" y="236"/>
                      <a:pt x="943" y="232"/>
                    </a:cubicBezTo>
                    <a:cubicBezTo>
                      <a:pt x="942" y="232"/>
                      <a:pt x="941" y="232"/>
                      <a:pt x="941" y="232"/>
                    </a:cubicBezTo>
                    <a:cubicBezTo>
                      <a:pt x="920" y="226"/>
                      <a:pt x="900" y="221"/>
                      <a:pt x="879" y="216"/>
                    </a:cubicBezTo>
                    <a:cubicBezTo>
                      <a:pt x="868" y="213"/>
                      <a:pt x="856" y="211"/>
                      <a:pt x="845" y="208"/>
                    </a:cubicBezTo>
                    <a:cubicBezTo>
                      <a:pt x="829" y="203"/>
                      <a:pt x="813" y="211"/>
                      <a:pt x="807" y="226"/>
                    </a:cubicBezTo>
                    <a:cubicBezTo>
                      <a:pt x="789" y="269"/>
                      <a:pt x="765" y="308"/>
                      <a:pt x="736" y="344"/>
                    </a:cubicBezTo>
                    <a:cubicBezTo>
                      <a:pt x="720" y="364"/>
                      <a:pt x="700" y="381"/>
                      <a:pt x="679" y="395"/>
                    </a:cubicBezTo>
                    <a:cubicBezTo>
                      <a:pt x="659" y="408"/>
                      <a:pt x="635" y="411"/>
                      <a:pt x="613" y="403"/>
                    </a:cubicBezTo>
                    <a:cubicBezTo>
                      <a:pt x="606" y="401"/>
                      <a:pt x="604" y="398"/>
                      <a:pt x="604" y="396"/>
                    </a:cubicBezTo>
                    <a:cubicBezTo>
                      <a:pt x="607" y="373"/>
                      <a:pt x="612" y="350"/>
                      <a:pt x="619" y="327"/>
                    </a:cubicBezTo>
                    <a:cubicBezTo>
                      <a:pt x="631" y="295"/>
                      <a:pt x="642" y="262"/>
                      <a:pt x="654" y="229"/>
                    </a:cubicBezTo>
                    <a:cubicBezTo>
                      <a:pt x="661" y="210"/>
                      <a:pt x="667" y="191"/>
                      <a:pt x="675" y="171"/>
                    </a:cubicBezTo>
                    <a:cubicBezTo>
                      <a:pt x="701" y="156"/>
                      <a:pt x="851" y="73"/>
                      <a:pt x="867" y="67"/>
                    </a:cubicBezTo>
                    <a:cubicBezTo>
                      <a:pt x="880" y="61"/>
                      <a:pt x="893" y="58"/>
                      <a:pt x="907" y="56"/>
                    </a:cubicBezTo>
                    <a:cubicBezTo>
                      <a:pt x="934" y="61"/>
                      <a:pt x="960" y="69"/>
                      <a:pt x="986" y="79"/>
                    </a:cubicBezTo>
                    <a:cubicBezTo>
                      <a:pt x="1033" y="98"/>
                      <a:pt x="1079" y="119"/>
                      <a:pt x="1123" y="145"/>
                    </a:cubicBezTo>
                    <a:cubicBezTo>
                      <a:pt x="1163" y="167"/>
                      <a:pt x="1204" y="191"/>
                      <a:pt x="1245" y="218"/>
                    </a:cubicBezTo>
                    <a:cubicBezTo>
                      <a:pt x="1252" y="223"/>
                      <a:pt x="1253" y="223"/>
                      <a:pt x="1403" y="222"/>
                    </a:cubicBezTo>
                    <a:cubicBezTo>
                      <a:pt x="1403" y="259"/>
                      <a:pt x="1403" y="638"/>
                      <a:pt x="1403" y="651"/>
                    </a:cubicBezTo>
                    <a:lnTo>
                      <a:pt x="1402" y="6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87" name="Freeform 10"/>
              <p:cNvSpPr>
                <a:spLocks noEditPoints="1"/>
              </p:cNvSpPr>
              <p:nvPr/>
            </p:nvSpPr>
            <p:spPr bwMode="auto">
              <a:xfrm>
                <a:off x="-1612900" y="5035551"/>
                <a:ext cx="1417637" cy="812800"/>
              </a:xfrm>
              <a:custGeom>
                <a:avLst/>
                <a:gdLst>
                  <a:gd name="T0" fmla="*/ 980 w 1519"/>
                  <a:gd name="T1" fmla="*/ 351 h 872"/>
                  <a:gd name="T2" fmla="*/ 589 w 1519"/>
                  <a:gd name="T3" fmla="*/ 178 h 872"/>
                  <a:gd name="T4" fmla="*/ 537 w 1519"/>
                  <a:gd name="T5" fmla="*/ 273 h 872"/>
                  <a:gd name="T6" fmla="*/ 665 w 1519"/>
                  <a:gd name="T7" fmla="*/ 622 h 872"/>
                  <a:gd name="T8" fmla="*/ 604 w 1519"/>
                  <a:gd name="T9" fmla="*/ 679 h 872"/>
                  <a:gd name="T10" fmla="*/ 408 w 1519"/>
                  <a:gd name="T11" fmla="*/ 554 h 872"/>
                  <a:gd name="T12" fmla="*/ 489 w 1519"/>
                  <a:gd name="T13" fmla="*/ 367 h 872"/>
                  <a:gd name="T14" fmla="*/ 481 w 1519"/>
                  <a:gd name="T15" fmla="*/ 258 h 872"/>
                  <a:gd name="T16" fmla="*/ 285 w 1519"/>
                  <a:gd name="T17" fmla="*/ 10 h 872"/>
                  <a:gd name="T18" fmla="*/ 118 w 1519"/>
                  <a:gd name="T19" fmla="*/ 89 h 872"/>
                  <a:gd name="T20" fmla="*/ 109 w 1519"/>
                  <a:gd name="T21" fmla="*/ 275 h 872"/>
                  <a:gd name="T22" fmla="*/ 201 w 1519"/>
                  <a:gd name="T23" fmla="*/ 554 h 872"/>
                  <a:gd name="T24" fmla="*/ 0 w 1519"/>
                  <a:gd name="T25" fmla="*/ 856 h 872"/>
                  <a:gd name="T26" fmla="*/ 245 w 1519"/>
                  <a:gd name="T27" fmla="*/ 602 h 872"/>
                  <a:gd name="T28" fmla="*/ 303 w 1519"/>
                  <a:gd name="T29" fmla="*/ 532 h 872"/>
                  <a:gd name="T30" fmla="*/ 363 w 1519"/>
                  <a:gd name="T31" fmla="*/ 601 h 872"/>
                  <a:gd name="T32" fmla="*/ 404 w 1519"/>
                  <a:gd name="T33" fmla="*/ 772 h 872"/>
                  <a:gd name="T34" fmla="*/ 689 w 1519"/>
                  <a:gd name="T35" fmla="*/ 746 h 872"/>
                  <a:gd name="T36" fmla="*/ 701 w 1519"/>
                  <a:gd name="T37" fmla="*/ 711 h 872"/>
                  <a:gd name="T38" fmla="*/ 803 w 1519"/>
                  <a:gd name="T39" fmla="*/ 638 h 872"/>
                  <a:gd name="T40" fmla="*/ 816 w 1519"/>
                  <a:gd name="T41" fmla="*/ 708 h 872"/>
                  <a:gd name="T42" fmla="*/ 885 w 1519"/>
                  <a:gd name="T43" fmla="*/ 702 h 872"/>
                  <a:gd name="T44" fmla="*/ 944 w 1519"/>
                  <a:gd name="T45" fmla="*/ 717 h 872"/>
                  <a:gd name="T46" fmla="*/ 982 w 1519"/>
                  <a:gd name="T47" fmla="*/ 730 h 872"/>
                  <a:gd name="T48" fmla="*/ 1034 w 1519"/>
                  <a:gd name="T49" fmla="*/ 712 h 872"/>
                  <a:gd name="T50" fmla="*/ 973 w 1519"/>
                  <a:gd name="T51" fmla="*/ 649 h 872"/>
                  <a:gd name="T52" fmla="*/ 1111 w 1519"/>
                  <a:gd name="T53" fmla="*/ 647 h 872"/>
                  <a:gd name="T54" fmla="*/ 1184 w 1519"/>
                  <a:gd name="T55" fmla="*/ 831 h 872"/>
                  <a:gd name="T56" fmla="*/ 1171 w 1519"/>
                  <a:gd name="T57" fmla="*/ 529 h 872"/>
                  <a:gd name="T58" fmla="*/ 1274 w 1519"/>
                  <a:gd name="T59" fmla="*/ 603 h 872"/>
                  <a:gd name="T60" fmla="*/ 1303 w 1519"/>
                  <a:gd name="T61" fmla="*/ 868 h 872"/>
                  <a:gd name="T62" fmla="*/ 1484 w 1519"/>
                  <a:gd name="T63" fmla="*/ 867 h 872"/>
                  <a:gd name="T64" fmla="*/ 1519 w 1519"/>
                  <a:gd name="T65" fmla="*/ 872 h 872"/>
                  <a:gd name="T66" fmla="*/ 1319 w 1519"/>
                  <a:gd name="T67" fmla="*/ 555 h 872"/>
                  <a:gd name="T68" fmla="*/ 1407 w 1519"/>
                  <a:gd name="T69" fmla="*/ 288 h 872"/>
                  <a:gd name="T70" fmla="*/ 1435 w 1519"/>
                  <a:gd name="T71" fmla="*/ 237 h 872"/>
                  <a:gd name="T72" fmla="*/ 1041 w 1519"/>
                  <a:gd name="T73" fmla="*/ 83 h 872"/>
                  <a:gd name="T74" fmla="*/ 991 w 1519"/>
                  <a:gd name="T75" fmla="*/ 176 h 872"/>
                  <a:gd name="T76" fmla="*/ 1025 w 1519"/>
                  <a:gd name="T77" fmla="*/ 261 h 872"/>
                  <a:gd name="T78" fmla="*/ 1036 w 1519"/>
                  <a:gd name="T79" fmla="*/ 342 h 872"/>
                  <a:gd name="T80" fmla="*/ 1119 w 1519"/>
                  <a:gd name="T81" fmla="*/ 512 h 872"/>
                  <a:gd name="T82" fmla="*/ 919 w 1519"/>
                  <a:gd name="T83" fmla="*/ 626 h 872"/>
                  <a:gd name="T84" fmla="*/ 855 w 1519"/>
                  <a:gd name="T85" fmla="*/ 620 h 872"/>
                  <a:gd name="T86" fmla="*/ 162 w 1519"/>
                  <a:gd name="T87" fmla="*/ 275 h 872"/>
                  <a:gd name="T88" fmla="*/ 242 w 1519"/>
                  <a:gd name="T89" fmla="*/ 189 h 872"/>
                  <a:gd name="T90" fmla="*/ 398 w 1519"/>
                  <a:gd name="T91" fmla="*/ 231 h 872"/>
                  <a:gd name="T92" fmla="*/ 303 w 1519"/>
                  <a:gd name="T93" fmla="*/ 478 h 872"/>
                  <a:gd name="T94" fmla="*/ 1096 w 1519"/>
                  <a:gd name="T95" fmla="*/ 255 h 872"/>
                  <a:gd name="T96" fmla="*/ 1302 w 1519"/>
                  <a:gd name="T97" fmla="*/ 237 h 872"/>
                  <a:gd name="T98" fmla="*/ 1352 w 1519"/>
                  <a:gd name="T99" fmla="*/ 275 h 872"/>
                  <a:gd name="T100" fmla="*/ 758 w 1519"/>
                  <a:gd name="T101" fmla="*/ 588 h 872"/>
                  <a:gd name="T102" fmla="*/ 641 w 1519"/>
                  <a:gd name="T103" fmla="*/ 365 h 872"/>
                  <a:gd name="T104" fmla="*/ 847 w 1519"/>
                  <a:gd name="T105" fmla="*/ 347 h 872"/>
                  <a:gd name="T106" fmla="*/ 897 w 1519"/>
                  <a:gd name="T107" fmla="*/ 385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19" h="872">
                    <a:moveTo>
                      <a:pt x="952" y="397"/>
                    </a:moveTo>
                    <a:cubicBezTo>
                      <a:pt x="955" y="396"/>
                      <a:pt x="957" y="395"/>
                      <a:pt x="960" y="394"/>
                    </a:cubicBezTo>
                    <a:cubicBezTo>
                      <a:pt x="975" y="385"/>
                      <a:pt x="983" y="368"/>
                      <a:pt x="980" y="351"/>
                    </a:cubicBezTo>
                    <a:cubicBezTo>
                      <a:pt x="980" y="346"/>
                      <a:pt x="980" y="346"/>
                      <a:pt x="980" y="346"/>
                    </a:cubicBezTo>
                    <a:cubicBezTo>
                      <a:pt x="974" y="275"/>
                      <a:pt x="961" y="110"/>
                      <a:pt x="741" y="121"/>
                    </a:cubicBezTo>
                    <a:cubicBezTo>
                      <a:pt x="647" y="125"/>
                      <a:pt x="600" y="143"/>
                      <a:pt x="589" y="178"/>
                    </a:cubicBezTo>
                    <a:cubicBezTo>
                      <a:pt x="587" y="183"/>
                      <a:pt x="587" y="188"/>
                      <a:pt x="587" y="193"/>
                    </a:cubicBezTo>
                    <a:cubicBezTo>
                      <a:pt x="582" y="195"/>
                      <a:pt x="577" y="197"/>
                      <a:pt x="573" y="199"/>
                    </a:cubicBezTo>
                    <a:cubicBezTo>
                      <a:pt x="551" y="213"/>
                      <a:pt x="539" y="237"/>
                      <a:pt x="537" y="273"/>
                    </a:cubicBezTo>
                    <a:cubicBezTo>
                      <a:pt x="535" y="299"/>
                      <a:pt x="533" y="357"/>
                      <a:pt x="564" y="380"/>
                    </a:cubicBezTo>
                    <a:cubicBezTo>
                      <a:pt x="564" y="382"/>
                      <a:pt x="564" y="384"/>
                      <a:pt x="564" y="385"/>
                    </a:cubicBezTo>
                    <a:cubicBezTo>
                      <a:pt x="564" y="510"/>
                      <a:pt x="598" y="588"/>
                      <a:pt x="665" y="622"/>
                    </a:cubicBezTo>
                    <a:cubicBezTo>
                      <a:pt x="665" y="622"/>
                      <a:pt x="665" y="622"/>
                      <a:pt x="665" y="622"/>
                    </a:cubicBezTo>
                    <a:cubicBezTo>
                      <a:pt x="657" y="664"/>
                      <a:pt x="657" y="664"/>
                      <a:pt x="657" y="664"/>
                    </a:cubicBezTo>
                    <a:cubicBezTo>
                      <a:pt x="604" y="679"/>
                      <a:pt x="604" y="679"/>
                      <a:pt x="604" y="679"/>
                    </a:cubicBezTo>
                    <a:cubicBezTo>
                      <a:pt x="601" y="626"/>
                      <a:pt x="601" y="626"/>
                      <a:pt x="601" y="626"/>
                    </a:cubicBezTo>
                    <a:cubicBezTo>
                      <a:pt x="600" y="614"/>
                      <a:pt x="591" y="604"/>
                      <a:pt x="579" y="602"/>
                    </a:cubicBezTo>
                    <a:cubicBezTo>
                      <a:pt x="408" y="554"/>
                      <a:pt x="408" y="554"/>
                      <a:pt x="408" y="554"/>
                    </a:cubicBezTo>
                    <a:cubicBezTo>
                      <a:pt x="400" y="509"/>
                      <a:pt x="400" y="509"/>
                      <a:pt x="400" y="509"/>
                    </a:cubicBezTo>
                    <a:cubicBezTo>
                      <a:pt x="400" y="509"/>
                      <a:pt x="400" y="509"/>
                      <a:pt x="400" y="509"/>
                    </a:cubicBezTo>
                    <a:cubicBezTo>
                      <a:pt x="446" y="484"/>
                      <a:pt x="476" y="437"/>
                      <a:pt x="489" y="367"/>
                    </a:cubicBezTo>
                    <a:cubicBezTo>
                      <a:pt x="481" y="340"/>
                      <a:pt x="478" y="312"/>
                      <a:pt x="479" y="284"/>
                    </a:cubicBezTo>
                    <a:cubicBezTo>
                      <a:pt x="479" y="279"/>
                      <a:pt x="479" y="273"/>
                      <a:pt x="480" y="268"/>
                    </a:cubicBezTo>
                    <a:cubicBezTo>
                      <a:pt x="482" y="263"/>
                      <a:pt x="481" y="262"/>
                      <a:pt x="481" y="258"/>
                    </a:cubicBezTo>
                    <a:cubicBezTo>
                      <a:pt x="481" y="258"/>
                      <a:pt x="481" y="258"/>
                      <a:pt x="481" y="258"/>
                    </a:cubicBezTo>
                    <a:cubicBezTo>
                      <a:pt x="483" y="227"/>
                      <a:pt x="496" y="197"/>
                      <a:pt x="517" y="173"/>
                    </a:cubicBezTo>
                    <a:cubicBezTo>
                      <a:pt x="501" y="97"/>
                      <a:pt x="454" y="2"/>
                      <a:pt x="285" y="10"/>
                    </a:cubicBezTo>
                    <a:cubicBezTo>
                      <a:pt x="191" y="15"/>
                      <a:pt x="144" y="33"/>
                      <a:pt x="134" y="68"/>
                    </a:cubicBezTo>
                    <a:cubicBezTo>
                      <a:pt x="132" y="73"/>
                      <a:pt x="131" y="78"/>
                      <a:pt x="131" y="83"/>
                    </a:cubicBezTo>
                    <a:cubicBezTo>
                      <a:pt x="127" y="85"/>
                      <a:pt x="122" y="87"/>
                      <a:pt x="118" y="89"/>
                    </a:cubicBezTo>
                    <a:cubicBezTo>
                      <a:pt x="96" y="103"/>
                      <a:pt x="84" y="127"/>
                      <a:pt x="82" y="163"/>
                    </a:cubicBezTo>
                    <a:cubicBezTo>
                      <a:pt x="79" y="189"/>
                      <a:pt x="77" y="247"/>
                      <a:pt x="109" y="270"/>
                    </a:cubicBezTo>
                    <a:cubicBezTo>
                      <a:pt x="109" y="272"/>
                      <a:pt x="109" y="274"/>
                      <a:pt x="109" y="275"/>
                    </a:cubicBezTo>
                    <a:cubicBezTo>
                      <a:pt x="109" y="400"/>
                      <a:pt x="143" y="478"/>
                      <a:pt x="210" y="512"/>
                    </a:cubicBezTo>
                    <a:cubicBezTo>
                      <a:pt x="210" y="512"/>
                      <a:pt x="210" y="512"/>
                      <a:pt x="210" y="512"/>
                    </a:cubicBezTo>
                    <a:cubicBezTo>
                      <a:pt x="201" y="554"/>
                      <a:pt x="201" y="554"/>
                      <a:pt x="201" y="554"/>
                    </a:cubicBezTo>
                    <a:cubicBezTo>
                      <a:pt x="29" y="602"/>
                      <a:pt x="29" y="602"/>
                      <a:pt x="29" y="602"/>
                    </a:cubicBezTo>
                    <a:cubicBezTo>
                      <a:pt x="18" y="605"/>
                      <a:pt x="10" y="615"/>
                      <a:pt x="9" y="627"/>
                    </a:cubicBezTo>
                    <a:cubicBezTo>
                      <a:pt x="0" y="856"/>
                      <a:pt x="0" y="856"/>
                      <a:pt x="0" y="856"/>
                    </a:cubicBezTo>
                    <a:cubicBezTo>
                      <a:pt x="251" y="854"/>
                      <a:pt x="251" y="854"/>
                      <a:pt x="251" y="854"/>
                    </a:cubicBezTo>
                    <a:cubicBezTo>
                      <a:pt x="257" y="849"/>
                      <a:pt x="263" y="844"/>
                      <a:pt x="269" y="839"/>
                    </a:cubicBezTo>
                    <a:cubicBezTo>
                      <a:pt x="267" y="760"/>
                      <a:pt x="259" y="681"/>
                      <a:pt x="245" y="602"/>
                    </a:cubicBezTo>
                    <a:cubicBezTo>
                      <a:pt x="261" y="529"/>
                      <a:pt x="261" y="529"/>
                      <a:pt x="261" y="529"/>
                    </a:cubicBezTo>
                    <a:cubicBezTo>
                      <a:pt x="261" y="529"/>
                      <a:pt x="261" y="529"/>
                      <a:pt x="261" y="529"/>
                    </a:cubicBezTo>
                    <a:cubicBezTo>
                      <a:pt x="275" y="531"/>
                      <a:pt x="289" y="532"/>
                      <a:pt x="303" y="532"/>
                    </a:cubicBezTo>
                    <a:cubicBezTo>
                      <a:pt x="318" y="532"/>
                      <a:pt x="333" y="531"/>
                      <a:pt x="348" y="528"/>
                    </a:cubicBezTo>
                    <a:cubicBezTo>
                      <a:pt x="348" y="528"/>
                      <a:pt x="348" y="528"/>
                      <a:pt x="348" y="528"/>
                    </a:cubicBezTo>
                    <a:cubicBezTo>
                      <a:pt x="363" y="601"/>
                      <a:pt x="363" y="601"/>
                      <a:pt x="363" y="601"/>
                    </a:cubicBezTo>
                    <a:cubicBezTo>
                      <a:pt x="348" y="665"/>
                      <a:pt x="339" y="731"/>
                      <a:pt x="336" y="797"/>
                    </a:cubicBezTo>
                    <a:cubicBezTo>
                      <a:pt x="338" y="796"/>
                      <a:pt x="341" y="795"/>
                      <a:pt x="344" y="795"/>
                    </a:cubicBezTo>
                    <a:cubicBezTo>
                      <a:pt x="363" y="786"/>
                      <a:pt x="383" y="778"/>
                      <a:pt x="404" y="772"/>
                    </a:cubicBezTo>
                    <a:cubicBezTo>
                      <a:pt x="442" y="762"/>
                      <a:pt x="534" y="736"/>
                      <a:pt x="562" y="733"/>
                    </a:cubicBezTo>
                    <a:cubicBezTo>
                      <a:pt x="567" y="732"/>
                      <a:pt x="573" y="732"/>
                      <a:pt x="579" y="732"/>
                    </a:cubicBezTo>
                    <a:cubicBezTo>
                      <a:pt x="616" y="733"/>
                      <a:pt x="653" y="738"/>
                      <a:pt x="689" y="746"/>
                    </a:cubicBezTo>
                    <a:cubicBezTo>
                      <a:pt x="692" y="746"/>
                      <a:pt x="692" y="746"/>
                      <a:pt x="692" y="746"/>
                    </a:cubicBezTo>
                    <a:cubicBezTo>
                      <a:pt x="698" y="748"/>
                      <a:pt x="704" y="749"/>
                      <a:pt x="709" y="750"/>
                    </a:cubicBezTo>
                    <a:cubicBezTo>
                      <a:pt x="707" y="737"/>
                      <a:pt x="704" y="723"/>
                      <a:pt x="701" y="711"/>
                    </a:cubicBezTo>
                    <a:cubicBezTo>
                      <a:pt x="715" y="638"/>
                      <a:pt x="715" y="638"/>
                      <a:pt x="715" y="638"/>
                    </a:cubicBezTo>
                    <a:cubicBezTo>
                      <a:pt x="715" y="638"/>
                      <a:pt x="715" y="638"/>
                      <a:pt x="715" y="638"/>
                    </a:cubicBezTo>
                    <a:cubicBezTo>
                      <a:pt x="744" y="643"/>
                      <a:pt x="774" y="643"/>
                      <a:pt x="803" y="638"/>
                    </a:cubicBezTo>
                    <a:cubicBezTo>
                      <a:pt x="816" y="707"/>
                      <a:pt x="816" y="707"/>
                      <a:pt x="816" y="707"/>
                    </a:cubicBezTo>
                    <a:cubicBezTo>
                      <a:pt x="816" y="707"/>
                      <a:pt x="816" y="707"/>
                      <a:pt x="816" y="708"/>
                    </a:cubicBezTo>
                    <a:cubicBezTo>
                      <a:pt x="816" y="708"/>
                      <a:pt x="816" y="708"/>
                      <a:pt x="816" y="708"/>
                    </a:cubicBezTo>
                    <a:cubicBezTo>
                      <a:pt x="821" y="706"/>
                      <a:pt x="821" y="706"/>
                      <a:pt x="821" y="706"/>
                    </a:cubicBezTo>
                    <a:cubicBezTo>
                      <a:pt x="837" y="701"/>
                      <a:pt x="853" y="699"/>
                      <a:pt x="870" y="700"/>
                    </a:cubicBezTo>
                    <a:cubicBezTo>
                      <a:pt x="875" y="701"/>
                      <a:pt x="880" y="701"/>
                      <a:pt x="885" y="702"/>
                    </a:cubicBezTo>
                    <a:cubicBezTo>
                      <a:pt x="895" y="704"/>
                      <a:pt x="905" y="706"/>
                      <a:pt x="916" y="709"/>
                    </a:cubicBezTo>
                    <a:cubicBezTo>
                      <a:pt x="923" y="711"/>
                      <a:pt x="930" y="713"/>
                      <a:pt x="937" y="715"/>
                    </a:cubicBezTo>
                    <a:cubicBezTo>
                      <a:pt x="944" y="717"/>
                      <a:pt x="944" y="717"/>
                      <a:pt x="944" y="717"/>
                    </a:cubicBezTo>
                    <a:cubicBezTo>
                      <a:pt x="951" y="720"/>
                      <a:pt x="959" y="722"/>
                      <a:pt x="967" y="725"/>
                    </a:cubicBezTo>
                    <a:cubicBezTo>
                      <a:pt x="967" y="725"/>
                      <a:pt x="967" y="725"/>
                      <a:pt x="967" y="725"/>
                    </a:cubicBezTo>
                    <a:cubicBezTo>
                      <a:pt x="982" y="730"/>
                      <a:pt x="982" y="730"/>
                      <a:pt x="982" y="730"/>
                    </a:cubicBezTo>
                    <a:cubicBezTo>
                      <a:pt x="1005" y="740"/>
                      <a:pt x="1030" y="750"/>
                      <a:pt x="1055" y="762"/>
                    </a:cubicBezTo>
                    <a:cubicBezTo>
                      <a:pt x="1054" y="736"/>
                      <a:pt x="1054" y="736"/>
                      <a:pt x="1054" y="736"/>
                    </a:cubicBezTo>
                    <a:cubicBezTo>
                      <a:pt x="1053" y="725"/>
                      <a:pt x="1046" y="715"/>
                      <a:pt x="1034" y="712"/>
                    </a:cubicBezTo>
                    <a:cubicBezTo>
                      <a:pt x="971" y="694"/>
                      <a:pt x="971" y="694"/>
                      <a:pt x="971" y="694"/>
                    </a:cubicBezTo>
                    <a:cubicBezTo>
                      <a:pt x="971" y="694"/>
                      <a:pt x="971" y="694"/>
                      <a:pt x="971" y="694"/>
                    </a:cubicBezTo>
                    <a:cubicBezTo>
                      <a:pt x="973" y="649"/>
                      <a:pt x="973" y="649"/>
                      <a:pt x="973" y="649"/>
                    </a:cubicBezTo>
                    <a:cubicBezTo>
                      <a:pt x="1099" y="613"/>
                      <a:pt x="1099" y="613"/>
                      <a:pt x="1099" y="613"/>
                    </a:cubicBezTo>
                    <a:cubicBezTo>
                      <a:pt x="1104" y="612"/>
                      <a:pt x="1104" y="612"/>
                      <a:pt x="1104" y="612"/>
                    </a:cubicBezTo>
                    <a:cubicBezTo>
                      <a:pt x="1106" y="623"/>
                      <a:pt x="1109" y="635"/>
                      <a:pt x="1111" y="647"/>
                    </a:cubicBezTo>
                    <a:cubicBezTo>
                      <a:pt x="1120" y="697"/>
                      <a:pt x="1125" y="748"/>
                      <a:pt x="1128" y="799"/>
                    </a:cubicBezTo>
                    <a:cubicBezTo>
                      <a:pt x="1130" y="800"/>
                      <a:pt x="1132" y="801"/>
                      <a:pt x="1134" y="802"/>
                    </a:cubicBezTo>
                    <a:cubicBezTo>
                      <a:pt x="1151" y="811"/>
                      <a:pt x="1168" y="821"/>
                      <a:pt x="1184" y="831"/>
                    </a:cubicBezTo>
                    <a:cubicBezTo>
                      <a:pt x="1182" y="753"/>
                      <a:pt x="1173" y="677"/>
                      <a:pt x="1157" y="601"/>
                    </a:cubicBezTo>
                    <a:cubicBezTo>
                      <a:pt x="1171" y="529"/>
                      <a:pt x="1171" y="529"/>
                      <a:pt x="1171" y="529"/>
                    </a:cubicBezTo>
                    <a:cubicBezTo>
                      <a:pt x="1171" y="529"/>
                      <a:pt x="1171" y="529"/>
                      <a:pt x="1171" y="529"/>
                    </a:cubicBezTo>
                    <a:cubicBezTo>
                      <a:pt x="1200" y="534"/>
                      <a:pt x="1230" y="534"/>
                      <a:pt x="1259" y="529"/>
                    </a:cubicBezTo>
                    <a:cubicBezTo>
                      <a:pt x="1259" y="529"/>
                      <a:pt x="1259" y="529"/>
                      <a:pt x="1259" y="529"/>
                    </a:cubicBezTo>
                    <a:cubicBezTo>
                      <a:pt x="1274" y="603"/>
                      <a:pt x="1274" y="603"/>
                      <a:pt x="1274" y="603"/>
                    </a:cubicBezTo>
                    <a:cubicBezTo>
                      <a:pt x="1260" y="669"/>
                      <a:pt x="1253" y="775"/>
                      <a:pt x="1249" y="868"/>
                    </a:cubicBezTo>
                    <a:cubicBezTo>
                      <a:pt x="1253" y="868"/>
                      <a:pt x="1253" y="868"/>
                      <a:pt x="1253" y="868"/>
                    </a:cubicBezTo>
                    <a:cubicBezTo>
                      <a:pt x="1303" y="868"/>
                      <a:pt x="1303" y="868"/>
                      <a:pt x="1303" y="868"/>
                    </a:cubicBezTo>
                    <a:cubicBezTo>
                      <a:pt x="1448" y="867"/>
                      <a:pt x="1448" y="867"/>
                      <a:pt x="1448" y="867"/>
                    </a:cubicBezTo>
                    <a:cubicBezTo>
                      <a:pt x="1454" y="867"/>
                      <a:pt x="1454" y="867"/>
                      <a:pt x="1454" y="867"/>
                    </a:cubicBezTo>
                    <a:cubicBezTo>
                      <a:pt x="1484" y="867"/>
                      <a:pt x="1484" y="867"/>
                      <a:pt x="1484" y="867"/>
                    </a:cubicBezTo>
                    <a:cubicBezTo>
                      <a:pt x="1488" y="867"/>
                      <a:pt x="1488" y="867"/>
                      <a:pt x="1488" y="867"/>
                    </a:cubicBezTo>
                    <a:cubicBezTo>
                      <a:pt x="1496" y="867"/>
                      <a:pt x="1505" y="869"/>
                      <a:pt x="1513" y="871"/>
                    </a:cubicBezTo>
                    <a:cubicBezTo>
                      <a:pt x="1515" y="871"/>
                      <a:pt x="1517" y="872"/>
                      <a:pt x="1519" y="872"/>
                    </a:cubicBezTo>
                    <a:cubicBezTo>
                      <a:pt x="1510" y="628"/>
                      <a:pt x="1510" y="628"/>
                      <a:pt x="1510" y="628"/>
                    </a:cubicBezTo>
                    <a:cubicBezTo>
                      <a:pt x="1509" y="616"/>
                      <a:pt x="1501" y="606"/>
                      <a:pt x="1490" y="603"/>
                    </a:cubicBezTo>
                    <a:cubicBezTo>
                      <a:pt x="1319" y="555"/>
                      <a:pt x="1319" y="555"/>
                      <a:pt x="1319" y="555"/>
                    </a:cubicBezTo>
                    <a:cubicBezTo>
                      <a:pt x="1310" y="511"/>
                      <a:pt x="1310" y="511"/>
                      <a:pt x="1310" y="511"/>
                    </a:cubicBezTo>
                    <a:cubicBezTo>
                      <a:pt x="1310" y="511"/>
                      <a:pt x="1310" y="511"/>
                      <a:pt x="1310" y="511"/>
                    </a:cubicBezTo>
                    <a:cubicBezTo>
                      <a:pt x="1373" y="477"/>
                      <a:pt x="1405" y="403"/>
                      <a:pt x="1407" y="288"/>
                    </a:cubicBezTo>
                    <a:cubicBezTo>
                      <a:pt x="1410" y="287"/>
                      <a:pt x="1413" y="286"/>
                      <a:pt x="1415" y="285"/>
                    </a:cubicBezTo>
                    <a:cubicBezTo>
                      <a:pt x="1431" y="276"/>
                      <a:pt x="1439" y="259"/>
                      <a:pt x="1435" y="242"/>
                    </a:cubicBezTo>
                    <a:cubicBezTo>
                      <a:pt x="1435" y="237"/>
                      <a:pt x="1435" y="237"/>
                      <a:pt x="1435" y="237"/>
                    </a:cubicBezTo>
                    <a:cubicBezTo>
                      <a:pt x="1430" y="165"/>
                      <a:pt x="1416" y="0"/>
                      <a:pt x="1196" y="10"/>
                    </a:cubicBezTo>
                    <a:cubicBezTo>
                      <a:pt x="1101" y="15"/>
                      <a:pt x="1054" y="33"/>
                      <a:pt x="1043" y="68"/>
                    </a:cubicBezTo>
                    <a:cubicBezTo>
                      <a:pt x="1042" y="73"/>
                      <a:pt x="1041" y="78"/>
                      <a:pt x="1041" y="83"/>
                    </a:cubicBezTo>
                    <a:cubicBezTo>
                      <a:pt x="1037" y="85"/>
                      <a:pt x="1032" y="87"/>
                      <a:pt x="1028" y="89"/>
                    </a:cubicBezTo>
                    <a:cubicBezTo>
                      <a:pt x="1006" y="103"/>
                      <a:pt x="993" y="127"/>
                      <a:pt x="992" y="163"/>
                    </a:cubicBezTo>
                    <a:cubicBezTo>
                      <a:pt x="992" y="167"/>
                      <a:pt x="991" y="171"/>
                      <a:pt x="991" y="176"/>
                    </a:cubicBezTo>
                    <a:cubicBezTo>
                      <a:pt x="1004" y="198"/>
                      <a:pt x="1014" y="222"/>
                      <a:pt x="1021" y="247"/>
                    </a:cubicBezTo>
                    <a:cubicBezTo>
                      <a:pt x="1022" y="250"/>
                      <a:pt x="1023" y="253"/>
                      <a:pt x="1023" y="256"/>
                    </a:cubicBezTo>
                    <a:cubicBezTo>
                      <a:pt x="1025" y="261"/>
                      <a:pt x="1025" y="261"/>
                      <a:pt x="1025" y="261"/>
                    </a:cubicBezTo>
                    <a:cubicBezTo>
                      <a:pt x="1025" y="264"/>
                      <a:pt x="1026" y="266"/>
                      <a:pt x="1027" y="269"/>
                    </a:cubicBezTo>
                    <a:cubicBezTo>
                      <a:pt x="1028" y="274"/>
                      <a:pt x="1028" y="274"/>
                      <a:pt x="1028" y="274"/>
                    </a:cubicBezTo>
                    <a:cubicBezTo>
                      <a:pt x="1032" y="296"/>
                      <a:pt x="1035" y="319"/>
                      <a:pt x="1036" y="342"/>
                    </a:cubicBezTo>
                    <a:cubicBezTo>
                      <a:pt x="1036" y="346"/>
                      <a:pt x="1036" y="346"/>
                      <a:pt x="1036" y="346"/>
                    </a:cubicBezTo>
                    <a:cubicBezTo>
                      <a:pt x="1038" y="361"/>
                      <a:pt x="1036" y="376"/>
                      <a:pt x="1031" y="390"/>
                    </a:cubicBezTo>
                    <a:cubicBezTo>
                      <a:pt x="1047" y="450"/>
                      <a:pt x="1076" y="490"/>
                      <a:pt x="1119" y="512"/>
                    </a:cubicBezTo>
                    <a:cubicBezTo>
                      <a:pt x="1111" y="554"/>
                      <a:pt x="1111" y="554"/>
                      <a:pt x="1111" y="554"/>
                    </a:cubicBezTo>
                    <a:cubicBezTo>
                      <a:pt x="939" y="602"/>
                      <a:pt x="939" y="602"/>
                      <a:pt x="939" y="602"/>
                    </a:cubicBezTo>
                    <a:cubicBezTo>
                      <a:pt x="928" y="605"/>
                      <a:pt x="920" y="615"/>
                      <a:pt x="919" y="626"/>
                    </a:cubicBezTo>
                    <a:cubicBezTo>
                      <a:pt x="917" y="679"/>
                      <a:pt x="917" y="679"/>
                      <a:pt x="917" y="679"/>
                    </a:cubicBezTo>
                    <a:cubicBezTo>
                      <a:pt x="864" y="664"/>
                      <a:pt x="864" y="664"/>
                      <a:pt x="864" y="664"/>
                    </a:cubicBezTo>
                    <a:cubicBezTo>
                      <a:pt x="855" y="620"/>
                      <a:pt x="855" y="620"/>
                      <a:pt x="855" y="620"/>
                    </a:cubicBezTo>
                    <a:cubicBezTo>
                      <a:pt x="917" y="586"/>
                      <a:pt x="949" y="512"/>
                      <a:pt x="952" y="397"/>
                    </a:cubicBezTo>
                    <a:close/>
                    <a:moveTo>
                      <a:pt x="303" y="478"/>
                    </a:moveTo>
                    <a:cubicBezTo>
                      <a:pt x="257" y="478"/>
                      <a:pt x="163" y="478"/>
                      <a:pt x="162" y="275"/>
                    </a:cubicBezTo>
                    <a:cubicBezTo>
                      <a:pt x="162" y="274"/>
                      <a:pt x="162" y="272"/>
                      <a:pt x="162" y="271"/>
                    </a:cubicBezTo>
                    <a:cubicBezTo>
                      <a:pt x="171" y="267"/>
                      <a:pt x="179" y="261"/>
                      <a:pt x="186" y="255"/>
                    </a:cubicBezTo>
                    <a:cubicBezTo>
                      <a:pt x="208" y="236"/>
                      <a:pt x="227" y="214"/>
                      <a:pt x="242" y="189"/>
                    </a:cubicBezTo>
                    <a:cubicBezTo>
                      <a:pt x="243" y="191"/>
                      <a:pt x="243" y="191"/>
                      <a:pt x="243" y="191"/>
                    </a:cubicBezTo>
                    <a:cubicBezTo>
                      <a:pt x="278" y="231"/>
                      <a:pt x="356" y="260"/>
                      <a:pt x="391" y="237"/>
                    </a:cubicBezTo>
                    <a:cubicBezTo>
                      <a:pt x="393" y="235"/>
                      <a:pt x="396" y="233"/>
                      <a:pt x="398" y="231"/>
                    </a:cubicBezTo>
                    <a:cubicBezTo>
                      <a:pt x="414" y="246"/>
                      <a:pt x="429" y="258"/>
                      <a:pt x="442" y="268"/>
                    </a:cubicBezTo>
                    <a:cubicBezTo>
                      <a:pt x="442" y="270"/>
                      <a:pt x="442" y="273"/>
                      <a:pt x="442" y="275"/>
                    </a:cubicBezTo>
                    <a:cubicBezTo>
                      <a:pt x="442" y="478"/>
                      <a:pt x="348" y="478"/>
                      <a:pt x="303" y="478"/>
                    </a:cubicBezTo>
                    <a:close/>
                    <a:moveTo>
                      <a:pt x="1072" y="275"/>
                    </a:moveTo>
                    <a:cubicBezTo>
                      <a:pt x="1072" y="274"/>
                      <a:pt x="1072" y="272"/>
                      <a:pt x="1072" y="271"/>
                    </a:cubicBezTo>
                    <a:cubicBezTo>
                      <a:pt x="1081" y="267"/>
                      <a:pt x="1089" y="261"/>
                      <a:pt x="1096" y="255"/>
                    </a:cubicBezTo>
                    <a:cubicBezTo>
                      <a:pt x="1118" y="236"/>
                      <a:pt x="1137" y="214"/>
                      <a:pt x="1152" y="190"/>
                    </a:cubicBezTo>
                    <a:cubicBezTo>
                      <a:pt x="1153" y="191"/>
                      <a:pt x="1153" y="191"/>
                      <a:pt x="1153" y="191"/>
                    </a:cubicBezTo>
                    <a:cubicBezTo>
                      <a:pt x="1189" y="231"/>
                      <a:pt x="1266" y="260"/>
                      <a:pt x="1302" y="237"/>
                    </a:cubicBezTo>
                    <a:cubicBezTo>
                      <a:pt x="1304" y="235"/>
                      <a:pt x="1306" y="233"/>
                      <a:pt x="1308" y="232"/>
                    </a:cubicBezTo>
                    <a:cubicBezTo>
                      <a:pt x="1324" y="246"/>
                      <a:pt x="1339" y="259"/>
                      <a:pt x="1352" y="268"/>
                    </a:cubicBezTo>
                    <a:cubicBezTo>
                      <a:pt x="1352" y="270"/>
                      <a:pt x="1352" y="273"/>
                      <a:pt x="1352" y="275"/>
                    </a:cubicBezTo>
                    <a:cubicBezTo>
                      <a:pt x="1352" y="478"/>
                      <a:pt x="1258" y="478"/>
                      <a:pt x="1212" y="478"/>
                    </a:cubicBezTo>
                    <a:cubicBezTo>
                      <a:pt x="1166" y="478"/>
                      <a:pt x="1073" y="478"/>
                      <a:pt x="1072" y="275"/>
                    </a:cubicBezTo>
                    <a:close/>
                    <a:moveTo>
                      <a:pt x="758" y="588"/>
                    </a:moveTo>
                    <a:cubicBezTo>
                      <a:pt x="712" y="588"/>
                      <a:pt x="618" y="588"/>
                      <a:pt x="617" y="385"/>
                    </a:cubicBezTo>
                    <a:cubicBezTo>
                      <a:pt x="617" y="384"/>
                      <a:pt x="617" y="382"/>
                      <a:pt x="617" y="381"/>
                    </a:cubicBezTo>
                    <a:cubicBezTo>
                      <a:pt x="626" y="377"/>
                      <a:pt x="634" y="371"/>
                      <a:pt x="641" y="365"/>
                    </a:cubicBezTo>
                    <a:cubicBezTo>
                      <a:pt x="663" y="346"/>
                      <a:pt x="682" y="324"/>
                      <a:pt x="697" y="300"/>
                    </a:cubicBezTo>
                    <a:cubicBezTo>
                      <a:pt x="698" y="301"/>
                      <a:pt x="698" y="301"/>
                      <a:pt x="698" y="301"/>
                    </a:cubicBezTo>
                    <a:cubicBezTo>
                      <a:pt x="734" y="341"/>
                      <a:pt x="811" y="370"/>
                      <a:pt x="847" y="347"/>
                    </a:cubicBezTo>
                    <a:cubicBezTo>
                      <a:pt x="849" y="345"/>
                      <a:pt x="851" y="343"/>
                      <a:pt x="853" y="342"/>
                    </a:cubicBezTo>
                    <a:cubicBezTo>
                      <a:pt x="870" y="356"/>
                      <a:pt x="884" y="369"/>
                      <a:pt x="897" y="378"/>
                    </a:cubicBezTo>
                    <a:cubicBezTo>
                      <a:pt x="897" y="381"/>
                      <a:pt x="897" y="383"/>
                      <a:pt x="897" y="385"/>
                    </a:cubicBezTo>
                    <a:cubicBezTo>
                      <a:pt x="897" y="588"/>
                      <a:pt x="803" y="588"/>
                      <a:pt x="758" y="5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</p:grpSp>
      </p:grpSp>
      <p:grpSp>
        <p:nvGrpSpPr>
          <p:cNvPr id="210" name="组合 209"/>
          <p:cNvGrpSpPr/>
          <p:nvPr/>
        </p:nvGrpSpPr>
        <p:grpSpPr>
          <a:xfrm>
            <a:off x="651867" y="5241217"/>
            <a:ext cx="3023535" cy="504000"/>
            <a:chOff x="945168" y="5463861"/>
            <a:chExt cx="3023535" cy="504000"/>
          </a:xfrm>
        </p:grpSpPr>
        <p:sp>
          <p:nvSpPr>
            <p:cNvPr id="189" name="Rectangle 51"/>
            <p:cNvSpPr/>
            <p:nvPr/>
          </p:nvSpPr>
          <p:spPr>
            <a:xfrm>
              <a:off x="945168" y="5463861"/>
              <a:ext cx="3023535" cy="504000"/>
            </a:xfrm>
            <a:prstGeom prst="rect">
              <a:avLst/>
            </a:prstGeom>
            <a:gradFill flip="none" rotWithShape="1">
              <a:gsLst>
                <a:gs pos="0">
                  <a:srgbClr val="B3E7FF"/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/>
          </p:spPr>
          <p:txBody>
            <a:bodyPr vert="horz"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</a:endParaRPr>
            </a:p>
          </p:txBody>
        </p:sp>
        <p:sp>
          <p:nvSpPr>
            <p:cNvPr id="190" name="TextBox 18"/>
            <p:cNvSpPr txBox="1"/>
            <p:nvPr/>
          </p:nvSpPr>
          <p:spPr>
            <a:xfrm>
              <a:off x="2046566" y="5605062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212121"/>
                  </a:solidFill>
                  <a:latin typeface="RB Office" panose="00000600000000000000" pitchFamily="2" charset="0"/>
                  <a:cs typeface="Calibri" panose="020F0502020204030204"/>
                  <a:sym typeface="+mn-lt"/>
                </a:rPr>
                <a:t>监督控制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endParaRPr>
            </a:p>
          </p:txBody>
        </p:sp>
      </p:grpSp>
      <p:grpSp>
        <p:nvGrpSpPr>
          <p:cNvPr id="205" name="组合 204"/>
          <p:cNvGrpSpPr/>
          <p:nvPr/>
        </p:nvGrpSpPr>
        <p:grpSpPr>
          <a:xfrm>
            <a:off x="776414" y="5249345"/>
            <a:ext cx="502152" cy="487743"/>
            <a:chOff x="170613" y="1842745"/>
            <a:chExt cx="502152" cy="487743"/>
          </a:xfrm>
        </p:grpSpPr>
        <p:sp>
          <p:nvSpPr>
            <p:cNvPr id="201" name="Hexagon 9"/>
            <p:cNvSpPr/>
            <p:nvPr/>
          </p:nvSpPr>
          <p:spPr bwMode="auto">
            <a:xfrm>
              <a:off x="182631" y="1875354"/>
              <a:ext cx="490134" cy="422524"/>
            </a:xfrm>
            <a:prstGeom prst="hexagon">
              <a:avLst>
                <a:gd name="adj" fmla="val 29167"/>
                <a:gd name="vf" fmla="val 115470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2" name="Freeform: Shape 10"/>
            <p:cNvSpPr/>
            <p:nvPr/>
          </p:nvSpPr>
          <p:spPr bwMode="auto">
            <a:xfrm>
              <a:off x="215464" y="1842745"/>
              <a:ext cx="424469" cy="487743"/>
            </a:xfrm>
            <a:custGeom>
              <a:avLst/>
              <a:gdLst>
                <a:gd name="connsiteX0" fmla="*/ 869582 w 1738128"/>
                <a:gd name="connsiteY0" fmla="*/ 0 h 1997251"/>
                <a:gd name="connsiteX1" fmla="*/ 1733641 w 1738128"/>
                <a:gd name="connsiteY1" fmla="*/ 498865 h 1997251"/>
                <a:gd name="connsiteX2" fmla="*/ 1738128 w 1738128"/>
                <a:gd name="connsiteY2" fmla="*/ 1500380 h 1997251"/>
                <a:gd name="connsiteX3" fmla="*/ 868547 w 1738128"/>
                <a:gd name="connsiteY3" fmla="*/ 1997251 h 1997251"/>
                <a:gd name="connsiteX4" fmla="*/ 4488 w 1738128"/>
                <a:gd name="connsiteY4" fmla="*/ 1498386 h 1997251"/>
                <a:gd name="connsiteX5" fmla="*/ 0 w 1738128"/>
                <a:gd name="connsiteY5" fmla="*/ 496871 h 199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128" h="1997251">
                  <a:moveTo>
                    <a:pt x="869582" y="0"/>
                  </a:moveTo>
                  <a:lnTo>
                    <a:pt x="1733641" y="498865"/>
                  </a:lnTo>
                  <a:lnTo>
                    <a:pt x="1738128" y="1500380"/>
                  </a:lnTo>
                  <a:lnTo>
                    <a:pt x="868547" y="1997251"/>
                  </a:lnTo>
                  <a:lnTo>
                    <a:pt x="4488" y="1498386"/>
                  </a:lnTo>
                  <a:lnTo>
                    <a:pt x="0" y="496871"/>
                  </a:lnTo>
                  <a:close/>
                </a:path>
              </a:pathLst>
            </a:custGeom>
            <a:solidFill>
              <a:srgbClr val="152A8C"/>
            </a:solidFill>
            <a:ln w="9525" cap="flat" cmpd="sng" algn="ctr">
              <a:noFill/>
              <a:prstDash val="solid"/>
            </a:ln>
            <a:effectLst/>
          </p:spPr>
          <p:txBody>
            <a:bodyPr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3" name="Freeform: Shape 11"/>
            <p:cNvSpPr/>
            <p:nvPr/>
          </p:nvSpPr>
          <p:spPr bwMode="auto">
            <a:xfrm>
              <a:off x="170613" y="1916946"/>
              <a:ext cx="73272" cy="65130"/>
            </a:xfrm>
            <a:custGeom>
              <a:avLst/>
              <a:gdLst>
                <a:gd name="connsiteX0" fmla="*/ 0 w 300037"/>
                <a:gd name="connsiteY0" fmla="*/ 47625 h 266700"/>
                <a:gd name="connsiteX1" fmla="*/ 300037 w 300037"/>
                <a:gd name="connsiteY1" fmla="*/ 0 h 266700"/>
                <a:gd name="connsiteX2" fmla="*/ 85725 w 300037"/>
                <a:gd name="connsiteY2" fmla="*/ 114300 h 266700"/>
                <a:gd name="connsiteX3" fmla="*/ 90487 w 300037"/>
                <a:gd name="connsiteY3" fmla="*/ 266700 h 266700"/>
                <a:gd name="connsiteX4" fmla="*/ 0 w 300037"/>
                <a:gd name="connsiteY4" fmla="*/ 4762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037" h="266700">
                  <a:moveTo>
                    <a:pt x="0" y="47625"/>
                  </a:moveTo>
                  <a:lnTo>
                    <a:pt x="300037" y="0"/>
                  </a:lnTo>
                  <a:lnTo>
                    <a:pt x="85725" y="114300"/>
                  </a:lnTo>
                  <a:lnTo>
                    <a:pt x="90487" y="26670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96FF"/>
            </a:solidFill>
            <a:ln w="9525" cap="flat" cmpd="sng" algn="ctr">
              <a:noFill/>
              <a:prstDash val="solid"/>
            </a:ln>
            <a:effectLst/>
          </p:spPr>
          <p:txBody>
            <a:bodyPr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4" name="Freeform: Shape 12"/>
            <p:cNvSpPr/>
            <p:nvPr/>
          </p:nvSpPr>
          <p:spPr bwMode="auto">
            <a:xfrm>
              <a:off x="616061" y="2172814"/>
              <a:ext cx="51174" cy="66293"/>
            </a:xfrm>
            <a:custGeom>
              <a:avLst/>
              <a:gdLst>
                <a:gd name="connsiteX0" fmla="*/ 180975 w 209550"/>
                <a:gd name="connsiteY0" fmla="*/ 0 h 271462"/>
                <a:gd name="connsiteX1" fmla="*/ 209550 w 209550"/>
                <a:gd name="connsiteY1" fmla="*/ 223837 h 271462"/>
                <a:gd name="connsiteX2" fmla="*/ 0 w 209550"/>
                <a:gd name="connsiteY2" fmla="*/ 271462 h 271462"/>
                <a:gd name="connsiteX3" fmla="*/ 166688 w 209550"/>
                <a:gd name="connsiteY3" fmla="*/ 157162 h 271462"/>
                <a:gd name="connsiteX4" fmla="*/ 180975 w 209550"/>
                <a:gd name="connsiteY4" fmla="*/ 0 h 27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1462">
                  <a:moveTo>
                    <a:pt x="180975" y="0"/>
                  </a:moveTo>
                  <a:lnTo>
                    <a:pt x="209550" y="223837"/>
                  </a:lnTo>
                  <a:lnTo>
                    <a:pt x="0" y="271462"/>
                  </a:lnTo>
                  <a:lnTo>
                    <a:pt x="166688" y="157162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0096FF"/>
            </a:solidFill>
            <a:ln w="9525" cap="flat" cmpd="sng" algn="ctr">
              <a:noFill/>
              <a:prstDash val="solid"/>
            </a:ln>
            <a:effectLst/>
          </p:spPr>
          <p:txBody>
            <a:bodyPr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0" name="Graphic 16"/>
            <p:cNvSpPr/>
            <p:nvPr/>
          </p:nvSpPr>
          <p:spPr>
            <a:xfrm>
              <a:off x="300882" y="1968223"/>
              <a:ext cx="241614" cy="236788"/>
            </a:xfrm>
            <a:custGeom>
              <a:avLst/>
              <a:gdLst>
                <a:gd name="connsiteX0" fmla="*/ 0 w 1943828"/>
                <a:gd name="connsiteY0" fmla="*/ 1591679 h 1905000"/>
                <a:gd name="connsiteX1" fmla="*/ 971914 w 1943828"/>
                <a:gd name="connsiteY1" fmla="*/ 1278288 h 1905000"/>
                <a:gd name="connsiteX2" fmla="*/ 1943829 w 1943828"/>
                <a:gd name="connsiteY2" fmla="*/ 1591679 h 1905000"/>
                <a:gd name="connsiteX3" fmla="*/ 971914 w 1943828"/>
                <a:gd name="connsiteY3" fmla="*/ 1905000 h 1905000"/>
                <a:gd name="connsiteX4" fmla="*/ 0 w 1943828"/>
                <a:gd name="connsiteY4" fmla="*/ 1591679 h 1905000"/>
                <a:gd name="connsiteX5" fmla="*/ 80114 w 1943828"/>
                <a:gd name="connsiteY5" fmla="*/ 1591679 h 1905000"/>
                <a:gd name="connsiteX6" fmla="*/ 971914 w 1943828"/>
                <a:gd name="connsiteY6" fmla="*/ 1825146 h 1905000"/>
                <a:gd name="connsiteX7" fmla="*/ 1863785 w 1943828"/>
                <a:gd name="connsiteY7" fmla="*/ 1591679 h 1905000"/>
                <a:gd name="connsiteX8" fmla="*/ 971914 w 1943828"/>
                <a:gd name="connsiteY8" fmla="*/ 1358142 h 1905000"/>
                <a:gd name="connsiteX9" fmla="*/ 80114 w 1943828"/>
                <a:gd name="connsiteY9" fmla="*/ 1591679 h 1905000"/>
                <a:gd name="connsiteX10" fmla="*/ 451385 w 1943828"/>
                <a:gd name="connsiteY10" fmla="*/ 1591679 h 1905000"/>
                <a:gd name="connsiteX11" fmla="*/ 972053 w 1943828"/>
                <a:gd name="connsiteY11" fmla="*/ 1410708 h 1905000"/>
                <a:gd name="connsiteX12" fmla="*/ 1492722 w 1943828"/>
                <a:gd name="connsiteY12" fmla="*/ 1591679 h 1905000"/>
                <a:gd name="connsiteX13" fmla="*/ 972053 w 1943828"/>
                <a:gd name="connsiteY13" fmla="*/ 1772579 h 1905000"/>
                <a:gd name="connsiteX14" fmla="*/ 451385 w 1943828"/>
                <a:gd name="connsiteY14" fmla="*/ 1591679 h 1905000"/>
                <a:gd name="connsiteX15" fmla="*/ 531498 w 1943828"/>
                <a:gd name="connsiteY15" fmla="*/ 1591679 h 1905000"/>
                <a:gd name="connsiteX16" fmla="*/ 971984 w 1943828"/>
                <a:gd name="connsiteY16" fmla="*/ 1692656 h 1905000"/>
                <a:gd name="connsiteX17" fmla="*/ 1412400 w 1943828"/>
                <a:gd name="connsiteY17" fmla="*/ 1591679 h 1905000"/>
                <a:gd name="connsiteX18" fmla="*/ 971984 w 1943828"/>
                <a:gd name="connsiteY18" fmla="*/ 1490632 h 1905000"/>
                <a:gd name="connsiteX19" fmla="*/ 531429 w 1943828"/>
                <a:gd name="connsiteY19" fmla="*/ 1591679 h 1905000"/>
                <a:gd name="connsiteX20" fmla="*/ 1634343 w 1943828"/>
                <a:gd name="connsiteY20" fmla="*/ 267611 h 1905000"/>
                <a:gd name="connsiteX21" fmla="*/ 1233429 w 1943828"/>
                <a:gd name="connsiteY21" fmla="*/ 99731 h 1905000"/>
                <a:gd name="connsiteX22" fmla="*/ 967680 w 1943828"/>
                <a:gd name="connsiteY22" fmla="*/ 0 h 1905000"/>
                <a:gd name="connsiteX23" fmla="*/ 962126 w 1943828"/>
                <a:gd name="connsiteY23" fmla="*/ 0 h 1905000"/>
                <a:gd name="connsiteX24" fmla="*/ 879374 w 1943828"/>
                <a:gd name="connsiteY24" fmla="*/ 20777 h 1905000"/>
                <a:gd name="connsiteX25" fmla="*/ 332742 w 1943828"/>
                <a:gd name="connsiteY25" fmla="*/ 267196 h 1905000"/>
                <a:gd name="connsiteX26" fmla="*/ 280744 w 1943828"/>
                <a:gd name="connsiteY26" fmla="*/ 335345 h 1905000"/>
                <a:gd name="connsiteX27" fmla="*/ 952615 w 1943828"/>
                <a:gd name="connsiteY27" fmla="*/ 1614880 h 1905000"/>
                <a:gd name="connsiteX28" fmla="*/ 1025508 w 1943828"/>
                <a:gd name="connsiteY28" fmla="*/ 1614880 h 1905000"/>
                <a:gd name="connsiteX29" fmla="*/ 1686966 w 1943828"/>
                <a:gd name="connsiteY29" fmla="*/ 335345 h 1905000"/>
                <a:gd name="connsiteX30" fmla="*/ 1634760 w 1943828"/>
                <a:gd name="connsiteY30" fmla="*/ 267542 h 1905000"/>
                <a:gd name="connsiteX31" fmla="*/ 1101040 w 1943828"/>
                <a:gd name="connsiteY31" fmla="*/ 1163528 h 1905000"/>
                <a:gd name="connsiteX32" fmla="*/ 984549 w 1943828"/>
                <a:gd name="connsiteY32" fmla="*/ 1279742 h 1905000"/>
                <a:gd name="connsiteX33" fmla="*/ 868044 w 1943828"/>
                <a:gd name="connsiteY33" fmla="*/ 1163543 h 1905000"/>
                <a:gd name="connsiteX34" fmla="*/ 984520 w 1943828"/>
                <a:gd name="connsiteY34" fmla="*/ 1047314 h 1905000"/>
                <a:gd name="connsiteX35" fmla="*/ 984549 w 1943828"/>
                <a:gd name="connsiteY35" fmla="*/ 1047314 h 1905000"/>
                <a:gd name="connsiteX36" fmla="*/ 1101040 w 1943828"/>
                <a:gd name="connsiteY36" fmla="*/ 1163528 h 1905000"/>
                <a:gd name="connsiteX37" fmla="*/ 1101734 w 1943828"/>
                <a:gd name="connsiteY37" fmla="*/ 815231 h 1905000"/>
                <a:gd name="connsiteX38" fmla="*/ 984673 w 1943828"/>
                <a:gd name="connsiteY38" fmla="*/ 931985 h 1905000"/>
                <a:gd name="connsiteX39" fmla="*/ 867642 w 1943828"/>
                <a:gd name="connsiteY39" fmla="*/ 815231 h 1905000"/>
                <a:gd name="connsiteX40" fmla="*/ 867642 w 1943828"/>
                <a:gd name="connsiteY40" fmla="*/ 466242 h 1905000"/>
                <a:gd name="connsiteX41" fmla="*/ 984653 w 1943828"/>
                <a:gd name="connsiteY41" fmla="*/ 349509 h 1905000"/>
                <a:gd name="connsiteX42" fmla="*/ 1101665 w 1943828"/>
                <a:gd name="connsiteY42" fmla="*/ 466242 h 1905000"/>
                <a:gd name="connsiteX43" fmla="*/ 1101665 w 1943828"/>
                <a:gd name="connsiteY43" fmla="*/ 815508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943828" h="1905000">
                  <a:moveTo>
                    <a:pt x="0" y="1591679"/>
                  </a:moveTo>
                  <a:cubicBezTo>
                    <a:pt x="0" y="1405514"/>
                    <a:pt x="433543" y="1278288"/>
                    <a:pt x="971914" y="1278288"/>
                  </a:cubicBezTo>
                  <a:cubicBezTo>
                    <a:pt x="1510286" y="1278288"/>
                    <a:pt x="1943829" y="1405445"/>
                    <a:pt x="1943829" y="1591679"/>
                  </a:cubicBezTo>
                  <a:cubicBezTo>
                    <a:pt x="1943829" y="1777912"/>
                    <a:pt x="1510286" y="1905000"/>
                    <a:pt x="971914" y="1905000"/>
                  </a:cubicBezTo>
                  <a:cubicBezTo>
                    <a:pt x="433543" y="1905000"/>
                    <a:pt x="0" y="1777843"/>
                    <a:pt x="0" y="1591679"/>
                  </a:cubicBezTo>
                  <a:close/>
                  <a:moveTo>
                    <a:pt x="80114" y="1591679"/>
                  </a:moveTo>
                  <a:cubicBezTo>
                    <a:pt x="80114" y="1707547"/>
                    <a:pt x="481028" y="1825146"/>
                    <a:pt x="971914" y="1825146"/>
                  </a:cubicBezTo>
                  <a:cubicBezTo>
                    <a:pt x="1462801" y="1825146"/>
                    <a:pt x="1863785" y="1707408"/>
                    <a:pt x="1863785" y="1591679"/>
                  </a:cubicBezTo>
                  <a:cubicBezTo>
                    <a:pt x="1863785" y="1475949"/>
                    <a:pt x="1462870" y="1358142"/>
                    <a:pt x="971914" y="1358142"/>
                  </a:cubicBezTo>
                  <a:cubicBezTo>
                    <a:pt x="480959" y="1358142"/>
                    <a:pt x="80114" y="1475741"/>
                    <a:pt x="80114" y="1591679"/>
                  </a:cubicBezTo>
                  <a:close/>
                  <a:moveTo>
                    <a:pt x="451385" y="1591679"/>
                  </a:moveTo>
                  <a:cubicBezTo>
                    <a:pt x="451385" y="1478650"/>
                    <a:pt x="682839" y="1410708"/>
                    <a:pt x="972053" y="1410708"/>
                  </a:cubicBezTo>
                  <a:cubicBezTo>
                    <a:pt x="1261267" y="1410708"/>
                    <a:pt x="1492722" y="1478650"/>
                    <a:pt x="1492722" y="1591679"/>
                  </a:cubicBezTo>
                  <a:cubicBezTo>
                    <a:pt x="1492722" y="1704707"/>
                    <a:pt x="1261267" y="1772579"/>
                    <a:pt x="972053" y="1772579"/>
                  </a:cubicBezTo>
                  <a:cubicBezTo>
                    <a:pt x="682839" y="1772579"/>
                    <a:pt x="451385" y="1704638"/>
                    <a:pt x="451385" y="1591679"/>
                  </a:cubicBezTo>
                  <a:close/>
                  <a:moveTo>
                    <a:pt x="531498" y="1591679"/>
                  </a:moveTo>
                  <a:cubicBezTo>
                    <a:pt x="531498" y="1634341"/>
                    <a:pt x="730324" y="1692656"/>
                    <a:pt x="971984" y="1692656"/>
                  </a:cubicBezTo>
                  <a:cubicBezTo>
                    <a:pt x="1213643" y="1692656"/>
                    <a:pt x="1412400" y="1634341"/>
                    <a:pt x="1412400" y="1591679"/>
                  </a:cubicBezTo>
                  <a:cubicBezTo>
                    <a:pt x="1412400" y="1549016"/>
                    <a:pt x="1213643" y="1490632"/>
                    <a:pt x="971984" y="1490632"/>
                  </a:cubicBezTo>
                  <a:cubicBezTo>
                    <a:pt x="730324" y="1490632"/>
                    <a:pt x="531429" y="1548947"/>
                    <a:pt x="531429" y="1591679"/>
                  </a:cubicBezTo>
                  <a:close/>
                  <a:moveTo>
                    <a:pt x="1634343" y="267611"/>
                  </a:moveTo>
                  <a:cubicBezTo>
                    <a:pt x="1495683" y="224428"/>
                    <a:pt x="1361444" y="168216"/>
                    <a:pt x="1233429" y="99731"/>
                  </a:cubicBezTo>
                  <a:cubicBezTo>
                    <a:pt x="1150122" y="62886"/>
                    <a:pt x="1087642" y="0"/>
                    <a:pt x="967680" y="0"/>
                  </a:cubicBezTo>
                  <a:lnTo>
                    <a:pt x="962126" y="0"/>
                  </a:lnTo>
                  <a:cubicBezTo>
                    <a:pt x="933743" y="3249"/>
                    <a:pt x="905917" y="10235"/>
                    <a:pt x="879374" y="20777"/>
                  </a:cubicBezTo>
                  <a:cubicBezTo>
                    <a:pt x="702416" y="99315"/>
                    <a:pt x="540870" y="214699"/>
                    <a:pt x="332742" y="267196"/>
                  </a:cubicBezTo>
                  <a:cubicBezTo>
                    <a:pt x="301401" y="274734"/>
                    <a:pt x="279682" y="303201"/>
                    <a:pt x="280744" y="335345"/>
                  </a:cubicBezTo>
                  <a:cubicBezTo>
                    <a:pt x="296434" y="1090254"/>
                    <a:pt x="619179" y="1389446"/>
                    <a:pt x="952615" y="1614880"/>
                  </a:cubicBezTo>
                  <a:cubicBezTo>
                    <a:pt x="974310" y="1630746"/>
                    <a:pt x="1003813" y="1630746"/>
                    <a:pt x="1025508" y="1614880"/>
                  </a:cubicBezTo>
                  <a:cubicBezTo>
                    <a:pt x="1405666" y="1384183"/>
                    <a:pt x="1671137" y="938510"/>
                    <a:pt x="1686966" y="335345"/>
                  </a:cubicBezTo>
                  <a:cubicBezTo>
                    <a:pt x="1686018" y="303886"/>
                    <a:pt x="1664983" y="276567"/>
                    <a:pt x="1634760" y="267542"/>
                  </a:cubicBezTo>
                  <a:close/>
                  <a:moveTo>
                    <a:pt x="1101040" y="1163528"/>
                  </a:moveTo>
                  <a:cubicBezTo>
                    <a:pt x="1101040" y="1227711"/>
                    <a:pt x="1048885" y="1279742"/>
                    <a:pt x="984549" y="1279742"/>
                  </a:cubicBezTo>
                  <a:cubicBezTo>
                    <a:pt x="920213" y="1279750"/>
                    <a:pt x="868052" y="1227726"/>
                    <a:pt x="868044" y="1163543"/>
                  </a:cubicBezTo>
                  <a:cubicBezTo>
                    <a:pt x="868035" y="1099359"/>
                    <a:pt x="920184" y="1047322"/>
                    <a:pt x="984520" y="1047314"/>
                  </a:cubicBezTo>
                  <a:cubicBezTo>
                    <a:pt x="984530" y="1047314"/>
                    <a:pt x="984539" y="1047314"/>
                    <a:pt x="984549" y="1047314"/>
                  </a:cubicBezTo>
                  <a:cubicBezTo>
                    <a:pt x="1048885" y="1047314"/>
                    <a:pt x="1101040" y="1099345"/>
                    <a:pt x="1101040" y="1163528"/>
                  </a:cubicBezTo>
                  <a:close/>
                  <a:moveTo>
                    <a:pt x="1101734" y="815231"/>
                  </a:moveTo>
                  <a:cubicBezTo>
                    <a:pt x="1101726" y="879721"/>
                    <a:pt x="1049316" y="931993"/>
                    <a:pt x="984673" y="931985"/>
                  </a:cubicBezTo>
                  <a:cubicBezTo>
                    <a:pt x="920042" y="931977"/>
                    <a:pt x="867650" y="879709"/>
                    <a:pt x="867642" y="815231"/>
                  </a:cubicBezTo>
                  <a:lnTo>
                    <a:pt x="867642" y="466242"/>
                  </a:lnTo>
                  <a:cubicBezTo>
                    <a:pt x="867642" y="401772"/>
                    <a:pt x="920030" y="349509"/>
                    <a:pt x="984653" y="349509"/>
                  </a:cubicBezTo>
                  <a:cubicBezTo>
                    <a:pt x="1049277" y="349509"/>
                    <a:pt x="1101665" y="401772"/>
                    <a:pt x="1101665" y="466242"/>
                  </a:cubicBezTo>
                  <a:lnTo>
                    <a:pt x="1101665" y="815508"/>
                  </a:lnTo>
                  <a:close/>
                </a:path>
              </a:pathLst>
            </a:custGeom>
            <a:solidFill>
              <a:srgbClr val="FFFFFF"/>
            </a:solidFill>
            <a:ln w="18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651867" y="5948553"/>
            <a:ext cx="3023535" cy="504000"/>
            <a:chOff x="945168" y="6184758"/>
            <a:chExt cx="3023535" cy="504000"/>
          </a:xfrm>
        </p:grpSpPr>
        <p:sp>
          <p:nvSpPr>
            <p:cNvPr id="207" name="Rectangle 51"/>
            <p:cNvSpPr/>
            <p:nvPr/>
          </p:nvSpPr>
          <p:spPr>
            <a:xfrm>
              <a:off x="945168" y="6184758"/>
              <a:ext cx="3023535" cy="504000"/>
            </a:xfrm>
            <a:prstGeom prst="rect">
              <a:avLst/>
            </a:prstGeom>
            <a:gradFill flip="none" rotWithShape="1">
              <a:gsLst>
                <a:gs pos="0">
                  <a:srgbClr val="B3E7FF"/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/>
          </p:spPr>
          <p:txBody>
            <a:bodyPr vert="horz"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</a:endParaRPr>
            </a:p>
          </p:txBody>
        </p:sp>
        <p:sp>
          <p:nvSpPr>
            <p:cNvPr id="208" name="TextBox 18"/>
            <p:cNvSpPr txBox="1"/>
            <p:nvPr/>
          </p:nvSpPr>
          <p:spPr>
            <a:xfrm>
              <a:off x="2046566" y="6325959"/>
              <a:ext cx="820738" cy="2215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600" b="1" kern="0" dirty="0">
                  <a:solidFill>
                    <a:srgbClr val="212121"/>
                  </a:solidFill>
                  <a:latin typeface="RB Office" panose="00000600000000000000" pitchFamily="2" charset="0"/>
                  <a:cs typeface="Calibri" panose="020F0502020204030204"/>
                  <a:sym typeface="+mn-lt"/>
                </a:rPr>
                <a:t>党的建设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B Office" panose="00000600000000000000" pitchFamily="2" charset="0"/>
                <a:cs typeface="Calibri" panose="020F0502020204030204"/>
                <a:sym typeface="+mn-lt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785365" y="3910299"/>
            <a:ext cx="484251" cy="454608"/>
            <a:chOff x="7256674" y="2399991"/>
            <a:chExt cx="675046" cy="675046"/>
          </a:xfrm>
        </p:grpSpPr>
        <p:sp>
          <p:nvSpPr>
            <p:cNvPr id="216" name="Oval 71"/>
            <p:cNvSpPr/>
            <p:nvPr/>
          </p:nvSpPr>
          <p:spPr>
            <a:xfrm>
              <a:off x="7256674" y="2399991"/>
              <a:ext cx="675046" cy="675046"/>
            </a:xfrm>
            <a:prstGeom prst="ellipse">
              <a:avLst/>
            </a:prstGeom>
            <a:solidFill>
              <a:srgbClr val="152A8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72000" rIns="72000" bIns="72000" rtlCol="0" anchor="t"/>
            <a:lstStyle/>
            <a:p>
              <a:pPr algn="l" fontAlgn="base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SzPct val="100000"/>
              </a:pPr>
              <a:endParaRPr lang="en-US" sz="1200" b="0" err="1">
                <a:solidFill>
                  <a:schemeClr val="tx1"/>
                </a:solidFill>
                <a:sym typeface="+mn-lt"/>
              </a:endParaRPr>
            </a:p>
          </p:txBody>
        </p:sp>
        <p:grpSp>
          <p:nvGrpSpPr>
            <p:cNvPr id="217" name="Group 121"/>
            <p:cNvGrpSpPr/>
            <p:nvPr/>
          </p:nvGrpSpPr>
          <p:grpSpPr>
            <a:xfrm>
              <a:off x="7363308" y="2533153"/>
              <a:ext cx="407962" cy="370978"/>
              <a:chOff x="5259558" y="2668102"/>
              <a:chExt cx="1667470" cy="1516308"/>
            </a:xfrm>
            <a:solidFill>
              <a:schemeClr val="bg1"/>
            </a:solidFill>
          </p:grpSpPr>
          <p:sp>
            <p:nvSpPr>
              <p:cNvPr id="218" name="Freeform: Shape 116"/>
              <p:cNvSpPr/>
              <p:nvPr/>
            </p:nvSpPr>
            <p:spPr>
              <a:xfrm>
                <a:off x="5337612" y="3826850"/>
                <a:ext cx="283820" cy="357558"/>
              </a:xfrm>
              <a:custGeom>
                <a:avLst/>
                <a:gdLst>
                  <a:gd name="connsiteX0" fmla="*/ 0 w 283820"/>
                  <a:gd name="connsiteY0" fmla="*/ 0 h 357558"/>
                  <a:gd name="connsiteX1" fmla="*/ 283820 w 283820"/>
                  <a:gd name="connsiteY1" fmla="*/ 0 h 357558"/>
                  <a:gd name="connsiteX2" fmla="*/ 283820 w 283820"/>
                  <a:gd name="connsiteY2" fmla="*/ 357559 h 357558"/>
                  <a:gd name="connsiteX3" fmla="*/ 0 w 283820"/>
                  <a:gd name="connsiteY3" fmla="*/ 357559 h 357558"/>
                  <a:gd name="connsiteX4" fmla="*/ 0 w 283820"/>
                  <a:gd name="connsiteY4" fmla="*/ 0 h 357558"/>
                  <a:gd name="connsiteX5" fmla="*/ 0 w 283820"/>
                  <a:gd name="connsiteY5" fmla="*/ 0 h 357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3820" h="357558">
                    <a:moveTo>
                      <a:pt x="0" y="0"/>
                    </a:moveTo>
                    <a:lnTo>
                      <a:pt x="283820" y="0"/>
                    </a:lnTo>
                    <a:lnTo>
                      <a:pt x="283820" y="357559"/>
                    </a:lnTo>
                    <a:lnTo>
                      <a:pt x="0" y="35755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117"/>
              <p:cNvSpPr/>
              <p:nvPr/>
            </p:nvSpPr>
            <p:spPr>
              <a:xfrm>
                <a:off x="5770441" y="3460243"/>
                <a:ext cx="290913" cy="724165"/>
              </a:xfrm>
              <a:custGeom>
                <a:avLst/>
                <a:gdLst>
                  <a:gd name="connsiteX0" fmla="*/ 0 w 290913"/>
                  <a:gd name="connsiteY0" fmla="*/ 0 h 724165"/>
                  <a:gd name="connsiteX1" fmla="*/ 290913 w 290913"/>
                  <a:gd name="connsiteY1" fmla="*/ 0 h 724165"/>
                  <a:gd name="connsiteX2" fmla="*/ 290913 w 290913"/>
                  <a:gd name="connsiteY2" fmla="*/ 724165 h 724165"/>
                  <a:gd name="connsiteX3" fmla="*/ 0 w 290913"/>
                  <a:gd name="connsiteY3" fmla="*/ 724165 h 724165"/>
                  <a:gd name="connsiteX4" fmla="*/ 0 w 290913"/>
                  <a:gd name="connsiteY4" fmla="*/ 0 h 724165"/>
                  <a:gd name="connsiteX5" fmla="*/ 0 w 290913"/>
                  <a:gd name="connsiteY5" fmla="*/ 0 h 724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913" h="724165">
                    <a:moveTo>
                      <a:pt x="0" y="0"/>
                    </a:moveTo>
                    <a:lnTo>
                      <a:pt x="290913" y="0"/>
                    </a:lnTo>
                    <a:lnTo>
                      <a:pt x="290913" y="724165"/>
                    </a:lnTo>
                    <a:lnTo>
                      <a:pt x="0" y="72416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118"/>
              <p:cNvSpPr/>
              <p:nvPr/>
            </p:nvSpPr>
            <p:spPr>
              <a:xfrm>
                <a:off x="6203274" y="3599781"/>
                <a:ext cx="288552" cy="584629"/>
              </a:xfrm>
              <a:custGeom>
                <a:avLst/>
                <a:gdLst>
                  <a:gd name="connsiteX0" fmla="*/ 0 w 288552"/>
                  <a:gd name="connsiteY0" fmla="*/ 0 h 584629"/>
                  <a:gd name="connsiteX1" fmla="*/ 288553 w 288552"/>
                  <a:gd name="connsiteY1" fmla="*/ 0 h 584629"/>
                  <a:gd name="connsiteX2" fmla="*/ 288553 w 288552"/>
                  <a:gd name="connsiteY2" fmla="*/ 584629 h 584629"/>
                  <a:gd name="connsiteX3" fmla="*/ 0 w 288552"/>
                  <a:gd name="connsiteY3" fmla="*/ 584629 h 584629"/>
                  <a:gd name="connsiteX4" fmla="*/ 0 w 288552"/>
                  <a:gd name="connsiteY4" fmla="*/ 0 h 584629"/>
                  <a:gd name="connsiteX5" fmla="*/ 0 w 288552"/>
                  <a:gd name="connsiteY5" fmla="*/ 0 h 58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8552" h="584629">
                    <a:moveTo>
                      <a:pt x="0" y="0"/>
                    </a:moveTo>
                    <a:lnTo>
                      <a:pt x="288553" y="0"/>
                    </a:lnTo>
                    <a:lnTo>
                      <a:pt x="288553" y="584629"/>
                    </a:lnTo>
                    <a:lnTo>
                      <a:pt x="0" y="58462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119"/>
              <p:cNvSpPr/>
              <p:nvPr/>
            </p:nvSpPr>
            <p:spPr>
              <a:xfrm>
                <a:off x="6636104" y="3245006"/>
                <a:ext cx="290924" cy="939404"/>
              </a:xfrm>
              <a:custGeom>
                <a:avLst/>
                <a:gdLst>
                  <a:gd name="connsiteX0" fmla="*/ 0 w 290924"/>
                  <a:gd name="connsiteY0" fmla="*/ 0 h 939404"/>
                  <a:gd name="connsiteX1" fmla="*/ 290925 w 290924"/>
                  <a:gd name="connsiteY1" fmla="*/ 0 h 939404"/>
                  <a:gd name="connsiteX2" fmla="*/ 290925 w 290924"/>
                  <a:gd name="connsiteY2" fmla="*/ 939404 h 939404"/>
                  <a:gd name="connsiteX3" fmla="*/ 0 w 290924"/>
                  <a:gd name="connsiteY3" fmla="*/ 939404 h 939404"/>
                  <a:gd name="connsiteX4" fmla="*/ 0 w 290924"/>
                  <a:gd name="connsiteY4" fmla="*/ 0 h 939404"/>
                  <a:gd name="connsiteX5" fmla="*/ 0 w 290924"/>
                  <a:gd name="connsiteY5" fmla="*/ 0 h 939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924" h="939404">
                    <a:moveTo>
                      <a:pt x="0" y="0"/>
                    </a:moveTo>
                    <a:lnTo>
                      <a:pt x="290925" y="0"/>
                    </a:lnTo>
                    <a:lnTo>
                      <a:pt x="290925" y="939404"/>
                    </a:lnTo>
                    <a:lnTo>
                      <a:pt x="0" y="93940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120"/>
              <p:cNvSpPr/>
              <p:nvPr/>
            </p:nvSpPr>
            <p:spPr>
              <a:xfrm>
                <a:off x="5259558" y="2668102"/>
                <a:ext cx="1667470" cy="937456"/>
              </a:xfrm>
              <a:custGeom>
                <a:avLst/>
                <a:gdLst>
                  <a:gd name="connsiteX0" fmla="*/ 0 w 1667470"/>
                  <a:gd name="connsiteY0" fmla="*/ 803965 h 937456"/>
                  <a:gd name="connsiteX1" fmla="*/ 674083 w 1667470"/>
                  <a:gd name="connsiteY1" fmla="*/ 184277 h 937456"/>
                  <a:gd name="connsiteX2" fmla="*/ 1060932 w 1667470"/>
                  <a:gd name="connsiteY2" fmla="*/ 564326 h 937456"/>
                  <a:gd name="connsiteX3" fmla="*/ 1426213 w 1667470"/>
                  <a:gd name="connsiteY3" fmla="*/ 139338 h 937456"/>
                  <a:gd name="connsiteX4" fmla="*/ 1293759 w 1667470"/>
                  <a:gd name="connsiteY4" fmla="*/ 0 h 937456"/>
                  <a:gd name="connsiteX5" fmla="*/ 1667470 w 1667470"/>
                  <a:gd name="connsiteY5" fmla="*/ 0 h 937456"/>
                  <a:gd name="connsiteX6" fmla="*/ 1667470 w 1667470"/>
                  <a:gd name="connsiteY6" fmla="*/ 361669 h 937456"/>
                  <a:gd name="connsiteX7" fmla="*/ 1536813 w 1667470"/>
                  <a:gd name="connsiteY7" fmla="*/ 227027 h 937456"/>
                  <a:gd name="connsiteX8" fmla="*/ 1060932 w 1667470"/>
                  <a:gd name="connsiteY8" fmla="*/ 803023 h 937456"/>
                  <a:gd name="connsiteX9" fmla="*/ 669965 w 1667470"/>
                  <a:gd name="connsiteY9" fmla="*/ 401072 h 937456"/>
                  <a:gd name="connsiteX10" fmla="*/ 93803 w 1667470"/>
                  <a:gd name="connsiteY10" fmla="*/ 937457 h 937456"/>
                  <a:gd name="connsiteX11" fmla="*/ 0 w 1667470"/>
                  <a:gd name="connsiteY11" fmla="*/ 803965 h 93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67470" h="937456">
                    <a:moveTo>
                      <a:pt x="0" y="803965"/>
                    </a:moveTo>
                    <a:lnTo>
                      <a:pt x="674083" y="184277"/>
                    </a:lnTo>
                    <a:lnTo>
                      <a:pt x="1060932" y="564326"/>
                    </a:lnTo>
                    <a:lnTo>
                      <a:pt x="1426213" y="139338"/>
                    </a:lnTo>
                    <a:lnTo>
                      <a:pt x="1293759" y="0"/>
                    </a:lnTo>
                    <a:lnTo>
                      <a:pt x="1667470" y="0"/>
                    </a:lnTo>
                    <a:lnTo>
                      <a:pt x="1667470" y="361669"/>
                    </a:lnTo>
                    <a:lnTo>
                      <a:pt x="1536813" y="227027"/>
                    </a:lnTo>
                    <a:lnTo>
                      <a:pt x="1060932" y="803023"/>
                    </a:lnTo>
                    <a:lnTo>
                      <a:pt x="669965" y="401072"/>
                    </a:lnTo>
                    <a:lnTo>
                      <a:pt x="93803" y="937457"/>
                    </a:lnTo>
                    <a:lnTo>
                      <a:pt x="0" y="803965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23" name="组合 222"/>
          <p:cNvGrpSpPr/>
          <p:nvPr/>
        </p:nvGrpSpPr>
        <p:grpSpPr>
          <a:xfrm>
            <a:off x="3795053" y="2351483"/>
            <a:ext cx="531628" cy="4174882"/>
            <a:chOff x="5436872" y="2681785"/>
            <a:chExt cx="531628" cy="4228862"/>
          </a:xfrm>
        </p:grpSpPr>
        <p:sp>
          <p:nvSpPr>
            <p:cNvPr id="224" name="Freeform: Shape 99"/>
            <p:cNvSpPr/>
            <p:nvPr/>
          </p:nvSpPr>
          <p:spPr>
            <a:xfrm>
              <a:off x="5436872" y="2681785"/>
              <a:ext cx="531628" cy="4228862"/>
            </a:xfrm>
            <a:custGeom>
              <a:avLst/>
              <a:gdLst>
                <a:gd name="connsiteX0" fmla="*/ 0 w 495300"/>
                <a:gd name="connsiteY0" fmla="*/ 0 h 4210050"/>
                <a:gd name="connsiteX1" fmla="*/ 0 w 495300"/>
                <a:gd name="connsiteY1" fmla="*/ 4210050 h 4210050"/>
                <a:gd name="connsiteX2" fmla="*/ 495300 w 495300"/>
                <a:gd name="connsiteY2" fmla="*/ 3962400 h 4210050"/>
                <a:gd name="connsiteX3" fmla="*/ 495300 w 495300"/>
                <a:gd name="connsiteY3" fmla="*/ 381000 h 4210050"/>
                <a:gd name="connsiteX4" fmla="*/ 0 w 495300"/>
                <a:gd name="connsiteY4" fmla="*/ 0 h 4210050"/>
                <a:gd name="connsiteX0-1" fmla="*/ 0 w 495300"/>
                <a:gd name="connsiteY0-2" fmla="*/ 0 h 4210050"/>
                <a:gd name="connsiteX1-3" fmla="*/ 0 w 495300"/>
                <a:gd name="connsiteY1-4" fmla="*/ 4210050 h 4210050"/>
                <a:gd name="connsiteX2-5" fmla="*/ 495300 w 495300"/>
                <a:gd name="connsiteY2-6" fmla="*/ 3962400 h 4210050"/>
                <a:gd name="connsiteX3-7" fmla="*/ 421211 w 495300"/>
                <a:gd name="connsiteY3-8" fmla="*/ 480221 h 4210050"/>
                <a:gd name="connsiteX4-9" fmla="*/ 0 w 495300"/>
                <a:gd name="connsiteY4-10" fmla="*/ 0 h 4210050"/>
                <a:gd name="connsiteX0-11" fmla="*/ 0 w 421211"/>
                <a:gd name="connsiteY0-12" fmla="*/ 0 h 4210050"/>
                <a:gd name="connsiteX1-13" fmla="*/ 0 w 421211"/>
                <a:gd name="connsiteY1-14" fmla="*/ 4210050 h 4210050"/>
                <a:gd name="connsiteX2-15" fmla="*/ 411951 w 421211"/>
                <a:gd name="connsiteY2-16" fmla="*/ 3807368 h 4210050"/>
                <a:gd name="connsiteX3-17" fmla="*/ 421211 w 421211"/>
                <a:gd name="connsiteY3-18" fmla="*/ 480221 h 4210050"/>
                <a:gd name="connsiteX4-19" fmla="*/ 0 w 421211"/>
                <a:gd name="connsiteY4-20" fmla="*/ 0 h 4210050"/>
                <a:gd name="connsiteX0-21" fmla="*/ 0 w 421211"/>
                <a:gd name="connsiteY0-22" fmla="*/ 0 h 4210050"/>
                <a:gd name="connsiteX1-23" fmla="*/ 0 w 421211"/>
                <a:gd name="connsiteY1-24" fmla="*/ 4210050 h 4210050"/>
                <a:gd name="connsiteX2-25" fmla="*/ 411951 w 421211"/>
                <a:gd name="connsiteY2-26" fmla="*/ 3807368 h 4210050"/>
                <a:gd name="connsiteX3-27" fmla="*/ 421211 w 421211"/>
                <a:gd name="connsiteY3-28" fmla="*/ 394595 h 4210050"/>
                <a:gd name="connsiteX4-29" fmla="*/ 0 w 421211"/>
                <a:gd name="connsiteY4-30" fmla="*/ 0 h 4210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211" h="4210050">
                  <a:moveTo>
                    <a:pt x="0" y="0"/>
                  </a:moveTo>
                  <a:lnTo>
                    <a:pt x="0" y="4210050"/>
                  </a:lnTo>
                  <a:lnTo>
                    <a:pt x="411951" y="3807368"/>
                  </a:lnTo>
                  <a:cubicBezTo>
                    <a:pt x="415038" y="2698319"/>
                    <a:pt x="418124" y="1503644"/>
                    <a:pt x="421211" y="394595"/>
                  </a:cubicBezTo>
                  <a:lnTo>
                    <a:pt x="0" y="0"/>
                  </a:lnTo>
                  <a:close/>
                </a:path>
              </a:pathLst>
            </a:custGeom>
            <a:pattFill prst="wdUpDiag">
              <a:fgClr>
                <a:srgbClr val="FFFFFF">
                  <a:lumMod val="95000"/>
                </a:srgbClr>
              </a:fgClr>
              <a:bgClr>
                <a:srgbClr val="FFFFFF"/>
              </a:bgClr>
            </a:pattFill>
            <a:ln w="9525" cap="flat" cmpd="sng" algn="ctr">
              <a:gradFill flip="none" rotWithShape="1">
                <a:gsLst>
                  <a:gs pos="0">
                    <a:srgbClr val="FFFFFF">
                      <a:lumMod val="5000"/>
                      <a:lumOff val="95000"/>
                    </a:srgbClr>
                  </a:gs>
                  <a:gs pos="100000">
                    <a:srgbClr val="787878">
                      <a:lumMod val="20000"/>
                      <a:lumOff val="80000"/>
                    </a:srgbClr>
                  </a:gs>
                </a:gsLst>
                <a:lin ang="0" scaled="1"/>
                <a:tileRect/>
              </a:gradFill>
              <a:prstDash val="sysDot"/>
            </a:ln>
            <a:effectLst/>
          </p:spPr>
          <p:txBody>
            <a:bodyPr lIns="72000" tIns="72000" rIns="72000" bIns="72000" rtlCol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 panose="00000600000000000000" pitchFamily="2" charset="0"/>
                <a:cs typeface="Segoe UI" panose="020B0502040204020203"/>
              </a:endParaRPr>
            </a:p>
          </p:txBody>
        </p:sp>
        <p:grpSp>
          <p:nvGrpSpPr>
            <p:cNvPr id="225" name="Group 109"/>
            <p:cNvGrpSpPr/>
            <p:nvPr/>
          </p:nvGrpSpPr>
          <p:grpSpPr>
            <a:xfrm>
              <a:off x="5618790" y="3827357"/>
              <a:ext cx="263682" cy="1873473"/>
              <a:chOff x="3672457" y="3212649"/>
              <a:chExt cx="376416" cy="1850591"/>
            </a:xfrm>
            <a:solidFill>
              <a:srgbClr val="787878"/>
            </a:solidFill>
          </p:grpSpPr>
          <p:grpSp>
            <p:nvGrpSpPr>
              <p:cNvPr id="226" name="Group 100"/>
              <p:cNvGrpSpPr/>
              <p:nvPr/>
            </p:nvGrpSpPr>
            <p:grpSpPr>
              <a:xfrm>
                <a:off x="3672457" y="3212649"/>
                <a:ext cx="376416" cy="175787"/>
                <a:chOff x="7581089" y="3403232"/>
                <a:chExt cx="218714" cy="216000"/>
              </a:xfrm>
              <a:grpFill/>
            </p:grpSpPr>
            <p:sp>
              <p:nvSpPr>
                <p:cNvPr id="233" name="Chevron 52"/>
                <p:cNvSpPr/>
                <p:nvPr/>
              </p:nvSpPr>
              <p:spPr>
                <a:xfrm>
                  <a:off x="7581089" y="3403232"/>
                  <a:ext cx="109357" cy="216000"/>
                </a:xfrm>
                <a:prstGeom prst="chevron">
                  <a:avLst>
                    <a:gd name="adj" fmla="val 27652"/>
                  </a:avLst>
                </a:prstGeom>
                <a:grpFill/>
                <a:ln w="9525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  <p:txBody>
                <a:bodyPr lIns="72000" tIns="72000" rIns="72000" bIns="72000" rtlCol="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 panose="00000600000000000000" pitchFamily="2" charset="0"/>
                    <a:cs typeface="Segoe UI" panose="020B0502040204020203"/>
                  </a:endParaRPr>
                </a:p>
              </p:txBody>
            </p:sp>
            <p:sp>
              <p:nvSpPr>
                <p:cNvPr id="234" name="Chevron 53"/>
                <p:cNvSpPr/>
                <p:nvPr/>
              </p:nvSpPr>
              <p:spPr>
                <a:xfrm>
                  <a:off x="7690446" y="3403232"/>
                  <a:ext cx="109357" cy="216000"/>
                </a:xfrm>
                <a:prstGeom prst="chevron">
                  <a:avLst>
                    <a:gd name="adj" fmla="val 27652"/>
                  </a:avLst>
                </a:prstGeom>
                <a:grpFill/>
                <a:ln w="9525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  <p:txBody>
                <a:bodyPr lIns="72000" tIns="72000" rIns="72000" bIns="72000" rtlCol="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 panose="00000600000000000000" pitchFamily="2" charset="0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27" name="Group 101"/>
              <p:cNvGrpSpPr/>
              <p:nvPr/>
            </p:nvGrpSpPr>
            <p:grpSpPr>
              <a:xfrm>
                <a:off x="3672457" y="4050051"/>
                <a:ext cx="376416" cy="175787"/>
                <a:chOff x="7581089" y="4207555"/>
                <a:chExt cx="218714" cy="216000"/>
              </a:xfrm>
              <a:grpFill/>
            </p:grpSpPr>
            <p:sp>
              <p:nvSpPr>
                <p:cNvPr id="231" name="Chevron 55"/>
                <p:cNvSpPr/>
                <p:nvPr/>
              </p:nvSpPr>
              <p:spPr>
                <a:xfrm>
                  <a:off x="7581089" y="4207555"/>
                  <a:ext cx="109357" cy="216000"/>
                </a:xfrm>
                <a:prstGeom prst="chevron">
                  <a:avLst>
                    <a:gd name="adj" fmla="val 27652"/>
                  </a:avLst>
                </a:prstGeom>
                <a:grpFill/>
                <a:ln w="9525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  <p:txBody>
                <a:bodyPr lIns="72000" tIns="72000" rIns="72000" bIns="72000" rtlCol="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 panose="00000600000000000000" pitchFamily="2" charset="0"/>
                    <a:cs typeface="Segoe UI" panose="020B0502040204020203"/>
                  </a:endParaRPr>
                </a:p>
              </p:txBody>
            </p:sp>
            <p:sp>
              <p:nvSpPr>
                <p:cNvPr id="232" name="Chevron 56"/>
                <p:cNvSpPr/>
                <p:nvPr/>
              </p:nvSpPr>
              <p:spPr>
                <a:xfrm>
                  <a:off x="7690446" y="4207555"/>
                  <a:ext cx="109357" cy="216000"/>
                </a:xfrm>
                <a:prstGeom prst="chevron">
                  <a:avLst>
                    <a:gd name="adj" fmla="val 27652"/>
                  </a:avLst>
                </a:prstGeom>
                <a:grpFill/>
                <a:ln w="9525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  <p:txBody>
                <a:bodyPr lIns="72000" tIns="72000" rIns="72000" bIns="72000" rtlCol="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 panose="00000600000000000000" pitchFamily="2" charset="0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28" name="Group 102"/>
              <p:cNvGrpSpPr/>
              <p:nvPr/>
            </p:nvGrpSpPr>
            <p:grpSpPr>
              <a:xfrm>
                <a:off x="3672457" y="4887453"/>
                <a:ext cx="376416" cy="175787"/>
                <a:chOff x="7581089" y="4957179"/>
                <a:chExt cx="218714" cy="216000"/>
              </a:xfrm>
              <a:grpFill/>
            </p:grpSpPr>
            <p:sp>
              <p:nvSpPr>
                <p:cNvPr id="229" name="Chevron 58"/>
                <p:cNvSpPr/>
                <p:nvPr/>
              </p:nvSpPr>
              <p:spPr>
                <a:xfrm>
                  <a:off x="7581089" y="4957179"/>
                  <a:ext cx="109357" cy="216000"/>
                </a:xfrm>
                <a:prstGeom prst="chevron">
                  <a:avLst>
                    <a:gd name="adj" fmla="val 27652"/>
                  </a:avLst>
                </a:prstGeom>
                <a:grpFill/>
                <a:ln w="9525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  <p:txBody>
                <a:bodyPr lIns="72000" tIns="72000" rIns="72000" bIns="72000" rtlCol="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 panose="00000600000000000000" pitchFamily="2" charset="0"/>
                    <a:cs typeface="Segoe UI" panose="020B0502040204020203"/>
                  </a:endParaRPr>
                </a:p>
              </p:txBody>
            </p:sp>
            <p:sp>
              <p:nvSpPr>
                <p:cNvPr id="230" name="Chevron 59"/>
                <p:cNvSpPr/>
                <p:nvPr/>
              </p:nvSpPr>
              <p:spPr>
                <a:xfrm>
                  <a:off x="7690446" y="4957179"/>
                  <a:ext cx="109357" cy="216000"/>
                </a:xfrm>
                <a:prstGeom prst="chevron">
                  <a:avLst>
                    <a:gd name="adj" fmla="val 27652"/>
                  </a:avLst>
                </a:prstGeom>
                <a:grpFill/>
                <a:ln w="9525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  <p:txBody>
                <a:bodyPr lIns="72000" tIns="72000" rIns="72000" bIns="72000" rtlCol="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 panose="00000600000000000000" pitchFamily="2" charset="0"/>
                    <a:cs typeface="Segoe UI" panose="020B0502040204020203"/>
                  </a:endParaRPr>
                </a:p>
              </p:txBody>
            </p:sp>
          </p:grpSp>
        </p:grpSp>
      </p:grpSp>
      <p:sp>
        <p:nvSpPr>
          <p:cNvPr id="235" name="Freeform: Shape 91"/>
          <p:cNvSpPr/>
          <p:nvPr/>
        </p:nvSpPr>
        <p:spPr>
          <a:xfrm>
            <a:off x="386080" y="2310708"/>
            <a:ext cx="3960000" cy="328015"/>
          </a:xfrm>
          <a:custGeom>
            <a:avLst/>
            <a:gdLst>
              <a:gd name="connsiteX0" fmla="*/ 0 w 1084385"/>
              <a:gd name="connsiteY0" fmla="*/ 0 h 334108"/>
              <a:gd name="connsiteX1" fmla="*/ 879231 w 1084385"/>
              <a:gd name="connsiteY1" fmla="*/ 0 h 334108"/>
              <a:gd name="connsiteX2" fmla="*/ 1084385 w 1084385"/>
              <a:gd name="connsiteY2" fmla="*/ 334108 h 334108"/>
              <a:gd name="connsiteX0-1" fmla="*/ 0 w 1084385"/>
              <a:gd name="connsiteY0-2" fmla="*/ 0 h 334108"/>
              <a:gd name="connsiteX1-3" fmla="*/ 931641 w 1084385"/>
              <a:gd name="connsiteY1-4" fmla="*/ 24995 h 334108"/>
              <a:gd name="connsiteX2-5" fmla="*/ 1084385 w 1084385"/>
              <a:gd name="connsiteY2-6" fmla="*/ 334108 h 334108"/>
              <a:gd name="connsiteX0-7" fmla="*/ 0 w 1086664"/>
              <a:gd name="connsiteY0-8" fmla="*/ 0 h 325776"/>
              <a:gd name="connsiteX1-9" fmla="*/ 931641 w 1086664"/>
              <a:gd name="connsiteY1-10" fmla="*/ 24995 h 325776"/>
              <a:gd name="connsiteX2-11" fmla="*/ 1086664 w 1086664"/>
              <a:gd name="connsiteY2-12" fmla="*/ 325776 h 3257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86664" h="325776">
                <a:moveTo>
                  <a:pt x="0" y="0"/>
                </a:moveTo>
                <a:lnTo>
                  <a:pt x="931641" y="24995"/>
                </a:lnTo>
                <a:cubicBezTo>
                  <a:pt x="1000026" y="136364"/>
                  <a:pt x="1018279" y="214407"/>
                  <a:pt x="1086664" y="325776"/>
                </a:cubicBezTo>
              </a:path>
            </a:pathLst>
          </a:custGeom>
          <a:noFill/>
          <a:ln w="19050" cap="flat" cmpd="sng" algn="ctr">
            <a:gradFill>
              <a:gsLst>
                <a:gs pos="19000">
                  <a:srgbClr val="787878"/>
                </a:gs>
                <a:gs pos="100000">
                  <a:srgbClr val="FFFFFF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 panose="00000600000000000000" pitchFamily="2" charset="0"/>
              <a:cs typeface="Segoe UI" panose="020B0502040204020203"/>
            </a:endParaRPr>
          </a:p>
        </p:txBody>
      </p:sp>
      <p:sp>
        <p:nvSpPr>
          <p:cNvPr id="236" name="Freeform: Shape 91"/>
          <p:cNvSpPr/>
          <p:nvPr/>
        </p:nvSpPr>
        <p:spPr>
          <a:xfrm flipV="1">
            <a:off x="386080" y="6231859"/>
            <a:ext cx="3960000" cy="328015"/>
          </a:xfrm>
          <a:custGeom>
            <a:avLst/>
            <a:gdLst>
              <a:gd name="connsiteX0" fmla="*/ 0 w 1084385"/>
              <a:gd name="connsiteY0" fmla="*/ 0 h 334108"/>
              <a:gd name="connsiteX1" fmla="*/ 879231 w 1084385"/>
              <a:gd name="connsiteY1" fmla="*/ 0 h 334108"/>
              <a:gd name="connsiteX2" fmla="*/ 1084385 w 1084385"/>
              <a:gd name="connsiteY2" fmla="*/ 334108 h 334108"/>
              <a:gd name="connsiteX0-1" fmla="*/ 0 w 1084385"/>
              <a:gd name="connsiteY0-2" fmla="*/ 0 h 334108"/>
              <a:gd name="connsiteX1-3" fmla="*/ 931641 w 1084385"/>
              <a:gd name="connsiteY1-4" fmla="*/ 24995 h 334108"/>
              <a:gd name="connsiteX2-5" fmla="*/ 1084385 w 1084385"/>
              <a:gd name="connsiteY2-6" fmla="*/ 334108 h 334108"/>
              <a:gd name="connsiteX0-7" fmla="*/ 0 w 1086664"/>
              <a:gd name="connsiteY0-8" fmla="*/ 0 h 325776"/>
              <a:gd name="connsiteX1-9" fmla="*/ 931641 w 1086664"/>
              <a:gd name="connsiteY1-10" fmla="*/ 24995 h 325776"/>
              <a:gd name="connsiteX2-11" fmla="*/ 1086664 w 1086664"/>
              <a:gd name="connsiteY2-12" fmla="*/ 325776 h 3257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86664" h="325776">
                <a:moveTo>
                  <a:pt x="0" y="0"/>
                </a:moveTo>
                <a:lnTo>
                  <a:pt x="931641" y="24995"/>
                </a:lnTo>
                <a:cubicBezTo>
                  <a:pt x="1000026" y="136364"/>
                  <a:pt x="1018279" y="214407"/>
                  <a:pt x="1086664" y="325776"/>
                </a:cubicBezTo>
              </a:path>
            </a:pathLst>
          </a:custGeom>
          <a:noFill/>
          <a:ln w="19050" cap="flat" cmpd="sng" algn="ctr">
            <a:gradFill>
              <a:gsLst>
                <a:gs pos="19000">
                  <a:srgbClr val="787878"/>
                </a:gs>
                <a:gs pos="100000">
                  <a:srgbClr val="FFFFFF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 panose="00000600000000000000" pitchFamily="2" charset="0"/>
              <a:cs typeface="Segoe UI" panose="020B0502040204020203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97106" y="1916248"/>
            <a:ext cx="2717620" cy="4420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股权运营“六方面”</a:t>
            </a:r>
          </a:p>
        </p:txBody>
      </p:sp>
      <p:sp>
        <p:nvSpPr>
          <p:cNvPr id="239" name="文本框 238"/>
          <p:cNvSpPr txBox="1"/>
          <p:nvPr/>
        </p:nvSpPr>
        <p:spPr>
          <a:xfrm>
            <a:off x="6830608" y="2252136"/>
            <a:ext cx="2717620" cy="4420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参股公司“六清”</a:t>
            </a:r>
          </a:p>
        </p:txBody>
      </p:sp>
      <p:sp>
        <p:nvSpPr>
          <p:cNvPr id="240" name="Freeform: Shape 79"/>
          <p:cNvSpPr>
            <a:spLocks noChangeAspect="1"/>
          </p:cNvSpPr>
          <p:nvPr/>
        </p:nvSpPr>
        <p:spPr>
          <a:xfrm>
            <a:off x="787289" y="3191504"/>
            <a:ext cx="480403" cy="441370"/>
          </a:xfrm>
          <a:custGeom>
            <a:avLst/>
            <a:gdLst>
              <a:gd name="connsiteX0" fmla="*/ 2586482 w 3728263"/>
              <a:gd name="connsiteY0" fmla="*/ 2947658 h 3425341"/>
              <a:gd name="connsiteX1" fmla="*/ 2930182 w 3728263"/>
              <a:gd name="connsiteY1" fmla="*/ 3122421 h 3425341"/>
              <a:gd name="connsiteX2" fmla="*/ 2959309 w 3728263"/>
              <a:gd name="connsiteY2" fmla="*/ 3174849 h 3425341"/>
              <a:gd name="connsiteX3" fmla="*/ 2930182 w 3728263"/>
              <a:gd name="connsiteY3" fmla="*/ 3227278 h 3425341"/>
              <a:gd name="connsiteX4" fmla="*/ 2586482 w 3728263"/>
              <a:gd name="connsiteY4" fmla="*/ 3402041 h 3425341"/>
              <a:gd name="connsiteX5" fmla="*/ 1194209 w 3728263"/>
              <a:gd name="connsiteY5" fmla="*/ 2924356 h 3425341"/>
              <a:gd name="connsiteX6" fmla="*/ 2469974 w 3728263"/>
              <a:gd name="connsiteY6" fmla="*/ 2924356 h 3425341"/>
              <a:gd name="connsiteX7" fmla="*/ 2469974 w 3728263"/>
              <a:gd name="connsiteY7" fmla="*/ 3425341 h 3425341"/>
              <a:gd name="connsiteX8" fmla="*/ 1194209 w 3728263"/>
              <a:gd name="connsiteY8" fmla="*/ 3425341 h 3425341"/>
              <a:gd name="connsiteX9" fmla="*/ 908763 w 3728263"/>
              <a:gd name="connsiteY9" fmla="*/ 2924356 h 3425341"/>
              <a:gd name="connsiteX10" fmla="*/ 1077701 w 3728263"/>
              <a:gd name="connsiteY10" fmla="*/ 2924356 h 3425341"/>
              <a:gd name="connsiteX11" fmla="*/ 1077701 w 3728263"/>
              <a:gd name="connsiteY11" fmla="*/ 3425341 h 3425341"/>
              <a:gd name="connsiteX12" fmla="*/ 908763 w 3728263"/>
              <a:gd name="connsiteY12" fmla="*/ 3425341 h 3425341"/>
              <a:gd name="connsiteX13" fmla="*/ 763128 w 3728263"/>
              <a:gd name="connsiteY13" fmla="*/ 3279706 h 3425341"/>
              <a:gd name="connsiteX14" fmla="*/ 763128 w 3728263"/>
              <a:gd name="connsiteY14" fmla="*/ 3069991 h 3425341"/>
              <a:gd name="connsiteX15" fmla="*/ 908763 w 3728263"/>
              <a:gd name="connsiteY15" fmla="*/ 2924356 h 3425341"/>
              <a:gd name="connsiteX16" fmla="*/ 2970959 w 3728263"/>
              <a:gd name="connsiteY16" fmla="*/ 1968989 h 3425341"/>
              <a:gd name="connsiteX17" fmla="*/ 3244754 w 3728263"/>
              <a:gd name="connsiteY17" fmla="*/ 1968989 h 3425341"/>
              <a:gd name="connsiteX18" fmla="*/ 3244754 w 3728263"/>
              <a:gd name="connsiteY18" fmla="*/ 2242784 h 3425341"/>
              <a:gd name="connsiteX19" fmla="*/ 2970959 w 3728263"/>
              <a:gd name="connsiteY19" fmla="*/ 2242784 h 3425341"/>
              <a:gd name="connsiteX20" fmla="*/ 2190353 w 3728263"/>
              <a:gd name="connsiteY20" fmla="*/ 1968989 h 3425341"/>
              <a:gd name="connsiteX21" fmla="*/ 2464149 w 3728263"/>
              <a:gd name="connsiteY21" fmla="*/ 1968989 h 3425341"/>
              <a:gd name="connsiteX22" fmla="*/ 2464149 w 3728263"/>
              <a:gd name="connsiteY22" fmla="*/ 2242784 h 3425341"/>
              <a:gd name="connsiteX23" fmla="*/ 2190353 w 3728263"/>
              <a:gd name="connsiteY23" fmla="*/ 2242784 h 3425341"/>
              <a:gd name="connsiteX24" fmla="*/ 1415574 w 3728263"/>
              <a:gd name="connsiteY24" fmla="*/ 1968989 h 3425341"/>
              <a:gd name="connsiteX25" fmla="*/ 1689369 w 3728263"/>
              <a:gd name="connsiteY25" fmla="*/ 1968989 h 3425341"/>
              <a:gd name="connsiteX26" fmla="*/ 1689369 w 3728263"/>
              <a:gd name="connsiteY26" fmla="*/ 2242784 h 3425341"/>
              <a:gd name="connsiteX27" fmla="*/ 1415574 w 3728263"/>
              <a:gd name="connsiteY27" fmla="*/ 2242784 h 3425341"/>
              <a:gd name="connsiteX28" fmla="*/ 926240 w 3728263"/>
              <a:gd name="connsiteY28" fmla="*/ 1246638 h 3425341"/>
              <a:gd name="connsiteX29" fmla="*/ 867986 w 3728263"/>
              <a:gd name="connsiteY29" fmla="*/ 1304892 h 3425341"/>
              <a:gd name="connsiteX30" fmla="*/ 867986 w 3728263"/>
              <a:gd name="connsiteY30" fmla="*/ 2347640 h 3425341"/>
              <a:gd name="connsiteX31" fmla="*/ 926240 w 3728263"/>
              <a:gd name="connsiteY31" fmla="*/ 2405894 h 3425341"/>
              <a:gd name="connsiteX32" fmla="*/ 984494 w 3728263"/>
              <a:gd name="connsiteY32" fmla="*/ 2347640 h 3425341"/>
              <a:gd name="connsiteX33" fmla="*/ 984494 w 3728263"/>
              <a:gd name="connsiteY33" fmla="*/ 1304892 h 3425341"/>
              <a:gd name="connsiteX34" fmla="*/ 926240 w 3728263"/>
              <a:gd name="connsiteY34" fmla="*/ 1246638 h 3425341"/>
              <a:gd name="connsiteX35" fmla="*/ 425255 w 3728263"/>
              <a:gd name="connsiteY35" fmla="*/ 1246638 h 3425341"/>
              <a:gd name="connsiteX36" fmla="*/ 367000 w 3728263"/>
              <a:gd name="connsiteY36" fmla="*/ 1304892 h 3425341"/>
              <a:gd name="connsiteX37" fmla="*/ 367000 w 3728263"/>
              <a:gd name="connsiteY37" fmla="*/ 2347640 h 3425341"/>
              <a:gd name="connsiteX38" fmla="*/ 425255 w 3728263"/>
              <a:gd name="connsiteY38" fmla="*/ 2405894 h 3425341"/>
              <a:gd name="connsiteX39" fmla="*/ 483509 w 3728263"/>
              <a:gd name="connsiteY39" fmla="*/ 2347640 h 3425341"/>
              <a:gd name="connsiteX40" fmla="*/ 483509 w 3728263"/>
              <a:gd name="connsiteY40" fmla="*/ 1304892 h 3425341"/>
              <a:gd name="connsiteX41" fmla="*/ 425255 w 3728263"/>
              <a:gd name="connsiteY41" fmla="*/ 1246638 h 3425341"/>
              <a:gd name="connsiteX42" fmla="*/ 1998115 w 3728263"/>
              <a:gd name="connsiteY42" fmla="*/ 926240 h 3425341"/>
              <a:gd name="connsiteX43" fmla="*/ 1939861 w 3728263"/>
              <a:gd name="connsiteY43" fmla="*/ 984494 h 3425341"/>
              <a:gd name="connsiteX44" fmla="*/ 1998115 w 3728263"/>
              <a:gd name="connsiteY44" fmla="*/ 1042748 h 3425341"/>
              <a:gd name="connsiteX45" fmla="*/ 2691339 w 3728263"/>
              <a:gd name="connsiteY45" fmla="*/ 1042748 h 3425341"/>
              <a:gd name="connsiteX46" fmla="*/ 2749593 w 3728263"/>
              <a:gd name="connsiteY46" fmla="*/ 984494 h 3425341"/>
              <a:gd name="connsiteX47" fmla="*/ 2691339 w 3728263"/>
              <a:gd name="connsiteY47" fmla="*/ 926240 h 3425341"/>
              <a:gd name="connsiteX48" fmla="*/ 1998115 w 3728263"/>
              <a:gd name="connsiteY48" fmla="*/ 669922 h 3425341"/>
              <a:gd name="connsiteX49" fmla="*/ 1939861 w 3728263"/>
              <a:gd name="connsiteY49" fmla="*/ 728176 h 3425341"/>
              <a:gd name="connsiteX50" fmla="*/ 1998115 w 3728263"/>
              <a:gd name="connsiteY50" fmla="*/ 786430 h 3425341"/>
              <a:gd name="connsiteX51" fmla="*/ 2691339 w 3728263"/>
              <a:gd name="connsiteY51" fmla="*/ 786430 h 3425341"/>
              <a:gd name="connsiteX52" fmla="*/ 2749593 w 3728263"/>
              <a:gd name="connsiteY52" fmla="*/ 728176 h 3425341"/>
              <a:gd name="connsiteX53" fmla="*/ 2691339 w 3728263"/>
              <a:gd name="connsiteY53" fmla="*/ 669922 h 3425341"/>
              <a:gd name="connsiteX54" fmla="*/ 1829178 w 3728263"/>
              <a:gd name="connsiteY54" fmla="*/ 506811 h 3425341"/>
              <a:gd name="connsiteX55" fmla="*/ 2860276 w 3728263"/>
              <a:gd name="connsiteY55" fmla="*/ 506811 h 3425341"/>
              <a:gd name="connsiteX56" fmla="*/ 2912705 w 3728263"/>
              <a:gd name="connsiteY56" fmla="*/ 559239 h 3425341"/>
              <a:gd name="connsiteX57" fmla="*/ 2912705 w 3728263"/>
              <a:gd name="connsiteY57" fmla="*/ 1159257 h 3425341"/>
              <a:gd name="connsiteX58" fmla="*/ 2860276 w 3728263"/>
              <a:gd name="connsiteY58" fmla="*/ 1211685 h 3425341"/>
              <a:gd name="connsiteX59" fmla="*/ 1829178 w 3728263"/>
              <a:gd name="connsiteY59" fmla="*/ 1205860 h 3425341"/>
              <a:gd name="connsiteX60" fmla="*/ 1776750 w 3728263"/>
              <a:gd name="connsiteY60" fmla="*/ 1153431 h 3425341"/>
              <a:gd name="connsiteX61" fmla="*/ 1776750 w 3728263"/>
              <a:gd name="connsiteY61" fmla="*/ 559239 h 3425341"/>
              <a:gd name="connsiteX62" fmla="*/ 1829178 w 3728263"/>
              <a:gd name="connsiteY62" fmla="*/ 506811 h 3425341"/>
              <a:gd name="connsiteX63" fmla="*/ 1835005 w 3728263"/>
              <a:gd name="connsiteY63" fmla="*/ 390302 h 3425341"/>
              <a:gd name="connsiteX64" fmla="*/ 1666068 w 3728263"/>
              <a:gd name="connsiteY64" fmla="*/ 559239 h 3425341"/>
              <a:gd name="connsiteX65" fmla="*/ 1666068 w 3728263"/>
              <a:gd name="connsiteY65" fmla="*/ 1159256 h 3425341"/>
              <a:gd name="connsiteX66" fmla="*/ 1835005 w 3728263"/>
              <a:gd name="connsiteY66" fmla="*/ 1328193 h 3425341"/>
              <a:gd name="connsiteX67" fmla="*/ 2277736 w 3728263"/>
              <a:gd name="connsiteY67" fmla="*/ 1328193 h 3425341"/>
              <a:gd name="connsiteX68" fmla="*/ 2277736 w 3728263"/>
              <a:gd name="connsiteY68" fmla="*/ 1526257 h 3425341"/>
              <a:gd name="connsiteX69" fmla="*/ 1555385 w 3728263"/>
              <a:gd name="connsiteY69" fmla="*/ 1526257 h 3425341"/>
              <a:gd name="connsiteX70" fmla="*/ 1514607 w 3728263"/>
              <a:gd name="connsiteY70" fmla="*/ 1543733 h 3425341"/>
              <a:gd name="connsiteX71" fmla="*/ 1497131 w 3728263"/>
              <a:gd name="connsiteY71" fmla="*/ 1584511 h 3425341"/>
              <a:gd name="connsiteX72" fmla="*/ 1497131 w 3728263"/>
              <a:gd name="connsiteY72" fmla="*/ 1852480 h 3425341"/>
              <a:gd name="connsiteX73" fmla="*/ 1357321 w 3728263"/>
              <a:gd name="connsiteY73" fmla="*/ 1852480 h 3425341"/>
              <a:gd name="connsiteX74" fmla="*/ 1299067 w 3728263"/>
              <a:gd name="connsiteY74" fmla="*/ 1910734 h 3425341"/>
              <a:gd name="connsiteX75" fmla="*/ 1299067 w 3728263"/>
              <a:gd name="connsiteY75" fmla="*/ 2301037 h 3425341"/>
              <a:gd name="connsiteX76" fmla="*/ 1357321 w 3728263"/>
              <a:gd name="connsiteY76" fmla="*/ 2359291 h 3425341"/>
              <a:gd name="connsiteX77" fmla="*/ 1747624 w 3728263"/>
              <a:gd name="connsiteY77" fmla="*/ 2359291 h 3425341"/>
              <a:gd name="connsiteX78" fmla="*/ 1805878 w 3728263"/>
              <a:gd name="connsiteY78" fmla="*/ 2301037 h 3425341"/>
              <a:gd name="connsiteX79" fmla="*/ 1805878 w 3728263"/>
              <a:gd name="connsiteY79" fmla="*/ 1910734 h 3425341"/>
              <a:gd name="connsiteX80" fmla="*/ 1747624 w 3728263"/>
              <a:gd name="connsiteY80" fmla="*/ 1852480 h 3425341"/>
              <a:gd name="connsiteX81" fmla="*/ 1607814 w 3728263"/>
              <a:gd name="connsiteY81" fmla="*/ 1852480 h 3425341"/>
              <a:gd name="connsiteX82" fmla="*/ 1607814 w 3728263"/>
              <a:gd name="connsiteY82" fmla="*/ 1642765 h 3425341"/>
              <a:gd name="connsiteX83" fmla="*/ 2271911 w 3728263"/>
              <a:gd name="connsiteY83" fmla="*/ 1642765 h 3425341"/>
              <a:gd name="connsiteX84" fmla="*/ 2271911 w 3728263"/>
              <a:gd name="connsiteY84" fmla="*/ 1852480 h 3425341"/>
              <a:gd name="connsiteX85" fmla="*/ 2137926 w 3728263"/>
              <a:gd name="connsiteY85" fmla="*/ 1852480 h 3425341"/>
              <a:gd name="connsiteX86" fmla="*/ 2079672 w 3728263"/>
              <a:gd name="connsiteY86" fmla="*/ 1910734 h 3425341"/>
              <a:gd name="connsiteX87" fmla="*/ 2079672 w 3728263"/>
              <a:gd name="connsiteY87" fmla="*/ 2301037 h 3425341"/>
              <a:gd name="connsiteX88" fmla="*/ 2137926 w 3728263"/>
              <a:gd name="connsiteY88" fmla="*/ 2359291 h 3425341"/>
              <a:gd name="connsiteX89" fmla="*/ 2528229 w 3728263"/>
              <a:gd name="connsiteY89" fmla="*/ 2359291 h 3425341"/>
              <a:gd name="connsiteX90" fmla="*/ 2586483 w 3728263"/>
              <a:gd name="connsiteY90" fmla="*/ 2301037 h 3425341"/>
              <a:gd name="connsiteX91" fmla="*/ 2586483 w 3728263"/>
              <a:gd name="connsiteY91" fmla="*/ 1910734 h 3425341"/>
              <a:gd name="connsiteX92" fmla="*/ 2528229 w 3728263"/>
              <a:gd name="connsiteY92" fmla="*/ 1852480 h 3425341"/>
              <a:gd name="connsiteX93" fmla="*/ 2388419 w 3728263"/>
              <a:gd name="connsiteY93" fmla="*/ 1852480 h 3425341"/>
              <a:gd name="connsiteX94" fmla="*/ 2388419 w 3728263"/>
              <a:gd name="connsiteY94" fmla="*/ 1642765 h 3425341"/>
              <a:gd name="connsiteX95" fmla="*/ 3052516 w 3728263"/>
              <a:gd name="connsiteY95" fmla="*/ 1642765 h 3425341"/>
              <a:gd name="connsiteX96" fmla="*/ 3052516 w 3728263"/>
              <a:gd name="connsiteY96" fmla="*/ 1852480 h 3425341"/>
              <a:gd name="connsiteX97" fmla="*/ 2912706 w 3728263"/>
              <a:gd name="connsiteY97" fmla="*/ 1852480 h 3425341"/>
              <a:gd name="connsiteX98" fmla="*/ 2854452 w 3728263"/>
              <a:gd name="connsiteY98" fmla="*/ 1910734 h 3425341"/>
              <a:gd name="connsiteX99" fmla="*/ 2854452 w 3728263"/>
              <a:gd name="connsiteY99" fmla="*/ 2301037 h 3425341"/>
              <a:gd name="connsiteX100" fmla="*/ 2912706 w 3728263"/>
              <a:gd name="connsiteY100" fmla="*/ 2359291 h 3425341"/>
              <a:gd name="connsiteX101" fmla="*/ 3303009 w 3728263"/>
              <a:gd name="connsiteY101" fmla="*/ 2359291 h 3425341"/>
              <a:gd name="connsiteX102" fmla="*/ 3361263 w 3728263"/>
              <a:gd name="connsiteY102" fmla="*/ 2301037 h 3425341"/>
              <a:gd name="connsiteX103" fmla="*/ 3367088 w 3728263"/>
              <a:gd name="connsiteY103" fmla="*/ 2301037 h 3425341"/>
              <a:gd name="connsiteX104" fmla="*/ 3367088 w 3728263"/>
              <a:gd name="connsiteY104" fmla="*/ 1904909 h 3425341"/>
              <a:gd name="connsiteX105" fmla="*/ 3308834 w 3728263"/>
              <a:gd name="connsiteY105" fmla="*/ 1846655 h 3425341"/>
              <a:gd name="connsiteX106" fmla="*/ 3169024 w 3728263"/>
              <a:gd name="connsiteY106" fmla="*/ 1846655 h 3425341"/>
              <a:gd name="connsiteX107" fmla="*/ 3169024 w 3728263"/>
              <a:gd name="connsiteY107" fmla="*/ 1578686 h 3425341"/>
              <a:gd name="connsiteX108" fmla="*/ 3110770 w 3728263"/>
              <a:gd name="connsiteY108" fmla="*/ 1520432 h 3425341"/>
              <a:gd name="connsiteX109" fmla="*/ 2388419 w 3728263"/>
              <a:gd name="connsiteY109" fmla="*/ 1520432 h 3425341"/>
              <a:gd name="connsiteX110" fmla="*/ 2388419 w 3728263"/>
              <a:gd name="connsiteY110" fmla="*/ 1322368 h 3425341"/>
              <a:gd name="connsiteX111" fmla="*/ 2866103 w 3728263"/>
              <a:gd name="connsiteY111" fmla="*/ 1322368 h 3425341"/>
              <a:gd name="connsiteX112" fmla="*/ 3035040 w 3728263"/>
              <a:gd name="connsiteY112" fmla="*/ 1153431 h 3425341"/>
              <a:gd name="connsiteX113" fmla="*/ 3035040 w 3728263"/>
              <a:gd name="connsiteY113" fmla="*/ 559239 h 3425341"/>
              <a:gd name="connsiteX114" fmla="*/ 2866103 w 3728263"/>
              <a:gd name="connsiteY114" fmla="*/ 390302 h 3425341"/>
              <a:gd name="connsiteX115" fmla="*/ 902939 w 3728263"/>
              <a:gd name="connsiteY115" fmla="*/ 34953 h 3425341"/>
              <a:gd name="connsiteX116" fmla="*/ 902939 w 3728263"/>
              <a:gd name="connsiteY116" fmla="*/ 675749 h 3425341"/>
              <a:gd name="connsiteX117" fmla="*/ 681573 w 3728263"/>
              <a:gd name="connsiteY117" fmla="*/ 902940 h 3425341"/>
              <a:gd name="connsiteX118" fmla="*/ 34952 w 3728263"/>
              <a:gd name="connsiteY118" fmla="*/ 902940 h 3425341"/>
              <a:gd name="connsiteX119" fmla="*/ 1019446 w 3728263"/>
              <a:gd name="connsiteY119" fmla="*/ 0 h 3425341"/>
              <a:gd name="connsiteX120" fmla="*/ 3501072 w 3728263"/>
              <a:gd name="connsiteY120" fmla="*/ 0 h 3425341"/>
              <a:gd name="connsiteX121" fmla="*/ 3728263 w 3728263"/>
              <a:gd name="connsiteY121" fmla="*/ 227191 h 3425341"/>
              <a:gd name="connsiteX122" fmla="*/ 3728263 w 3728263"/>
              <a:gd name="connsiteY122" fmla="*/ 2516577 h 3425341"/>
              <a:gd name="connsiteX123" fmla="*/ 3501072 w 3728263"/>
              <a:gd name="connsiteY123" fmla="*/ 2743768 h 3425341"/>
              <a:gd name="connsiteX124" fmla="*/ 227191 w 3728263"/>
              <a:gd name="connsiteY124" fmla="*/ 2743768 h 3425341"/>
              <a:gd name="connsiteX125" fmla="*/ 0 w 3728263"/>
              <a:gd name="connsiteY125" fmla="*/ 2516577 h 3425341"/>
              <a:gd name="connsiteX126" fmla="*/ 0 w 3728263"/>
              <a:gd name="connsiteY126" fmla="*/ 1013621 h 3425341"/>
              <a:gd name="connsiteX127" fmla="*/ 681573 w 3728263"/>
              <a:gd name="connsiteY127" fmla="*/ 1013621 h 3425341"/>
              <a:gd name="connsiteX128" fmla="*/ 1019446 w 3728263"/>
              <a:gd name="connsiteY128" fmla="*/ 675747 h 3425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728263" h="3425341">
                <a:moveTo>
                  <a:pt x="2586482" y="2947658"/>
                </a:moveTo>
                <a:lnTo>
                  <a:pt x="2930182" y="3122421"/>
                </a:lnTo>
                <a:cubicBezTo>
                  <a:pt x="2953483" y="3134072"/>
                  <a:pt x="2965134" y="3151548"/>
                  <a:pt x="2959309" y="3174849"/>
                </a:cubicBezTo>
                <a:cubicBezTo>
                  <a:pt x="2959309" y="3198151"/>
                  <a:pt x="2947658" y="3215627"/>
                  <a:pt x="2930182" y="3227278"/>
                </a:cubicBezTo>
                <a:lnTo>
                  <a:pt x="2586482" y="3402041"/>
                </a:lnTo>
                <a:close/>
                <a:moveTo>
                  <a:pt x="1194209" y="2924356"/>
                </a:moveTo>
                <a:lnTo>
                  <a:pt x="2469974" y="2924356"/>
                </a:lnTo>
                <a:lnTo>
                  <a:pt x="2469974" y="3425341"/>
                </a:lnTo>
                <a:lnTo>
                  <a:pt x="1194209" y="3425341"/>
                </a:lnTo>
                <a:close/>
                <a:moveTo>
                  <a:pt x="908763" y="2924356"/>
                </a:moveTo>
                <a:lnTo>
                  <a:pt x="1077701" y="2924356"/>
                </a:lnTo>
                <a:lnTo>
                  <a:pt x="1077701" y="3425341"/>
                </a:lnTo>
                <a:lnTo>
                  <a:pt x="908763" y="3425341"/>
                </a:lnTo>
                <a:cubicBezTo>
                  <a:pt x="827207" y="3425341"/>
                  <a:pt x="763128" y="3361261"/>
                  <a:pt x="763128" y="3279706"/>
                </a:cubicBezTo>
                <a:lnTo>
                  <a:pt x="763128" y="3069991"/>
                </a:lnTo>
                <a:cubicBezTo>
                  <a:pt x="763128" y="2988435"/>
                  <a:pt x="827207" y="2924356"/>
                  <a:pt x="908763" y="2924356"/>
                </a:cubicBezTo>
                <a:close/>
                <a:moveTo>
                  <a:pt x="2970959" y="1968989"/>
                </a:moveTo>
                <a:lnTo>
                  <a:pt x="3244754" y="1968989"/>
                </a:lnTo>
                <a:lnTo>
                  <a:pt x="3244754" y="2242784"/>
                </a:lnTo>
                <a:lnTo>
                  <a:pt x="2970959" y="2242784"/>
                </a:lnTo>
                <a:close/>
                <a:moveTo>
                  <a:pt x="2190353" y="1968989"/>
                </a:moveTo>
                <a:lnTo>
                  <a:pt x="2464149" y="1968989"/>
                </a:lnTo>
                <a:lnTo>
                  <a:pt x="2464149" y="2242784"/>
                </a:lnTo>
                <a:lnTo>
                  <a:pt x="2190353" y="2242784"/>
                </a:lnTo>
                <a:close/>
                <a:moveTo>
                  <a:pt x="1415574" y="1968989"/>
                </a:moveTo>
                <a:lnTo>
                  <a:pt x="1689369" y="1968989"/>
                </a:lnTo>
                <a:lnTo>
                  <a:pt x="1689369" y="2242784"/>
                </a:lnTo>
                <a:lnTo>
                  <a:pt x="1415574" y="2242784"/>
                </a:lnTo>
                <a:close/>
                <a:moveTo>
                  <a:pt x="926240" y="1246638"/>
                </a:moveTo>
                <a:cubicBezTo>
                  <a:pt x="891287" y="1246638"/>
                  <a:pt x="867986" y="1269939"/>
                  <a:pt x="867986" y="1304892"/>
                </a:cubicBezTo>
                <a:lnTo>
                  <a:pt x="867986" y="2347640"/>
                </a:lnTo>
                <a:cubicBezTo>
                  <a:pt x="867986" y="2382593"/>
                  <a:pt x="891287" y="2405894"/>
                  <a:pt x="926240" y="2405894"/>
                </a:cubicBezTo>
                <a:cubicBezTo>
                  <a:pt x="961192" y="2405894"/>
                  <a:pt x="984494" y="2382593"/>
                  <a:pt x="984494" y="2347640"/>
                </a:cubicBezTo>
                <a:lnTo>
                  <a:pt x="984494" y="1304892"/>
                </a:lnTo>
                <a:cubicBezTo>
                  <a:pt x="984494" y="1269939"/>
                  <a:pt x="961192" y="1246638"/>
                  <a:pt x="926240" y="1246638"/>
                </a:cubicBezTo>
                <a:close/>
                <a:moveTo>
                  <a:pt x="425255" y="1246638"/>
                </a:moveTo>
                <a:cubicBezTo>
                  <a:pt x="390302" y="1246638"/>
                  <a:pt x="367000" y="1269939"/>
                  <a:pt x="367000" y="1304892"/>
                </a:cubicBezTo>
                <a:lnTo>
                  <a:pt x="367000" y="2347640"/>
                </a:lnTo>
                <a:cubicBezTo>
                  <a:pt x="367000" y="2382593"/>
                  <a:pt x="390302" y="2405894"/>
                  <a:pt x="425255" y="2405894"/>
                </a:cubicBezTo>
                <a:cubicBezTo>
                  <a:pt x="460207" y="2405894"/>
                  <a:pt x="483509" y="2382593"/>
                  <a:pt x="483509" y="2347640"/>
                </a:cubicBezTo>
                <a:lnTo>
                  <a:pt x="483509" y="1304892"/>
                </a:lnTo>
                <a:cubicBezTo>
                  <a:pt x="483509" y="1269939"/>
                  <a:pt x="460207" y="1246638"/>
                  <a:pt x="425255" y="1246638"/>
                </a:cubicBezTo>
                <a:close/>
                <a:moveTo>
                  <a:pt x="1998115" y="926240"/>
                </a:moveTo>
                <a:cubicBezTo>
                  <a:pt x="1963163" y="926240"/>
                  <a:pt x="1939861" y="949542"/>
                  <a:pt x="1939861" y="984494"/>
                </a:cubicBezTo>
                <a:cubicBezTo>
                  <a:pt x="1939861" y="1019447"/>
                  <a:pt x="1968988" y="1042748"/>
                  <a:pt x="1998115" y="1042748"/>
                </a:cubicBezTo>
                <a:lnTo>
                  <a:pt x="2691339" y="1042748"/>
                </a:lnTo>
                <a:cubicBezTo>
                  <a:pt x="2726291" y="1042748"/>
                  <a:pt x="2749593" y="1019447"/>
                  <a:pt x="2749593" y="984494"/>
                </a:cubicBezTo>
                <a:cubicBezTo>
                  <a:pt x="2749593" y="949542"/>
                  <a:pt x="2726291" y="926240"/>
                  <a:pt x="2691339" y="926240"/>
                </a:cubicBezTo>
                <a:close/>
                <a:moveTo>
                  <a:pt x="1998115" y="669922"/>
                </a:moveTo>
                <a:cubicBezTo>
                  <a:pt x="1968988" y="669922"/>
                  <a:pt x="1939861" y="699049"/>
                  <a:pt x="1939861" y="728176"/>
                </a:cubicBezTo>
                <a:cubicBezTo>
                  <a:pt x="1939861" y="763129"/>
                  <a:pt x="1963163" y="786430"/>
                  <a:pt x="1998115" y="786430"/>
                </a:cubicBezTo>
                <a:lnTo>
                  <a:pt x="2691339" y="786430"/>
                </a:lnTo>
                <a:cubicBezTo>
                  <a:pt x="2726291" y="786430"/>
                  <a:pt x="2749593" y="763129"/>
                  <a:pt x="2749593" y="728176"/>
                </a:cubicBezTo>
                <a:cubicBezTo>
                  <a:pt x="2749593" y="693224"/>
                  <a:pt x="2726291" y="669922"/>
                  <a:pt x="2691339" y="669922"/>
                </a:cubicBezTo>
                <a:close/>
                <a:moveTo>
                  <a:pt x="1829178" y="506811"/>
                </a:moveTo>
                <a:lnTo>
                  <a:pt x="2860276" y="506811"/>
                </a:lnTo>
                <a:cubicBezTo>
                  <a:pt x="2889403" y="506811"/>
                  <a:pt x="2912705" y="530112"/>
                  <a:pt x="2912705" y="559239"/>
                </a:cubicBezTo>
                <a:lnTo>
                  <a:pt x="2912705" y="1159257"/>
                </a:lnTo>
                <a:cubicBezTo>
                  <a:pt x="2912705" y="1188384"/>
                  <a:pt x="2889403" y="1211685"/>
                  <a:pt x="2860276" y="1211685"/>
                </a:cubicBezTo>
                <a:cubicBezTo>
                  <a:pt x="2528228" y="1211685"/>
                  <a:pt x="2132100" y="1211685"/>
                  <a:pt x="1829178" y="1205860"/>
                </a:cubicBezTo>
                <a:cubicBezTo>
                  <a:pt x="1800051" y="1205860"/>
                  <a:pt x="1776750" y="1182558"/>
                  <a:pt x="1776750" y="1153431"/>
                </a:cubicBezTo>
                <a:lnTo>
                  <a:pt x="1776750" y="559239"/>
                </a:lnTo>
                <a:cubicBezTo>
                  <a:pt x="1776750" y="530112"/>
                  <a:pt x="1800051" y="506811"/>
                  <a:pt x="1829178" y="506811"/>
                </a:cubicBezTo>
                <a:close/>
                <a:moveTo>
                  <a:pt x="1835005" y="390302"/>
                </a:moveTo>
                <a:cubicBezTo>
                  <a:pt x="1741798" y="390302"/>
                  <a:pt x="1666068" y="466032"/>
                  <a:pt x="1666068" y="559239"/>
                </a:cubicBezTo>
                <a:lnTo>
                  <a:pt x="1666068" y="1159256"/>
                </a:lnTo>
                <a:cubicBezTo>
                  <a:pt x="1666068" y="1252463"/>
                  <a:pt x="1741798" y="1328193"/>
                  <a:pt x="1835005" y="1328193"/>
                </a:cubicBezTo>
                <a:lnTo>
                  <a:pt x="2277736" y="1328193"/>
                </a:lnTo>
                <a:lnTo>
                  <a:pt x="2277736" y="1526257"/>
                </a:lnTo>
                <a:lnTo>
                  <a:pt x="1555385" y="1526257"/>
                </a:lnTo>
                <a:cubicBezTo>
                  <a:pt x="1537909" y="1526257"/>
                  <a:pt x="1526258" y="1532083"/>
                  <a:pt x="1514607" y="1543733"/>
                </a:cubicBezTo>
                <a:cubicBezTo>
                  <a:pt x="1502957" y="1555384"/>
                  <a:pt x="1497131" y="1567035"/>
                  <a:pt x="1497131" y="1584511"/>
                </a:cubicBezTo>
                <a:lnTo>
                  <a:pt x="1497131" y="1852480"/>
                </a:lnTo>
                <a:lnTo>
                  <a:pt x="1357321" y="1852480"/>
                </a:lnTo>
                <a:cubicBezTo>
                  <a:pt x="1322369" y="1852480"/>
                  <a:pt x="1299067" y="1875782"/>
                  <a:pt x="1299067" y="1910734"/>
                </a:cubicBezTo>
                <a:lnTo>
                  <a:pt x="1299067" y="2301037"/>
                </a:lnTo>
                <a:cubicBezTo>
                  <a:pt x="1299067" y="2335989"/>
                  <a:pt x="1322369" y="2359291"/>
                  <a:pt x="1357321" y="2359291"/>
                </a:cubicBezTo>
                <a:lnTo>
                  <a:pt x="1747624" y="2359291"/>
                </a:lnTo>
                <a:cubicBezTo>
                  <a:pt x="1782576" y="2359291"/>
                  <a:pt x="1805878" y="2335989"/>
                  <a:pt x="1805878" y="2301037"/>
                </a:cubicBezTo>
                <a:lnTo>
                  <a:pt x="1805878" y="1910734"/>
                </a:lnTo>
                <a:cubicBezTo>
                  <a:pt x="1805878" y="1875782"/>
                  <a:pt x="1782576" y="1852480"/>
                  <a:pt x="1747624" y="1852480"/>
                </a:cubicBezTo>
                <a:lnTo>
                  <a:pt x="1607814" y="1852480"/>
                </a:lnTo>
                <a:lnTo>
                  <a:pt x="1607814" y="1642765"/>
                </a:lnTo>
                <a:lnTo>
                  <a:pt x="2271911" y="1642765"/>
                </a:lnTo>
                <a:lnTo>
                  <a:pt x="2271911" y="1852480"/>
                </a:lnTo>
                <a:lnTo>
                  <a:pt x="2137926" y="1852480"/>
                </a:lnTo>
                <a:cubicBezTo>
                  <a:pt x="2102974" y="1852480"/>
                  <a:pt x="2079672" y="1875782"/>
                  <a:pt x="2079672" y="1910734"/>
                </a:cubicBezTo>
                <a:lnTo>
                  <a:pt x="2079672" y="2301037"/>
                </a:lnTo>
                <a:cubicBezTo>
                  <a:pt x="2079672" y="2335989"/>
                  <a:pt x="2102974" y="2359291"/>
                  <a:pt x="2137926" y="2359291"/>
                </a:cubicBezTo>
                <a:lnTo>
                  <a:pt x="2528229" y="2359291"/>
                </a:lnTo>
                <a:cubicBezTo>
                  <a:pt x="2563181" y="2359291"/>
                  <a:pt x="2586483" y="2335989"/>
                  <a:pt x="2586483" y="2301037"/>
                </a:cubicBezTo>
                <a:lnTo>
                  <a:pt x="2586483" y="1910734"/>
                </a:lnTo>
                <a:cubicBezTo>
                  <a:pt x="2586483" y="1875782"/>
                  <a:pt x="2563181" y="1852480"/>
                  <a:pt x="2528229" y="1852480"/>
                </a:cubicBezTo>
                <a:lnTo>
                  <a:pt x="2388419" y="1852480"/>
                </a:lnTo>
                <a:lnTo>
                  <a:pt x="2388419" y="1642765"/>
                </a:lnTo>
                <a:lnTo>
                  <a:pt x="3052516" y="1642765"/>
                </a:lnTo>
                <a:lnTo>
                  <a:pt x="3052516" y="1852480"/>
                </a:lnTo>
                <a:lnTo>
                  <a:pt x="2912706" y="1852480"/>
                </a:lnTo>
                <a:cubicBezTo>
                  <a:pt x="2877754" y="1852480"/>
                  <a:pt x="2854452" y="1875782"/>
                  <a:pt x="2854452" y="1910734"/>
                </a:cubicBezTo>
                <a:lnTo>
                  <a:pt x="2854452" y="2301037"/>
                </a:lnTo>
                <a:cubicBezTo>
                  <a:pt x="2854452" y="2335989"/>
                  <a:pt x="2877754" y="2359291"/>
                  <a:pt x="2912706" y="2359291"/>
                </a:cubicBezTo>
                <a:lnTo>
                  <a:pt x="3303009" y="2359291"/>
                </a:lnTo>
                <a:cubicBezTo>
                  <a:pt x="3337961" y="2359291"/>
                  <a:pt x="3361263" y="2335989"/>
                  <a:pt x="3361263" y="2301037"/>
                </a:cubicBezTo>
                <a:lnTo>
                  <a:pt x="3367088" y="2301037"/>
                </a:lnTo>
                <a:lnTo>
                  <a:pt x="3367088" y="1904909"/>
                </a:lnTo>
                <a:cubicBezTo>
                  <a:pt x="3367088" y="1869956"/>
                  <a:pt x="3343786" y="1846655"/>
                  <a:pt x="3308834" y="1846655"/>
                </a:cubicBezTo>
                <a:lnTo>
                  <a:pt x="3169024" y="1846655"/>
                </a:lnTo>
                <a:lnTo>
                  <a:pt x="3169024" y="1578686"/>
                </a:lnTo>
                <a:cubicBezTo>
                  <a:pt x="3169024" y="1543733"/>
                  <a:pt x="3145722" y="1520432"/>
                  <a:pt x="3110770" y="1520432"/>
                </a:cubicBezTo>
                <a:lnTo>
                  <a:pt x="2388419" y="1520432"/>
                </a:lnTo>
                <a:lnTo>
                  <a:pt x="2388419" y="1322368"/>
                </a:lnTo>
                <a:lnTo>
                  <a:pt x="2866103" y="1322368"/>
                </a:lnTo>
                <a:cubicBezTo>
                  <a:pt x="2959309" y="1322368"/>
                  <a:pt x="3035040" y="1246638"/>
                  <a:pt x="3035040" y="1153431"/>
                </a:cubicBezTo>
                <a:lnTo>
                  <a:pt x="3035040" y="559239"/>
                </a:lnTo>
                <a:cubicBezTo>
                  <a:pt x="3035040" y="466032"/>
                  <a:pt x="2959309" y="390302"/>
                  <a:pt x="2866103" y="390302"/>
                </a:cubicBezTo>
                <a:close/>
                <a:moveTo>
                  <a:pt x="902939" y="34953"/>
                </a:moveTo>
                <a:lnTo>
                  <a:pt x="902939" y="675749"/>
                </a:lnTo>
                <a:cubicBezTo>
                  <a:pt x="902939" y="798082"/>
                  <a:pt x="803907" y="902940"/>
                  <a:pt x="681573" y="902940"/>
                </a:cubicBezTo>
                <a:lnTo>
                  <a:pt x="34952" y="902940"/>
                </a:lnTo>
                <a:close/>
                <a:moveTo>
                  <a:pt x="1019446" y="0"/>
                </a:moveTo>
                <a:lnTo>
                  <a:pt x="3501072" y="0"/>
                </a:lnTo>
                <a:cubicBezTo>
                  <a:pt x="3629231" y="0"/>
                  <a:pt x="3728263" y="99032"/>
                  <a:pt x="3728263" y="227191"/>
                </a:cubicBezTo>
                <a:lnTo>
                  <a:pt x="3728263" y="2516577"/>
                </a:lnTo>
                <a:cubicBezTo>
                  <a:pt x="3728263" y="2638911"/>
                  <a:pt x="3629231" y="2743768"/>
                  <a:pt x="3501072" y="2743768"/>
                </a:cubicBezTo>
                <a:lnTo>
                  <a:pt x="227191" y="2743768"/>
                </a:lnTo>
                <a:cubicBezTo>
                  <a:pt x="104857" y="2743768"/>
                  <a:pt x="0" y="2644736"/>
                  <a:pt x="0" y="2516577"/>
                </a:cubicBezTo>
                <a:lnTo>
                  <a:pt x="0" y="1013621"/>
                </a:lnTo>
                <a:lnTo>
                  <a:pt x="681573" y="1013621"/>
                </a:lnTo>
                <a:cubicBezTo>
                  <a:pt x="867986" y="1013621"/>
                  <a:pt x="1019446" y="862160"/>
                  <a:pt x="1019446" y="675747"/>
                </a:cubicBezTo>
                <a:close/>
              </a:path>
            </a:pathLst>
          </a:custGeom>
          <a:solidFill>
            <a:srgbClr val="152A8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6">
            <a:hlinkClick r:id="rId5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二、“一口清”工作迭代方案</a:t>
            </a:r>
          </a:p>
        </p:txBody>
      </p:sp>
      <p:grpSp>
        <p:nvGrpSpPr>
          <p:cNvPr id="3" name="Group 43"/>
          <p:cNvGrpSpPr>
            <a:grpSpLocks noChangeAspect="1"/>
          </p:cNvGrpSpPr>
          <p:nvPr/>
        </p:nvGrpSpPr>
        <p:grpSpPr bwMode="auto">
          <a:xfrm>
            <a:off x="775991" y="5975712"/>
            <a:ext cx="502999" cy="449681"/>
            <a:chOff x="904" y="179"/>
            <a:chExt cx="4434" cy="3964"/>
          </a:xfrm>
          <a:solidFill>
            <a:srgbClr val="152A8C"/>
          </a:solidFill>
        </p:grpSpPr>
        <p:sp>
          <p:nvSpPr>
            <p:cNvPr id="4" name="Freeform 44"/>
            <p:cNvSpPr/>
            <p:nvPr/>
          </p:nvSpPr>
          <p:spPr bwMode="auto">
            <a:xfrm>
              <a:off x="3333" y="1436"/>
              <a:ext cx="328" cy="316"/>
            </a:xfrm>
            <a:custGeom>
              <a:avLst/>
              <a:gdLst>
                <a:gd name="T0" fmla="*/ 139 w 139"/>
                <a:gd name="T1" fmla="*/ 83 h 134"/>
                <a:gd name="T2" fmla="*/ 0 w 139"/>
                <a:gd name="T3" fmla="*/ 0 h 134"/>
                <a:gd name="T4" fmla="*/ 74 w 139"/>
                <a:gd name="T5" fmla="*/ 134 h 134"/>
                <a:gd name="T6" fmla="*/ 139 w 139"/>
                <a:gd name="T7" fmla="*/ 8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34">
                  <a:moveTo>
                    <a:pt x="139" y="83"/>
                  </a:moveTo>
                  <a:cubicBezTo>
                    <a:pt x="100" y="44"/>
                    <a:pt x="53" y="16"/>
                    <a:pt x="0" y="0"/>
                  </a:cubicBezTo>
                  <a:cubicBezTo>
                    <a:pt x="32" y="41"/>
                    <a:pt x="57" y="86"/>
                    <a:pt x="74" y="134"/>
                  </a:cubicBezTo>
                  <a:cubicBezTo>
                    <a:pt x="97" y="120"/>
                    <a:pt x="119" y="103"/>
                    <a:pt x="139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8" name="Freeform 45"/>
            <p:cNvSpPr/>
            <p:nvPr/>
          </p:nvSpPr>
          <p:spPr bwMode="auto">
            <a:xfrm>
              <a:off x="3548" y="1750"/>
              <a:ext cx="371" cy="822"/>
            </a:xfrm>
            <a:custGeom>
              <a:avLst/>
              <a:gdLst>
                <a:gd name="T0" fmla="*/ 88 w 157"/>
                <a:gd name="T1" fmla="*/ 348 h 348"/>
                <a:gd name="T2" fmla="*/ 88 w 157"/>
                <a:gd name="T3" fmla="*/ 0 h 348"/>
                <a:gd name="T4" fmla="*/ 0 w 157"/>
                <a:gd name="T5" fmla="*/ 65 h 348"/>
                <a:gd name="T6" fmla="*/ 0 w 157"/>
                <a:gd name="T7" fmla="*/ 283 h 348"/>
                <a:gd name="T8" fmla="*/ 88 w 157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348">
                  <a:moveTo>
                    <a:pt x="88" y="348"/>
                  </a:moveTo>
                  <a:cubicBezTo>
                    <a:pt x="157" y="242"/>
                    <a:pt x="157" y="106"/>
                    <a:pt x="88" y="0"/>
                  </a:cubicBezTo>
                  <a:cubicBezTo>
                    <a:pt x="62" y="26"/>
                    <a:pt x="33" y="48"/>
                    <a:pt x="0" y="65"/>
                  </a:cubicBezTo>
                  <a:cubicBezTo>
                    <a:pt x="16" y="137"/>
                    <a:pt x="16" y="211"/>
                    <a:pt x="0" y="283"/>
                  </a:cubicBezTo>
                  <a:cubicBezTo>
                    <a:pt x="33" y="300"/>
                    <a:pt x="62" y="322"/>
                    <a:pt x="88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17" name="Freeform 46"/>
            <p:cNvSpPr/>
            <p:nvPr/>
          </p:nvSpPr>
          <p:spPr bwMode="auto">
            <a:xfrm>
              <a:off x="2877" y="2463"/>
              <a:ext cx="491" cy="430"/>
            </a:xfrm>
            <a:custGeom>
              <a:avLst/>
              <a:gdLst>
                <a:gd name="T0" fmla="*/ 104 w 208"/>
                <a:gd name="T1" fmla="*/ 0 h 182"/>
                <a:gd name="T2" fmla="*/ 0 w 208"/>
                <a:gd name="T3" fmla="*/ 18 h 182"/>
                <a:gd name="T4" fmla="*/ 104 w 208"/>
                <a:gd name="T5" fmla="*/ 182 h 182"/>
                <a:gd name="T6" fmla="*/ 208 w 208"/>
                <a:gd name="T7" fmla="*/ 17 h 182"/>
                <a:gd name="T8" fmla="*/ 104 w 208"/>
                <a:gd name="T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182">
                  <a:moveTo>
                    <a:pt x="104" y="0"/>
                  </a:moveTo>
                  <a:cubicBezTo>
                    <a:pt x="69" y="0"/>
                    <a:pt x="33" y="6"/>
                    <a:pt x="0" y="18"/>
                  </a:cubicBezTo>
                  <a:cubicBezTo>
                    <a:pt x="20" y="80"/>
                    <a:pt x="56" y="137"/>
                    <a:pt x="104" y="182"/>
                  </a:cubicBezTo>
                  <a:cubicBezTo>
                    <a:pt x="152" y="137"/>
                    <a:pt x="188" y="80"/>
                    <a:pt x="208" y="17"/>
                  </a:cubicBezTo>
                  <a:cubicBezTo>
                    <a:pt x="175" y="6"/>
                    <a:pt x="14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18" name="Freeform 47"/>
            <p:cNvSpPr/>
            <p:nvPr/>
          </p:nvSpPr>
          <p:spPr bwMode="auto">
            <a:xfrm>
              <a:off x="2586" y="2569"/>
              <a:ext cx="326" cy="317"/>
            </a:xfrm>
            <a:custGeom>
              <a:avLst/>
              <a:gdLst>
                <a:gd name="T0" fmla="*/ 0 w 138"/>
                <a:gd name="T1" fmla="*/ 51 h 134"/>
                <a:gd name="T2" fmla="*/ 138 w 138"/>
                <a:gd name="T3" fmla="*/ 134 h 134"/>
                <a:gd name="T4" fmla="*/ 65 w 138"/>
                <a:gd name="T5" fmla="*/ 0 h 134"/>
                <a:gd name="T6" fmla="*/ 0 w 138"/>
                <a:gd name="T7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34">
                  <a:moveTo>
                    <a:pt x="0" y="51"/>
                  </a:moveTo>
                  <a:cubicBezTo>
                    <a:pt x="38" y="90"/>
                    <a:pt x="86" y="118"/>
                    <a:pt x="138" y="134"/>
                  </a:cubicBezTo>
                  <a:cubicBezTo>
                    <a:pt x="106" y="93"/>
                    <a:pt x="82" y="48"/>
                    <a:pt x="65" y="0"/>
                  </a:cubicBezTo>
                  <a:cubicBezTo>
                    <a:pt x="41" y="14"/>
                    <a:pt x="19" y="31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19" name="Freeform 48"/>
            <p:cNvSpPr/>
            <p:nvPr/>
          </p:nvSpPr>
          <p:spPr bwMode="auto">
            <a:xfrm>
              <a:off x="2877" y="1428"/>
              <a:ext cx="491" cy="430"/>
            </a:xfrm>
            <a:custGeom>
              <a:avLst/>
              <a:gdLst>
                <a:gd name="T0" fmla="*/ 104 w 208"/>
                <a:gd name="T1" fmla="*/ 182 h 182"/>
                <a:gd name="T2" fmla="*/ 208 w 208"/>
                <a:gd name="T3" fmla="*/ 165 h 182"/>
                <a:gd name="T4" fmla="*/ 104 w 208"/>
                <a:gd name="T5" fmla="*/ 0 h 182"/>
                <a:gd name="T6" fmla="*/ 0 w 208"/>
                <a:gd name="T7" fmla="*/ 164 h 182"/>
                <a:gd name="T8" fmla="*/ 104 w 208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182">
                  <a:moveTo>
                    <a:pt x="104" y="182"/>
                  </a:moveTo>
                  <a:cubicBezTo>
                    <a:pt x="140" y="182"/>
                    <a:pt x="175" y="176"/>
                    <a:pt x="208" y="165"/>
                  </a:cubicBezTo>
                  <a:cubicBezTo>
                    <a:pt x="188" y="102"/>
                    <a:pt x="152" y="45"/>
                    <a:pt x="104" y="0"/>
                  </a:cubicBezTo>
                  <a:cubicBezTo>
                    <a:pt x="56" y="45"/>
                    <a:pt x="20" y="102"/>
                    <a:pt x="0" y="164"/>
                  </a:cubicBezTo>
                  <a:cubicBezTo>
                    <a:pt x="33" y="176"/>
                    <a:pt x="69" y="182"/>
                    <a:pt x="104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1" name="Freeform 49"/>
            <p:cNvSpPr/>
            <p:nvPr/>
          </p:nvSpPr>
          <p:spPr bwMode="auto">
            <a:xfrm>
              <a:off x="2815" y="1965"/>
              <a:ext cx="617" cy="392"/>
            </a:xfrm>
            <a:custGeom>
              <a:avLst/>
              <a:gdLst>
                <a:gd name="T0" fmla="*/ 10 w 261"/>
                <a:gd name="T1" fmla="*/ 0 h 166"/>
                <a:gd name="T2" fmla="*/ 10 w 261"/>
                <a:gd name="T3" fmla="*/ 166 h 166"/>
                <a:gd name="T4" fmla="*/ 250 w 261"/>
                <a:gd name="T5" fmla="*/ 166 h 166"/>
                <a:gd name="T6" fmla="*/ 250 w 261"/>
                <a:gd name="T7" fmla="*/ 0 h 166"/>
                <a:gd name="T8" fmla="*/ 10 w 261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166">
                  <a:moveTo>
                    <a:pt x="10" y="0"/>
                  </a:moveTo>
                  <a:cubicBezTo>
                    <a:pt x="0" y="55"/>
                    <a:pt x="0" y="111"/>
                    <a:pt x="10" y="166"/>
                  </a:cubicBezTo>
                  <a:cubicBezTo>
                    <a:pt x="88" y="140"/>
                    <a:pt x="172" y="140"/>
                    <a:pt x="250" y="166"/>
                  </a:cubicBezTo>
                  <a:cubicBezTo>
                    <a:pt x="261" y="111"/>
                    <a:pt x="261" y="55"/>
                    <a:pt x="250" y="0"/>
                  </a:cubicBezTo>
                  <a:cubicBezTo>
                    <a:pt x="172" y="26"/>
                    <a:pt x="88" y="26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2" name="Freeform 50"/>
            <p:cNvSpPr/>
            <p:nvPr/>
          </p:nvSpPr>
          <p:spPr bwMode="auto">
            <a:xfrm>
              <a:off x="2326" y="1750"/>
              <a:ext cx="371" cy="822"/>
            </a:xfrm>
            <a:custGeom>
              <a:avLst/>
              <a:gdLst>
                <a:gd name="T0" fmla="*/ 69 w 157"/>
                <a:gd name="T1" fmla="*/ 0 h 348"/>
                <a:gd name="T2" fmla="*/ 69 w 157"/>
                <a:gd name="T3" fmla="*/ 348 h 348"/>
                <a:gd name="T4" fmla="*/ 157 w 157"/>
                <a:gd name="T5" fmla="*/ 283 h 348"/>
                <a:gd name="T6" fmla="*/ 157 w 157"/>
                <a:gd name="T7" fmla="*/ 65 h 348"/>
                <a:gd name="T8" fmla="*/ 69 w 157"/>
                <a:gd name="T9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348">
                  <a:moveTo>
                    <a:pt x="69" y="0"/>
                  </a:moveTo>
                  <a:cubicBezTo>
                    <a:pt x="0" y="106"/>
                    <a:pt x="0" y="242"/>
                    <a:pt x="69" y="348"/>
                  </a:cubicBezTo>
                  <a:cubicBezTo>
                    <a:pt x="95" y="322"/>
                    <a:pt x="125" y="300"/>
                    <a:pt x="157" y="283"/>
                  </a:cubicBezTo>
                  <a:cubicBezTo>
                    <a:pt x="142" y="211"/>
                    <a:pt x="142" y="137"/>
                    <a:pt x="157" y="65"/>
                  </a:cubicBezTo>
                  <a:cubicBezTo>
                    <a:pt x="125" y="48"/>
                    <a:pt x="95" y="26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3" name="Freeform 51"/>
            <p:cNvSpPr/>
            <p:nvPr/>
          </p:nvSpPr>
          <p:spPr bwMode="auto">
            <a:xfrm>
              <a:off x="2586" y="1436"/>
              <a:ext cx="326" cy="316"/>
            </a:xfrm>
            <a:custGeom>
              <a:avLst/>
              <a:gdLst>
                <a:gd name="T0" fmla="*/ 138 w 138"/>
                <a:gd name="T1" fmla="*/ 0 h 134"/>
                <a:gd name="T2" fmla="*/ 0 w 138"/>
                <a:gd name="T3" fmla="*/ 83 h 134"/>
                <a:gd name="T4" fmla="*/ 65 w 138"/>
                <a:gd name="T5" fmla="*/ 134 h 134"/>
                <a:gd name="T6" fmla="*/ 138 w 138"/>
                <a:gd name="T7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34">
                  <a:moveTo>
                    <a:pt x="138" y="0"/>
                  </a:moveTo>
                  <a:cubicBezTo>
                    <a:pt x="86" y="16"/>
                    <a:pt x="38" y="44"/>
                    <a:pt x="0" y="83"/>
                  </a:cubicBezTo>
                  <a:cubicBezTo>
                    <a:pt x="19" y="103"/>
                    <a:pt x="41" y="120"/>
                    <a:pt x="65" y="134"/>
                  </a:cubicBezTo>
                  <a:cubicBezTo>
                    <a:pt x="82" y="86"/>
                    <a:pt x="106" y="41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6" name="Freeform 52"/>
            <p:cNvSpPr/>
            <p:nvPr/>
          </p:nvSpPr>
          <p:spPr bwMode="auto">
            <a:xfrm>
              <a:off x="3335" y="2569"/>
              <a:ext cx="326" cy="317"/>
            </a:xfrm>
            <a:custGeom>
              <a:avLst/>
              <a:gdLst>
                <a:gd name="T0" fmla="*/ 32 w 138"/>
                <a:gd name="T1" fmla="*/ 87 h 134"/>
                <a:gd name="T2" fmla="*/ 0 w 138"/>
                <a:gd name="T3" fmla="*/ 134 h 134"/>
                <a:gd name="T4" fmla="*/ 56 w 138"/>
                <a:gd name="T5" fmla="*/ 111 h 134"/>
                <a:gd name="T6" fmla="*/ 87 w 138"/>
                <a:gd name="T7" fmla="*/ 93 h 134"/>
                <a:gd name="T8" fmla="*/ 138 w 138"/>
                <a:gd name="T9" fmla="*/ 51 h 134"/>
                <a:gd name="T10" fmla="*/ 73 w 138"/>
                <a:gd name="T11" fmla="*/ 0 h 134"/>
                <a:gd name="T12" fmla="*/ 32 w 138"/>
                <a:gd name="T13" fmla="*/ 8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134">
                  <a:moveTo>
                    <a:pt x="32" y="87"/>
                  </a:moveTo>
                  <a:cubicBezTo>
                    <a:pt x="22" y="103"/>
                    <a:pt x="11" y="119"/>
                    <a:pt x="0" y="134"/>
                  </a:cubicBezTo>
                  <a:cubicBezTo>
                    <a:pt x="19" y="128"/>
                    <a:pt x="38" y="121"/>
                    <a:pt x="56" y="111"/>
                  </a:cubicBezTo>
                  <a:cubicBezTo>
                    <a:pt x="66" y="106"/>
                    <a:pt x="77" y="100"/>
                    <a:pt x="87" y="93"/>
                  </a:cubicBezTo>
                  <a:cubicBezTo>
                    <a:pt x="105" y="81"/>
                    <a:pt x="122" y="67"/>
                    <a:pt x="138" y="51"/>
                  </a:cubicBezTo>
                  <a:cubicBezTo>
                    <a:pt x="118" y="31"/>
                    <a:pt x="96" y="14"/>
                    <a:pt x="73" y="0"/>
                  </a:cubicBezTo>
                  <a:cubicBezTo>
                    <a:pt x="62" y="30"/>
                    <a:pt x="48" y="59"/>
                    <a:pt x="32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7" name="Freeform 53"/>
            <p:cNvSpPr>
              <a:spLocks noEditPoints="1"/>
            </p:cNvSpPr>
            <p:nvPr/>
          </p:nvSpPr>
          <p:spPr bwMode="auto">
            <a:xfrm>
              <a:off x="904" y="179"/>
              <a:ext cx="4434" cy="3964"/>
            </a:xfrm>
            <a:custGeom>
              <a:avLst/>
              <a:gdLst>
                <a:gd name="T0" fmla="*/ 1663 w 1877"/>
                <a:gd name="T1" fmla="*/ 686 h 1678"/>
                <a:gd name="T2" fmla="*/ 1467 w 1877"/>
                <a:gd name="T3" fmla="*/ 101 h 1678"/>
                <a:gd name="T4" fmla="*/ 1166 w 1877"/>
                <a:gd name="T5" fmla="*/ 136 h 1678"/>
                <a:gd name="T6" fmla="*/ 574 w 1877"/>
                <a:gd name="T7" fmla="*/ 8 h 1678"/>
                <a:gd name="T8" fmla="*/ 447 w 1877"/>
                <a:gd name="T9" fmla="*/ 285 h 1678"/>
                <a:gd name="T10" fmla="*/ 40 w 1877"/>
                <a:gd name="T11" fmla="*/ 746 h 1678"/>
                <a:gd name="T12" fmla="*/ 216 w 1877"/>
                <a:gd name="T13" fmla="*/ 992 h 1678"/>
                <a:gd name="T14" fmla="*/ 411 w 1877"/>
                <a:gd name="T15" fmla="*/ 1577 h 1678"/>
                <a:gd name="T16" fmla="*/ 712 w 1877"/>
                <a:gd name="T17" fmla="*/ 1542 h 1678"/>
                <a:gd name="T18" fmla="*/ 1304 w 1877"/>
                <a:gd name="T19" fmla="*/ 1670 h 1678"/>
                <a:gd name="T20" fmla="*/ 1431 w 1877"/>
                <a:gd name="T21" fmla="*/ 1393 h 1678"/>
                <a:gd name="T22" fmla="*/ 1828 w 1877"/>
                <a:gd name="T23" fmla="*/ 943 h 1678"/>
                <a:gd name="T24" fmla="*/ 1706 w 1877"/>
                <a:gd name="T25" fmla="*/ 679 h 1678"/>
                <a:gd name="T26" fmla="*/ 1276 w 1877"/>
                <a:gd name="T27" fmla="*/ 1358 h 1678"/>
                <a:gd name="T28" fmla="*/ 1102 w 1877"/>
                <a:gd name="T29" fmla="*/ 1186 h 1678"/>
                <a:gd name="T30" fmla="*/ 1166 w 1877"/>
                <a:gd name="T31" fmla="*/ 1478 h 1678"/>
                <a:gd name="T32" fmla="*/ 659 w 1877"/>
                <a:gd name="T33" fmla="*/ 1389 h 1678"/>
                <a:gd name="T34" fmla="*/ 721 w 1877"/>
                <a:gd name="T35" fmla="*/ 1154 h 1678"/>
                <a:gd name="T36" fmla="*/ 502 w 1877"/>
                <a:gd name="T37" fmla="*/ 1360 h 1678"/>
                <a:gd name="T38" fmla="*/ 329 w 1877"/>
                <a:gd name="T39" fmla="*/ 871 h 1678"/>
                <a:gd name="T40" fmla="*/ 556 w 1877"/>
                <a:gd name="T41" fmla="*/ 839 h 1678"/>
                <a:gd name="T42" fmla="*/ 329 w 1877"/>
                <a:gd name="T43" fmla="*/ 807 h 1678"/>
                <a:gd name="T44" fmla="*/ 502 w 1877"/>
                <a:gd name="T45" fmla="*/ 318 h 1678"/>
                <a:gd name="T46" fmla="*/ 721 w 1877"/>
                <a:gd name="T47" fmla="*/ 524 h 1678"/>
                <a:gd name="T48" fmla="*/ 659 w 1877"/>
                <a:gd name="T49" fmla="*/ 289 h 1678"/>
                <a:gd name="T50" fmla="*/ 1166 w 1877"/>
                <a:gd name="T51" fmla="*/ 200 h 1678"/>
                <a:gd name="T52" fmla="*/ 1102 w 1877"/>
                <a:gd name="T53" fmla="*/ 493 h 1678"/>
                <a:gd name="T54" fmla="*/ 1276 w 1877"/>
                <a:gd name="T55" fmla="*/ 320 h 1678"/>
                <a:gd name="T56" fmla="*/ 1606 w 1877"/>
                <a:gd name="T57" fmla="*/ 716 h 1678"/>
                <a:gd name="T58" fmla="*/ 1321 w 1877"/>
                <a:gd name="T59" fmla="*/ 807 h 1678"/>
                <a:gd name="T60" fmla="*/ 1321 w 1877"/>
                <a:gd name="T61" fmla="*/ 871 h 1678"/>
                <a:gd name="T62" fmla="*/ 1606 w 1877"/>
                <a:gd name="T63" fmla="*/ 963 h 1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77" h="1678">
                  <a:moveTo>
                    <a:pt x="1706" y="679"/>
                  </a:moveTo>
                  <a:cubicBezTo>
                    <a:pt x="1691" y="679"/>
                    <a:pt x="1677" y="682"/>
                    <a:pt x="1663" y="686"/>
                  </a:cubicBezTo>
                  <a:cubicBezTo>
                    <a:pt x="1431" y="285"/>
                    <a:pt x="1431" y="285"/>
                    <a:pt x="1431" y="285"/>
                  </a:cubicBezTo>
                  <a:cubicBezTo>
                    <a:pt x="1482" y="238"/>
                    <a:pt x="1496" y="164"/>
                    <a:pt x="1467" y="101"/>
                  </a:cubicBezTo>
                  <a:cubicBezTo>
                    <a:pt x="1439" y="38"/>
                    <a:pt x="1373" y="1"/>
                    <a:pt x="1304" y="9"/>
                  </a:cubicBezTo>
                  <a:cubicBezTo>
                    <a:pt x="1235" y="17"/>
                    <a:pt x="1180" y="68"/>
                    <a:pt x="1166" y="136"/>
                  </a:cubicBezTo>
                  <a:cubicBezTo>
                    <a:pt x="712" y="136"/>
                    <a:pt x="712" y="136"/>
                    <a:pt x="712" y="136"/>
                  </a:cubicBezTo>
                  <a:cubicBezTo>
                    <a:pt x="699" y="68"/>
                    <a:pt x="643" y="17"/>
                    <a:pt x="574" y="8"/>
                  </a:cubicBezTo>
                  <a:cubicBezTo>
                    <a:pt x="505" y="0"/>
                    <a:pt x="439" y="38"/>
                    <a:pt x="410" y="101"/>
                  </a:cubicBezTo>
                  <a:cubicBezTo>
                    <a:pt x="381" y="163"/>
                    <a:pt x="396" y="238"/>
                    <a:pt x="447" y="285"/>
                  </a:cubicBezTo>
                  <a:cubicBezTo>
                    <a:pt x="216" y="686"/>
                    <a:pt x="216" y="686"/>
                    <a:pt x="216" y="686"/>
                  </a:cubicBezTo>
                  <a:cubicBezTo>
                    <a:pt x="150" y="666"/>
                    <a:pt x="80" y="691"/>
                    <a:pt x="40" y="746"/>
                  </a:cubicBezTo>
                  <a:cubicBezTo>
                    <a:pt x="0" y="802"/>
                    <a:pt x="0" y="876"/>
                    <a:pt x="40" y="932"/>
                  </a:cubicBezTo>
                  <a:cubicBezTo>
                    <a:pt x="80" y="988"/>
                    <a:pt x="150" y="1012"/>
                    <a:pt x="216" y="992"/>
                  </a:cubicBezTo>
                  <a:cubicBezTo>
                    <a:pt x="447" y="1393"/>
                    <a:pt x="447" y="1393"/>
                    <a:pt x="447" y="1393"/>
                  </a:cubicBezTo>
                  <a:cubicBezTo>
                    <a:pt x="397" y="1440"/>
                    <a:pt x="382" y="1514"/>
                    <a:pt x="411" y="1577"/>
                  </a:cubicBezTo>
                  <a:cubicBezTo>
                    <a:pt x="440" y="1640"/>
                    <a:pt x="506" y="1677"/>
                    <a:pt x="574" y="1669"/>
                  </a:cubicBezTo>
                  <a:cubicBezTo>
                    <a:pt x="643" y="1661"/>
                    <a:pt x="699" y="1610"/>
                    <a:pt x="712" y="1542"/>
                  </a:cubicBezTo>
                  <a:cubicBezTo>
                    <a:pt x="1166" y="1542"/>
                    <a:pt x="1166" y="1542"/>
                    <a:pt x="1166" y="1542"/>
                  </a:cubicBezTo>
                  <a:cubicBezTo>
                    <a:pt x="1180" y="1610"/>
                    <a:pt x="1235" y="1662"/>
                    <a:pt x="1304" y="1670"/>
                  </a:cubicBezTo>
                  <a:cubicBezTo>
                    <a:pt x="1373" y="1678"/>
                    <a:pt x="1439" y="1641"/>
                    <a:pt x="1468" y="1578"/>
                  </a:cubicBezTo>
                  <a:cubicBezTo>
                    <a:pt x="1497" y="1515"/>
                    <a:pt x="1482" y="1440"/>
                    <a:pt x="1431" y="1393"/>
                  </a:cubicBezTo>
                  <a:cubicBezTo>
                    <a:pt x="1663" y="992"/>
                    <a:pt x="1663" y="992"/>
                    <a:pt x="1663" y="992"/>
                  </a:cubicBezTo>
                  <a:cubicBezTo>
                    <a:pt x="1723" y="1009"/>
                    <a:pt x="1787" y="990"/>
                    <a:pt x="1828" y="943"/>
                  </a:cubicBezTo>
                  <a:cubicBezTo>
                    <a:pt x="1868" y="895"/>
                    <a:pt x="1877" y="829"/>
                    <a:pt x="1851" y="772"/>
                  </a:cubicBezTo>
                  <a:cubicBezTo>
                    <a:pt x="1825" y="715"/>
                    <a:pt x="1768" y="679"/>
                    <a:pt x="1706" y="679"/>
                  </a:cubicBezTo>
                  <a:close/>
                  <a:moveTo>
                    <a:pt x="1376" y="1360"/>
                  </a:moveTo>
                  <a:cubicBezTo>
                    <a:pt x="1344" y="1348"/>
                    <a:pt x="1308" y="1347"/>
                    <a:pt x="1276" y="1358"/>
                  </a:cubicBezTo>
                  <a:cubicBezTo>
                    <a:pt x="1158" y="1154"/>
                    <a:pt x="1158" y="1154"/>
                    <a:pt x="1158" y="1154"/>
                  </a:cubicBezTo>
                  <a:cubicBezTo>
                    <a:pt x="1140" y="1166"/>
                    <a:pt x="1122" y="1177"/>
                    <a:pt x="1102" y="1186"/>
                  </a:cubicBezTo>
                  <a:cubicBezTo>
                    <a:pt x="1220" y="1389"/>
                    <a:pt x="1220" y="1389"/>
                    <a:pt x="1220" y="1389"/>
                  </a:cubicBezTo>
                  <a:cubicBezTo>
                    <a:pt x="1192" y="1412"/>
                    <a:pt x="1173" y="1443"/>
                    <a:pt x="1166" y="1478"/>
                  </a:cubicBezTo>
                  <a:cubicBezTo>
                    <a:pt x="712" y="1478"/>
                    <a:pt x="712" y="1478"/>
                    <a:pt x="712" y="1478"/>
                  </a:cubicBezTo>
                  <a:cubicBezTo>
                    <a:pt x="705" y="1443"/>
                    <a:pt x="686" y="1412"/>
                    <a:pt x="659" y="1389"/>
                  </a:cubicBezTo>
                  <a:cubicBezTo>
                    <a:pt x="776" y="1186"/>
                    <a:pt x="776" y="1186"/>
                    <a:pt x="776" y="1186"/>
                  </a:cubicBezTo>
                  <a:cubicBezTo>
                    <a:pt x="757" y="1176"/>
                    <a:pt x="738" y="1166"/>
                    <a:pt x="721" y="1154"/>
                  </a:cubicBezTo>
                  <a:cubicBezTo>
                    <a:pt x="603" y="1358"/>
                    <a:pt x="603" y="1358"/>
                    <a:pt x="603" y="1358"/>
                  </a:cubicBezTo>
                  <a:cubicBezTo>
                    <a:pt x="570" y="1347"/>
                    <a:pt x="534" y="1348"/>
                    <a:pt x="502" y="1360"/>
                  </a:cubicBezTo>
                  <a:cubicBezTo>
                    <a:pt x="272" y="963"/>
                    <a:pt x="272" y="963"/>
                    <a:pt x="272" y="963"/>
                  </a:cubicBezTo>
                  <a:cubicBezTo>
                    <a:pt x="301" y="939"/>
                    <a:pt x="321" y="907"/>
                    <a:pt x="329" y="871"/>
                  </a:cubicBezTo>
                  <a:cubicBezTo>
                    <a:pt x="557" y="871"/>
                    <a:pt x="557" y="871"/>
                    <a:pt x="557" y="871"/>
                  </a:cubicBezTo>
                  <a:cubicBezTo>
                    <a:pt x="556" y="860"/>
                    <a:pt x="556" y="850"/>
                    <a:pt x="556" y="839"/>
                  </a:cubicBezTo>
                  <a:cubicBezTo>
                    <a:pt x="556" y="828"/>
                    <a:pt x="556" y="818"/>
                    <a:pt x="557" y="807"/>
                  </a:cubicBezTo>
                  <a:cubicBezTo>
                    <a:pt x="329" y="807"/>
                    <a:pt x="329" y="807"/>
                    <a:pt x="329" y="807"/>
                  </a:cubicBezTo>
                  <a:cubicBezTo>
                    <a:pt x="321" y="771"/>
                    <a:pt x="301" y="739"/>
                    <a:pt x="272" y="716"/>
                  </a:cubicBezTo>
                  <a:cubicBezTo>
                    <a:pt x="502" y="318"/>
                    <a:pt x="502" y="318"/>
                    <a:pt x="502" y="318"/>
                  </a:cubicBezTo>
                  <a:cubicBezTo>
                    <a:pt x="534" y="330"/>
                    <a:pt x="570" y="331"/>
                    <a:pt x="603" y="320"/>
                  </a:cubicBezTo>
                  <a:cubicBezTo>
                    <a:pt x="721" y="524"/>
                    <a:pt x="721" y="524"/>
                    <a:pt x="721" y="524"/>
                  </a:cubicBezTo>
                  <a:cubicBezTo>
                    <a:pt x="738" y="512"/>
                    <a:pt x="757" y="501"/>
                    <a:pt x="776" y="492"/>
                  </a:cubicBezTo>
                  <a:cubicBezTo>
                    <a:pt x="659" y="289"/>
                    <a:pt x="659" y="289"/>
                    <a:pt x="659" y="289"/>
                  </a:cubicBezTo>
                  <a:cubicBezTo>
                    <a:pt x="686" y="266"/>
                    <a:pt x="705" y="235"/>
                    <a:pt x="712" y="200"/>
                  </a:cubicBezTo>
                  <a:cubicBezTo>
                    <a:pt x="1166" y="200"/>
                    <a:pt x="1166" y="200"/>
                    <a:pt x="1166" y="200"/>
                  </a:cubicBezTo>
                  <a:cubicBezTo>
                    <a:pt x="1173" y="235"/>
                    <a:pt x="1192" y="266"/>
                    <a:pt x="1220" y="289"/>
                  </a:cubicBezTo>
                  <a:cubicBezTo>
                    <a:pt x="1102" y="493"/>
                    <a:pt x="1102" y="493"/>
                    <a:pt x="1102" y="493"/>
                  </a:cubicBezTo>
                  <a:cubicBezTo>
                    <a:pt x="1122" y="502"/>
                    <a:pt x="1140" y="512"/>
                    <a:pt x="1158" y="525"/>
                  </a:cubicBezTo>
                  <a:cubicBezTo>
                    <a:pt x="1276" y="320"/>
                    <a:pt x="1276" y="320"/>
                    <a:pt x="1276" y="320"/>
                  </a:cubicBezTo>
                  <a:cubicBezTo>
                    <a:pt x="1308" y="331"/>
                    <a:pt x="1344" y="331"/>
                    <a:pt x="1376" y="318"/>
                  </a:cubicBezTo>
                  <a:cubicBezTo>
                    <a:pt x="1606" y="716"/>
                    <a:pt x="1606" y="716"/>
                    <a:pt x="1606" y="716"/>
                  </a:cubicBezTo>
                  <a:cubicBezTo>
                    <a:pt x="1577" y="739"/>
                    <a:pt x="1557" y="771"/>
                    <a:pt x="1550" y="807"/>
                  </a:cubicBezTo>
                  <a:cubicBezTo>
                    <a:pt x="1321" y="807"/>
                    <a:pt x="1321" y="807"/>
                    <a:pt x="1321" y="807"/>
                  </a:cubicBezTo>
                  <a:cubicBezTo>
                    <a:pt x="1322" y="818"/>
                    <a:pt x="1323" y="828"/>
                    <a:pt x="1323" y="839"/>
                  </a:cubicBezTo>
                  <a:cubicBezTo>
                    <a:pt x="1323" y="850"/>
                    <a:pt x="1322" y="860"/>
                    <a:pt x="1321" y="871"/>
                  </a:cubicBezTo>
                  <a:cubicBezTo>
                    <a:pt x="1550" y="871"/>
                    <a:pt x="1550" y="871"/>
                    <a:pt x="1550" y="871"/>
                  </a:cubicBezTo>
                  <a:cubicBezTo>
                    <a:pt x="1557" y="907"/>
                    <a:pt x="1577" y="939"/>
                    <a:pt x="1606" y="963"/>
                  </a:cubicBezTo>
                  <a:lnTo>
                    <a:pt x="1376" y="1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657AE59-DA49-DEEA-3F3B-F45C301DC0D4}"/>
              </a:ext>
            </a:extLst>
          </p:cNvPr>
          <p:cNvGrpSpPr/>
          <p:nvPr/>
        </p:nvGrpSpPr>
        <p:grpSpPr>
          <a:xfrm>
            <a:off x="9811238" y="4544921"/>
            <a:ext cx="1955800" cy="1620000"/>
            <a:chOff x="9248775" y="7985760"/>
            <a:chExt cx="1955800" cy="1778000"/>
          </a:xfrm>
        </p:grpSpPr>
        <p:sp>
          <p:nvSpPr>
            <p:cNvPr id="31" name="AutoShape 27">
              <a:extLst>
                <a:ext uri="{FF2B5EF4-FFF2-40B4-BE49-F238E27FC236}">
                  <a16:creationId xmlns:a16="http://schemas.microsoft.com/office/drawing/2014/main" id="{7CC3E85A-0EEC-8A80-C722-E12D770E5F55}"/>
                </a:ext>
              </a:extLst>
            </p:cNvPr>
            <p:cNvSpPr/>
            <p:nvPr/>
          </p:nvSpPr>
          <p:spPr>
            <a:xfrm>
              <a:off x="9248775" y="7985760"/>
              <a:ext cx="1955800" cy="17780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4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241" name="AutoShape 28">
              <a:extLst>
                <a:ext uri="{FF2B5EF4-FFF2-40B4-BE49-F238E27FC236}">
                  <a16:creationId xmlns:a16="http://schemas.microsoft.com/office/drawing/2014/main" id="{E97124D3-708E-CD70-6F64-7ABF27467E93}"/>
                </a:ext>
              </a:extLst>
            </p:cNvPr>
            <p:cNvSpPr/>
            <p:nvPr/>
          </p:nvSpPr>
          <p:spPr>
            <a:xfrm>
              <a:off x="9248775" y="7985760"/>
              <a:ext cx="1955800" cy="50800"/>
            </a:xfrm>
            <a:prstGeom prst="roundRect">
              <a:avLst>
                <a:gd name="adj" fmla="val 0"/>
              </a:avLst>
            </a:prstGeom>
            <a:solidFill>
              <a:srgbClr val="00336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+mn-ea"/>
              </a:endParaRPr>
            </a:p>
          </p:txBody>
        </p:sp>
        <p:sp>
          <p:nvSpPr>
            <p:cNvPr id="242" name="AutoShape 29">
              <a:extLst>
                <a:ext uri="{FF2B5EF4-FFF2-40B4-BE49-F238E27FC236}">
                  <a16:creationId xmlns:a16="http://schemas.microsoft.com/office/drawing/2014/main" id="{F97151EE-09C1-18D8-BA43-E2A935D228D6}"/>
                </a:ext>
              </a:extLst>
            </p:cNvPr>
            <p:cNvSpPr/>
            <p:nvPr/>
          </p:nvSpPr>
          <p:spPr>
            <a:xfrm>
              <a:off x="9375775" y="8176260"/>
              <a:ext cx="17018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06 </a:t>
              </a:r>
              <a:r>
                <a:rPr lang="zh-CN" altLang="en-US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管理策略</a:t>
              </a:r>
              <a:r>
                <a:rPr lang="en-US" altLang="zh-CN" sz="1400" b="1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清</a:t>
              </a:r>
              <a:endParaRPr lang="en-US" sz="1400" b="1" dirty="0">
                <a:solidFill>
                  <a:srgbClr val="152A8C"/>
                </a:solidFill>
                <a:latin typeface="+mn-ea"/>
              </a:endParaRPr>
            </a:p>
          </p:txBody>
        </p:sp>
        <p:cxnSp>
          <p:nvCxnSpPr>
            <p:cNvPr id="243" name="Connector 30">
              <a:extLst>
                <a:ext uri="{FF2B5EF4-FFF2-40B4-BE49-F238E27FC236}">
                  <a16:creationId xmlns:a16="http://schemas.microsoft.com/office/drawing/2014/main" id="{4271065E-08A5-1EE3-2D5E-C7EE31701371}"/>
                </a:ext>
              </a:extLst>
            </p:cNvPr>
            <p:cNvCxnSpPr/>
            <p:nvPr/>
          </p:nvCxnSpPr>
          <p:spPr>
            <a:xfrm rot="21574346">
              <a:off x="9375799" y="8614410"/>
              <a:ext cx="1701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3366">
                  <a:alpha val="15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44" name="AutoShape 31">
              <a:extLst>
                <a:ext uri="{FF2B5EF4-FFF2-40B4-BE49-F238E27FC236}">
                  <a16:creationId xmlns:a16="http://schemas.microsoft.com/office/drawing/2014/main" id="{2E6E3862-F21A-8565-50FD-8F6DED9B54A2}"/>
                </a:ext>
              </a:extLst>
            </p:cNvPr>
            <p:cNvSpPr/>
            <p:nvPr/>
          </p:nvSpPr>
          <p:spPr>
            <a:xfrm>
              <a:off x="9375775" y="8747760"/>
              <a:ext cx="17018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000"/>
                </a:lnSpc>
                <a:defRPr/>
              </a:pPr>
              <a:r>
                <a:rPr lang="zh-CN" altLang="en-US" sz="1200" dirty="0">
                  <a:solidFill>
                    <a:srgbClr val="152A8C"/>
                  </a:solidFill>
                  <a:latin typeface="+mn-ea"/>
                  <a:sym typeface="Noto Sans SC" panose="020B0200000000000000" charset="-122"/>
                </a:rPr>
                <a:t>按战略定位、战略执行、战略成果全面排查参股企业经营情况，针对性制定管理策略</a:t>
              </a:r>
              <a:endParaRPr lang="en-US" altLang="zh-CN" sz="1200" dirty="0">
                <a:solidFill>
                  <a:srgbClr val="152A8C"/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6">
            <a:hlinkClick r:id="rId21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二、“一口清”工作迭代方案</a:t>
            </a:r>
          </a:p>
        </p:txBody>
      </p:sp>
      <p:sp>
        <p:nvSpPr>
          <p:cNvPr id="63" name="TextBox 3"/>
          <p:cNvSpPr txBox="1"/>
          <p:nvPr>
            <p:custDataLst>
              <p:tags r:id="rId1"/>
            </p:custDataLst>
          </p:nvPr>
        </p:nvSpPr>
        <p:spPr>
          <a:xfrm>
            <a:off x="462279" y="931013"/>
            <a:ext cx="4543353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为什么开展“一口清”</a:t>
            </a:r>
          </a:p>
        </p:txBody>
      </p:sp>
      <p:cxnSp>
        <p:nvCxnSpPr>
          <p:cNvPr id="5" name="Connector 5"/>
          <p:cNvCxnSpPr/>
          <p:nvPr>
            <p:custDataLst>
              <p:tags r:id="rId2"/>
            </p:custDataLst>
          </p:nvPr>
        </p:nvCxnSpPr>
        <p:spPr>
          <a:xfrm>
            <a:off x="7219540" y="2039151"/>
            <a:ext cx="25400" cy="420751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7" name="组合 16"/>
          <p:cNvGrpSpPr/>
          <p:nvPr>
            <p:custDataLst>
              <p:tags r:id="rId3"/>
            </p:custDataLst>
          </p:nvPr>
        </p:nvGrpSpPr>
        <p:grpSpPr>
          <a:xfrm>
            <a:off x="638937" y="1847100"/>
            <a:ext cx="6376532" cy="1336676"/>
            <a:chOff x="765953" y="2018983"/>
            <a:chExt cx="5249410" cy="1336676"/>
          </a:xfrm>
        </p:grpSpPr>
        <p:sp>
          <p:nvSpPr>
            <p:cNvPr id="6" name="AutoShape 6"/>
            <p:cNvSpPr/>
            <p:nvPr>
              <p:custDataLst>
                <p:tags r:id="rId14"/>
              </p:custDataLst>
            </p:nvPr>
          </p:nvSpPr>
          <p:spPr>
            <a:xfrm>
              <a:off x="765953" y="2079799"/>
              <a:ext cx="76821" cy="1216325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endParaRPr sz="14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" name="AutoShape 7"/>
            <p:cNvSpPr/>
            <p:nvPr>
              <p:custDataLst>
                <p:tags r:id="rId15"/>
              </p:custDataLst>
            </p:nvPr>
          </p:nvSpPr>
          <p:spPr>
            <a:xfrm>
              <a:off x="1022021" y="2018983"/>
              <a:ext cx="4993334" cy="38410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促</a:t>
              </a:r>
              <a:r>
                <a:rPr lang="zh-CN" altLang="en-US" sz="1800" b="1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能力提升</a:t>
              </a:r>
              <a:endParaRPr lang="en-US" sz="1800" b="1" i="0" u="none" strike="noStrike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cxnSp>
          <p:nvCxnSpPr>
            <p:cNvPr id="8" name="Connector 8"/>
            <p:cNvCxnSpPr/>
            <p:nvPr>
              <p:custDataLst>
                <p:tags r:id="rId16"/>
              </p:custDataLst>
            </p:nvPr>
          </p:nvCxnSpPr>
          <p:spPr>
            <a:xfrm rot="-8814">
              <a:off x="1022029" y="2378759"/>
              <a:ext cx="4993334" cy="1280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4D40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AutoShape 9"/>
            <p:cNvSpPr/>
            <p:nvPr>
              <p:custDataLst>
                <p:tags r:id="rId17"/>
              </p:custDataLst>
            </p:nvPr>
          </p:nvSpPr>
          <p:spPr>
            <a:xfrm>
              <a:off x="1022021" y="2436995"/>
              <a:ext cx="4993334" cy="89623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0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以“一口清”为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抓手</a:t>
              </a:r>
              <a:r>
                <a:rPr lang="zh-CN" altLang="en-US" sz="1200" b="0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，系统化促进能力提升：</a:t>
              </a:r>
              <a:endParaRPr lang="en-US" altLang="zh-CN" sz="1200" b="0" i="0" u="none" strike="noStrike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促个人能力提升</a:t>
              </a:r>
              <a:r>
                <a:rPr lang="zh-CN" altLang="en-US" sz="1200" b="0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，夯实单兵业务应答能力，全员成为业务“活字典”；</a:t>
              </a:r>
              <a:endParaRPr lang="en-US" altLang="zh-CN" sz="1200" b="0" i="0" u="none" strike="noStrike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促体系能力提升</a:t>
              </a:r>
              <a:r>
                <a:rPr lang="zh-CN" altLang="en-US" sz="1200" b="0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，沉淀部门标准复用能力，打造能力“蓄水池”；</a:t>
              </a:r>
              <a:endParaRPr lang="en-US" altLang="zh-CN" sz="1200" b="0" i="0" u="none" strike="noStrike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促组织能力提升</a:t>
              </a:r>
              <a:r>
                <a:rPr lang="zh-CN" altLang="en-US" sz="1200" b="0" i="0" u="none" strike="noStrike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，建设股权运营能力体系，构建公司能力中心。</a:t>
              </a:r>
            </a:p>
          </p:txBody>
        </p:sp>
        <p:cxnSp>
          <p:nvCxnSpPr>
            <p:cNvPr id="10" name="Connector 10"/>
            <p:cNvCxnSpPr/>
            <p:nvPr>
              <p:custDataLst>
                <p:tags r:id="rId18"/>
              </p:custDataLst>
            </p:nvPr>
          </p:nvCxnSpPr>
          <p:spPr>
            <a:xfrm rot="-8384">
              <a:off x="765961" y="3342856"/>
              <a:ext cx="5249402" cy="1280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5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3" name="Connector 13"/>
          <p:cNvCxnSpPr/>
          <p:nvPr>
            <p:custDataLst>
              <p:tags r:id="rId4"/>
            </p:custDataLst>
          </p:nvPr>
        </p:nvCxnSpPr>
        <p:spPr>
          <a:xfrm rot="21591186">
            <a:off x="949997" y="3790187"/>
            <a:ext cx="6065482" cy="1280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" name="组合 3"/>
          <p:cNvGrpSpPr/>
          <p:nvPr/>
        </p:nvGrpSpPr>
        <p:grpSpPr>
          <a:xfrm>
            <a:off x="638937" y="3488769"/>
            <a:ext cx="6376532" cy="1332000"/>
            <a:chOff x="638937" y="3733001"/>
            <a:chExt cx="6376532" cy="1332000"/>
          </a:xfrm>
        </p:grpSpPr>
        <p:sp>
          <p:nvSpPr>
            <p:cNvPr id="11" name="AutoShape 11"/>
            <p:cNvSpPr/>
            <p:nvPr>
              <p:custDataLst>
                <p:tags r:id="rId11"/>
              </p:custDataLst>
            </p:nvPr>
          </p:nvSpPr>
          <p:spPr>
            <a:xfrm>
              <a:off x="638937" y="3733001"/>
              <a:ext cx="93316" cy="1332000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endParaRPr sz="14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" name="AutoShape 12"/>
            <p:cNvSpPr/>
            <p:nvPr>
              <p:custDataLst>
                <p:tags r:id="rId12"/>
              </p:custDataLst>
            </p:nvPr>
          </p:nvSpPr>
          <p:spPr>
            <a:xfrm>
              <a:off x="949987" y="3733001"/>
              <a:ext cx="6065482" cy="32008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28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促</a:t>
              </a:r>
              <a:r>
                <a:rPr lang="zh-CN" altLang="en-US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信息集成</a:t>
              </a:r>
              <a:endParaRPr lang="en-US" sz="1800" b="1" i="0" u="none" strike="noStrike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4" name="AutoShape 14"/>
            <p:cNvSpPr/>
            <p:nvPr>
              <p:custDataLst>
                <p:tags r:id="rId13"/>
              </p:custDataLst>
            </p:nvPr>
          </p:nvSpPr>
          <p:spPr>
            <a:xfrm>
              <a:off x="949987" y="4151684"/>
              <a:ext cx="6065482" cy="83222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just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以“一口清”为契机，体系化促进信息集成：</a:t>
              </a:r>
              <a:endParaRPr lang="en-US" altLang="zh-CN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促历史档案梳理：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全面清查参股公司历史信息、数据，做到有据可查、源头可溯；</a:t>
              </a:r>
              <a:endParaRPr lang="en-US" altLang="zh-CN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促参股公司数据治理：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确保各项数据准确、可用，真实反映运行情况；</a:t>
              </a:r>
              <a:endParaRPr lang="en-US" altLang="zh-CN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促全生命周期数据管理：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完善“一企一档”，形成参股企业“百科全书”</a:t>
              </a: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。</a:t>
              </a:r>
              <a:endParaRPr lang="en-US" altLang="zh-CN" sz="12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</p:txBody>
        </p:sp>
      </p:grpSp>
      <p:cxnSp>
        <p:nvCxnSpPr>
          <p:cNvPr id="2" name="Connector 10"/>
          <p:cNvCxnSpPr/>
          <p:nvPr>
            <p:custDataLst>
              <p:tags r:id="rId5"/>
            </p:custDataLst>
          </p:nvPr>
        </p:nvCxnSpPr>
        <p:spPr>
          <a:xfrm rot="21591616">
            <a:off x="638947" y="4784603"/>
            <a:ext cx="6376532" cy="1280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" name="组合 14"/>
          <p:cNvGrpSpPr/>
          <p:nvPr/>
        </p:nvGrpSpPr>
        <p:grpSpPr>
          <a:xfrm>
            <a:off x="638937" y="5125761"/>
            <a:ext cx="6376522" cy="1476904"/>
            <a:chOff x="638937" y="5125761"/>
            <a:chExt cx="6376522" cy="1476904"/>
          </a:xfrm>
        </p:grpSpPr>
        <p:sp>
          <p:nvSpPr>
            <p:cNvPr id="3" name="AutoShape 11"/>
            <p:cNvSpPr/>
            <p:nvPr>
              <p:custDataLst>
                <p:tags r:id="rId7"/>
              </p:custDataLst>
            </p:nvPr>
          </p:nvSpPr>
          <p:spPr>
            <a:xfrm>
              <a:off x="638937" y="5125761"/>
              <a:ext cx="92908" cy="1368000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endParaRPr sz="14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" name="AutoShape 12"/>
            <p:cNvSpPr/>
            <p:nvPr>
              <p:custDataLst>
                <p:tags r:id="rId8"/>
              </p:custDataLst>
            </p:nvPr>
          </p:nvSpPr>
          <p:spPr>
            <a:xfrm>
              <a:off x="948626" y="5125761"/>
              <a:ext cx="6038951" cy="32008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促</a:t>
              </a:r>
              <a:r>
                <a:rPr lang="zh-CN" altLang="en-US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数智建设</a:t>
              </a:r>
              <a:endParaRPr lang="zh-CN" altLang="en-US" sz="1800" b="1" i="0" u="none" strike="noStrike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cxnSp>
          <p:nvCxnSpPr>
            <p:cNvPr id="19" name="Connector 13"/>
            <p:cNvCxnSpPr/>
            <p:nvPr>
              <p:custDataLst>
                <p:tags r:id="rId9"/>
              </p:custDataLst>
            </p:nvPr>
          </p:nvCxnSpPr>
          <p:spPr>
            <a:xfrm rot="21591186">
              <a:off x="948636" y="5503462"/>
              <a:ext cx="6038951" cy="1280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4D40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AutoShape 14"/>
            <p:cNvSpPr/>
            <p:nvPr>
              <p:custDataLst>
                <p:tags r:id="rId10"/>
              </p:custDataLst>
            </p:nvPr>
          </p:nvSpPr>
          <p:spPr>
            <a:xfrm>
              <a:off x="976508" y="5642552"/>
              <a:ext cx="6038951" cy="96011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以 </a:t>
              </a:r>
              <a:r>
                <a:rPr lang="en-US" altLang="zh-CN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“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一口清</a:t>
              </a:r>
              <a:r>
                <a:rPr lang="en-US" altLang="zh-CN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”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为切入，常态化促数智建设：</a:t>
              </a:r>
              <a:endParaRPr lang="en-US" altLang="zh-CN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促“一口清”数智化建设：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全面集成云工作台现有数据，实现实时更新</a:t>
              </a:r>
              <a:endParaRPr lang="en-US" altLang="zh-CN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促股权运营</a:t>
              </a:r>
              <a:r>
                <a:rPr lang="en-US" altLang="zh-CN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Agent</a:t>
              </a: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建设：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将累积的数据和知识编织成谱，建设股权运营 </a:t>
              </a:r>
              <a:r>
                <a:rPr lang="en-US" altLang="zh-CN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Agent</a:t>
              </a: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促数智化工作台优化：</a:t>
              </a:r>
              <a:r>
                <a:rPr lang="zh-CN" altLang="en-US" sz="12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sym typeface="Noto Sans SC" panose="020B0200000000000000" charset="-122"/>
                </a:rPr>
                <a:t>基于“一口清”运营情况，反向推动各模块业务数智化平台优化</a:t>
              </a:r>
              <a:endParaRPr lang="en-US" altLang="zh-CN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  <a:defRPr/>
              </a:pPr>
              <a:endParaRPr lang="zh-CN" altLang="en-US" sz="12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19156" y="2597189"/>
            <a:ext cx="3967900" cy="2705142"/>
          </a:xfrm>
          <a:prstGeom prst="rect">
            <a:avLst/>
          </a:prstGeom>
        </p:spPr>
      </p:pic>
      <p:sp>
        <p:nvSpPr>
          <p:cNvPr id="22" name="TextBox 3"/>
          <p:cNvSpPr txBox="1"/>
          <p:nvPr>
            <p:custDataLst>
              <p:tags r:id="rId6"/>
            </p:custDataLst>
          </p:nvPr>
        </p:nvSpPr>
        <p:spPr>
          <a:xfrm>
            <a:off x="462279" y="1280453"/>
            <a:ext cx="11307445" cy="3450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以“一口清”为抓手，促进能力提升；以“一口清”为契机，促进信息集成；“一口清”为切入，促进数智建设</a:t>
            </a:r>
            <a:endParaRPr lang="en-US" altLang="zh-CN" b="0" kern="0" dirty="0">
              <a:solidFill>
                <a:srgbClr val="152A8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6">
            <a:hlinkClick r:id="rId5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二、“一口清”工作迭代方案</a:t>
            </a:r>
          </a:p>
        </p:txBody>
      </p:sp>
      <p:sp>
        <p:nvSpPr>
          <p:cNvPr id="2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3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组织保障</a:t>
            </a:r>
          </a:p>
        </p:txBody>
      </p:sp>
      <p:sp>
        <p:nvSpPr>
          <p:cNvPr id="27" name="TextBox 3"/>
          <p:cNvSpPr txBox="1"/>
          <p:nvPr>
            <p:custDataLst>
              <p:tags r:id="rId2"/>
            </p:custDataLst>
          </p:nvPr>
        </p:nvSpPr>
        <p:spPr>
          <a:xfrm>
            <a:off x="462280" y="1267919"/>
            <a:ext cx="11307445" cy="6502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在一汽股权“一口清”总体建设要求下，根据股权运营领域业务特点，建立“一口清”专项工作组，快速推进“数智升级</a:t>
            </a:r>
            <a:r>
              <a:rPr lang="en-US" altLang="zh-CN" b="0" kern="0" dirty="0">
                <a:solidFill>
                  <a:srgbClr val="152A8C"/>
                </a:solidFill>
              </a:rPr>
              <a:t>-</a:t>
            </a:r>
            <a:r>
              <a:rPr lang="zh-CN" altLang="en-US" b="0" kern="0" dirty="0">
                <a:solidFill>
                  <a:srgbClr val="152A8C"/>
                </a:solidFill>
              </a:rPr>
              <a:t>测评实施</a:t>
            </a:r>
            <a:r>
              <a:rPr lang="en-US" altLang="zh-CN" b="0" kern="0" dirty="0">
                <a:solidFill>
                  <a:srgbClr val="152A8C"/>
                </a:solidFill>
              </a:rPr>
              <a:t>-</a:t>
            </a:r>
            <a:r>
              <a:rPr lang="zh-CN" altLang="en-US" b="0" kern="0" dirty="0">
                <a:solidFill>
                  <a:srgbClr val="152A8C"/>
                </a:solidFill>
              </a:rPr>
              <a:t>结果应用”三阶段工作并常态化运营升级，实现全面提升个人能力、协同精进团队效能工作目标</a:t>
            </a:r>
            <a:endParaRPr lang="en-US" altLang="zh-CN" b="0" kern="0" dirty="0">
              <a:solidFill>
                <a:srgbClr val="152A8C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6476" y="2151804"/>
            <a:ext cx="4097527" cy="358173"/>
            <a:chOff x="462281" y="2408185"/>
            <a:chExt cx="4097527" cy="358173"/>
          </a:xfrm>
        </p:grpSpPr>
        <p:sp>
          <p:nvSpPr>
            <p:cNvPr id="9" name="文本框 8"/>
            <p:cNvSpPr txBox="1"/>
            <p:nvPr/>
          </p:nvSpPr>
          <p:spPr>
            <a:xfrm>
              <a:off x="462281" y="2408185"/>
              <a:ext cx="4097527" cy="35817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zh-CN" altLang="en-US" sz="14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一汽股权“一口清”工作要求</a:t>
              </a:r>
            </a:p>
          </p:txBody>
        </p:sp>
        <p:cxnSp>
          <p:nvCxnSpPr>
            <p:cNvPr id="10" name="Straight Connector 17"/>
            <p:cNvCxnSpPr/>
            <p:nvPr/>
          </p:nvCxnSpPr>
          <p:spPr>
            <a:xfrm>
              <a:off x="547103" y="2714602"/>
              <a:ext cx="2736000" cy="0"/>
            </a:xfrm>
            <a:prstGeom prst="line">
              <a:avLst/>
            </a:prstGeom>
            <a:noFill/>
            <a:ln w="19050" cap="flat" cmpd="sng" algn="ctr">
              <a:solidFill>
                <a:srgbClr val="5B9BD5"/>
              </a:solidFill>
              <a:prstDash val="solid"/>
            </a:ln>
            <a:effectLst/>
          </p:spPr>
        </p:cxnSp>
      </p:grpSp>
      <p:sp>
        <p:nvSpPr>
          <p:cNvPr id="3" name="矩形 2"/>
          <p:cNvSpPr/>
          <p:nvPr/>
        </p:nvSpPr>
        <p:spPr>
          <a:xfrm>
            <a:off x="306477" y="2536629"/>
            <a:ext cx="6337218" cy="1094926"/>
          </a:xfrm>
          <a:prstGeom prst="rect">
            <a:avLst/>
          </a:prstGeom>
        </p:spPr>
        <p:txBody>
          <a:bodyPr lIns="81750" tIns="40874" rIns="81750" bIns="40874"/>
          <a:lstStyle/>
          <a:p>
            <a:pPr marL="342900" lvl="0" indent="-342900" defTabSz="8445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lt"/>
              </a:rPr>
              <a:t>建设目的</a:t>
            </a:r>
            <a:r>
              <a:rPr lang="zh-CN" altLang="en-US" sz="1400" b="1" dirty="0">
                <a:solidFill>
                  <a:srgbClr val="152A8C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：</a:t>
            </a:r>
            <a:r>
              <a:rPr lang="en-US" altLang="zh-CN" sz="1400" dirty="0">
                <a:solidFill>
                  <a:srgbClr val="152A8C"/>
                </a:solidFill>
                <a:latin typeface="+mn-ea"/>
                <a:cs typeface="Noto Sans SC"/>
                <a:sym typeface="Noto Sans SC"/>
              </a:rPr>
              <a:t>梳理各业务领域核心知识</a:t>
            </a:r>
            <a:r>
              <a:rPr lang="zh-CN" altLang="en-US" sz="1400" dirty="0">
                <a:solidFill>
                  <a:srgbClr val="152A8C"/>
                </a:solidFill>
                <a:latin typeface="+mn-ea"/>
                <a:cs typeface="Noto Sans SC"/>
                <a:sym typeface="Noto Sans SC"/>
              </a:rPr>
              <a:t>、数据等</a:t>
            </a:r>
            <a:r>
              <a:rPr lang="en-US" altLang="zh-CN" sz="1400" dirty="0">
                <a:solidFill>
                  <a:srgbClr val="152A8C"/>
                </a:solidFill>
                <a:latin typeface="+mn-ea"/>
                <a:cs typeface="Noto Sans SC"/>
                <a:sym typeface="Noto Sans SC"/>
              </a:rPr>
              <a:t>， 形成标准化手册，确保信息传递的准确性与一致性 </a:t>
            </a:r>
            <a:r>
              <a:rPr lang="zh-CN" altLang="en-US" sz="1400" dirty="0">
                <a:solidFill>
                  <a:srgbClr val="152A8C"/>
                </a:solidFill>
                <a:latin typeface="+mn-ea"/>
                <a:cs typeface="Noto Sans SC"/>
                <a:sym typeface="Noto Sans SC"/>
              </a:rPr>
              <a:t>，提升员工业务能力，同时将隐性知识显性化，沉淀组织智慧，强化知识传承</a:t>
            </a:r>
            <a:endParaRPr lang="en-US" altLang="zh-CN" sz="1400" dirty="0">
              <a:solidFill>
                <a:srgbClr val="152A8C"/>
              </a:solidFill>
              <a:latin typeface="+mn-ea"/>
              <a:cs typeface="Noto Sans SC"/>
              <a:sym typeface="Noto Sans SC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43694" y="2458221"/>
            <a:ext cx="500406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8445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建设目标：</a:t>
            </a:r>
            <a:r>
              <a:rPr lang="zh-CN" altLang="en-US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公司各业务领域全覆盖，通关率</a:t>
            </a:r>
            <a:r>
              <a:rPr lang="en-US" altLang="zh-CN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100%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643694" y="2973394"/>
            <a:ext cx="500406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8445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定位：</a:t>
            </a:r>
            <a:r>
              <a:rPr lang="zh-CN" altLang="en-US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熟 </a:t>
            </a:r>
            <a:r>
              <a:rPr lang="en-US" altLang="zh-CN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· </a:t>
            </a:r>
            <a:r>
              <a:rPr lang="zh-CN" altLang="en-US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准 </a:t>
            </a:r>
            <a:r>
              <a:rPr lang="en-US" altLang="zh-CN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· </a:t>
            </a:r>
            <a:r>
              <a:rPr lang="zh-CN" altLang="en-US" sz="1400" dirty="0">
                <a:solidFill>
                  <a:srgbClr val="152A8C"/>
                </a:solidFill>
                <a:latin typeface="+mj-ea"/>
                <a:ea typeface="+mj-ea"/>
                <a:sym typeface="Noto Sans SC"/>
              </a:rPr>
              <a:t>快</a:t>
            </a:r>
            <a:endParaRPr lang="en-US" altLang="zh-CN" sz="1400" dirty="0">
              <a:solidFill>
                <a:srgbClr val="152A8C"/>
              </a:solidFill>
              <a:latin typeface="+mj-ea"/>
              <a:ea typeface="+mj-ea"/>
              <a:sym typeface="Noto Sans SC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92071" y="3830446"/>
            <a:ext cx="11377654" cy="494385"/>
            <a:chOff x="406362" y="2558527"/>
            <a:chExt cx="11377654" cy="494385"/>
          </a:xfrm>
        </p:grpSpPr>
        <p:sp>
          <p:nvSpPr>
            <p:cNvPr id="52" name="Freeform: Shape 996"/>
            <p:cNvSpPr/>
            <p:nvPr/>
          </p:nvSpPr>
          <p:spPr>
            <a:xfrm rot="16200000">
              <a:off x="5919319" y="-2914090"/>
              <a:ext cx="351740" cy="11377654"/>
            </a:xfrm>
            <a:custGeom>
              <a:avLst/>
              <a:gdLst>
                <a:gd name="connsiteX0" fmla="*/ 192492 w 192492"/>
                <a:gd name="connsiteY0" fmla="*/ 0 h 1553971"/>
                <a:gd name="connsiteX1" fmla="*/ 187251 w 192492"/>
                <a:gd name="connsiteY1" fmla="*/ 8519 h 1553971"/>
                <a:gd name="connsiteX2" fmla="*/ 50800 w 192492"/>
                <a:gd name="connsiteY2" fmla="*/ 776985 h 1553971"/>
                <a:gd name="connsiteX3" fmla="*/ 187251 w 192492"/>
                <a:gd name="connsiteY3" fmla="*/ 1545452 h 1553971"/>
                <a:gd name="connsiteX4" fmla="*/ 192492 w 192492"/>
                <a:gd name="connsiteY4" fmla="*/ 1553971 h 1553971"/>
                <a:gd name="connsiteX5" fmla="*/ 189022 w 192492"/>
                <a:gd name="connsiteY5" fmla="*/ 1551047 h 1553971"/>
                <a:gd name="connsiteX6" fmla="*/ 0 w 192492"/>
                <a:gd name="connsiteY6" fmla="*/ 776985 h 1553971"/>
                <a:gd name="connsiteX7" fmla="*/ 189022 w 192492"/>
                <a:gd name="connsiteY7" fmla="*/ 2924 h 1553971"/>
                <a:gd name="connsiteX0-1" fmla="*/ 192492 w 192492"/>
                <a:gd name="connsiteY0-2" fmla="*/ 0 h 1553971"/>
                <a:gd name="connsiteX1-3" fmla="*/ 187251 w 192492"/>
                <a:gd name="connsiteY1-4" fmla="*/ 8519 h 1553971"/>
                <a:gd name="connsiteX2-5" fmla="*/ 187251 w 192492"/>
                <a:gd name="connsiteY2-6" fmla="*/ 1545452 h 1553971"/>
                <a:gd name="connsiteX3-7" fmla="*/ 192492 w 192492"/>
                <a:gd name="connsiteY3-8" fmla="*/ 1553971 h 1553971"/>
                <a:gd name="connsiteX4-9" fmla="*/ 189022 w 192492"/>
                <a:gd name="connsiteY4-10" fmla="*/ 1551047 h 1553971"/>
                <a:gd name="connsiteX5-11" fmla="*/ 0 w 192492"/>
                <a:gd name="connsiteY5-12" fmla="*/ 776985 h 1553971"/>
                <a:gd name="connsiteX6-13" fmla="*/ 189022 w 192492"/>
                <a:gd name="connsiteY6-14" fmla="*/ 2924 h 1553971"/>
                <a:gd name="connsiteX7-15" fmla="*/ 192492 w 192492"/>
                <a:gd name="connsiteY7-16" fmla="*/ 0 h 1553971"/>
                <a:gd name="connsiteX0-17" fmla="*/ 187251 w 237292"/>
                <a:gd name="connsiteY0-18" fmla="*/ 1545452 h 1557941"/>
                <a:gd name="connsiteX1-19" fmla="*/ 192492 w 237292"/>
                <a:gd name="connsiteY1-20" fmla="*/ 1553971 h 1557941"/>
                <a:gd name="connsiteX2-21" fmla="*/ 189022 w 237292"/>
                <a:gd name="connsiteY2-22" fmla="*/ 1551047 h 1557941"/>
                <a:gd name="connsiteX3-23" fmla="*/ 0 w 237292"/>
                <a:gd name="connsiteY3-24" fmla="*/ 776985 h 1557941"/>
                <a:gd name="connsiteX4-25" fmla="*/ 189022 w 237292"/>
                <a:gd name="connsiteY4-26" fmla="*/ 2924 h 1557941"/>
                <a:gd name="connsiteX5-27" fmla="*/ 192492 w 237292"/>
                <a:gd name="connsiteY5-28" fmla="*/ 0 h 1557941"/>
                <a:gd name="connsiteX6-29" fmla="*/ 187251 w 237292"/>
                <a:gd name="connsiteY6-30" fmla="*/ 8519 h 1557941"/>
                <a:gd name="connsiteX7-31" fmla="*/ 237292 w 237292"/>
                <a:gd name="connsiteY7-32" fmla="*/ 1557941 h 1557941"/>
                <a:gd name="connsiteX0-33" fmla="*/ 187251 w 192492"/>
                <a:gd name="connsiteY0-34" fmla="*/ 1545452 h 1553971"/>
                <a:gd name="connsiteX1-35" fmla="*/ 192492 w 192492"/>
                <a:gd name="connsiteY1-36" fmla="*/ 1553971 h 1553971"/>
                <a:gd name="connsiteX2-37" fmla="*/ 189022 w 192492"/>
                <a:gd name="connsiteY2-38" fmla="*/ 1551047 h 1553971"/>
                <a:gd name="connsiteX3-39" fmla="*/ 0 w 192492"/>
                <a:gd name="connsiteY3-40" fmla="*/ 776985 h 1553971"/>
                <a:gd name="connsiteX4-41" fmla="*/ 189022 w 192492"/>
                <a:gd name="connsiteY4-42" fmla="*/ 2924 h 1553971"/>
                <a:gd name="connsiteX5-43" fmla="*/ 192492 w 192492"/>
                <a:gd name="connsiteY5-44" fmla="*/ 0 h 1553971"/>
                <a:gd name="connsiteX6-45" fmla="*/ 187251 w 192492"/>
                <a:gd name="connsiteY6-46" fmla="*/ 8519 h 1553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92492" h="1553971">
                  <a:moveTo>
                    <a:pt x="187251" y="1545452"/>
                  </a:moveTo>
                  <a:lnTo>
                    <a:pt x="192492" y="1553971"/>
                  </a:lnTo>
                  <a:lnTo>
                    <a:pt x="189022" y="1551047"/>
                  </a:lnTo>
                  <a:cubicBezTo>
                    <a:pt x="77942" y="1423516"/>
                    <a:pt x="0" y="1124957"/>
                    <a:pt x="0" y="776985"/>
                  </a:cubicBezTo>
                  <a:cubicBezTo>
                    <a:pt x="0" y="429013"/>
                    <a:pt x="77942" y="130455"/>
                    <a:pt x="189022" y="2924"/>
                  </a:cubicBezTo>
                  <a:lnTo>
                    <a:pt x="192492" y="0"/>
                  </a:lnTo>
                  <a:lnTo>
                    <a:pt x="187251" y="8519"/>
                  </a:lnTo>
                </a:path>
              </a:pathLst>
            </a:custGeom>
            <a:noFill/>
            <a:ln w="25400" cap="flat" cmpd="sng" algn="ctr">
              <a:gradFill>
                <a:gsLst>
                  <a:gs pos="14000">
                    <a:srgbClr val="B3E7FF">
                      <a:lumMod val="5000"/>
                      <a:lumOff val="95000"/>
                    </a:srgbClr>
                  </a:gs>
                  <a:gs pos="88000">
                    <a:srgbClr val="B3E7FF"/>
                  </a:gs>
                </a:gsLst>
                <a:lin ang="10800000" scaled="0"/>
              </a:gradFill>
              <a:prstDash val="solid"/>
            </a:ln>
            <a:effectLst/>
          </p:spPr>
          <p:txBody>
            <a:bodyPr wrap="square" lIns="72000" tIns="72000" rIns="72000" bIns="72000" rtlCol="0" anchor="t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pitchFamily="34" charset="-122"/>
                <a:cs typeface="Segoe UI" panose="020B0502040204020203"/>
                <a:sym typeface="+mn-lt"/>
              </a:endParaRPr>
            </a:p>
          </p:txBody>
        </p:sp>
        <p:sp>
          <p:nvSpPr>
            <p:cNvPr id="53" name="Freeform: Shape 996"/>
            <p:cNvSpPr/>
            <p:nvPr/>
          </p:nvSpPr>
          <p:spPr>
            <a:xfrm rot="16200000">
              <a:off x="5919319" y="-2954430"/>
              <a:ext cx="351740" cy="11377654"/>
            </a:xfrm>
            <a:custGeom>
              <a:avLst/>
              <a:gdLst>
                <a:gd name="connsiteX0" fmla="*/ 192492 w 192492"/>
                <a:gd name="connsiteY0" fmla="*/ 0 h 1553971"/>
                <a:gd name="connsiteX1" fmla="*/ 187251 w 192492"/>
                <a:gd name="connsiteY1" fmla="*/ 8519 h 1553971"/>
                <a:gd name="connsiteX2" fmla="*/ 50800 w 192492"/>
                <a:gd name="connsiteY2" fmla="*/ 776985 h 1553971"/>
                <a:gd name="connsiteX3" fmla="*/ 187251 w 192492"/>
                <a:gd name="connsiteY3" fmla="*/ 1545452 h 1553971"/>
                <a:gd name="connsiteX4" fmla="*/ 192492 w 192492"/>
                <a:gd name="connsiteY4" fmla="*/ 1553971 h 1553971"/>
                <a:gd name="connsiteX5" fmla="*/ 189022 w 192492"/>
                <a:gd name="connsiteY5" fmla="*/ 1551047 h 1553971"/>
                <a:gd name="connsiteX6" fmla="*/ 0 w 192492"/>
                <a:gd name="connsiteY6" fmla="*/ 776985 h 1553971"/>
                <a:gd name="connsiteX7" fmla="*/ 189022 w 192492"/>
                <a:gd name="connsiteY7" fmla="*/ 2924 h 1553971"/>
                <a:gd name="connsiteX0-1" fmla="*/ 192492 w 192492"/>
                <a:gd name="connsiteY0-2" fmla="*/ 0 h 1553971"/>
                <a:gd name="connsiteX1-3" fmla="*/ 187251 w 192492"/>
                <a:gd name="connsiteY1-4" fmla="*/ 8519 h 1553971"/>
                <a:gd name="connsiteX2-5" fmla="*/ 187251 w 192492"/>
                <a:gd name="connsiteY2-6" fmla="*/ 1545452 h 1553971"/>
                <a:gd name="connsiteX3-7" fmla="*/ 192492 w 192492"/>
                <a:gd name="connsiteY3-8" fmla="*/ 1553971 h 1553971"/>
                <a:gd name="connsiteX4-9" fmla="*/ 189022 w 192492"/>
                <a:gd name="connsiteY4-10" fmla="*/ 1551047 h 1553971"/>
                <a:gd name="connsiteX5-11" fmla="*/ 0 w 192492"/>
                <a:gd name="connsiteY5-12" fmla="*/ 776985 h 1553971"/>
                <a:gd name="connsiteX6-13" fmla="*/ 189022 w 192492"/>
                <a:gd name="connsiteY6-14" fmla="*/ 2924 h 1553971"/>
                <a:gd name="connsiteX7-15" fmla="*/ 192492 w 192492"/>
                <a:gd name="connsiteY7-16" fmla="*/ 0 h 1553971"/>
                <a:gd name="connsiteX0-17" fmla="*/ 187251 w 237292"/>
                <a:gd name="connsiteY0-18" fmla="*/ 1545452 h 1557941"/>
                <a:gd name="connsiteX1-19" fmla="*/ 192492 w 237292"/>
                <a:gd name="connsiteY1-20" fmla="*/ 1553971 h 1557941"/>
                <a:gd name="connsiteX2-21" fmla="*/ 189022 w 237292"/>
                <a:gd name="connsiteY2-22" fmla="*/ 1551047 h 1557941"/>
                <a:gd name="connsiteX3-23" fmla="*/ 0 w 237292"/>
                <a:gd name="connsiteY3-24" fmla="*/ 776985 h 1557941"/>
                <a:gd name="connsiteX4-25" fmla="*/ 189022 w 237292"/>
                <a:gd name="connsiteY4-26" fmla="*/ 2924 h 1557941"/>
                <a:gd name="connsiteX5-27" fmla="*/ 192492 w 237292"/>
                <a:gd name="connsiteY5-28" fmla="*/ 0 h 1557941"/>
                <a:gd name="connsiteX6-29" fmla="*/ 187251 w 237292"/>
                <a:gd name="connsiteY6-30" fmla="*/ 8519 h 1557941"/>
                <a:gd name="connsiteX7-31" fmla="*/ 237292 w 237292"/>
                <a:gd name="connsiteY7-32" fmla="*/ 1557941 h 1557941"/>
                <a:gd name="connsiteX0-33" fmla="*/ 187251 w 192492"/>
                <a:gd name="connsiteY0-34" fmla="*/ 1545452 h 1553971"/>
                <a:gd name="connsiteX1-35" fmla="*/ 192492 w 192492"/>
                <a:gd name="connsiteY1-36" fmla="*/ 1553971 h 1553971"/>
                <a:gd name="connsiteX2-37" fmla="*/ 189022 w 192492"/>
                <a:gd name="connsiteY2-38" fmla="*/ 1551047 h 1553971"/>
                <a:gd name="connsiteX3-39" fmla="*/ 0 w 192492"/>
                <a:gd name="connsiteY3-40" fmla="*/ 776985 h 1553971"/>
                <a:gd name="connsiteX4-41" fmla="*/ 189022 w 192492"/>
                <a:gd name="connsiteY4-42" fmla="*/ 2924 h 1553971"/>
                <a:gd name="connsiteX5-43" fmla="*/ 192492 w 192492"/>
                <a:gd name="connsiteY5-44" fmla="*/ 0 h 1553971"/>
                <a:gd name="connsiteX6-45" fmla="*/ 187251 w 192492"/>
                <a:gd name="connsiteY6-46" fmla="*/ 8519 h 1553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92492" h="1553971">
                  <a:moveTo>
                    <a:pt x="187251" y="1545452"/>
                  </a:moveTo>
                  <a:lnTo>
                    <a:pt x="192492" y="1553971"/>
                  </a:lnTo>
                  <a:lnTo>
                    <a:pt x="189022" y="1551047"/>
                  </a:lnTo>
                  <a:cubicBezTo>
                    <a:pt x="77942" y="1423516"/>
                    <a:pt x="0" y="1124957"/>
                    <a:pt x="0" y="776985"/>
                  </a:cubicBezTo>
                  <a:cubicBezTo>
                    <a:pt x="0" y="429013"/>
                    <a:pt x="77942" y="130455"/>
                    <a:pt x="189022" y="2924"/>
                  </a:cubicBezTo>
                  <a:lnTo>
                    <a:pt x="192492" y="0"/>
                  </a:lnTo>
                  <a:lnTo>
                    <a:pt x="187251" y="8519"/>
                  </a:lnTo>
                </a:path>
              </a:pathLst>
            </a:custGeom>
            <a:noFill/>
            <a:ln w="25400" cap="flat" cmpd="sng" algn="ctr">
              <a:gradFill>
                <a:gsLst>
                  <a:gs pos="14000">
                    <a:srgbClr val="B3E7FF">
                      <a:lumMod val="5000"/>
                      <a:lumOff val="95000"/>
                    </a:srgbClr>
                  </a:gs>
                  <a:gs pos="88000">
                    <a:srgbClr val="77CDFF"/>
                  </a:gs>
                </a:gsLst>
                <a:lin ang="10800000" scaled="0"/>
              </a:gradFill>
              <a:prstDash val="solid"/>
            </a:ln>
            <a:effectLst/>
          </p:spPr>
          <p:txBody>
            <a:bodyPr wrap="square" lIns="72000" tIns="72000" rIns="72000" bIns="72000" rtlCol="0" anchor="t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pitchFamily="34" charset="-122"/>
                <a:cs typeface="Segoe UI" panose="020B0502040204020203"/>
                <a:sym typeface="+mn-lt"/>
              </a:endParaRPr>
            </a:p>
          </p:txBody>
        </p:sp>
        <p:grpSp>
          <p:nvGrpSpPr>
            <p:cNvPr id="54" name="Group 55"/>
            <p:cNvGrpSpPr/>
            <p:nvPr/>
          </p:nvGrpSpPr>
          <p:grpSpPr>
            <a:xfrm rot="5667088">
              <a:off x="3208200" y="2677287"/>
              <a:ext cx="206896" cy="423327"/>
              <a:chOff x="7429868" y="4302400"/>
              <a:chExt cx="206896" cy="423327"/>
            </a:xfrm>
          </p:grpSpPr>
          <p:sp>
            <p:nvSpPr>
              <p:cNvPr id="66" name="Rectangle 56"/>
              <p:cNvSpPr/>
              <p:nvPr/>
            </p:nvSpPr>
            <p:spPr>
              <a:xfrm>
                <a:off x="7429868" y="4302400"/>
                <a:ext cx="128498" cy="423327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/>
                  <a:cs typeface="Segoe UI" panose="020B0502040204020203"/>
                </a:endParaRPr>
              </a:p>
            </p:txBody>
          </p:sp>
          <p:grpSp>
            <p:nvGrpSpPr>
              <p:cNvPr id="67" name="Group 68"/>
              <p:cNvGrpSpPr/>
              <p:nvPr/>
            </p:nvGrpSpPr>
            <p:grpSpPr bwMode="auto">
              <a:xfrm rot="16200000">
                <a:off x="7396932" y="4410615"/>
                <a:ext cx="272768" cy="206896"/>
                <a:chOff x="1207863" y="5186904"/>
                <a:chExt cx="466165" cy="357752"/>
              </a:xfrm>
            </p:grpSpPr>
            <p:sp>
              <p:nvSpPr>
                <p:cNvPr id="68" name="Chevron 126"/>
                <p:cNvSpPr/>
                <p:nvPr/>
              </p:nvSpPr>
              <p:spPr>
                <a:xfrm rot="5400000">
                  <a:off x="1305386" y="5176013"/>
                  <a:ext cx="271120" cy="466165"/>
                </a:xfrm>
                <a:prstGeom prst="chevron">
                  <a:avLst/>
                </a:prstGeom>
                <a:solidFill>
                  <a:srgbClr val="0096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72000" tIns="72000" rIns="72000" bIns="72000"/>
                <a:lstStyle>
                  <a:lvl1pPr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ea typeface="宋体" pitchFamily="2" charset="-122"/>
                    <a:cs typeface="Segoe UI" panose="020B0502040204020203"/>
                  </a:endParaRPr>
                </a:p>
              </p:txBody>
            </p:sp>
            <p:sp>
              <p:nvSpPr>
                <p:cNvPr id="69" name="Chevron 130"/>
                <p:cNvSpPr/>
                <p:nvPr/>
              </p:nvSpPr>
              <p:spPr>
                <a:xfrm rot="5400000">
                  <a:off x="1353513" y="5123704"/>
                  <a:ext cx="174864" cy="301264"/>
                </a:xfrm>
                <a:prstGeom prst="chevron">
                  <a:avLst/>
                </a:prstGeom>
                <a:solidFill>
                  <a:srgbClr val="787878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72000" tIns="72000" rIns="72000" bIns="72000"/>
                <a:lstStyle>
                  <a:lvl1pPr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ea typeface="宋体" pitchFamily="2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55" name="Group 55"/>
            <p:cNvGrpSpPr/>
            <p:nvPr/>
          </p:nvGrpSpPr>
          <p:grpSpPr>
            <a:xfrm rot="15932912" flipH="1">
              <a:off x="8775282" y="2677287"/>
              <a:ext cx="206896" cy="423327"/>
              <a:chOff x="7429868" y="4302400"/>
              <a:chExt cx="206896" cy="423327"/>
            </a:xfrm>
          </p:grpSpPr>
          <p:sp>
            <p:nvSpPr>
              <p:cNvPr id="62" name="Rectangle 56"/>
              <p:cNvSpPr/>
              <p:nvPr/>
            </p:nvSpPr>
            <p:spPr>
              <a:xfrm>
                <a:off x="7429868" y="4302400"/>
                <a:ext cx="128498" cy="423327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/>
                  <a:cs typeface="Segoe UI" panose="020B0502040204020203"/>
                </a:endParaRPr>
              </a:p>
            </p:txBody>
          </p:sp>
          <p:grpSp>
            <p:nvGrpSpPr>
              <p:cNvPr id="63" name="Group 68"/>
              <p:cNvGrpSpPr/>
              <p:nvPr/>
            </p:nvGrpSpPr>
            <p:grpSpPr bwMode="auto">
              <a:xfrm rot="16200000">
                <a:off x="7396932" y="4410615"/>
                <a:ext cx="272768" cy="206896"/>
                <a:chOff x="1207863" y="5186904"/>
                <a:chExt cx="466165" cy="357752"/>
              </a:xfrm>
            </p:grpSpPr>
            <p:sp>
              <p:nvSpPr>
                <p:cNvPr id="64" name="Chevron 126"/>
                <p:cNvSpPr/>
                <p:nvPr/>
              </p:nvSpPr>
              <p:spPr>
                <a:xfrm rot="5400000">
                  <a:off x="1305386" y="5176013"/>
                  <a:ext cx="271120" cy="466165"/>
                </a:xfrm>
                <a:prstGeom prst="chevron">
                  <a:avLst/>
                </a:prstGeom>
                <a:solidFill>
                  <a:srgbClr val="0096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72000" tIns="72000" rIns="72000" bIns="72000"/>
                <a:lstStyle>
                  <a:lvl1pPr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ea typeface="宋体" pitchFamily="2" charset="-122"/>
                    <a:cs typeface="Segoe UI" panose="020B0502040204020203"/>
                  </a:endParaRPr>
                </a:p>
              </p:txBody>
            </p:sp>
            <p:sp>
              <p:nvSpPr>
                <p:cNvPr id="65" name="Chevron 130"/>
                <p:cNvSpPr/>
                <p:nvPr/>
              </p:nvSpPr>
              <p:spPr>
                <a:xfrm rot="5400000">
                  <a:off x="1353513" y="5123704"/>
                  <a:ext cx="174864" cy="301264"/>
                </a:xfrm>
                <a:prstGeom prst="chevron">
                  <a:avLst/>
                </a:prstGeom>
                <a:solidFill>
                  <a:srgbClr val="787878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72000" tIns="72000" rIns="72000" bIns="72000"/>
                <a:lstStyle>
                  <a:lvl1pPr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ea typeface="宋体" pitchFamily="2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56" name="Group 55"/>
            <p:cNvGrpSpPr/>
            <p:nvPr/>
          </p:nvGrpSpPr>
          <p:grpSpPr>
            <a:xfrm rot="16200000" flipH="1">
              <a:off x="5998465" y="2737800"/>
              <a:ext cx="206896" cy="423327"/>
              <a:chOff x="7429868" y="4302400"/>
              <a:chExt cx="206896" cy="423327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7429868" y="4302400"/>
                <a:ext cx="128498" cy="423327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/>
                  <a:cs typeface="Segoe UI" panose="020B0502040204020203"/>
                </a:endParaRPr>
              </a:p>
            </p:txBody>
          </p:sp>
          <p:grpSp>
            <p:nvGrpSpPr>
              <p:cNvPr id="58" name="Group 68"/>
              <p:cNvGrpSpPr/>
              <p:nvPr/>
            </p:nvGrpSpPr>
            <p:grpSpPr bwMode="auto">
              <a:xfrm rot="16200000">
                <a:off x="7396932" y="4410615"/>
                <a:ext cx="272768" cy="206896"/>
                <a:chOff x="1207863" y="5186904"/>
                <a:chExt cx="466165" cy="357752"/>
              </a:xfrm>
            </p:grpSpPr>
            <p:sp>
              <p:nvSpPr>
                <p:cNvPr id="59" name="Chevron 126"/>
                <p:cNvSpPr/>
                <p:nvPr/>
              </p:nvSpPr>
              <p:spPr>
                <a:xfrm rot="5400000">
                  <a:off x="1305386" y="5176013"/>
                  <a:ext cx="271120" cy="466165"/>
                </a:xfrm>
                <a:prstGeom prst="chevron">
                  <a:avLst/>
                </a:prstGeom>
                <a:solidFill>
                  <a:srgbClr val="0096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72000" tIns="72000" rIns="72000" bIns="72000"/>
                <a:lstStyle>
                  <a:lvl1pPr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ea typeface="宋体" pitchFamily="2" charset="-122"/>
                    <a:cs typeface="Segoe UI" panose="020B0502040204020203"/>
                  </a:endParaRPr>
                </a:p>
              </p:txBody>
            </p:sp>
            <p:sp>
              <p:nvSpPr>
                <p:cNvPr id="61" name="Chevron 130"/>
                <p:cNvSpPr/>
                <p:nvPr/>
              </p:nvSpPr>
              <p:spPr>
                <a:xfrm rot="5400000">
                  <a:off x="1353513" y="5123704"/>
                  <a:ext cx="174864" cy="301264"/>
                </a:xfrm>
                <a:prstGeom prst="chevron">
                  <a:avLst/>
                </a:prstGeom>
                <a:solidFill>
                  <a:srgbClr val="787878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72000" tIns="72000" rIns="72000" bIns="72000"/>
                <a:lstStyle>
                  <a:lvl1pPr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ts val="4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B Office"/>
                    <a:ea typeface="宋体" pitchFamily="2" charset="-122"/>
                    <a:cs typeface="Segoe UI" panose="020B0502040204020203"/>
                  </a:endParaRPr>
                </a:p>
              </p:txBody>
            </p:sp>
          </p:grpSp>
        </p:grpSp>
      </p:grpSp>
      <p:sp>
        <p:nvSpPr>
          <p:cNvPr id="70" name="Rectangle: Top Corners Rounded 50"/>
          <p:cNvSpPr/>
          <p:nvPr/>
        </p:nvSpPr>
        <p:spPr>
          <a:xfrm>
            <a:off x="359708" y="4597792"/>
            <a:ext cx="2767589" cy="329184"/>
          </a:xfrm>
          <a:prstGeom prst="round2SameRect">
            <a:avLst/>
          </a:prstGeom>
          <a:solidFill>
            <a:srgbClr val="0096FF"/>
          </a:solidFill>
          <a:ln w="6350" cap="flat" cmpd="sng" algn="ctr">
            <a:noFill/>
            <a:prstDash val="solid"/>
          </a:ln>
          <a:effectLst/>
        </p:spPr>
        <p:txBody>
          <a:bodyPr wrap="square" lIns="0" tIns="0" rIns="0" bIns="18288" rtlCol="0" anchor="ctr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B Office"/>
                <a:ea typeface="微软雅黑" panose="020B0503020204020204" pitchFamily="34" charset="-122"/>
                <a:cs typeface="Segoe UI" panose="020B0502040204020203"/>
                <a:sym typeface="+mn-lt"/>
              </a:rPr>
              <a:t>股权运营领域落实安排</a:t>
            </a:r>
          </a:p>
        </p:txBody>
      </p:sp>
      <p:sp>
        <p:nvSpPr>
          <p:cNvPr id="71" name="AutoShape 9"/>
          <p:cNvSpPr/>
          <p:nvPr/>
        </p:nvSpPr>
        <p:spPr>
          <a:xfrm>
            <a:off x="359708" y="5069620"/>
            <a:ext cx="5736291" cy="16461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rgbClr val="152A8C"/>
                </a:solidFill>
                <a:latin typeface="+mn-ea"/>
              </a:rPr>
              <a:t>工作目标：</a:t>
            </a:r>
            <a:r>
              <a:rPr lang="zh-CN" altLang="en-US" sz="1400" dirty="0">
                <a:solidFill>
                  <a:srgbClr val="152A8C"/>
                </a:solidFill>
                <a:latin typeface="+mn-ea"/>
              </a:rPr>
              <a:t>全面提升个人能力、协同精进团队效能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rgbClr val="152A8C"/>
                </a:solidFill>
                <a:latin typeface="+mn-ea"/>
                <a:sym typeface="Noto Sans SC" panose="020B0200000000000000" charset="-122"/>
              </a:rPr>
              <a:t>整体计划：</a:t>
            </a:r>
            <a:r>
              <a:rPr lang="zh-CN" altLang="en-US" sz="1400" dirty="0">
                <a:solidFill>
                  <a:srgbClr val="152A8C"/>
                </a:solidFill>
                <a:latin typeface="+mn-ea"/>
                <a:sym typeface="Noto Sans SC" panose="020B0200000000000000" charset="-122"/>
              </a:rPr>
              <a:t>在公司“一口清”总体工作要求下，根据股权运营领域业务特点，推进“数智升级</a:t>
            </a:r>
            <a:r>
              <a:rPr lang="en-US" altLang="zh-CN" sz="1400" dirty="0">
                <a:solidFill>
                  <a:srgbClr val="152A8C"/>
                </a:solidFill>
                <a:latin typeface="+mn-ea"/>
                <a:sym typeface="Noto Sans SC" panose="020B0200000000000000" charset="-122"/>
              </a:rPr>
              <a:t>-</a:t>
            </a:r>
            <a:r>
              <a:rPr lang="zh-CN" altLang="en-US" sz="1400" dirty="0">
                <a:solidFill>
                  <a:srgbClr val="152A8C"/>
                </a:solidFill>
                <a:latin typeface="+mn-ea"/>
                <a:sym typeface="Noto Sans SC" panose="020B0200000000000000" charset="-122"/>
              </a:rPr>
              <a:t>测评实施</a:t>
            </a:r>
            <a:r>
              <a:rPr lang="en-US" altLang="zh-CN" sz="1400" dirty="0">
                <a:solidFill>
                  <a:srgbClr val="152A8C"/>
                </a:solidFill>
                <a:latin typeface="+mn-ea"/>
                <a:sym typeface="Noto Sans SC" panose="020B0200000000000000" charset="-122"/>
              </a:rPr>
              <a:t>-</a:t>
            </a:r>
            <a:r>
              <a:rPr lang="zh-CN" altLang="en-US" sz="1400" dirty="0">
                <a:solidFill>
                  <a:srgbClr val="152A8C"/>
                </a:solidFill>
                <a:latin typeface="+mn-ea"/>
                <a:sym typeface="Noto Sans SC" panose="020B0200000000000000" charset="-122"/>
              </a:rPr>
              <a:t>结果应用”三阶段迭代方案</a:t>
            </a:r>
            <a:endParaRPr lang="en-US" altLang="zh-CN" sz="1400" dirty="0">
              <a:solidFill>
                <a:srgbClr val="152A8C"/>
              </a:solidFill>
              <a:latin typeface="+mn-ea"/>
              <a:sym typeface="Noto Sans SC" panose="020B0200000000000000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rgbClr val="152A8C"/>
                </a:solidFill>
                <a:latin typeface="+mn-ea"/>
              </a:rPr>
              <a:t>工作方式：</a:t>
            </a:r>
            <a:r>
              <a:rPr lang="zh-CN" altLang="en-US" sz="1400" dirty="0">
                <a:solidFill>
                  <a:srgbClr val="152A8C"/>
                </a:solidFill>
                <a:latin typeface="+mn-ea"/>
              </a:rPr>
              <a:t>建立专项工作组快速完成体系搭建并常态化运营升级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US" sz="1400" b="1" dirty="0">
              <a:solidFill>
                <a:srgbClr val="152A8C"/>
              </a:solidFill>
              <a:latin typeface="+mn-ea"/>
            </a:endParaRPr>
          </a:p>
        </p:txBody>
      </p:sp>
      <p:sp>
        <p:nvSpPr>
          <p:cNvPr id="72" name="AutoShape 9"/>
          <p:cNvSpPr/>
          <p:nvPr/>
        </p:nvSpPr>
        <p:spPr>
          <a:xfrm>
            <a:off x="9613382" y="5642163"/>
            <a:ext cx="21600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副组长：</a:t>
            </a:r>
            <a:r>
              <a:rPr lang="zh-CN" altLang="en-US" sz="1400" i="0" u="none" strike="noStrike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黄国平</a:t>
            </a:r>
            <a:r>
              <a:rPr lang="zh-CN" altLang="en-US" sz="1400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、陈昊</a:t>
            </a:r>
            <a:endParaRPr lang="en-US" sz="1050" dirty="0">
              <a:solidFill>
                <a:srgbClr val="152A8C"/>
              </a:solidFill>
              <a:latin typeface="+mn-ea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6299286" y="6074162"/>
            <a:ext cx="6083724" cy="216000"/>
            <a:chOff x="6299286" y="5943868"/>
            <a:chExt cx="6083724" cy="347143"/>
          </a:xfrm>
        </p:grpSpPr>
        <p:sp>
          <p:nvSpPr>
            <p:cNvPr id="73" name="AutoShape 9"/>
            <p:cNvSpPr/>
            <p:nvPr/>
          </p:nvSpPr>
          <p:spPr>
            <a:xfrm>
              <a:off x="6299286" y="5943868"/>
              <a:ext cx="2160000" cy="34714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altLang="zh-CN" sz="1400" b="1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PMO</a:t>
              </a:r>
              <a:r>
                <a:rPr lang="zh-CN" altLang="en-US" sz="1400" b="1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400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高驰（业务方案）</a:t>
              </a:r>
              <a:endParaRPr lang="en-US" sz="1050" dirty="0">
                <a:solidFill>
                  <a:srgbClr val="152A8C"/>
                </a:solidFill>
                <a:latin typeface="+mn-ea"/>
              </a:endParaRPr>
            </a:p>
          </p:txBody>
        </p:sp>
        <p:sp>
          <p:nvSpPr>
            <p:cNvPr id="74" name="AutoShape 9"/>
            <p:cNvSpPr/>
            <p:nvPr/>
          </p:nvSpPr>
          <p:spPr>
            <a:xfrm>
              <a:off x="8261148" y="5943868"/>
              <a:ext cx="2160000" cy="34714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sz="1400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卢志义（业务考核）</a:t>
              </a:r>
              <a:endParaRPr lang="en-US" sz="1050" dirty="0">
                <a:solidFill>
                  <a:srgbClr val="152A8C"/>
                </a:solidFill>
                <a:latin typeface="+mn-ea"/>
              </a:endParaRPr>
            </a:p>
          </p:txBody>
        </p:sp>
        <p:sp>
          <p:nvSpPr>
            <p:cNvPr id="75" name="AutoShape 9"/>
            <p:cNvSpPr/>
            <p:nvPr/>
          </p:nvSpPr>
          <p:spPr>
            <a:xfrm>
              <a:off x="10223010" y="5943868"/>
              <a:ext cx="2160000" cy="34714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sz="1400" i="0" u="none" strike="noStrike" dirty="0">
                  <a:solidFill>
                    <a:srgbClr val="152A8C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rPr>
                <a:t>耿妲（数智化落地）</a:t>
              </a:r>
              <a:endParaRPr lang="en-US" sz="1050" dirty="0">
                <a:solidFill>
                  <a:srgbClr val="152A8C"/>
                </a:solidFill>
                <a:latin typeface="+mn-ea"/>
              </a:endParaRPr>
            </a:p>
          </p:txBody>
        </p:sp>
      </p:grpSp>
      <p:sp>
        <p:nvSpPr>
          <p:cNvPr id="76" name="AutoShape 9"/>
          <p:cNvSpPr/>
          <p:nvPr/>
        </p:nvSpPr>
        <p:spPr>
          <a:xfrm>
            <a:off x="6396726" y="6398161"/>
            <a:ext cx="2175186" cy="3471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成员：</a:t>
            </a:r>
            <a:r>
              <a:rPr lang="zh-CN" altLang="en-US" sz="1400" i="0" u="none" strike="noStrike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股权运营部全员</a:t>
            </a:r>
            <a:endParaRPr lang="en-US" sz="1050" dirty="0">
              <a:solidFill>
                <a:srgbClr val="152A8C"/>
              </a:solidFill>
              <a:latin typeface="+mn-ea"/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7374326" y="4597792"/>
            <a:ext cx="2700000" cy="39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2796D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股权运营“一口清”专项工作组</a:t>
            </a:r>
          </a:p>
        </p:txBody>
      </p:sp>
      <p:cxnSp>
        <p:nvCxnSpPr>
          <p:cNvPr id="78" name="直接连接符 77"/>
          <p:cNvCxnSpPr/>
          <p:nvPr/>
        </p:nvCxnSpPr>
        <p:spPr bwMode="auto">
          <a:xfrm flipH="1">
            <a:off x="8724326" y="5014001"/>
            <a:ext cx="1" cy="36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2796D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接连接符 78"/>
          <p:cNvCxnSpPr/>
          <p:nvPr/>
        </p:nvCxnSpPr>
        <p:spPr bwMode="auto">
          <a:xfrm>
            <a:off x="6772978" y="5382993"/>
            <a:ext cx="390269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2796D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文本框 79"/>
          <p:cNvSpPr txBox="1"/>
          <p:nvPr/>
        </p:nvSpPr>
        <p:spPr>
          <a:xfrm>
            <a:off x="7875340" y="5414739"/>
            <a:ext cx="1727858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组长：</a:t>
            </a:r>
            <a:r>
              <a:rPr lang="zh-CN" altLang="en-US" sz="1400" i="0" u="none" strike="noStrike" dirty="0">
                <a:solidFill>
                  <a:srgbClr val="152A8C"/>
                </a:solidFill>
                <a:latin typeface="+mn-ea"/>
                <a:cs typeface="Noto Sans SC" panose="020B0200000000000000" charset="-122"/>
                <a:sym typeface="Noto Sans SC" panose="020B0200000000000000" charset="-122"/>
              </a:rPr>
              <a:t>刘红艳</a:t>
            </a:r>
            <a:endParaRPr lang="en-US" altLang="zh-CN" sz="1050" dirty="0">
              <a:solidFill>
                <a:srgbClr val="152A8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762000" y="1606417"/>
            <a:ext cx="3378200" cy="889000"/>
          </a:xfrm>
          <a:prstGeom prst="roundRect">
            <a:avLst>
              <a:gd name="adj" fmla="val 0"/>
            </a:avLst>
          </a:prstGeom>
          <a:solidFill>
            <a:srgbClr val="152A8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52500" y="1733417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历史档案梳理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（数据补齐）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2197100" y="3759076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A69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483100" y="1606417"/>
            <a:ext cx="3378200" cy="889000"/>
          </a:xfrm>
          <a:prstGeom prst="roundRect">
            <a:avLst>
              <a:gd name="adj" fmla="val 0"/>
            </a:avLst>
          </a:prstGeom>
          <a:solidFill>
            <a:srgbClr val="152A8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673600" y="1733417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数据治理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（数据解构）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5918200" y="3759076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A69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204200" y="1606417"/>
            <a:ext cx="3378200" cy="889000"/>
          </a:xfrm>
          <a:prstGeom prst="roundRect">
            <a:avLst>
              <a:gd name="adj" fmla="val 0"/>
            </a:avLst>
          </a:prstGeom>
          <a:solidFill>
            <a:srgbClr val="152A8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94700" y="1733417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03 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智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化升级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（数据应用）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04200" y="2614667"/>
            <a:ext cx="3378200" cy="1397000"/>
          </a:xfrm>
          <a:prstGeom prst="roundRect">
            <a:avLst>
              <a:gd name="adj" fmla="val 0"/>
            </a:avLst>
          </a:prstGeom>
          <a:solidFill>
            <a:srgbClr val="26A69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331200" y="2716266"/>
            <a:ext cx="3124200" cy="11504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便利化数据获取和数据挖掘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，通过智能化分析工具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实现精准的业务洞察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实现从“数据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挖掘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”到“数据驱动”。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204200" y="4058838"/>
            <a:ext cx="3378200" cy="26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▌ 关键举措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与产出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数据挖掘：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搭建自助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数据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分析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与提取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平台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，实现数据一站式随用随取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；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模型构建：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构建数据模型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实现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数据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自动化整合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，支撑经营决策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；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Noto Sans SC" panose="020B0200000000000000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业务优化：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基于数据挖掘与模型构建，推动各模块业务数智化平台优化。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Noto Sans SC" panose="020B0200000000000000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产出：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“一口清”工作台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13"/>
          <p:cNvSpPr/>
          <p:nvPr/>
        </p:nvSpPr>
        <p:spPr>
          <a:xfrm>
            <a:off x="756494" y="2687519"/>
            <a:ext cx="3378200" cy="1153818"/>
          </a:xfrm>
          <a:prstGeom prst="roundRect">
            <a:avLst>
              <a:gd name="adj" fmla="val 0"/>
            </a:avLst>
          </a:prstGeom>
          <a:solidFill>
            <a:srgbClr val="26A69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AutoShape 14"/>
          <p:cNvSpPr/>
          <p:nvPr/>
        </p:nvSpPr>
        <p:spPr>
          <a:xfrm>
            <a:off x="883494" y="2629641"/>
            <a:ext cx="3124200" cy="11504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对各业务链全生命周期数据的寻根溯源和补录，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形成完整、可检索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、追溯的全生命周期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数字档案。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AutoShape 15"/>
          <p:cNvSpPr/>
          <p:nvPr/>
        </p:nvSpPr>
        <p:spPr>
          <a:xfrm>
            <a:off x="756494" y="4058838"/>
            <a:ext cx="3378200" cy="26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▌ 关键举措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与产出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数据清查：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全面清查参股单位参股以来历年存档电子档案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数据校对：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对所辖参股单位全生命周期数据完整性进行核查，查漏补缺。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产出：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全生命周期数据档案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7"/>
          <p:cNvSpPr/>
          <p:nvPr/>
        </p:nvSpPr>
        <p:spPr>
          <a:xfrm>
            <a:off x="4497233" y="2687519"/>
            <a:ext cx="3378200" cy="1150471"/>
          </a:xfrm>
          <a:prstGeom prst="roundRect">
            <a:avLst>
              <a:gd name="adj" fmla="val 0"/>
            </a:avLst>
          </a:prstGeom>
          <a:solidFill>
            <a:srgbClr val="26A69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AutoShape 8"/>
          <p:cNvSpPr/>
          <p:nvPr/>
        </p:nvSpPr>
        <p:spPr>
          <a:xfrm>
            <a:off x="4624233" y="2629641"/>
            <a:ext cx="3124200" cy="11504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组织对企业全生命周期的数据进行结构化归类和检视，提高数据准确性与规范性，激活数据价值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AutoShape 9"/>
          <p:cNvSpPr/>
          <p:nvPr/>
        </p:nvSpPr>
        <p:spPr>
          <a:xfrm>
            <a:off x="4497233" y="4058838"/>
            <a:ext cx="3378200" cy="26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▌ 关键举措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与产出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解构：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统一电子档案数字化结构与标准，建立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全流程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数据审核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与监控机制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，巩固前期成果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；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数据补录：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按照解构要求，完成电子档案数字化扫描与断点信息补录；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Noto Sans SC" panose="020B0200000000000000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产出：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结构化的参股企业数据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Noto Sans SC" panose="020B0200000000000000" charset="-122"/>
            </a:endParaRPr>
          </a:p>
        </p:txBody>
      </p:sp>
      <p:sp>
        <p:nvSpPr>
          <p:cNvPr id="28" name="右箭头 88"/>
          <p:cNvSpPr/>
          <p:nvPr/>
        </p:nvSpPr>
        <p:spPr>
          <a:xfrm>
            <a:off x="4212891" y="2930404"/>
            <a:ext cx="220126" cy="531030"/>
          </a:xfrm>
          <a:prstGeom prst="right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68485" tIns="34243" rIns="68485" bIns="34243" rtlCol="0" anchor="ctr"/>
          <a:lstStyle/>
          <a:p>
            <a:pPr marL="0" marR="0" lvl="0" indent="0" algn="ctr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/>
            </a:endParaRPr>
          </a:p>
        </p:txBody>
      </p:sp>
      <p:sp>
        <p:nvSpPr>
          <p:cNvPr id="29" name="右箭头 88"/>
          <p:cNvSpPr/>
          <p:nvPr/>
        </p:nvSpPr>
        <p:spPr>
          <a:xfrm>
            <a:off x="7920574" y="2930404"/>
            <a:ext cx="220126" cy="531030"/>
          </a:xfrm>
          <a:prstGeom prst="right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68485" tIns="34243" rIns="68485" bIns="34243" rtlCol="0" anchor="ctr"/>
          <a:lstStyle/>
          <a:p>
            <a:pPr marL="0" marR="0" lvl="0" indent="0" algn="ctr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/>
            </a:endParaRPr>
          </a:p>
        </p:txBody>
      </p:sp>
      <p:sp>
        <p:nvSpPr>
          <p:cNvPr id="7" name="TextBox 3"/>
          <p:cNvSpPr txBox="1"/>
          <p:nvPr>
            <p:custDataLst>
              <p:tags r:id="rId1"/>
            </p:custDataLst>
          </p:nvPr>
        </p:nvSpPr>
        <p:spPr>
          <a:xfrm>
            <a:off x="462280" y="930329"/>
            <a:ext cx="111201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核心内容：打造标准化、智能化的数据管理体系，夯实“六清”管理基础，筑牢“三促”赋能根基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标题 6">
            <a:hlinkClick r:id="" action="ppaction://noaction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二、“一口清”工作迭代方案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554912" y="377475"/>
          <a:ext cx="316444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5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 dirty="0">
                          <a:solidFill>
                            <a:srgbClr val="152A8C"/>
                          </a:solidFill>
                          <a:latin typeface="+mn-ea"/>
                          <a:ea typeface="+mn-ea"/>
                        </a:rPr>
                        <a:t>数智升级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测评实施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结果应用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6">
            <a:hlinkClick r:id="rId5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二、“一口清”工作迭代方案</a:t>
            </a:r>
          </a:p>
        </p:txBody>
      </p:sp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462280" y="930328"/>
            <a:ext cx="295244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数智化升级工作方案</a:t>
            </a:r>
          </a:p>
        </p:txBody>
      </p:sp>
      <p:sp>
        <p:nvSpPr>
          <p:cNvPr id="287" name="Rectangle 45"/>
          <p:cNvSpPr/>
          <p:nvPr/>
        </p:nvSpPr>
        <p:spPr>
          <a:xfrm>
            <a:off x="407988" y="1983749"/>
            <a:ext cx="4354512" cy="310896"/>
          </a:xfrm>
          <a:prstGeom prst="rect">
            <a:avLst/>
          </a:prstGeom>
          <a:solidFill>
            <a:srgbClr val="77CDFF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信息及数据来源</a:t>
            </a:r>
          </a:p>
        </p:txBody>
      </p:sp>
      <p:sp>
        <p:nvSpPr>
          <p:cNvPr id="288" name="RbLeanShape Right U-Shape 36"/>
          <p:cNvSpPr/>
          <p:nvPr/>
        </p:nvSpPr>
        <p:spPr>
          <a:xfrm>
            <a:off x="9385199" y="1873028"/>
            <a:ext cx="2392799" cy="463791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noFill/>
          <a:ln w="12700" cap="flat" cmpd="sng" algn="ctr">
            <a:solidFill>
              <a:srgbClr val="00005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9" name="Rectangle 46"/>
          <p:cNvSpPr/>
          <p:nvPr/>
        </p:nvSpPr>
        <p:spPr>
          <a:xfrm>
            <a:off x="9208004" y="3024409"/>
            <a:ext cx="396000" cy="2335157"/>
          </a:xfrm>
          <a:prstGeom prst="rect">
            <a:avLst/>
          </a:prstGeom>
          <a:solidFill>
            <a:srgbClr val="000050"/>
          </a:solidFill>
          <a:ln w="2222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egoe UI" panose="020B0502040204020203"/>
              </a:rPr>
              <a:t>参股企业“一口清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Segoe UI" panose="020B0502040204020203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egoe UI" panose="020B0502040204020203"/>
              </a:rPr>
              <a:t>”</a:t>
            </a:r>
          </a:p>
        </p:txBody>
      </p:sp>
      <p:sp>
        <p:nvSpPr>
          <p:cNvPr id="290" name="RbLeanShape Right U-Shape 36"/>
          <p:cNvSpPr/>
          <p:nvPr/>
        </p:nvSpPr>
        <p:spPr>
          <a:xfrm flipH="1">
            <a:off x="407984" y="1873028"/>
            <a:ext cx="4609908" cy="463791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noFill/>
          <a:ln w="12700" cap="flat" cmpd="sng" algn="ctr">
            <a:solidFill>
              <a:srgbClr val="0096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489" name="组合 488"/>
          <p:cNvGrpSpPr/>
          <p:nvPr/>
        </p:nvGrpSpPr>
        <p:grpSpPr>
          <a:xfrm>
            <a:off x="5254325" y="2249484"/>
            <a:ext cx="3712513" cy="450862"/>
            <a:chOff x="3646516" y="-1000746"/>
            <a:chExt cx="5910353" cy="450862"/>
          </a:xfrm>
        </p:grpSpPr>
        <p:sp>
          <p:nvSpPr>
            <p:cNvPr id="309" name="Rectangle 3"/>
            <p:cNvSpPr/>
            <p:nvPr/>
          </p:nvSpPr>
          <p:spPr>
            <a:xfrm>
              <a:off x="3646516" y="-1000746"/>
              <a:ext cx="5910353" cy="450862"/>
            </a:xfrm>
            <a:prstGeom prst="rect">
              <a:avLst/>
            </a:prstGeom>
            <a:pattFill prst="ltUpDiag">
              <a:fgClr>
                <a:srgbClr val="C8C8C8"/>
              </a:fgClr>
              <a:bgClr>
                <a:srgbClr val="FFFFFF"/>
              </a:bgClr>
            </a:pattFill>
            <a:ln w="6350" cap="flat" cmpd="sng" algn="ctr">
              <a:noFill/>
              <a:prstDash val="solid"/>
            </a:ln>
            <a:effectLst/>
          </p:spPr>
          <p:txBody>
            <a:bodyPr wrap="square" lIns="72000" tIns="72000" rIns="72000" bIns="72000" rtlCol="0" anchor="t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  <p:sp>
          <p:nvSpPr>
            <p:cNvPr id="392" name="SplitText_281_a639f767-c8c0-461f-ab31-29054c48f086"/>
            <p:cNvSpPr txBox="1"/>
            <p:nvPr/>
          </p:nvSpPr>
          <p:spPr>
            <a:xfrm>
              <a:off x="4372036" y="-919217"/>
              <a:ext cx="445931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spcBef>
                  <a:spcPts val="400"/>
                </a:spcBef>
                <a:spcAft>
                  <a:spcPct val="0"/>
                </a:spcAft>
                <a:buSzPct val="100000"/>
                <a:buNone/>
              </a:pPr>
              <a:r>
                <a:rPr lang="zh-CN" altLang="en-US" sz="12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RB Office"/>
                  <a:cs typeface="Segoe UI" panose="020B0502040204020203"/>
                  <a:sym typeface="+mn-lt"/>
                </a:rPr>
                <a:t>全面集成云工作台现有数据，完成从“数据”向“知识”的转变</a:t>
              </a:r>
              <a:endParaRPr lang="en-US" sz="1200" b="1" dirty="0">
                <a:solidFill>
                  <a:srgbClr val="000000">
                    <a:lumMod val="50000"/>
                    <a:lumOff val="50000"/>
                  </a:srgbClr>
                </a:solidFill>
                <a:latin typeface="RB Office"/>
                <a:cs typeface="Segoe UI" panose="020B0502040204020203"/>
                <a:sym typeface="+mn-lt"/>
              </a:endParaRPr>
            </a:p>
          </p:txBody>
        </p:sp>
      </p:grpSp>
      <p:grpSp>
        <p:nvGrpSpPr>
          <p:cNvPr id="439" name="组合 438"/>
          <p:cNvGrpSpPr/>
          <p:nvPr/>
        </p:nvGrpSpPr>
        <p:grpSpPr>
          <a:xfrm>
            <a:off x="409801" y="2504018"/>
            <a:ext cx="2035492" cy="612000"/>
            <a:chOff x="462280" y="6079808"/>
            <a:chExt cx="2035492" cy="612000"/>
          </a:xfrm>
        </p:grpSpPr>
        <p:sp>
          <p:nvSpPr>
            <p:cNvPr id="282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参股公司信息管理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7" name="TextBox 264"/>
            <p:cNvSpPr txBox="1"/>
            <p:nvPr/>
          </p:nvSpPr>
          <p:spPr>
            <a:xfrm>
              <a:off x="587918" y="6326746"/>
              <a:ext cx="1779756" cy="307777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股权结构、组织架构、人员配置及主体资质等基础信息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38" name="组合 437"/>
          <p:cNvGrpSpPr/>
          <p:nvPr/>
        </p:nvGrpSpPr>
        <p:grpSpPr>
          <a:xfrm>
            <a:off x="2712938" y="2504018"/>
            <a:ext cx="2035492" cy="612000"/>
            <a:chOff x="407988" y="2513703"/>
            <a:chExt cx="2035492" cy="576000"/>
          </a:xfrm>
        </p:grpSpPr>
        <p:sp>
          <p:nvSpPr>
            <p:cNvPr id="426" name="RBLeftUShape"/>
            <p:cNvSpPr/>
            <p:nvPr/>
          </p:nvSpPr>
          <p:spPr>
            <a:xfrm>
              <a:off x="407988" y="2513703"/>
              <a:ext cx="2035492" cy="576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战略管理工作台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28" name="TextBox 264"/>
            <p:cNvSpPr txBox="1"/>
            <p:nvPr/>
          </p:nvSpPr>
          <p:spPr>
            <a:xfrm>
              <a:off x="538389" y="2791436"/>
              <a:ext cx="1692000" cy="144836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战略意图及协同发展情况</a:t>
              </a:r>
            </a:p>
          </p:txBody>
        </p:sp>
      </p:grpSp>
      <p:grpSp>
        <p:nvGrpSpPr>
          <p:cNvPr id="458" name="组合 457"/>
          <p:cNvGrpSpPr/>
          <p:nvPr/>
        </p:nvGrpSpPr>
        <p:grpSpPr>
          <a:xfrm>
            <a:off x="407988" y="5871501"/>
            <a:ext cx="4361236" cy="541860"/>
            <a:chOff x="407988" y="5871501"/>
            <a:chExt cx="4361236" cy="541860"/>
          </a:xfrm>
        </p:grpSpPr>
        <p:sp>
          <p:nvSpPr>
            <p:cNvPr id="431" name="RBLeftUShape"/>
            <p:cNvSpPr/>
            <p:nvPr/>
          </p:nvSpPr>
          <p:spPr>
            <a:xfrm>
              <a:off x="407988" y="5871501"/>
              <a:ext cx="4361236" cy="54186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一企一策工作台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33" name="TextBox 264"/>
            <p:cNvSpPr txBox="1"/>
            <p:nvPr/>
          </p:nvSpPr>
          <p:spPr>
            <a:xfrm>
              <a:off x="533625" y="6124795"/>
              <a:ext cx="4172845" cy="153888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lang="zh-CN" altLang="en-US" sz="1000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战略定位、战略执行、战略成果及具体施策手段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等信息</a:t>
              </a:r>
            </a:p>
          </p:txBody>
        </p:sp>
      </p:grpSp>
      <p:grpSp>
        <p:nvGrpSpPr>
          <p:cNvPr id="440" name="组合 439"/>
          <p:cNvGrpSpPr/>
          <p:nvPr/>
        </p:nvGrpSpPr>
        <p:grpSpPr>
          <a:xfrm>
            <a:off x="407988" y="3345889"/>
            <a:ext cx="2035492" cy="612000"/>
            <a:chOff x="462280" y="6079808"/>
            <a:chExt cx="2035492" cy="612000"/>
          </a:xfrm>
        </p:grpSpPr>
        <p:sp>
          <p:nvSpPr>
            <p:cNvPr id="441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三会管理工作台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42" name="TextBox 264"/>
            <p:cNvSpPr txBox="1"/>
            <p:nvPr/>
          </p:nvSpPr>
          <p:spPr>
            <a:xfrm>
              <a:off x="587918" y="6389501"/>
              <a:ext cx="1779756" cy="153888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三会运作、议题情况等信息</a:t>
              </a:r>
            </a:p>
          </p:txBody>
        </p:sp>
      </p:grpSp>
      <p:grpSp>
        <p:nvGrpSpPr>
          <p:cNvPr id="443" name="组合 442"/>
          <p:cNvGrpSpPr/>
          <p:nvPr/>
        </p:nvGrpSpPr>
        <p:grpSpPr>
          <a:xfrm>
            <a:off x="2712938" y="3345889"/>
            <a:ext cx="2035492" cy="612000"/>
            <a:chOff x="462280" y="6079808"/>
            <a:chExt cx="2035492" cy="612000"/>
          </a:xfrm>
        </p:grpSpPr>
        <p:sp>
          <p:nvSpPr>
            <p:cNvPr id="444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委派人员工作台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45" name="TextBox 264"/>
            <p:cNvSpPr txBox="1"/>
            <p:nvPr/>
          </p:nvSpPr>
          <p:spPr>
            <a:xfrm>
              <a:off x="587918" y="6389501"/>
              <a:ext cx="1779756" cy="153888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董监高委派及履职情况</a:t>
              </a:r>
            </a:p>
          </p:txBody>
        </p:sp>
      </p:grpSp>
      <p:grpSp>
        <p:nvGrpSpPr>
          <p:cNvPr id="446" name="组合 445"/>
          <p:cNvGrpSpPr/>
          <p:nvPr/>
        </p:nvGrpSpPr>
        <p:grpSpPr>
          <a:xfrm>
            <a:off x="407988" y="4187760"/>
            <a:ext cx="2035492" cy="612000"/>
            <a:chOff x="462280" y="6079808"/>
            <a:chExt cx="2035492" cy="612000"/>
          </a:xfrm>
        </p:grpSpPr>
        <p:sp>
          <p:nvSpPr>
            <p:cNvPr id="447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运营管理工作台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48" name="TextBox 264"/>
            <p:cNvSpPr txBox="1"/>
            <p:nvPr/>
          </p:nvSpPr>
          <p:spPr>
            <a:xfrm>
              <a:off x="587918" y="6344676"/>
              <a:ext cx="1779756" cy="307777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年度预算、经营指标、重点事项等经营、财务信息</a:t>
              </a:r>
            </a:p>
          </p:txBody>
        </p:sp>
      </p:grpSp>
      <p:grpSp>
        <p:nvGrpSpPr>
          <p:cNvPr id="449" name="组合 448"/>
          <p:cNvGrpSpPr/>
          <p:nvPr/>
        </p:nvGrpSpPr>
        <p:grpSpPr>
          <a:xfrm>
            <a:off x="2712938" y="4187760"/>
            <a:ext cx="2035492" cy="612000"/>
            <a:chOff x="462280" y="6079808"/>
            <a:chExt cx="2035492" cy="612000"/>
          </a:xfrm>
        </p:grpSpPr>
        <p:sp>
          <p:nvSpPr>
            <p:cNvPr id="450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参股公司大司库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51" name="TextBox 264"/>
            <p:cNvSpPr txBox="1"/>
            <p:nvPr/>
          </p:nvSpPr>
          <p:spPr>
            <a:xfrm>
              <a:off x="587918" y="6344676"/>
              <a:ext cx="1779756" cy="307777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历史及当期利润情况、“两金”、分红收益等财务信息</a:t>
              </a:r>
            </a:p>
          </p:txBody>
        </p:sp>
      </p:grpSp>
      <p:grpSp>
        <p:nvGrpSpPr>
          <p:cNvPr id="452" name="组合 451"/>
          <p:cNvGrpSpPr/>
          <p:nvPr/>
        </p:nvGrpSpPr>
        <p:grpSpPr>
          <a:xfrm>
            <a:off x="407988" y="5029631"/>
            <a:ext cx="2035492" cy="612000"/>
            <a:chOff x="462280" y="6079808"/>
            <a:chExt cx="2035492" cy="612000"/>
          </a:xfrm>
        </p:grpSpPr>
        <p:sp>
          <p:nvSpPr>
            <p:cNvPr id="453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风险监督工作台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54" name="TextBox 264"/>
            <p:cNvSpPr txBox="1"/>
            <p:nvPr/>
          </p:nvSpPr>
          <p:spPr>
            <a:xfrm>
              <a:off x="587918" y="6398466"/>
              <a:ext cx="1779756" cy="153888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风险预警、审计整改等信息</a:t>
              </a:r>
            </a:p>
          </p:txBody>
        </p:sp>
      </p:grpSp>
      <p:grpSp>
        <p:nvGrpSpPr>
          <p:cNvPr id="455" name="组合 454"/>
          <p:cNvGrpSpPr/>
          <p:nvPr/>
        </p:nvGrpSpPr>
        <p:grpSpPr>
          <a:xfrm>
            <a:off x="2712938" y="5029631"/>
            <a:ext cx="2035492" cy="612000"/>
            <a:chOff x="462280" y="6079808"/>
            <a:chExt cx="2035492" cy="612000"/>
          </a:xfrm>
        </p:grpSpPr>
        <p:sp>
          <p:nvSpPr>
            <p:cNvPr id="456" name="RBLeftUShape"/>
            <p:cNvSpPr/>
            <p:nvPr/>
          </p:nvSpPr>
          <p:spPr>
            <a:xfrm>
              <a:off x="462280" y="6079808"/>
              <a:ext cx="2035492" cy="612000"/>
            </a:xfrm>
            <a:prstGeom prst="rect">
              <a:avLst/>
            </a:prstGeom>
            <a:solidFill>
              <a:srgbClr val="FFFFFF"/>
            </a:solidFill>
            <a:ln w="6350" cap="flat" cmpd="sng">
              <a:solidFill>
                <a:srgbClr val="000050"/>
              </a:solidFill>
              <a:prstDash val="solid"/>
              <a:round/>
            </a:ln>
            <a:effectLst>
              <a:outerShdw dist="25400" dir="2700000" algn="tl" rotWithShape="0">
                <a:srgbClr val="000050"/>
              </a:outerShdw>
            </a:effectLst>
          </p:spPr>
          <p:txBody>
            <a:bodyPr vert="horz" wrap="square" lIns="0" tIns="54864" rIns="0" bIns="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None/>
                <a:defRPr/>
              </a:pPr>
              <a:r>
                <a:rPr lang="zh-CN" altLang="en-US" sz="12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股权经营工作台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57" name="TextBox 264"/>
            <p:cNvSpPr txBox="1"/>
            <p:nvPr/>
          </p:nvSpPr>
          <p:spPr>
            <a:xfrm>
              <a:off x="587918" y="6398466"/>
              <a:ext cx="1779756" cy="153888"/>
            </a:xfrm>
            <a:prstGeom prst="rect">
              <a:avLst/>
            </a:prstGeom>
            <a:noFill/>
            <a:ln w="9525" cap="flat" cmpd="sng" algn="ctr">
              <a:noFill/>
              <a:prstDash val="sysDot"/>
            </a:ln>
            <a:effectLst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de-DE"/>
              </a:defPPr>
              <a:lvl1pPr>
                <a:defRPr>
                  <a:latin typeface="+mn-lt"/>
                </a:defRPr>
              </a:lvl1pPr>
              <a:lvl2pPr marL="228600" lvl="1" indent="-228600" defTabSz="913765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3"/>
                </a:buClr>
                <a:buSzPct val="100000"/>
                <a:buFont typeface="Wingdings" panose="05000000000000000000" pitchFamily="2" charset="2"/>
                <a:buChar char=""/>
                <a:defRPr sz="1500" b="0">
                  <a:latin typeface="Arial" panose="020B0604020202020204" pitchFamily="34" charset="0"/>
                  <a:ea typeface="宋体" pitchFamily="2" charset="-122"/>
                </a:defRPr>
              </a:lvl2pPr>
              <a:lvl3pPr>
                <a:defRPr>
                  <a:latin typeface="+mn-lt"/>
                </a:defRPr>
              </a:lvl3pPr>
              <a:lvl4pPr>
                <a:defRPr>
                  <a:latin typeface="+mn-lt"/>
                </a:defRPr>
              </a:lvl4pPr>
              <a:lvl5pPr>
                <a:defRPr>
                  <a:latin typeface="+mn-lt"/>
                </a:defRPr>
              </a:lvl5pPr>
              <a:lvl6pPr>
                <a:defRPr>
                  <a:latin typeface="+mn-lt"/>
                </a:defRPr>
              </a:lvl6pPr>
              <a:lvl7pPr>
                <a:defRPr>
                  <a:latin typeface="+mn-lt"/>
                </a:defRPr>
              </a:lvl7pPr>
              <a:lvl8pPr>
                <a:defRPr>
                  <a:latin typeface="+mn-lt"/>
                </a:defRPr>
              </a:lvl8pPr>
              <a:lvl9pPr>
                <a:defRPr>
                  <a:latin typeface="+mn-lt"/>
                </a:defRPr>
              </a:lvl9pPr>
            </a:lstStyle>
            <a:p>
              <a:pPr marL="146050" marR="0" lvl="1" indent="-146050" defTabSz="913765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Pct val="100000"/>
                <a:buFont typeface="+mn-lt"/>
                <a:buChar char="•"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股权经营项目推进情况</a:t>
              </a:r>
            </a:p>
          </p:txBody>
        </p:sp>
      </p:grpSp>
      <p:cxnSp>
        <p:nvCxnSpPr>
          <p:cNvPr id="4" name="直接箭头连接符 3"/>
          <p:cNvCxnSpPr/>
          <p:nvPr/>
        </p:nvCxnSpPr>
        <p:spPr bwMode="auto">
          <a:xfrm>
            <a:off x="5263061" y="2067154"/>
            <a:ext cx="3712514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0" name="TextBox 43"/>
          <p:cNvSpPr txBox="1"/>
          <p:nvPr/>
        </p:nvSpPr>
        <p:spPr>
          <a:xfrm>
            <a:off x="6064125" y="1935153"/>
            <a:ext cx="2054732" cy="24622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50"/>
                </a:solidFill>
                <a:effectLst/>
                <a:uLnTx/>
                <a:uFillTx/>
                <a:latin typeface="RB Office"/>
                <a:cs typeface="Segoe UI" panose="020B0502040204020203"/>
              </a:rPr>
              <a:t>数据集成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50"/>
              </a:solidFill>
              <a:effectLst/>
              <a:uLnTx/>
              <a:uFillTx/>
              <a:latin typeface="RB Office"/>
              <a:cs typeface="Segoe UI" panose="020B0502040204020203"/>
            </a:endParaRPr>
          </a:p>
        </p:txBody>
      </p:sp>
      <p:grpSp>
        <p:nvGrpSpPr>
          <p:cNvPr id="461" name="Group 153"/>
          <p:cNvGrpSpPr/>
          <p:nvPr/>
        </p:nvGrpSpPr>
        <p:grpSpPr>
          <a:xfrm>
            <a:off x="5147491" y="1910264"/>
            <a:ext cx="3926180" cy="310896"/>
            <a:chOff x="2995839" y="1705841"/>
            <a:chExt cx="5910353" cy="310896"/>
          </a:xfrm>
        </p:grpSpPr>
        <p:cxnSp>
          <p:nvCxnSpPr>
            <p:cNvPr id="462" name="直接连接符 49"/>
            <p:cNvCxnSpPr>
              <a:cxnSpLocks noChangeShapeType="1"/>
            </p:cNvCxnSpPr>
            <p:nvPr/>
          </p:nvCxnSpPr>
          <p:spPr bwMode="auto">
            <a:xfrm>
              <a:off x="8906192" y="1705841"/>
              <a:ext cx="0" cy="310896"/>
            </a:xfrm>
            <a:prstGeom prst="line">
              <a:avLst/>
            </a:prstGeom>
            <a:noFill/>
            <a:ln w="25400" cap="rnd" algn="ctr">
              <a:solidFill>
                <a:srgbClr val="00005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" name="直接连接符 49"/>
            <p:cNvCxnSpPr>
              <a:cxnSpLocks noChangeShapeType="1"/>
            </p:cNvCxnSpPr>
            <p:nvPr/>
          </p:nvCxnSpPr>
          <p:spPr bwMode="auto">
            <a:xfrm>
              <a:off x="2995839" y="1705841"/>
              <a:ext cx="0" cy="310896"/>
            </a:xfrm>
            <a:prstGeom prst="line">
              <a:avLst/>
            </a:prstGeom>
            <a:noFill/>
            <a:ln w="25400" cap="rnd" algn="ctr">
              <a:solidFill>
                <a:srgbClr val="00005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91" name="Rectangle 112"/>
          <p:cNvSpPr/>
          <p:nvPr/>
        </p:nvSpPr>
        <p:spPr>
          <a:xfrm>
            <a:off x="9708613" y="1957723"/>
            <a:ext cx="2069385" cy="264879"/>
          </a:xfrm>
          <a:prstGeom prst="rect">
            <a:avLst/>
          </a:prstGeom>
          <a:solidFill>
            <a:srgbClr val="000082"/>
          </a:solidFill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现有内容</a:t>
            </a:r>
          </a:p>
        </p:txBody>
      </p:sp>
      <p:sp>
        <p:nvSpPr>
          <p:cNvPr id="494" name="文本框 493"/>
          <p:cNvSpPr txBox="1"/>
          <p:nvPr/>
        </p:nvSpPr>
        <p:spPr>
          <a:xfrm>
            <a:off x="9693830" y="2258663"/>
            <a:ext cx="2084168" cy="233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31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cs typeface="+mn-cs"/>
              </a:rPr>
              <a:t>一、基本情况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152A8C"/>
                </a:solidFill>
                <a:latin typeface="Franklin Gothic Medium" panose="020B0603020102020204" charset="0"/>
                <a:ea typeface="微软雅黑" panose="020B0503020204020204" charset="-122"/>
              </a:rPr>
              <a:t>注册资本、成立时间、主要股东、公司定位、主要产品和客户、董监高情况、组织架构、员工人数</a:t>
            </a:r>
            <a:endParaRPr lang="en-US" altLang="zh-CN" sz="1000" dirty="0">
              <a:solidFill>
                <a:srgbClr val="152A8C"/>
              </a:solidFill>
              <a:latin typeface="Franklin Gothic Medium" panose="020B060302010202020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cs typeface="+mn-cs"/>
              </a:rPr>
              <a:t>二、经营情况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152A8C"/>
                </a:solidFill>
                <a:latin typeface="Franklin Gothic Medium" panose="020B0603020102020204" charset="0"/>
                <a:ea typeface="微软雅黑" panose="020B0503020204020204" charset="-122"/>
              </a:rPr>
              <a:t>近三年主要经营数据、当年预算要求、分红情况、行业对标</a:t>
            </a:r>
            <a:endParaRPr lang="en-US" altLang="zh-CN" sz="1000" dirty="0">
              <a:solidFill>
                <a:srgbClr val="152A8C"/>
              </a:solidFill>
              <a:latin typeface="Franklin Gothic Medium" panose="020B060302010202020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cs typeface="+mn-cs"/>
              </a:rPr>
              <a:t>三、重点课题及管理方向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cs typeface="+mn-cs"/>
              </a:rPr>
              <a:t>战略管理、经营管理、资本运作</a:t>
            </a:r>
          </a:p>
          <a:p>
            <a:pPr>
              <a:lnSpc>
                <a:spcPct val="120000"/>
              </a:lnSpc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</p:txBody>
      </p:sp>
      <p:grpSp>
        <p:nvGrpSpPr>
          <p:cNvPr id="503" name="Group 5"/>
          <p:cNvGrpSpPr/>
          <p:nvPr/>
        </p:nvGrpSpPr>
        <p:grpSpPr>
          <a:xfrm>
            <a:off x="9701221" y="4493760"/>
            <a:ext cx="2069386" cy="358089"/>
            <a:chOff x="407987" y="4987803"/>
            <a:chExt cx="2668339" cy="358089"/>
          </a:xfrm>
        </p:grpSpPr>
        <p:sp>
          <p:nvSpPr>
            <p:cNvPr id="504" name="Trapezoid 111"/>
            <p:cNvSpPr/>
            <p:nvPr/>
          </p:nvSpPr>
          <p:spPr>
            <a:xfrm rot="10800000">
              <a:off x="486156" y="5003251"/>
              <a:ext cx="2512000" cy="179452"/>
            </a:xfrm>
            <a:prstGeom prst="trapezoid">
              <a:avLst>
                <a:gd name="adj" fmla="val 133956"/>
              </a:avLst>
            </a:prstGeom>
            <a:pattFill prst="ltUpDiag">
              <a:fgClr>
                <a:srgbClr val="000082">
                  <a:lumMod val="60000"/>
                  <a:lumOff val="40000"/>
                </a:srgbClr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/>
          </p:spPr>
          <p:txBody>
            <a:bodyPr lIns="71882" tIns="72000" rIns="0" bIns="72000" rtlCol="0" anchor="ctr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5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05" name="Rectangle 112"/>
            <p:cNvSpPr/>
            <p:nvPr/>
          </p:nvSpPr>
          <p:spPr>
            <a:xfrm rot="5400000">
              <a:off x="1673676" y="3737560"/>
              <a:ext cx="136222" cy="26676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99000">
                  <a:srgbClr val="FFFFFF">
                    <a:alpha val="0"/>
                  </a:srgbClr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lIns="71882" tIns="72000" rIns="0" bIns="72000" rtlCol="0" anchor="ctr" anchorCtr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0" cap="none" spc="0" normalizeH="0" baseline="0" noProof="0">
                <a:ln>
                  <a:noFill/>
                </a:ln>
                <a:solidFill>
                  <a:srgbClr val="00005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06" name="Freeform: Shape 142"/>
            <p:cNvSpPr/>
            <p:nvPr/>
          </p:nvSpPr>
          <p:spPr>
            <a:xfrm rot="5400000" flipV="1">
              <a:off x="499751" y="4896039"/>
              <a:ext cx="252000" cy="435528"/>
            </a:xfrm>
            <a:custGeom>
              <a:avLst/>
              <a:gdLst>
                <a:gd name="connsiteX0" fmla="*/ 0 w 476250"/>
                <a:gd name="connsiteY0" fmla="*/ 0 h 552450"/>
                <a:gd name="connsiteX1" fmla="*/ 476250 w 476250"/>
                <a:gd name="connsiteY1" fmla="*/ 400050 h 552450"/>
                <a:gd name="connsiteX2" fmla="*/ 476250 w 476250"/>
                <a:gd name="connsiteY2" fmla="*/ 55245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52450">
                  <a:moveTo>
                    <a:pt x="0" y="0"/>
                  </a:moveTo>
                  <a:lnTo>
                    <a:pt x="476250" y="400050"/>
                  </a:lnTo>
                  <a:lnTo>
                    <a:pt x="476250" y="552450"/>
                  </a:lnTo>
                </a:path>
              </a:pathLst>
            </a:custGeom>
            <a:noFill/>
            <a:ln w="12700" cap="flat" cmpd="sng" algn="ctr">
              <a:gradFill>
                <a:gsLst>
                  <a:gs pos="9000">
                    <a:srgbClr val="B3E7FF">
                      <a:lumMod val="5000"/>
                      <a:lumOff val="95000"/>
                    </a:srgbClr>
                  </a:gs>
                  <a:gs pos="74000">
                    <a:srgbClr val="000050"/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rgbClr val="00005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507" name="Group 10"/>
            <p:cNvGrpSpPr/>
            <p:nvPr/>
          </p:nvGrpSpPr>
          <p:grpSpPr>
            <a:xfrm>
              <a:off x="1573369" y="5055230"/>
              <a:ext cx="373950" cy="290662"/>
              <a:chOff x="1592319" y="5055230"/>
              <a:chExt cx="373950" cy="290662"/>
            </a:xfrm>
          </p:grpSpPr>
          <p:sp>
            <p:nvSpPr>
              <p:cNvPr id="509" name="RbLeanShape Arrow Option 2 15"/>
              <p:cNvSpPr/>
              <p:nvPr/>
            </p:nvSpPr>
            <p:spPr>
              <a:xfrm rot="5400000">
                <a:off x="1658073" y="5037697"/>
                <a:ext cx="242441" cy="373950"/>
              </a:xfrm>
              <a:custGeom>
                <a:avLst/>
                <a:gdLst>
                  <a:gd name="connsiteX0" fmla="*/ 0 w 1079500"/>
                  <a:gd name="connsiteY0" fmla="*/ 152400 h 622300"/>
                  <a:gd name="connsiteX1" fmla="*/ 508000 w 1079500"/>
                  <a:gd name="connsiteY1" fmla="*/ 152400 h 622300"/>
                  <a:gd name="connsiteX2" fmla="*/ 508000 w 1079500"/>
                  <a:gd name="connsiteY2" fmla="*/ 0 h 622300"/>
                  <a:gd name="connsiteX3" fmla="*/ 1079500 w 1079500"/>
                  <a:gd name="connsiteY3" fmla="*/ 311150 h 622300"/>
                  <a:gd name="connsiteX4" fmla="*/ 508000 w 1079500"/>
                  <a:gd name="connsiteY4" fmla="*/ 622300 h 622300"/>
                  <a:gd name="connsiteX5" fmla="*/ 508000 w 1079500"/>
                  <a:gd name="connsiteY5" fmla="*/ 469900 h 622300"/>
                  <a:gd name="connsiteX6" fmla="*/ 0 w 1079500"/>
                  <a:gd name="connsiteY6" fmla="*/ 469900 h 62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9500" h="622300">
                    <a:moveTo>
                      <a:pt x="0" y="152400"/>
                    </a:moveTo>
                    <a:lnTo>
                      <a:pt x="508000" y="152400"/>
                    </a:lnTo>
                    <a:lnTo>
                      <a:pt x="508000" y="0"/>
                    </a:lnTo>
                    <a:lnTo>
                      <a:pt x="1079500" y="311150"/>
                    </a:lnTo>
                    <a:lnTo>
                      <a:pt x="508000" y="622300"/>
                    </a:lnTo>
                    <a:lnTo>
                      <a:pt x="508000" y="469900"/>
                    </a:lnTo>
                    <a:lnTo>
                      <a:pt x="0" y="469900"/>
                    </a:lnTo>
                  </a:path>
                </a:pathLst>
              </a:custGeom>
              <a:solidFill>
                <a:srgbClr val="000082"/>
              </a:solidFill>
              <a:ln w="15875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10" name="RbLeanShape Arrow Option 2 15"/>
              <p:cNvSpPr/>
              <p:nvPr/>
            </p:nvSpPr>
            <p:spPr>
              <a:xfrm rot="5400000">
                <a:off x="1658073" y="4989476"/>
                <a:ext cx="242441" cy="373950"/>
              </a:xfrm>
              <a:custGeom>
                <a:avLst/>
                <a:gdLst>
                  <a:gd name="connsiteX0" fmla="*/ 0 w 1079500"/>
                  <a:gd name="connsiteY0" fmla="*/ 152400 h 622300"/>
                  <a:gd name="connsiteX1" fmla="*/ 508000 w 1079500"/>
                  <a:gd name="connsiteY1" fmla="*/ 152400 h 622300"/>
                  <a:gd name="connsiteX2" fmla="*/ 508000 w 1079500"/>
                  <a:gd name="connsiteY2" fmla="*/ 0 h 622300"/>
                  <a:gd name="connsiteX3" fmla="*/ 1079500 w 1079500"/>
                  <a:gd name="connsiteY3" fmla="*/ 311150 h 622300"/>
                  <a:gd name="connsiteX4" fmla="*/ 508000 w 1079500"/>
                  <a:gd name="connsiteY4" fmla="*/ 622300 h 622300"/>
                  <a:gd name="connsiteX5" fmla="*/ 508000 w 1079500"/>
                  <a:gd name="connsiteY5" fmla="*/ 469900 h 622300"/>
                  <a:gd name="connsiteX6" fmla="*/ 0 w 1079500"/>
                  <a:gd name="connsiteY6" fmla="*/ 469900 h 62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9500" h="622300">
                    <a:moveTo>
                      <a:pt x="0" y="152400"/>
                    </a:moveTo>
                    <a:lnTo>
                      <a:pt x="508000" y="152400"/>
                    </a:lnTo>
                    <a:lnTo>
                      <a:pt x="508000" y="0"/>
                    </a:lnTo>
                    <a:lnTo>
                      <a:pt x="1079500" y="311150"/>
                    </a:lnTo>
                    <a:lnTo>
                      <a:pt x="508000" y="622300"/>
                    </a:lnTo>
                    <a:lnTo>
                      <a:pt x="508000" y="469900"/>
                    </a:lnTo>
                    <a:lnTo>
                      <a:pt x="0" y="469900"/>
                    </a:lnTo>
                  </a:path>
                </a:pathLst>
              </a:custGeom>
              <a:gradFill>
                <a:gsLst>
                  <a:gs pos="76000">
                    <a:srgbClr val="FFFFFF"/>
                  </a:gs>
                  <a:gs pos="100000">
                    <a:srgbClr val="FFFFFF"/>
                  </a:gs>
                </a:gsLst>
                <a:lin ang="10800000" scaled="1"/>
              </a:gradFill>
              <a:ln w="12700" cap="flat" cmpd="sng" algn="ctr">
                <a:gradFill flip="none" rotWithShape="1">
                  <a:gsLst>
                    <a:gs pos="7000">
                      <a:srgbClr val="000050"/>
                    </a:gs>
                    <a:gs pos="100000">
                      <a:srgbClr val="FFFFFF"/>
                    </a:gs>
                  </a:gsLst>
                  <a:lin ang="10800000" scaled="1"/>
                  <a:tileRect/>
                </a:gra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508" name="Freeform: Shape 142"/>
            <p:cNvSpPr/>
            <p:nvPr/>
          </p:nvSpPr>
          <p:spPr>
            <a:xfrm rot="16200000" flipH="1" flipV="1">
              <a:off x="2732562" y="4896039"/>
              <a:ext cx="252000" cy="435528"/>
            </a:xfrm>
            <a:custGeom>
              <a:avLst/>
              <a:gdLst>
                <a:gd name="connsiteX0" fmla="*/ 0 w 476250"/>
                <a:gd name="connsiteY0" fmla="*/ 0 h 552450"/>
                <a:gd name="connsiteX1" fmla="*/ 476250 w 476250"/>
                <a:gd name="connsiteY1" fmla="*/ 400050 h 552450"/>
                <a:gd name="connsiteX2" fmla="*/ 476250 w 476250"/>
                <a:gd name="connsiteY2" fmla="*/ 55245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52450">
                  <a:moveTo>
                    <a:pt x="0" y="0"/>
                  </a:moveTo>
                  <a:lnTo>
                    <a:pt x="476250" y="400050"/>
                  </a:lnTo>
                  <a:lnTo>
                    <a:pt x="476250" y="552450"/>
                  </a:lnTo>
                </a:path>
              </a:pathLst>
            </a:custGeom>
            <a:noFill/>
            <a:ln w="12700" cap="flat" cmpd="sng" algn="ctr">
              <a:gradFill>
                <a:gsLst>
                  <a:gs pos="9000">
                    <a:srgbClr val="B3E7FF">
                      <a:lumMod val="5000"/>
                      <a:lumOff val="95000"/>
                    </a:srgbClr>
                  </a:gs>
                  <a:gs pos="74000">
                    <a:srgbClr val="000050"/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rgbClr val="00005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511" name="Rectangle 112"/>
          <p:cNvSpPr/>
          <p:nvPr/>
        </p:nvSpPr>
        <p:spPr>
          <a:xfrm>
            <a:off x="9708612" y="4947113"/>
            <a:ext cx="2069385" cy="264879"/>
          </a:xfrm>
          <a:prstGeom prst="rect">
            <a:avLst/>
          </a:prstGeom>
          <a:solidFill>
            <a:srgbClr val="000082"/>
          </a:solidFill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200" b="1" kern="0" dirty="0">
                <a:solidFill>
                  <a:srgbClr val="FFFFFF">
                    <a:lumMod val="100000"/>
                  </a:srgbClr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补全内容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2" name="文本框 511"/>
          <p:cNvSpPr txBox="1"/>
          <p:nvPr/>
        </p:nvSpPr>
        <p:spPr>
          <a:xfrm>
            <a:off x="9701220" y="5307255"/>
            <a:ext cx="2084168" cy="757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rgbClr val="152A8C"/>
                </a:solidFill>
                <a:latin typeface="Franklin Gothic Medium" panose="020B0603020102020204" charset="0"/>
                <a:ea typeface="微软雅黑" panose="020B0503020204020204" charset="-122"/>
              </a:rPr>
              <a:t>三会运作情况、股权经营推进情况、董监高委派及履职情况、战略协同情况、风险预警</a:t>
            </a:r>
            <a:r>
              <a:rPr lang="en-US" altLang="zh-CN" sz="1000" dirty="0">
                <a:solidFill>
                  <a:srgbClr val="152A8C"/>
                </a:solidFill>
                <a:latin typeface="Franklin Gothic Medium" panose="020B0603020102020204" charset="0"/>
                <a:ea typeface="微软雅黑" panose="020B0503020204020204" charset="-122"/>
              </a:rPr>
              <a:t>……</a:t>
            </a:r>
            <a:endParaRPr lang="zh-CN" altLang="en-US" sz="1000" dirty="0">
              <a:solidFill>
                <a:srgbClr val="152A8C"/>
              </a:solidFill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513" name="TextBox 3"/>
          <p:cNvSpPr txBox="1"/>
          <p:nvPr>
            <p:custDataLst>
              <p:tags r:id="rId2"/>
            </p:custDataLst>
          </p:nvPr>
        </p:nvSpPr>
        <p:spPr>
          <a:xfrm>
            <a:off x="462280" y="1253465"/>
            <a:ext cx="11221100" cy="6251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just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系统梳理云工作台现有业务与数据，以 “六清” 为标准全面集成参股企业信息，从有到优，实现 “数据” 向 “知识” 的转变，并基于“一口清”运营情况，反向推动各模块业务数智化平台优化</a:t>
            </a:r>
          </a:p>
        </p:txBody>
      </p:sp>
      <p:cxnSp>
        <p:nvCxnSpPr>
          <p:cNvPr id="368" name="Straight Connector 273"/>
          <p:cNvCxnSpPr/>
          <p:nvPr/>
        </p:nvCxnSpPr>
        <p:spPr>
          <a:xfrm>
            <a:off x="7106662" y="2943880"/>
            <a:ext cx="0" cy="248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cxnSp>
        <p:nvCxnSpPr>
          <p:cNvPr id="369" name="Straight Connector 274"/>
          <p:cNvCxnSpPr/>
          <p:nvPr/>
        </p:nvCxnSpPr>
        <p:spPr>
          <a:xfrm>
            <a:off x="7702972" y="2943880"/>
            <a:ext cx="0" cy="248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cxnSp>
        <p:nvCxnSpPr>
          <p:cNvPr id="370" name="Straight Connector 275"/>
          <p:cNvCxnSpPr/>
          <p:nvPr/>
        </p:nvCxnSpPr>
        <p:spPr>
          <a:xfrm>
            <a:off x="8299282" y="2943880"/>
            <a:ext cx="0" cy="248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cxnSp>
        <p:nvCxnSpPr>
          <p:cNvPr id="371" name="Straight Connector 276"/>
          <p:cNvCxnSpPr/>
          <p:nvPr/>
        </p:nvCxnSpPr>
        <p:spPr>
          <a:xfrm>
            <a:off x="8782463" y="3492686"/>
            <a:ext cx="0" cy="140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cxnSp>
        <p:nvCxnSpPr>
          <p:cNvPr id="372" name="Straight Connector 277"/>
          <p:cNvCxnSpPr/>
          <p:nvPr/>
        </p:nvCxnSpPr>
        <p:spPr>
          <a:xfrm>
            <a:off x="6510349" y="2943880"/>
            <a:ext cx="0" cy="248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cxnSp>
        <p:nvCxnSpPr>
          <p:cNvPr id="373" name="Straight Connector 278"/>
          <p:cNvCxnSpPr/>
          <p:nvPr/>
        </p:nvCxnSpPr>
        <p:spPr>
          <a:xfrm>
            <a:off x="5914039" y="2943880"/>
            <a:ext cx="0" cy="248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cxnSp>
        <p:nvCxnSpPr>
          <p:cNvPr id="374" name="Straight Connector 279"/>
          <p:cNvCxnSpPr/>
          <p:nvPr/>
        </p:nvCxnSpPr>
        <p:spPr>
          <a:xfrm>
            <a:off x="5468556" y="3492686"/>
            <a:ext cx="0" cy="140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grpSp>
        <p:nvGrpSpPr>
          <p:cNvPr id="381" name="Group 262"/>
          <p:cNvGrpSpPr/>
          <p:nvPr/>
        </p:nvGrpSpPr>
        <p:grpSpPr>
          <a:xfrm>
            <a:off x="5925848" y="2862022"/>
            <a:ext cx="2376000" cy="2640156"/>
            <a:chOff x="6878165" y="2172185"/>
            <a:chExt cx="1297845" cy="3320650"/>
          </a:xfrm>
        </p:grpSpPr>
        <p:cxnSp>
          <p:nvCxnSpPr>
            <p:cNvPr id="382" name="Straight Connector 271"/>
            <p:cNvCxnSpPr/>
            <p:nvPr/>
          </p:nvCxnSpPr>
          <p:spPr>
            <a:xfrm flipV="1">
              <a:off x="6878165" y="2172185"/>
              <a:ext cx="1297845" cy="0"/>
            </a:xfrm>
            <a:prstGeom prst="line">
              <a:avLst/>
            </a:pr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cxnSp>
          <p:nvCxnSpPr>
            <p:cNvPr id="383" name="Straight Connector 272"/>
            <p:cNvCxnSpPr/>
            <p:nvPr/>
          </p:nvCxnSpPr>
          <p:spPr>
            <a:xfrm flipV="1">
              <a:off x="6878165" y="5492835"/>
              <a:ext cx="1297845" cy="0"/>
            </a:xfrm>
            <a:prstGeom prst="line">
              <a:avLst/>
            </a:pr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84" name="Group 263"/>
          <p:cNvGrpSpPr/>
          <p:nvPr/>
        </p:nvGrpSpPr>
        <p:grpSpPr>
          <a:xfrm>
            <a:off x="5743394" y="2933603"/>
            <a:ext cx="2700000" cy="504000"/>
            <a:chOff x="4274821" y="3247186"/>
            <a:chExt cx="1330846" cy="2524598"/>
          </a:xfrm>
        </p:grpSpPr>
        <p:sp>
          <p:nvSpPr>
            <p:cNvPr id="385" name="RbLeanShape Left Angle 6"/>
            <p:cNvSpPr/>
            <p:nvPr/>
          </p:nvSpPr>
          <p:spPr>
            <a:xfrm rot="5400000">
              <a:off x="3677947" y="3844064"/>
              <a:ext cx="2524594" cy="1330846"/>
            </a:xfrm>
            <a:prstGeom prst="roundRect">
              <a:avLst>
                <a:gd name="adj" fmla="val 9775"/>
              </a:avLst>
            </a:prstGeom>
            <a:noFill/>
            <a:ln w="22225" cap="flat" cmpd="sng" algn="ctr">
              <a:solidFill>
                <a:srgbClr val="000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86" name="Rectangle 31"/>
            <p:cNvSpPr/>
            <p:nvPr/>
          </p:nvSpPr>
          <p:spPr>
            <a:xfrm>
              <a:off x="4274821" y="3247186"/>
              <a:ext cx="1330846" cy="2524592"/>
            </a:xfrm>
            <a:prstGeom prst="roundRect">
              <a:avLst>
                <a:gd name="adj" fmla="val 9774"/>
              </a:avLst>
            </a:prstGeom>
            <a:solidFill>
              <a:srgbClr val="FFFFFF">
                <a:alpha val="70000"/>
              </a:srgbClr>
            </a:solidFill>
            <a:ln w="22225" cap="flat" cmpd="sng" algn="ctr">
              <a:solidFill>
                <a:srgbClr val="000050"/>
              </a:solidFill>
              <a:prstDash val="solid"/>
            </a:ln>
            <a:effectLst/>
          </p:spPr>
          <p:txBody>
            <a:bodyPr lIns="72000" tIns="72000" rIns="72000" bIns="72000" rtlCol="0" anchor="ctr" anchorCtr="0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基础底数清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65" name="组合 464"/>
          <p:cNvGrpSpPr/>
          <p:nvPr/>
        </p:nvGrpSpPr>
        <p:grpSpPr>
          <a:xfrm>
            <a:off x="8387812" y="2862022"/>
            <a:ext cx="687762" cy="2640154"/>
            <a:chOff x="4855705" y="-4490500"/>
            <a:chExt cx="687762" cy="3320647"/>
          </a:xfrm>
        </p:grpSpPr>
        <p:sp>
          <p:nvSpPr>
            <p:cNvPr id="365" name="Freeform 4"/>
            <p:cNvSpPr/>
            <p:nvPr/>
          </p:nvSpPr>
          <p:spPr>
            <a:xfrm>
              <a:off x="4855705" y="-4490500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66" name="Freeform 93"/>
            <p:cNvSpPr/>
            <p:nvPr/>
          </p:nvSpPr>
          <p:spPr>
            <a:xfrm flipV="1">
              <a:off x="4855705" y="-1908492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cxnSp>
          <p:nvCxnSpPr>
            <p:cNvPr id="375" name="Straight Connector 256"/>
            <p:cNvCxnSpPr/>
            <p:nvPr/>
          </p:nvCxnSpPr>
          <p:spPr>
            <a:xfrm>
              <a:off x="5347275" y="-350644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76" name="Straight Connector 257"/>
            <p:cNvCxnSpPr/>
            <p:nvPr/>
          </p:nvCxnSpPr>
          <p:spPr>
            <a:xfrm>
              <a:off x="5347275" y="-324417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77" name="Straight Connector 258"/>
            <p:cNvCxnSpPr/>
            <p:nvPr/>
          </p:nvCxnSpPr>
          <p:spPr>
            <a:xfrm>
              <a:off x="5347275" y="-298190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78" name="Straight Connector 259"/>
            <p:cNvCxnSpPr/>
            <p:nvPr/>
          </p:nvCxnSpPr>
          <p:spPr>
            <a:xfrm>
              <a:off x="5347275" y="-271963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79" name="Straight Connector 260"/>
            <p:cNvCxnSpPr/>
            <p:nvPr/>
          </p:nvCxnSpPr>
          <p:spPr>
            <a:xfrm>
              <a:off x="5347275" y="-245736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80" name="Straight Connector 261"/>
            <p:cNvCxnSpPr/>
            <p:nvPr/>
          </p:nvCxnSpPr>
          <p:spPr>
            <a:xfrm>
              <a:off x="5347275" y="-219509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90" name="Straight Connector 267"/>
            <p:cNvCxnSpPr/>
            <p:nvPr/>
          </p:nvCxnSpPr>
          <p:spPr>
            <a:xfrm>
              <a:off x="5347275" y="-3751861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391" name="Straight Connector 268"/>
            <p:cNvCxnSpPr/>
            <p:nvPr/>
          </p:nvCxnSpPr>
          <p:spPr>
            <a:xfrm>
              <a:off x="5347275" y="-1908490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</p:grpSp>
      <p:grpSp>
        <p:nvGrpSpPr>
          <p:cNvPr id="474" name="Group 263"/>
          <p:cNvGrpSpPr/>
          <p:nvPr/>
        </p:nvGrpSpPr>
        <p:grpSpPr>
          <a:xfrm>
            <a:off x="5767225" y="4260455"/>
            <a:ext cx="1260000" cy="504000"/>
            <a:chOff x="4274821" y="3247186"/>
            <a:chExt cx="1330846" cy="2524598"/>
          </a:xfrm>
        </p:grpSpPr>
        <p:sp>
          <p:nvSpPr>
            <p:cNvPr id="475" name="RbLeanShape Left Angle 6"/>
            <p:cNvSpPr/>
            <p:nvPr/>
          </p:nvSpPr>
          <p:spPr>
            <a:xfrm rot="5400000">
              <a:off x="3677947" y="3844064"/>
              <a:ext cx="2524594" cy="1330846"/>
            </a:xfrm>
            <a:prstGeom prst="roundRect">
              <a:avLst>
                <a:gd name="adj" fmla="val 9775"/>
              </a:avLst>
            </a:prstGeom>
            <a:noFill/>
            <a:ln w="22225" cap="flat" cmpd="sng" algn="ctr">
              <a:solidFill>
                <a:srgbClr val="000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76" name="Rectangle 31"/>
            <p:cNvSpPr/>
            <p:nvPr/>
          </p:nvSpPr>
          <p:spPr>
            <a:xfrm>
              <a:off x="4274821" y="3247186"/>
              <a:ext cx="1330846" cy="2524592"/>
            </a:xfrm>
            <a:prstGeom prst="roundRect">
              <a:avLst>
                <a:gd name="adj" fmla="val 9774"/>
              </a:avLst>
            </a:prstGeom>
            <a:solidFill>
              <a:srgbClr val="FFFFFF">
                <a:alpha val="70000"/>
              </a:srgbClr>
            </a:solidFill>
            <a:ln w="22225" cap="flat" cmpd="sng" algn="ctr">
              <a:solidFill>
                <a:srgbClr val="000050"/>
              </a:solidFill>
              <a:prstDash val="solid"/>
            </a:ln>
            <a:effectLst/>
          </p:spPr>
          <p:txBody>
            <a:bodyPr lIns="72000" tIns="72000" rIns="72000" bIns="72000" rtlCol="0" anchor="ctr" anchorCtr="0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产业协同清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77" name="Group 263"/>
          <p:cNvGrpSpPr/>
          <p:nvPr/>
        </p:nvGrpSpPr>
        <p:grpSpPr>
          <a:xfrm>
            <a:off x="5748624" y="3597029"/>
            <a:ext cx="1260000" cy="504000"/>
            <a:chOff x="4274821" y="3247186"/>
            <a:chExt cx="1330846" cy="2524598"/>
          </a:xfrm>
        </p:grpSpPr>
        <p:sp>
          <p:nvSpPr>
            <p:cNvPr id="478" name="RbLeanShape Left Angle 6"/>
            <p:cNvSpPr/>
            <p:nvPr/>
          </p:nvSpPr>
          <p:spPr>
            <a:xfrm rot="5400000">
              <a:off x="3677947" y="3844064"/>
              <a:ext cx="2524594" cy="1330846"/>
            </a:xfrm>
            <a:prstGeom prst="roundRect">
              <a:avLst>
                <a:gd name="adj" fmla="val 9775"/>
              </a:avLst>
            </a:prstGeom>
            <a:noFill/>
            <a:ln w="22225" cap="flat" cmpd="sng" algn="ctr">
              <a:solidFill>
                <a:srgbClr val="000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79" name="Rectangle 31"/>
            <p:cNvSpPr/>
            <p:nvPr/>
          </p:nvSpPr>
          <p:spPr>
            <a:xfrm>
              <a:off x="4274821" y="3247186"/>
              <a:ext cx="1330846" cy="2524592"/>
            </a:xfrm>
            <a:prstGeom prst="roundRect">
              <a:avLst>
                <a:gd name="adj" fmla="val 9774"/>
              </a:avLst>
            </a:prstGeom>
            <a:solidFill>
              <a:srgbClr val="FFFFFF">
                <a:alpha val="70000"/>
              </a:srgbClr>
            </a:solidFill>
            <a:ln w="22225" cap="flat" cmpd="sng" algn="ctr">
              <a:solidFill>
                <a:srgbClr val="000050"/>
              </a:solidFill>
              <a:prstDash val="solid"/>
            </a:ln>
            <a:effectLst/>
          </p:spPr>
          <p:txBody>
            <a:bodyPr lIns="72000" tIns="72000" rIns="72000" bIns="72000" rtlCol="0" anchor="ctr" anchorCtr="0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财务状况清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83" name="Group 263"/>
          <p:cNvGrpSpPr/>
          <p:nvPr/>
        </p:nvGrpSpPr>
        <p:grpSpPr>
          <a:xfrm>
            <a:off x="7161906" y="3597029"/>
            <a:ext cx="1260000" cy="504000"/>
            <a:chOff x="4274821" y="3247186"/>
            <a:chExt cx="1330846" cy="2524598"/>
          </a:xfrm>
        </p:grpSpPr>
        <p:sp>
          <p:nvSpPr>
            <p:cNvPr id="484" name="RbLeanShape Left Angle 6"/>
            <p:cNvSpPr/>
            <p:nvPr/>
          </p:nvSpPr>
          <p:spPr>
            <a:xfrm rot="5400000">
              <a:off x="3677947" y="3844064"/>
              <a:ext cx="2524594" cy="1330846"/>
            </a:xfrm>
            <a:prstGeom prst="roundRect">
              <a:avLst>
                <a:gd name="adj" fmla="val 9775"/>
              </a:avLst>
            </a:prstGeom>
            <a:noFill/>
            <a:ln w="22225" cap="flat" cmpd="sng" algn="ctr">
              <a:solidFill>
                <a:srgbClr val="000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85" name="Rectangle 31"/>
            <p:cNvSpPr/>
            <p:nvPr/>
          </p:nvSpPr>
          <p:spPr>
            <a:xfrm>
              <a:off x="4274821" y="3247186"/>
              <a:ext cx="1330846" cy="2524592"/>
            </a:xfrm>
            <a:prstGeom prst="roundRect">
              <a:avLst>
                <a:gd name="adj" fmla="val 9774"/>
              </a:avLst>
            </a:prstGeom>
            <a:solidFill>
              <a:srgbClr val="FFFFFF">
                <a:alpha val="70000"/>
              </a:srgbClr>
            </a:solidFill>
            <a:ln w="22225" cap="flat" cmpd="sng" algn="ctr">
              <a:solidFill>
                <a:srgbClr val="000050"/>
              </a:solidFill>
              <a:prstDash val="solid"/>
            </a:ln>
            <a:effectLst/>
          </p:spPr>
          <p:txBody>
            <a:bodyPr lIns="72000" tIns="72000" rIns="72000" bIns="72000" rtlCol="0" anchor="ctr" anchorCtr="0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治理行权清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86" name="Group 263"/>
          <p:cNvGrpSpPr/>
          <p:nvPr/>
        </p:nvGrpSpPr>
        <p:grpSpPr>
          <a:xfrm>
            <a:off x="7179950" y="4260455"/>
            <a:ext cx="1260000" cy="504000"/>
            <a:chOff x="4274821" y="3247186"/>
            <a:chExt cx="1330846" cy="2524598"/>
          </a:xfrm>
        </p:grpSpPr>
        <p:sp>
          <p:nvSpPr>
            <p:cNvPr id="487" name="RbLeanShape Left Angle 6"/>
            <p:cNvSpPr/>
            <p:nvPr/>
          </p:nvSpPr>
          <p:spPr>
            <a:xfrm rot="5400000">
              <a:off x="3677947" y="3844064"/>
              <a:ext cx="2524594" cy="1330846"/>
            </a:xfrm>
            <a:prstGeom prst="roundRect">
              <a:avLst>
                <a:gd name="adj" fmla="val 9775"/>
              </a:avLst>
            </a:prstGeom>
            <a:noFill/>
            <a:ln w="22225" cap="flat" cmpd="sng" algn="ctr">
              <a:solidFill>
                <a:srgbClr val="000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88" name="Rectangle 31"/>
            <p:cNvSpPr/>
            <p:nvPr/>
          </p:nvSpPr>
          <p:spPr>
            <a:xfrm>
              <a:off x="4274821" y="3247186"/>
              <a:ext cx="1330846" cy="2524592"/>
            </a:xfrm>
            <a:prstGeom prst="roundRect">
              <a:avLst>
                <a:gd name="adj" fmla="val 9774"/>
              </a:avLst>
            </a:prstGeom>
            <a:solidFill>
              <a:srgbClr val="FFFFFF">
                <a:alpha val="70000"/>
              </a:srgbClr>
            </a:solidFill>
            <a:ln w="22225" cap="flat" cmpd="sng" algn="ctr">
              <a:solidFill>
                <a:srgbClr val="000050"/>
              </a:solidFill>
              <a:prstDash val="solid"/>
            </a:ln>
            <a:effectLst/>
          </p:spPr>
          <p:txBody>
            <a:bodyPr lIns="72000" tIns="72000" rIns="72000" bIns="72000" rtlCol="0" anchor="ctr" anchorCtr="0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风险隐患清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rot="10800000">
            <a:off x="5145589" y="2862019"/>
            <a:ext cx="687762" cy="2640155"/>
            <a:chOff x="4855705" y="-4490500"/>
            <a:chExt cx="687762" cy="3320647"/>
          </a:xfrm>
        </p:grpSpPr>
        <p:sp>
          <p:nvSpPr>
            <p:cNvPr id="5" name="Freeform 4"/>
            <p:cNvSpPr/>
            <p:nvPr/>
          </p:nvSpPr>
          <p:spPr>
            <a:xfrm>
              <a:off x="4855705" y="-4490500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" name="Freeform 93"/>
            <p:cNvSpPr/>
            <p:nvPr/>
          </p:nvSpPr>
          <p:spPr>
            <a:xfrm flipV="1">
              <a:off x="4855705" y="-1908492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cxnSp>
          <p:nvCxnSpPr>
            <p:cNvPr id="7" name="Straight Connector 256"/>
            <p:cNvCxnSpPr/>
            <p:nvPr/>
          </p:nvCxnSpPr>
          <p:spPr>
            <a:xfrm>
              <a:off x="5347275" y="-350644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8" name="Straight Connector 257"/>
            <p:cNvCxnSpPr/>
            <p:nvPr/>
          </p:nvCxnSpPr>
          <p:spPr>
            <a:xfrm>
              <a:off x="5347275" y="-324417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9" name="Straight Connector 258"/>
            <p:cNvCxnSpPr/>
            <p:nvPr/>
          </p:nvCxnSpPr>
          <p:spPr>
            <a:xfrm>
              <a:off x="5347275" y="-298190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10" name="Straight Connector 259"/>
            <p:cNvCxnSpPr/>
            <p:nvPr/>
          </p:nvCxnSpPr>
          <p:spPr>
            <a:xfrm>
              <a:off x="5347275" y="-271963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11" name="Straight Connector 260"/>
            <p:cNvCxnSpPr/>
            <p:nvPr/>
          </p:nvCxnSpPr>
          <p:spPr>
            <a:xfrm>
              <a:off x="5347275" y="-245736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12" name="Straight Connector 261"/>
            <p:cNvCxnSpPr/>
            <p:nvPr/>
          </p:nvCxnSpPr>
          <p:spPr>
            <a:xfrm>
              <a:off x="5347275" y="-219509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13" name="Straight Connector 267"/>
            <p:cNvCxnSpPr/>
            <p:nvPr/>
          </p:nvCxnSpPr>
          <p:spPr>
            <a:xfrm>
              <a:off x="5347275" y="-3751861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14" name="Straight Connector 268"/>
            <p:cNvCxnSpPr/>
            <p:nvPr/>
          </p:nvCxnSpPr>
          <p:spPr>
            <a:xfrm>
              <a:off x="5347275" y="-1908490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</p:grpSp>
      <p:cxnSp>
        <p:nvCxnSpPr>
          <p:cNvPr id="17" name="直接箭头连接符 16"/>
          <p:cNvCxnSpPr/>
          <p:nvPr/>
        </p:nvCxnSpPr>
        <p:spPr bwMode="auto">
          <a:xfrm rot="10800000">
            <a:off x="5245587" y="6300631"/>
            <a:ext cx="3712514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5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9" name="Group 153"/>
          <p:cNvGrpSpPr/>
          <p:nvPr/>
        </p:nvGrpSpPr>
        <p:grpSpPr>
          <a:xfrm rot="10800000">
            <a:off x="5147491" y="6146625"/>
            <a:ext cx="3926180" cy="310896"/>
            <a:chOff x="2995839" y="1705841"/>
            <a:chExt cx="5910353" cy="310896"/>
          </a:xfrm>
        </p:grpSpPr>
        <p:cxnSp>
          <p:nvCxnSpPr>
            <p:cNvPr id="20" name="直接连接符 49"/>
            <p:cNvCxnSpPr>
              <a:cxnSpLocks noChangeShapeType="1"/>
            </p:cNvCxnSpPr>
            <p:nvPr/>
          </p:nvCxnSpPr>
          <p:spPr bwMode="auto">
            <a:xfrm>
              <a:off x="8906192" y="1705841"/>
              <a:ext cx="0" cy="310896"/>
            </a:xfrm>
            <a:prstGeom prst="line">
              <a:avLst/>
            </a:prstGeom>
            <a:noFill/>
            <a:ln w="25400" cap="rnd" algn="ctr">
              <a:solidFill>
                <a:srgbClr val="00005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连接符 49"/>
            <p:cNvCxnSpPr>
              <a:cxnSpLocks noChangeShapeType="1"/>
            </p:cNvCxnSpPr>
            <p:nvPr/>
          </p:nvCxnSpPr>
          <p:spPr bwMode="auto">
            <a:xfrm>
              <a:off x="2995839" y="1705841"/>
              <a:ext cx="0" cy="310896"/>
            </a:xfrm>
            <a:prstGeom prst="line">
              <a:avLst/>
            </a:prstGeom>
            <a:noFill/>
            <a:ln w="25400" cap="rnd" algn="ctr">
              <a:solidFill>
                <a:srgbClr val="00005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" name="TextBox 43"/>
          <p:cNvSpPr txBox="1"/>
          <p:nvPr/>
        </p:nvSpPr>
        <p:spPr>
          <a:xfrm>
            <a:off x="6064125" y="6153076"/>
            <a:ext cx="2054732" cy="24622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50"/>
                </a:solidFill>
                <a:effectLst/>
                <a:uLnTx/>
                <a:uFillTx/>
                <a:latin typeface="RB Office"/>
                <a:cs typeface="Segoe UI" panose="020B0502040204020203"/>
              </a:rPr>
              <a:t>复盘迭代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50"/>
              </a:solidFill>
              <a:effectLst/>
              <a:uLnTx/>
              <a:uFillTx/>
              <a:latin typeface="RB Office"/>
              <a:cs typeface="Segoe UI" panose="020B0502040204020203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345289" y="5607828"/>
            <a:ext cx="3712513" cy="450862"/>
            <a:chOff x="3646516" y="-1000746"/>
            <a:chExt cx="5910353" cy="450862"/>
          </a:xfrm>
        </p:grpSpPr>
        <p:sp>
          <p:nvSpPr>
            <p:cNvPr id="27" name="Rectangle 3"/>
            <p:cNvSpPr/>
            <p:nvPr/>
          </p:nvSpPr>
          <p:spPr>
            <a:xfrm>
              <a:off x="3646516" y="-1000746"/>
              <a:ext cx="5910353" cy="450862"/>
            </a:xfrm>
            <a:prstGeom prst="rect">
              <a:avLst/>
            </a:prstGeom>
            <a:pattFill prst="ltUpDiag">
              <a:fgClr>
                <a:srgbClr val="C8C8C8"/>
              </a:fgClr>
              <a:bgClr>
                <a:srgbClr val="FFFFFF"/>
              </a:bgClr>
            </a:pattFill>
            <a:ln w="6350" cap="flat" cmpd="sng" algn="ctr">
              <a:noFill/>
              <a:prstDash val="solid"/>
            </a:ln>
            <a:effectLst/>
          </p:spPr>
          <p:txBody>
            <a:bodyPr wrap="square" lIns="72000" tIns="72000" rIns="72000" bIns="72000" rtlCol="0" anchor="t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lt"/>
              </a:endParaRPr>
            </a:p>
          </p:txBody>
        </p:sp>
        <p:sp>
          <p:nvSpPr>
            <p:cNvPr id="28" name="SplitText_281_a639f767-c8c0-461f-ab31-29054c48f086"/>
            <p:cNvSpPr txBox="1"/>
            <p:nvPr/>
          </p:nvSpPr>
          <p:spPr>
            <a:xfrm>
              <a:off x="4372036" y="-919217"/>
              <a:ext cx="445931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spcBef>
                  <a:spcPts val="400"/>
                </a:spcBef>
                <a:spcAft>
                  <a:spcPct val="0"/>
                </a:spcAft>
                <a:buSzPct val="100000"/>
                <a:buNone/>
              </a:pPr>
              <a:r>
                <a:rPr lang="zh-CN" altLang="en-US" sz="12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RB Office"/>
                  <a:cs typeface="Segoe UI" panose="020B0502040204020203"/>
                  <a:sym typeface="+mn-lt"/>
                </a:rPr>
                <a:t>常态化盘点各各模块业务、数智化平台运转情况，并进行针对性迭代升级</a:t>
              </a:r>
              <a:endParaRPr lang="en-US" sz="1200" b="1" dirty="0">
                <a:solidFill>
                  <a:srgbClr val="000000">
                    <a:lumMod val="50000"/>
                    <a:lumOff val="50000"/>
                  </a:srgbClr>
                </a:solidFill>
                <a:latin typeface="RB Office"/>
                <a:cs typeface="Segoe UI" panose="020B0502040204020203"/>
                <a:sym typeface="+mn-lt"/>
              </a:endParaRPr>
            </a:p>
          </p:txBody>
        </p:sp>
      </p:grp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6554912" y="377475"/>
          <a:ext cx="316444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5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 dirty="0">
                          <a:solidFill>
                            <a:srgbClr val="152A8C"/>
                          </a:solidFill>
                          <a:latin typeface="+mn-ea"/>
                          <a:ea typeface="+mn-ea"/>
                        </a:rPr>
                        <a:t>数智升级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测评实施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结果应用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263">
            <a:extLst>
              <a:ext uri="{FF2B5EF4-FFF2-40B4-BE49-F238E27FC236}">
                <a16:creationId xmlns:a16="http://schemas.microsoft.com/office/drawing/2014/main" id="{FD8F773E-E732-9821-5B2B-9A82F33EFAE5}"/>
              </a:ext>
            </a:extLst>
          </p:cNvPr>
          <p:cNvGrpSpPr/>
          <p:nvPr/>
        </p:nvGrpSpPr>
        <p:grpSpPr>
          <a:xfrm>
            <a:off x="5769318" y="4923880"/>
            <a:ext cx="2700000" cy="504000"/>
            <a:chOff x="4274821" y="3247186"/>
            <a:chExt cx="1330846" cy="2524598"/>
          </a:xfrm>
        </p:grpSpPr>
        <p:sp>
          <p:nvSpPr>
            <p:cNvPr id="16" name="RbLeanShape Left Angle 6">
              <a:extLst>
                <a:ext uri="{FF2B5EF4-FFF2-40B4-BE49-F238E27FC236}">
                  <a16:creationId xmlns:a16="http://schemas.microsoft.com/office/drawing/2014/main" id="{2CE9FB74-4F9E-6A39-BFBF-B28E6090CF66}"/>
                </a:ext>
              </a:extLst>
            </p:cNvPr>
            <p:cNvSpPr/>
            <p:nvPr/>
          </p:nvSpPr>
          <p:spPr>
            <a:xfrm rot="5400000">
              <a:off x="3677947" y="3844064"/>
              <a:ext cx="2524594" cy="1330846"/>
            </a:xfrm>
            <a:prstGeom prst="roundRect">
              <a:avLst>
                <a:gd name="adj" fmla="val 9775"/>
              </a:avLst>
            </a:prstGeom>
            <a:noFill/>
            <a:ln w="22225" cap="flat" cmpd="sng" algn="ctr">
              <a:solidFill>
                <a:srgbClr val="000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FDF98BEE-E4AC-ADC7-66AF-0886D0D95B3B}"/>
                </a:ext>
              </a:extLst>
            </p:cNvPr>
            <p:cNvSpPr/>
            <p:nvPr/>
          </p:nvSpPr>
          <p:spPr>
            <a:xfrm>
              <a:off x="4274821" y="3247186"/>
              <a:ext cx="1330846" cy="2524592"/>
            </a:xfrm>
            <a:prstGeom prst="roundRect">
              <a:avLst>
                <a:gd name="adj" fmla="val 9774"/>
              </a:avLst>
            </a:prstGeom>
            <a:solidFill>
              <a:srgbClr val="FFFFFF">
                <a:alpha val="70000"/>
              </a:srgbClr>
            </a:solidFill>
            <a:ln w="22225" cap="flat" cmpd="sng" algn="ctr">
              <a:solidFill>
                <a:srgbClr val="000050"/>
              </a:solidFill>
              <a:prstDash val="solid"/>
            </a:ln>
            <a:effectLst/>
          </p:spPr>
          <p:txBody>
            <a:bodyPr lIns="72000" tIns="72000" rIns="72000" bIns="72000" rtlCol="0" anchor="ctr" anchorCtr="0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kern="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Segoe UI" panose="020B0502040204020203"/>
                </a:rPr>
                <a:t>管理策略清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2000" y="1388720"/>
            <a:ext cx="5180460" cy="1476834"/>
            <a:chOff x="762000" y="1388720"/>
            <a:chExt cx="5180460" cy="1476834"/>
          </a:xfrm>
        </p:grpSpPr>
        <p:sp>
          <p:nvSpPr>
            <p:cNvPr id="5" name="AutoShape 5"/>
            <p:cNvSpPr/>
            <p:nvPr/>
          </p:nvSpPr>
          <p:spPr>
            <a:xfrm>
              <a:off x="762000" y="1405343"/>
              <a:ext cx="5180460" cy="146021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26A69A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762000" y="1405343"/>
              <a:ext cx="76200" cy="1460211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452385"/>
              <a:ext cx="304800" cy="310492"/>
            </a:xfrm>
            <a:prstGeom prst="rect">
              <a:avLst/>
            </a:prstGeom>
          </p:spPr>
        </p:pic>
        <p:sp>
          <p:nvSpPr>
            <p:cNvPr id="8" name="AutoShape 8"/>
            <p:cNvSpPr/>
            <p:nvPr/>
          </p:nvSpPr>
          <p:spPr>
            <a:xfrm>
              <a:off x="1460500" y="1388720"/>
              <a:ext cx="4191000" cy="43782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笔试考核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9" name="Connector 9"/>
            <p:cNvCxnSpPr/>
            <p:nvPr/>
          </p:nvCxnSpPr>
          <p:spPr>
            <a:xfrm rot="21590582">
              <a:off x="1016009" y="1864647"/>
              <a:ext cx="4635500" cy="15637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37474F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AutoShape 10"/>
            <p:cNvSpPr/>
            <p:nvPr/>
          </p:nvSpPr>
          <p:spPr>
            <a:xfrm>
              <a:off x="1016000" y="1981921"/>
              <a:ext cx="4635500" cy="79862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考试形式：股权小智推送线上考试，系统自动评分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考试题型：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单选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20)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、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多选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(10)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、填空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(10)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、</a:t>
              </a:r>
              <a:r>
                <a:rPr kumimoji="0" lang="en-US" altLang="zh-CN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判断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(10)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考核时间：每年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6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月，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60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分钟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/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人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62000" y="5108360"/>
            <a:ext cx="5222000" cy="1484933"/>
            <a:chOff x="762000" y="4988616"/>
            <a:chExt cx="5222000" cy="1484933"/>
          </a:xfrm>
        </p:grpSpPr>
        <p:sp>
          <p:nvSpPr>
            <p:cNvPr id="17" name="AutoShape 17"/>
            <p:cNvSpPr/>
            <p:nvPr/>
          </p:nvSpPr>
          <p:spPr>
            <a:xfrm>
              <a:off x="762000" y="4988616"/>
              <a:ext cx="5180460" cy="148493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26A69A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62000" y="4988616"/>
              <a:ext cx="76200" cy="1484933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5018382"/>
              <a:ext cx="304800" cy="357186"/>
            </a:xfrm>
            <a:prstGeom prst="rect">
              <a:avLst/>
            </a:prstGeom>
          </p:spPr>
        </p:pic>
        <p:sp>
          <p:nvSpPr>
            <p:cNvPr id="20" name="AutoShape 20"/>
            <p:cNvSpPr/>
            <p:nvPr/>
          </p:nvSpPr>
          <p:spPr>
            <a:xfrm>
              <a:off x="1460500" y="4988617"/>
              <a:ext cx="4191000" cy="41671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日常评价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（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观察项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21" name="Connector 21"/>
            <p:cNvCxnSpPr/>
            <p:nvPr/>
          </p:nvCxnSpPr>
          <p:spPr>
            <a:xfrm rot="21590582">
              <a:off x="1016009" y="5419045"/>
              <a:ext cx="4635500" cy="1488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37474F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AutoShape 22"/>
            <p:cNvSpPr/>
            <p:nvPr/>
          </p:nvSpPr>
          <p:spPr>
            <a:xfrm>
              <a:off x="1016000" y="5524396"/>
              <a:ext cx="4968000" cy="86319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考试形式：总经理、分管领导在专题会议、日常交流等场景提问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考试题型：开放式提问，聚焦六清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考核时间：每年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6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月，由总经理和分管领导根据表现进行评价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273800" y="1212043"/>
            <a:ext cx="5370483" cy="3456972"/>
            <a:chOff x="334436" y="2026763"/>
            <a:chExt cx="6993976" cy="4687150"/>
          </a:xfrm>
        </p:grpSpPr>
        <p:sp>
          <p:nvSpPr>
            <p:cNvPr id="39" name="矩形 38"/>
            <p:cNvSpPr/>
            <p:nvPr/>
          </p:nvSpPr>
          <p:spPr>
            <a:xfrm>
              <a:off x="334436" y="2026763"/>
              <a:ext cx="6993976" cy="384000"/>
            </a:xfrm>
            <a:prstGeom prst="rect">
              <a:avLst/>
            </a:prstGeom>
            <a:solidFill>
              <a:srgbClr val="152A8C"/>
            </a:solidFill>
            <a:ln w="12700" cap="flat" cmpd="sng" algn="ctr">
              <a:noFill/>
              <a:prstDash val="solid"/>
            </a:ln>
          </p:spPr>
          <p:txBody>
            <a:bodyPr rtlCol="0" anchor="ctr" anchorCtr="0"/>
            <a:lstStyle/>
            <a:p>
              <a:pPr marL="0" marR="0" lvl="0" indent="0" algn="ctr" defTabSz="912495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考核维度：聚焦“六清”要求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" name="object 8"/>
            <p:cNvSpPr/>
            <p:nvPr/>
          </p:nvSpPr>
          <p:spPr>
            <a:xfrm>
              <a:off x="334436" y="2501759"/>
              <a:ext cx="6947289" cy="4212154"/>
            </a:xfrm>
            <a:custGeom>
              <a:avLst/>
              <a:gdLst/>
              <a:ahLst/>
              <a:cxnLst/>
              <a:rect l="l" t="t" r="r" b="b"/>
              <a:pathLst>
                <a:path w="2525395" h="3175000">
                  <a:moveTo>
                    <a:pt x="0" y="3174492"/>
                  </a:moveTo>
                  <a:lnTo>
                    <a:pt x="2525267" y="3174492"/>
                  </a:lnTo>
                  <a:lnTo>
                    <a:pt x="2525267" y="0"/>
                  </a:lnTo>
                  <a:lnTo>
                    <a:pt x="0" y="0"/>
                  </a:lnTo>
                  <a:lnTo>
                    <a:pt x="0" y="3174492"/>
                  </a:lnTo>
                  <a:close/>
                </a:path>
              </a:pathLst>
            </a:custGeom>
            <a:ln w="9525">
              <a:solidFill>
                <a:srgbClr val="88939F"/>
              </a:solidFill>
            </a:ln>
          </p:spPr>
          <p:txBody>
            <a:bodyPr wrap="square" lIns="120000" tIns="120000" rIns="0" bIns="0" rtlCol="0"/>
            <a:lstStyle/>
            <a:p>
              <a:pPr marL="228600" marR="0" lvl="0" indent="-228600" algn="l" defTabSz="1623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6365044" y="3181053"/>
            <a:ext cx="961549" cy="396000"/>
          </a:xfrm>
          <a:prstGeom prst="rect">
            <a:avLst/>
          </a:prstGeom>
          <a:solidFill>
            <a:srgbClr val="2796D4"/>
          </a:solidFill>
          <a:ln w="952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风险隐患</a:t>
            </a: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7436261" y="3181053"/>
            <a:ext cx="4032000" cy="396000"/>
          </a:xfrm>
          <a:prstGeom prst="rect">
            <a:avLst/>
          </a:prstGeom>
          <a:noFill/>
          <a:ln w="317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107950" marR="0" lvl="0" indent="0" algn="l" defTabSz="6858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全面排查经营短板、历史遗留问题及潜在风险点，制定闭环处置举措，筑牢风险防控底线。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6365044" y="1627851"/>
            <a:ext cx="961549" cy="396000"/>
          </a:xfrm>
          <a:prstGeom prst="rect">
            <a:avLst/>
          </a:prstGeom>
          <a:solidFill>
            <a:srgbClr val="2796D4"/>
          </a:solidFill>
          <a:ln w="952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基础底数</a:t>
            </a:r>
          </a:p>
        </p:txBody>
      </p:sp>
      <p:sp>
        <p:nvSpPr>
          <p:cNvPr id="49" name="矩形 4"/>
          <p:cNvSpPr>
            <a:spLocks noChangeArrowheads="1"/>
          </p:cNvSpPr>
          <p:nvPr/>
        </p:nvSpPr>
        <p:spPr bwMode="auto">
          <a:xfrm>
            <a:off x="7436261" y="1627851"/>
            <a:ext cx="4032000" cy="396000"/>
          </a:xfrm>
          <a:prstGeom prst="rect">
            <a:avLst/>
          </a:prstGeom>
          <a:noFill/>
          <a:ln w="317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107950" marR="0" lvl="0" indent="0" algn="l" defTabSz="6858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全面掌握参股企业股权结构、组织架构、人员配置及主体资质等基础信息，确保底数详实无遗漏。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5" name="矩形 4"/>
          <p:cNvSpPr>
            <a:spLocks noChangeArrowheads="1"/>
          </p:cNvSpPr>
          <p:nvPr/>
        </p:nvSpPr>
        <p:spPr bwMode="auto">
          <a:xfrm>
            <a:off x="6365044" y="2663319"/>
            <a:ext cx="961549" cy="396000"/>
          </a:xfrm>
          <a:prstGeom prst="rect">
            <a:avLst/>
          </a:prstGeom>
          <a:solidFill>
            <a:srgbClr val="2796D4"/>
          </a:solidFill>
          <a:ln w="952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治理行权</a:t>
            </a:r>
          </a:p>
        </p:txBody>
      </p:sp>
      <p:sp>
        <p:nvSpPr>
          <p:cNvPr id="51" name="矩形 4"/>
          <p:cNvSpPr>
            <a:spLocks noChangeArrowheads="1"/>
          </p:cNvSpPr>
          <p:nvPr/>
        </p:nvSpPr>
        <p:spPr bwMode="auto">
          <a:xfrm>
            <a:off x="7436261" y="2663319"/>
            <a:ext cx="4032000" cy="396000"/>
          </a:xfrm>
          <a:prstGeom prst="rect">
            <a:avLst/>
          </a:prstGeom>
          <a:noFill/>
          <a:ln w="317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107950" marR="0" lvl="0" indent="0" algn="l" defTabSz="6858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严格明晰三会运作、董监高履职规范、公司章程及内控规则，确保治理合规与行权有序。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365044" y="2145585"/>
            <a:ext cx="961549" cy="396000"/>
          </a:xfrm>
          <a:prstGeom prst="rect">
            <a:avLst/>
          </a:prstGeom>
          <a:solidFill>
            <a:srgbClr val="2796D4"/>
          </a:solidFill>
          <a:ln w="952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财务状况</a:t>
            </a:r>
          </a:p>
        </p:txBody>
      </p:sp>
      <p:sp>
        <p:nvSpPr>
          <p:cNvPr id="52" name="矩形 4"/>
          <p:cNvSpPr>
            <a:spLocks noChangeArrowheads="1"/>
          </p:cNvSpPr>
          <p:nvPr/>
        </p:nvSpPr>
        <p:spPr bwMode="auto">
          <a:xfrm>
            <a:off x="7436261" y="2145585"/>
            <a:ext cx="4032000" cy="396000"/>
          </a:xfrm>
          <a:prstGeom prst="rect">
            <a:avLst/>
          </a:prstGeom>
          <a:noFill/>
          <a:ln w="317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107950" marR="0" lvl="0" indent="0" algn="l" defTabSz="6858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精准掌握经营指标、年度预算、收益分红及行业对标数据，动态跟踪财务健康与价值创造能力。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3" name="矩形 4"/>
          <p:cNvSpPr>
            <a:spLocks noChangeArrowheads="1"/>
          </p:cNvSpPr>
          <p:nvPr/>
        </p:nvSpPr>
        <p:spPr bwMode="auto">
          <a:xfrm>
            <a:off x="6365044" y="3698787"/>
            <a:ext cx="961549" cy="396000"/>
          </a:xfrm>
          <a:prstGeom prst="rect">
            <a:avLst/>
          </a:prstGeom>
          <a:solidFill>
            <a:srgbClr val="2796D4"/>
          </a:solidFill>
          <a:ln w="952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产业协同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4" name="矩形 4"/>
          <p:cNvSpPr>
            <a:spLocks noChangeArrowheads="1"/>
          </p:cNvSpPr>
          <p:nvPr/>
        </p:nvSpPr>
        <p:spPr bwMode="auto">
          <a:xfrm>
            <a:off x="7436261" y="3698787"/>
            <a:ext cx="4032000" cy="396000"/>
          </a:xfrm>
          <a:prstGeom prst="rect">
            <a:avLst/>
          </a:prstGeom>
          <a:noFill/>
          <a:ln w="317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107950" marR="0" lvl="0" indent="0" algn="l" defTabSz="6858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深度把控产业联动、资源整合、技术赋能及降本提效等事项，推动战略意图精准落地与协同发展。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3188" y="6149566"/>
            <a:ext cx="362345" cy="355600"/>
          </a:xfrm>
          <a:prstGeom prst="rect">
            <a:avLst/>
          </a:prstGeom>
        </p:spPr>
      </p:pic>
      <p:sp>
        <p:nvSpPr>
          <p:cNvPr id="75" name="AutoShape 25"/>
          <p:cNvSpPr/>
          <p:nvPr/>
        </p:nvSpPr>
        <p:spPr>
          <a:xfrm>
            <a:off x="6872175" y="6003704"/>
            <a:ext cx="4399912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科室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通关标准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得分≥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80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分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6" name="Connector 26"/>
          <p:cNvCxnSpPr/>
          <p:nvPr/>
        </p:nvCxnSpPr>
        <p:spPr>
          <a:xfrm>
            <a:off x="6872175" y="5979531"/>
            <a:ext cx="473625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A69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AutoShape 27"/>
          <p:cNvSpPr/>
          <p:nvPr/>
        </p:nvSpPr>
        <p:spPr>
          <a:xfrm>
            <a:off x="6872175" y="6384579"/>
            <a:ext cx="4410752" cy="3636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科室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得分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= 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员工得分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员工人数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62000" y="3109695"/>
            <a:ext cx="5190262" cy="1754524"/>
            <a:chOff x="762000" y="3137396"/>
            <a:chExt cx="5190262" cy="1557894"/>
          </a:xfrm>
        </p:grpSpPr>
        <p:sp>
          <p:nvSpPr>
            <p:cNvPr id="59" name="AutoShape 17"/>
            <p:cNvSpPr/>
            <p:nvPr/>
          </p:nvSpPr>
          <p:spPr>
            <a:xfrm>
              <a:off x="762000" y="3137396"/>
              <a:ext cx="5190262" cy="155789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26A69A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AutoShape 18"/>
            <p:cNvSpPr/>
            <p:nvPr/>
          </p:nvSpPr>
          <p:spPr>
            <a:xfrm>
              <a:off x="762000" y="3137396"/>
              <a:ext cx="76200" cy="1557894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AutoShape 20"/>
            <p:cNvSpPr/>
            <p:nvPr/>
          </p:nvSpPr>
          <p:spPr>
            <a:xfrm>
              <a:off x="1460500" y="3137397"/>
              <a:ext cx="4191000" cy="44012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专家测评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63" name="Connector 21"/>
            <p:cNvCxnSpPr/>
            <p:nvPr/>
          </p:nvCxnSpPr>
          <p:spPr>
            <a:xfrm rot="21590582">
              <a:off x="1016009" y="3592006"/>
              <a:ext cx="4635500" cy="15719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37474F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" name="AutoShape 22"/>
            <p:cNvSpPr/>
            <p:nvPr/>
          </p:nvSpPr>
          <p:spPr>
            <a:xfrm>
              <a:off x="1016000" y="3703276"/>
              <a:ext cx="4850260" cy="91169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考试形式：线下面试，评委由分管领导（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30%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）、股权运营部总监（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20%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）、综合管理部总监（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20%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）、人力资源室经理（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10%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）、股权运营部科室经理（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10%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，本科室）担任，通过后不再复评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考试题型：客观题（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60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）、主观题（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40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考核时间：每年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6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月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/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按需，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30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分钟</a:t>
              </a: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/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人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79" name="Picture 35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61162" y="3193536"/>
              <a:ext cx="355600" cy="440128"/>
            </a:xfrm>
            <a:prstGeom prst="rect">
              <a:avLst/>
            </a:prstGeom>
          </p:spPr>
        </p:pic>
      </p:grpSp>
      <p:pic>
        <p:nvPicPr>
          <p:cNvPr id="80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30625" y="4692644"/>
            <a:ext cx="355600" cy="355600"/>
          </a:xfrm>
          <a:prstGeom prst="rect">
            <a:avLst/>
          </a:prstGeom>
        </p:spPr>
      </p:pic>
      <p:sp>
        <p:nvSpPr>
          <p:cNvPr id="81" name="AutoShape 25"/>
          <p:cNvSpPr/>
          <p:nvPr/>
        </p:nvSpPr>
        <p:spPr>
          <a:xfrm>
            <a:off x="6872175" y="4704198"/>
            <a:ext cx="3593682" cy="12389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员工通关标准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Noto Sans SC" panose="020B0200000000000000" charset="-122"/>
              </a:rPr>
              <a:t>首次通关：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Noto Sans SC" panose="020B02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Noto Sans SC" panose="020B0200000000000000" charset="-122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Noto Sans SC" panose="020B0200000000000000" charset="-122"/>
              </a:rPr>
              <a:t>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完成历史档案梳理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、完成数据治理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、通过“一口清“考核（笔试、专家测评均≥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80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分）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标题 6">
            <a:hlinkClick r:id="" action="ppaction://noaction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二、“一口清”工作迭代方案</a:t>
            </a:r>
          </a:p>
        </p:txBody>
      </p:sp>
      <p:sp>
        <p:nvSpPr>
          <p:cNvPr id="24" name="TextBox 3"/>
          <p:cNvSpPr txBox="1"/>
          <p:nvPr>
            <p:custDataLst>
              <p:tags r:id="rId1"/>
            </p:custDataLst>
          </p:nvPr>
        </p:nvSpPr>
        <p:spPr>
          <a:xfrm>
            <a:off x="462280" y="931013"/>
            <a:ext cx="295244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考核方案与通关标准</a:t>
            </a:r>
          </a:p>
        </p:txBody>
      </p:sp>
      <p:sp>
        <p:nvSpPr>
          <p:cNvPr id="28" name="AutoShape 25"/>
          <p:cNvSpPr/>
          <p:nvPr/>
        </p:nvSpPr>
        <p:spPr>
          <a:xfrm>
            <a:off x="10395159" y="4635042"/>
            <a:ext cx="1714878" cy="12389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Noto Sans SC" panose="020B0200000000000000" charset="-122"/>
              </a:rPr>
              <a:t>保级标准：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Noto Sans SC" panose="020B02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、笔试≥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80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/>
                <a:ea typeface="微软雅黑"/>
                <a:cs typeface="Noto Sans SC" panose="020B0200000000000000" charset="-122"/>
                <a:sym typeface="Noto Sans SC" panose="020B0200000000000000" charset="-122"/>
              </a:rPr>
              <a:t>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554912" y="377475"/>
          <a:ext cx="316444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5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</a:rPr>
                        <a:t>数智升级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152A8C"/>
                          </a:solidFill>
                          <a:latin typeface="+mn-ea"/>
                        </a:rPr>
                        <a:t>测评实施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结果应用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矩形 4">
            <a:extLst>
              <a:ext uri="{FF2B5EF4-FFF2-40B4-BE49-F238E27FC236}">
                <a16:creationId xmlns:a16="http://schemas.microsoft.com/office/drawing/2014/main" id="{5E0B7654-5DDC-A5EB-E125-040519715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044" y="4216521"/>
            <a:ext cx="961549" cy="396000"/>
          </a:xfrm>
          <a:prstGeom prst="rect">
            <a:avLst/>
          </a:prstGeom>
          <a:solidFill>
            <a:srgbClr val="2796D4"/>
          </a:solidFill>
          <a:ln w="952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lang="zh-CN" altLang="en-US" sz="1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管理策略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2" name="矩形 4">
            <a:extLst>
              <a:ext uri="{FF2B5EF4-FFF2-40B4-BE49-F238E27FC236}">
                <a16:creationId xmlns:a16="http://schemas.microsoft.com/office/drawing/2014/main" id="{ED4ECACC-2762-E414-5113-5D7D9B4A7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261" y="4216521"/>
            <a:ext cx="4032000" cy="396000"/>
          </a:xfrm>
          <a:prstGeom prst="rect">
            <a:avLst/>
          </a:prstGeom>
          <a:noFill/>
          <a:ln w="3175">
            <a:solidFill>
              <a:srgbClr val="2796D4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107950" marR="0" lvl="0" indent="0" algn="l" defTabSz="6858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3399"/>
              </a:buClr>
              <a:buSzPct val="70000"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按战略定位、战略执行、战略成果全面排查参股企业经营情况，针对性制定管理策略。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>
            <p:custDataLst>
              <p:tags r:id="rId1"/>
            </p:custDataLst>
          </p:nvPr>
        </p:nvSpPr>
        <p:spPr>
          <a:xfrm>
            <a:off x="462279" y="930328"/>
            <a:ext cx="557022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结果</a:t>
            </a:r>
            <a:r>
              <a:rPr lang="zh-CN" altLang="en-US" sz="1600" kern="0" dirty="0">
                <a:solidFill>
                  <a:srgbClr val="152A8C"/>
                </a:solidFill>
              </a:rPr>
              <a:t>应用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：“四衔接”闭环管理，激发活力</a:t>
            </a:r>
          </a:p>
        </p:txBody>
      </p:sp>
      <p:sp>
        <p:nvSpPr>
          <p:cNvPr id="32" name="标题 6">
            <a:hlinkClick r:id="" action="ppaction://noaction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二、“一口清”工作迭代方案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6554912" y="377475"/>
          <a:ext cx="316444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5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数智升级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测评实施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152A8C"/>
                          </a:solidFill>
                          <a:latin typeface="+mn-ea"/>
                          <a:ea typeface="+mn-ea"/>
                          <a:cs typeface="+mn-cs"/>
                        </a:rPr>
                        <a:t>结果应用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6A69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AutoShape 5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152A8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79500" y="2095500"/>
            <a:ext cx="406400" cy="406400"/>
          </a:xfrm>
          <a:prstGeom prst="rect">
            <a:avLst/>
          </a:prstGeom>
        </p:spPr>
      </p:pic>
      <p:sp>
        <p:nvSpPr>
          <p:cNvPr id="38" name="AutoShape 7"/>
          <p:cNvSpPr/>
          <p:nvPr>
            <p:custDataLst>
              <p:tags r:id="rId5"/>
            </p:custDataLst>
          </p:nvPr>
        </p:nvSpPr>
        <p:spPr>
          <a:xfrm>
            <a:off x="1651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与勋章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体系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衔接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（选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准入筛选）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9" name="Connector 8"/>
          <p:cNvCxnSpPr/>
          <p:nvPr>
            <p:custDataLst>
              <p:tags r:id="rId6"/>
            </p:custDataLst>
          </p:nvPr>
        </p:nvCxnSpPr>
        <p:spPr>
          <a:xfrm rot="21590709">
            <a:off x="10795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A69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9"/>
          <p:cNvSpPr/>
          <p:nvPr>
            <p:custDataLst>
              <p:tags r:id="rId7"/>
            </p:custDataLst>
          </p:nvPr>
        </p:nvSpPr>
        <p:spPr>
          <a:xfrm>
            <a:off x="1079500" y="2794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勋章体系：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目前已纳入，与能力评价挂钩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55A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Noto Sans SC" panose="020B02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455A64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一票否决：</a:t>
            </a:r>
            <a:r>
              <a:rPr lang="zh-CN" altLang="en-US" sz="1400" dirty="0">
                <a:solidFill>
                  <a:srgbClr val="455A64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强化“一口清”为否决项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Noto Sans SC" panose="020B0200000000000000" charset="-122"/>
              </a:rPr>
              <a:t>，未通关无法开展转正、绩效评优、职级晋升、能力评级等后续流程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762000" y="4191000"/>
            <a:ext cx="5270500" cy="1841500"/>
            <a:chOff x="778375" y="4191000"/>
            <a:chExt cx="5270500" cy="1841500"/>
          </a:xfrm>
        </p:grpSpPr>
        <p:sp>
          <p:nvSpPr>
            <p:cNvPr id="42" name="AutoShape 10"/>
            <p:cNvSpPr/>
            <p:nvPr>
              <p:custDataLst>
                <p:tags r:id="rId22"/>
              </p:custDataLst>
            </p:nvPr>
          </p:nvSpPr>
          <p:spPr>
            <a:xfrm>
              <a:off x="778375" y="4191000"/>
              <a:ext cx="5270500" cy="1841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26A69A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AutoShape 11"/>
            <p:cNvSpPr/>
            <p:nvPr>
              <p:custDataLst>
                <p:tags r:id="rId23"/>
              </p:custDataLst>
            </p:nvPr>
          </p:nvSpPr>
          <p:spPr>
            <a:xfrm>
              <a:off x="778375" y="4191000"/>
              <a:ext cx="76200" cy="1841500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4" name="Picture 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95875" y="4381500"/>
              <a:ext cx="406400" cy="406400"/>
            </a:xfrm>
            <a:prstGeom prst="rect">
              <a:avLst/>
            </a:prstGeom>
          </p:spPr>
        </p:pic>
        <p:sp>
          <p:nvSpPr>
            <p:cNvPr id="45" name="AutoShape 13"/>
            <p:cNvSpPr/>
            <p:nvPr>
              <p:custDataLst>
                <p:tags r:id="rId25"/>
              </p:custDataLst>
            </p:nvPr>
          </p:nvSpPr>
          <p:spPr>
            <a:xfrm>
              <a:off x="1667375" y="4343400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与能力</a:t>
              </a:r>
              <a:r>
                <a:rPr kumimoji="0" lang="zh-CN" alt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评价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衔接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（育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-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人才发展）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46" name="Connector 14"/>
            <p:cNvCxnSpPr/>
            <p:nvPr>
              <p:custDataLst>
                <p:tags r:id="rId26"/>
              </p:custDataLst>
            </p:nvPr>
          </p:nvCxnSpPr>
          <p:spPr>
            <a:xfrm rot="-9291">
              <a:off x="1095884" y="4821521"/>
              <a:ext cx="4699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6A69A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AutoShape 15"/>
            <p:cNvSpPr/>
            <p:nvPr>
              <p:custDataLst>
                <p:tags r:id="rId27"/>
              </p:custDataLst>
            </p:nvPr>
          </p:nvSpPr>
          <p:spPr>
            <a:xfrm>
              <a:off x="1095875" y="4868247"/>
              <a:ext cx="4762500" cy="105837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职级晋升：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“一口清“通关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结果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作为晋升基本条件，未通关不能晋升，高分通关人员（前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10%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）优先晋升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能力评价：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一口清考核未通关，由直属领导进行提醒谈话，高分通关人员（前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10%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）优先晋升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8"/>
            </p:custDataLst>
          </p:nvPr>
        </p:nvGrpSpPr>
        <p:grpSpPr>
          <a:xfrm>
            <a:off x="6197600" y="1905000"/>
            <a:ext cx="5270500" cy="1841500"/>
            <a:chOff x="762000" y="4191000"/>
            <a:chExt cx="5270500" cy="1841500"/>
          </a:xfrm>
        </p:grpSpPr>
        <p:sp>
          <p:nvSpPr>
            <p:cNvPr id="49" name="AutoShape 16"/>
            <p:cNvSpPr/>
            <p:nvPr>
              <p:custDataLst>
                <p:tags r:id="rId16"/>
              </p:custDataLst>
            </p:nvPr>
          </p:nvSpPr>
          <p:spPr>
            <a:xfrm>
              <a:off x="762000" y="4191000"/>
              <a:ext cx="5270500" cy="1841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26A69A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0" name="AutoShape 17"/>
            <p:cNvSpPr/>
            <p:nvPr>
              <p:custDataLst>
                <p:tags r:id="rId17"/>
              </p:custDataLst>
            </p:nvPr>
          </p:nvSpPr>
          <p:spPr>
            <a:xfrm>
              <a:off x="762000" y="4191000"/>
              <a:ext cx="76200" cy="1841500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51" name="Picture 1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79500" y="4381500"/>
              <a:ext cx="406400" cy="406400"/>
            </a:xfrm>
            <a:prstGeom prst="rect">
              <a:avLst/>
            </a:prstGeom>
          </p:spPr>
        </p:pic>
        <p:sp>
          <p:nvSpPr>
            <p:cNvPr id="52" name="AutoShape 19"/>
            <p:cNvSpPr/>
            <p:nvPr>
              <p:custDataLst>
                <p:tags r:id="rId19"/>
              </p:custDataLst>
            </p:nvPr>
          </p:nvSpPr>
          <p:spPr>
            <a:xfrm>
              <a:off x="1651000" y="4343400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与激励约束衔接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（用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-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在岗履职）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53" name="Connector 20"/>
            <p:cNvCxnSpPr/>
            <p:nvPr>
              <p:custDataLst>
                <p:tags r:id="rId20"/>
              </p:custDataLst>
            </p:nvPr>
          </p:nvCxnSpPr>
          <p:spPr>
            <a:xfrm rot="-9291">
              <a:off x="1079509" y="4946650"/>
              <a:ext cx="4699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6A69A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21"/>
            <p:cNvSpPr/>
            <p:nvPr>
              <p:custDataLst>
                <p:tags r:id="rId21"/>
              </p:custDataLst>
            </p:nvPr>
          </p:nvSpPr>
          <p:spPr>
            <a:xfrm>
              <a:off x="1079500" y="4940300"/>
              <a:ext cx="4952365" cy="965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转正评价：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转正基本条件，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一口清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未通关延期转正或退出</a:t>
              </a:r>
            </a:p>
            <a:p>
              <a:pPr marL="0" marR="0" lvl="0" indent="0" defTabSz="914400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激励约束：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高分通关人员（前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10%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），绩效评价</a:t>
              </a:r>
              <a:r>
                <a:rPr lang="zh-CN" altLang="en-US" sz="1400" dirty="0">
                  <a:solidFill>
                    <a:srgbClr val="455A6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进行适当倾斜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，未通关人员，绩效评价不得高于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C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9"/>
            </p:custDataLst>
          </p:nvPr>
        </p:nvGrpSpPr>
        <p:grpSpPr>
          <a:xfrm>
            <a:off x="6197600" y="4191000"/>
            <a:ext cx="5270500" cy="1841500"/>
            <a:chOff x="6197600" y="1905000"/>
            <a:chExt cx="5270500" cy="1841500"/>
          </a:xfrm>
        </p:grpSpPr>
        <p:sp>
          <p:nvSpPr>
            <p:cNvPr id="56" name="AutoShape 22"/>
            <p:cNvSpPr/>
            <p:nvPr>
              <p:custDataLst>
                <p:tags r:id="rId10"/>
              </p:custDataLst>
            </p:nvPr>
          </p:nvSpPr>
          <p:spPr>
            <a:xfrm>
              <a:off x="6197600" y="1905000"/>
              <a:ext cx="5270500" cy="1841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26A69A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AutoShape 23"/>
            <p:cNvSpPr/>
            <p:nvPr>
              <p:custDataLst>
                <p:tags r:id="rId11"/>
              </p:custDataLst>
            </p:nvPr>
          </p:nvSpPr>
          <p:spPr>
            <a:xfrm>
              <a:off x="6197600" y="1905000"/>
              <a:ext cx="76200" cy="1841500"/>
            </a:xfrm>
            <a:prstGeom prst="roundRect">
              <a:avLst>
                <a:gd name="adj" fmla="val 0"/>
              </a:avLst>
            </a:prstGeom>
            <a:solidFill>
              <a:srgbClr val="152A8C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58" name="Picture 2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515100" y="2095500"/>
              <a:ext cx="406400" cy="406400"/>
            </a:xfrm>
            <a:prstGeom prst="rect">
              <a:avLst/>
            </a:prstGeom>
          </p:spPr>
        </p:pic>
        <p:sp>
          <p:nvSpPr>
            <p:cNvPr id="59" name="AutoShape 25"/>
            <p:cNvSpPr/>
            <p:nvPr>
              <p:custDataLst>
                <p:tags r:id="rId13"/>
              </p:custDataLst>
            </p:nvPr>
          </p:nvSpPr>
          <p:spPr>
            <a:xfrm>
              <a:off x="7086600" y="2057400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与文化</a:t>
              </a:r>
              <a:r>
                <a:rPr kumimoji="0" lang="zh-CN" alt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落地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衔接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（留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-</a:t>
              </a:r>
              <a:r>
                <a:rPr lang="zh-CN" altLang="en-US" b="1" dirty="0">
                  <a:solidFill>
                    <a:srgbClr val="37474F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价值培养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4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）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60" name="Connector 26"/>
            <p:cNvCxnSpPr/>
            <p:nvPr>
              <p:custDataLst>
                <p:tags r:id="rId14"/>
              </p:custDataLst>
            </p:nvPr>
          </p:nvCxnSpPr>
          <p:spPr>
            <a:xfrm rot="-9291">
              <a:off x="6515109" y="2660650"/>
              <a:ext cx="4699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6A69A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AutoShape 27"/>
            <p:cNvSpPr/>
            <p:nvPr>
              <p:custDataLst>
                <p:tags r:id="rId15"/>
              </p:custDataLst>
            </p:nvPr>
          </p:nvSpPr>
          <p:spPr>
            <a:xfrm>
              <a:off x="6515100" y="2794000"/>
              <a:ext cx="4762500" cy="825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培养员工在业务对接、对外汇报、问题处置中，自觉践行 “一口清” 标准，依托学习分享、经验交流、思享汇等活动，</a:t>
              </a:r>
              <a:r>
                <a:rPr lang="zh-CN" altLang="en-US" sz="1400" dirty="0">
                  <a:solidFill>
                    <a:srgbClr val="455A6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打造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主动学业务、精研业务、</a:t>
              </a:r>
              <a:r>
                <a:rPr lang="zh-CN" altLang="en-US" sz="1400" dirty="0">
                  <a:solidFill>
                    <a:srgbClr val="455A6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价值导向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55A64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的团队</a:t>
              </a:r>
              <a:r>
                <a:rPr lang="zh-CN" altLang="en-US" sz="1400" dirty="0">
                  <a:solidFill>
                    <a:srgbClr val="455A6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文化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A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9580" y="306705"/>
            <a:ext cx="10367010" cy="509905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目录</a:t>
            </a:r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2449195" y="1999205"/>
            <a:ext cx="6556375" cy="758190"/>
            <a:chOff x="3857" y="3179"/>
            <a:chExt cx="10325" cy="1194"/>
          </a:xfrm>
        </p:grpSpPr>
        <p:sp>
          <p:nvSpPr>
            <p:cNvPr id="13" name="矩形 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226" y="3179"/>
              <a:ext cx="8957" cy="1194"/>
            </a:xfrm>
            <a:prstGeom prst="rect">
              <a:avLst/>
            </a:prstGeom>
            <a:noFill/>
            <a:ln w="19050">
              <a:solidFill>
                <a:srgbClr val="A6A6A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>
                      <a:lumMod val="95000"/>
                    </a:schemeClr>
                  </a:solidFill>
                </a14:hiddenFill>
              </a:ext>
            </a:extLst>
          </p:spPr>
          <p:txBody>
            <a:bodyPr anchor="ctr">
              <a:noAutofit/>
            </a:bodyPr>
            <a:lstStyle/>
            <a:p>
              <a:pPr lvl="0" eaLnBrk="0" fontAlgn="base" hangingPunct="0">
                <a:defRPr/>
              </a:pPr>
              <a:r>
                <a:rPr lang="zh-CN" altLang="en-US" sz="2200" b="1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“一口清”工作开展情况</a:t>
              </a:r>
            </a:p>
          </p:txBody>
        </p:sp>
        <p:sp>
          <p:nvSpPr>
            <p:cNvPr id="14" name="矩形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57" y="3179"/>
              <a:ext cx="1213" cy="1194"/>
            </a:xfrm>
            <a:prstGeom prst="rect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2449195" y="3443258"/>
            <a:ext cx="6556375" cy="758825"/>
            <a:chOff x="3857" y="5106"/>
            <a:chExt cx="10325" cy="1195"/>
          </a:xfrm>
        </p:grpSpPr>
        <p:sp>
          <p:nvSpPr>
            <p:cNvPr id="15" name="矩形 4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57" y="5106"/>
              <a:ext cx="1213" cy="1194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二</a:t>
              </a:r>
            </a:p>
          </p:txBody>
        </p:sp>
        <p:sp>
          <p:nvSpPr>
            <p:cNvPr id="2" name="矩形 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26" y="5107"/>
              <a:ext cx="8957" cy="1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A6A6A6"/>
              </a:solidFill>
              <a:miter lim="800000"/>
            </a:ln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“一口清”工作迭代方案</a:t>
              </a:r>
            </a:p>
          </p:txBody>
        </p:sp>
      </p:grp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2449830" y="4887945"/>
            <a:ext cx="6556375" cy="758825"/>
            <a:chOff x="3857" y="7634"/>
            <a:chExt cx="10325" cy="1195"/>
          </a:xfrm>
        </p:grpSpPr>
        <p:sp>
          <p:nvSpPr>
            <p:cNvPr id="3" name="矩形 4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857" y="7634"/>
              <a:ext cx="1213" cy="1194"/>
            </a:xfrm>
            <a:prstGeom prst="rect">
              <a:avLst/>
            </a:prstGeom>
            <a:solidFill>
              <a:srgbClr val="152A8C"/>
            </a:solidFill>
            <a:ln>
              <a:noFill/>
            </a:ln>
          </p:spPr>
          <p:txBody>
            <a:bodyPr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三</a:t>
              </a:r>
            </a:p>
          </p:txBody>
        </p:sp>
        <p:sp>
          <p:nvSpPr>
            <p:cNvPr id="4" name="矩形 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26" y="7635"/>
              <a:ext cx="8957" cy="1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52A8C"/>
              </a:solidFill>
              <a:miter lim="800000"/>
            </a:ln>
          </p:spPr>
          <p:txBody>
            <a:bodyPr anchor="ctr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下一步工作计划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6">
            <a:hlinkClick r:id="rId5" action="ppaction://hlinksldjump"/>
          </p:cNvPr>
          <p:cNvSpPr>
            <a:spLocks noGrp="1"/>
          </p:cNvSpPr>
          <p:nvPr/>
        </p:nvSpPr>
        <p:spPr>
          <a:xfrm>
            <a:off x="462280" y="255335"/>
            <a:ext cx="6181414" cy="576000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三、下一步工作计划</a:t>
            </a:r>
          </a:p>
        </p:txBody>
      </p:sp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462280" y="930328"/>
            <a:ext cx="295244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14630" marR="0" lvl="0" indent="-2146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cs typeface="+mn-cs"/>
              </a:rPr>
              <a:t>下一步工作计划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58984" y="2133345"/>
          <a:ext cx="11221101" cy="4392000"/>
        </p:xfrm>
        <a:graphic>
          <a:graphicData uri="http://schemas.openxmlformats.org/drawingml/2006/table">
            <a:tbl>
              <a:tblPr/>
              <a:tblGrid>
                <a:gridCol w="96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3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47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marL="0" algn="ctr" defTabSz="913130" rtl="0" eaLnBrk="1" fontAlgn="ctr" latinLnBrk="0" hangingPunct="1"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工作内容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负责科室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具体内容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2027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数智升级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历史档案</a:t>
                      </a:r>
                      <a:endParaRPr lang="en-US" altLang="zh-CN" sz="1000" b="1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梳理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一室</a:t>
                      </a:r>
                      <a:r>
                        <a:rPr lang="en-US" altLang="zh-CN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各科室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组织对企业全生命周期的数据进行结构化归类和检视，提高数据准确性与规范性，激活数据价值。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数据治理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各科室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组织对企业全生命周期的数据进行结构化归类和检视，提高数据准确性与规范性，激活数据价值。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 融通集成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打通线上一口清与现有云工作台业务板块，实现数据互通、业务联动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上线运行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系统正式上线运行，落地线上查询、动态更新、在线考核等智能化功能，实现全流程线上运转。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迭代升级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正式运营“一口清”数智化平台，并根据运营情况，反向推动各模块业务数智化平台优化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测评实施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考核方案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二室</a:t>
                      </a:r>
                      <a:r>
                        <a:rPr lang="en-US" altLang="zh-CN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综合部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完成考核方案、通关标准、考核应用的详细规则制定并正式发布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考核实施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各科室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按考核规则实施进阶考核并完成评分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星形: 五角 6"/>
          <p:cNvSpPr/>
          <p:nvPr/>
        </p:nvSpPr>
        <p:spPr bwMode="auto">
          <a:xfrm>
            <a:off x="9083040" y="4314178"/>
            <a:ext cx="190499" cy="195272"/>
          </a:xfrm>
          <a:prstGeom prst="star5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9" name="TextBox 3"/>
          <p:cNvSpPr txBox="1"/>
          <p:nvPr>
            <p:custDataLst>
              <p:tags r:id="rId2"/>
            </p:custDataLst>
          </p:nvPr>
        </p:nvSpPr>
        <p:spPr>
          <a:xfrm>
            <a:off x="458984" y="1267787"/>
            <a:ext cx="11221100" cy="688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14630" indent="-214630">
              <a:lnSpc>
                <a:spcPct val="200000"/>
              </a:lnSpc>
              <a:buFont typeface="Wingdings" panose="05000000000000000000" pitchFamily="2" charset="2"/>
              <a:buChar char="Ø"/>
              <a:defRPr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just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数智化升级方面，计划在</a:t>
            </a:r>
            <a:r>
              <a:rPr lang="en-US" altLang="zh-CN" b="0" kern="0" dirty="0">
                <a:solidFill>
                  <a:srgbClr val="152A8C"/>
                </a:solidFill>
              </a:rPr>
              <a:t>9</a:t>
            </a:r>
            <a:r>
              <a:rPr lang="zh-CN" altLang="en-US" b="0" kern="0" dirty="0">
                <a:solidFill>
                  <a:srgbClr val="152A8C"/>
                </a:solidFill>
              </a:rPr>
              <a:t>月底实现“一口清”上线运营，并并根据运营情况，反向推动各模块业务数智化平台优化</a:t>
            </a:r>
            <a:endParaRPr lang="en-US" altLang="zh-CN" b="0" kern="0" dirty="0">
              <a:solidFill>
                <a:srgbClr val="152A8C"/>
              </a:solidFill>
            </a:endParaRPr>
          </a:p>
          <a:p>
            <a:pPr lvl="0" algn="just" fontAlgn="base">
              <a:lnSpc>
                <a:spcPct val="130000"/>
              </a:lnSpc>
              <a:spcBef>
                <a:spcPts val="300"/>
              </a:spcBef>
              <a:spcAft>
                <a:spcPct val="0"/>
              </a:spcAft>
              <a:defRPr/>
            </a:pPr>
            <a:r>
              <a:rPr lang="zh-CN" altLang="en-US" b="0" kern="0" dirty="0">
                <a:solidFill>
                  <a:srgbClr val="152A8C"/>
                </a:solidFill>
              </a:rPr>
              <a:t>测评实施方面，协同综合部制定考核方案相关细则，</a:t>
            </a:r>
            <a:r>
              <a:rPr lang="en-US" altLang="zh-CN" b="0" kern="0" dirty="0">
                <a:solidFill>
                  <a:srgbClr val="152A8C"/>
                </a:solidFill>
              </a:rPr>
              <a:t>7</a:t>
            </a:r>
            <a:r>
              <a:rPr lang="zh-CN" altLang="en-US" b="0" kern="0" dirty="0">
                <a:solidFill>
                  <a:srgbClr val="152A8C"/>
                </a:solidFill>
              </a:rPr>
              <a:t>月底正式发布，结合</a:t>
            </a:r>
            <a:r>
              <a:rPr lang="en-US" altLang="zh-CN" b="0" kern="0" dirty="0">
                <a:solidFill>
                  <a:srgbClr val="152A8C"/>
                </a:solidFill>
              </a:rPr>
              <a:t>”</a:t>
            </a:r>
            <a:r>
              <a:rPr lang="zh-CN" altLang="en-US" b="0" kern="0" dirty="0">
                <a:solidFill>
                  <a:srgbClr val="152A8C"/>
                </a:solidFill>
              </a:rPr>
              <a:t>一口清</a:t>
            </a:r>
            <a:r>
              <a:rPr lang="en-US" altLang="zh-CN" b="0" kern="0" dirty="0">
                <a:solidFill>
                  <a:srgbClr val="152A8C"/>
                </a:solidFill>
              </a:rPr>
              <a:t>“</a:t>
            </a:r>
            <a:r>
              <a:rPr lang="zh-CN" altLang="en-US" b="0" kern="0" dirty="0">
                <a:solidFill>
                  <a:srgbClr val="152A8C"/>
                </a:solidFill>
              </a:rPr>
              <a:t>平台上线，</a:t>
            </a:r>
            <a:r>
              <a:rPr lang="en-US" altLang="zh-CN" b="0" kern="0" dirty="0">
                <a:solidFill>
                  <a:srgbClr val="152A8C"/>
                </a:solidFill>
              </a:rPr>
              <a:t>9</a:t>
            </a:r>
            <a:r>
              <a:rPr lang="zh-CN" altLang="en-US" b="0" kern="0" dirty="0">
                <a:solidFill>
                  <a:srgbClr val="152A8C"/>
                </a:solidFill>
              </a:rPr>
              <a:t>月进行首次专家测评</a:t>
            </a:r>
          </a:p>
        </p:txBody>
      </p:sp>
      <p:sp>
        <p:nvSpPr>
          <p:cNvPr id="6" name="等腰三角形 5"/>
          <p:cNvSpPr/>
          <p:nvPr/>
        </p:nvSpPr>
        <p:spPr>
          <a:xfrm flipV="1">
            <a:off x="7049911" y="2607437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70285" y="2786772"/>
            <a:ext cx="7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启动清理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89401" y="2786772"/>
            <a:ext cx="7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清理完成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073815" y="2770999"/>
            <a:ext cx="866225" cy="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等腰三角形 13"/>
          <p:cNvSpPr/>
          <p:nvPr/>
        </p:nvSpPr>
        <p:spPr>
          <a:xfrm flipV="1">
            <a:off x="7847132" y="2603716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18" name="等腰三角形 17"/>
          <p:cNvSpPr/>
          <p:nvPr/>
        </p:nvSpPr>
        <p:spPr>
          <a:xfrm flipV="1">
            <a:off x="7049911" y="3225090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70285" y="3404425"/>
            <a:ext cx="6070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启动工作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85000" y="3404425"/>
            <a:ext cx="724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阶段化完成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7073814" y="3388652"/>
            <a:ext cx="2088000" cy="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等腰三角形 21"/>
          <p:cNvSpPr/>
          <p:nvPr/>
        </p:nvSpPr>
        <p:spPr>
          <a:xfrm flipV="1">
            <a:off x="9039216" y="3226148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9302225" y="3388652"/>
            <a:ext cx="2330847" cy="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文本框 25"/>
          <p:cNvSpPr txBox="1"/>
          <p:nvPr/>
        </p:nvSpPr>
        <p:spPr>
          <a:xfrm>
            <a:off x="10397680" y="3170738"/>
            <a:ext cx="724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常态化工作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7073814" y="3944912"/>
            <a:ext cx="1836000" cy="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等腰三角形 27"/>
          <p:cNvSpPr/>
          <p:nvPr/>
        </p:nvSpPr>
        <p:spPr>
          <a:xfrm flipV="1">
            <a:off x="7049911" y="3781349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01665" y="3962543"/>
            <a:ext cx="6070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方案设计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30" name="等腰三角形 29"/>
          <p:cNvSpPr/>
          <p:nvPr/>
        </p:nvSpPr>
        <p:spPr>
          <a:xfrm flipV="1">
            <a:off x="8785000" y="3759568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540321" y="3962543"/>
            <a:ext cx="6070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试运行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44636" y="4509450"/>
            <a:ext cx="834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正式上线运行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33" name="等腰三角形 32"/>
          <p:cNvSpPr/>
          <p:nvPr/>
        </p:nvSpPr>
        <p:spPr>
          <a:xfrm flipV="1">
            <a:off x="7049911" y="5477389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770285" y="5656724"/>
            <a:ext cx="6070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启动工作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577660" y="5656724"/>
            <a:ext cx="724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完成并发布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7073814" y="5640951"/>
            <a:ext cx="883887" cy="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等腰三角形 36"/>
          <p:cNvSpPr/>
          <p:nvPr/>
        </p:nvSpPr>
        <p:spPr>
          <a:xfrm flipV="1">
            <a:off x="7847132" y="5494453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800" b="1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9302225" y="5131697"/>
            <a:ext cx="2330847" cy="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文本框 38"/>
          <p:cNvSpPr txBox="1"/>
          <p:nvPr/>
        </p:nvSpPr>
        <p:spPr>
          <a:xfrm>
            <a:off x="10397680" y="4913783"/>
            <a:ext cx="724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常态化工作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  <p:sp>
        <p:nvSpPr>
          <p:cNvPr id="41" name="星形: 五角 40"/>
          <p:cNvSpPr/>
          <p:nvPr/>
        </p:nvSpPr>
        <p:spPr bwMode="auto">
          <a:xfrm>
            <a:off x="9083040" y="6057169"/>
            <a:ext cx="190499" cy="195272"/>
          </a:xfrm>
          <a:prstGeom prst="star5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44636" y="6252441"/>
            <a:ext cx="834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/>
                <a:ea typeface="微软雅黑"/>
              </a:rPr>
              <a:t>首次专家测评</a:t>
            </a:r>
            <a:endParaRPr lang="en-US" altLang="zh-CN" sz="800" kern="0" dirty="0">
              <a:solidFill>
                <a:srgbClr val="112C9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756425" y="5588022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（禁止未经脱密，未经审核，扩大知悉范围）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370" y="2026798"/>
            <a:ext cx="9553260" cy="280440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500,&quot;top&quot;:313.3,&quot;width&quot;:38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9,&quot;left&quot;:-0.2,&quot;top&quot;:150.85,&quot;width&quot;:533.800798671612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041732283465,&quot;left&quot;:50.309999999999995,&quot;top&quot;:167.24346456692913,&quot;width&quot;:416.08874015748034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,&quot;left&quot;:60,&quot;top&quot;:150,&quot;width&quot;:858.4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5,&quot;left&quot;:192.85,&quot;top&quot;:158.95,&quot;width&quot;:516.2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自定义 3">
      <a:dk1>
        <a:srgbClr val="152A8C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/>
      <a:bodyPr lIns="81750" tIns="40874" rIns="81750" bIns="40874"/>
      <a:lstStyle>
        <a:defPPr marL="0" indent="0" algn="ctr">
          <a:lnSpc>
            <a:spcPct val="120000"/>
          </a:lnSpc>
          <a:buNone/>
          <a:defRPr lang="zh-CN" altLang="en-US" kern="0" dirty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3329</Words>
  <Application>Microsoft Office PowerPoint</Application>
  <PresentationFormat>宽屏</PresentationFormat>
  <Paragraphs>409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RB Office</vt:lpstr>
      <vt:lpstr>等线</vt:lpstr>
      <vt:lpstr>黑体</vt:lpstr>
      <vt:lpstr>微软雅黑</vt:lpstr>
      <vt:lpstr>Arial</vt:lpstr>
      <vt:lpstr>Calibri</vt:lpstr>
      <vt:lpstr>Franklin Gothic Medium</vt:lpstr>
      <vt:lpstr>Wingdings</vt:lpstr>
      <vt:lpstr>1_Office 主题</vt:lpstr>
      <vt:lpstr>3_Office 主题</vt:lpstr>
      <vt:lpstr>5_Office 主题</vt:lpstr>
      <vt:lpstr>6_Office 主题</vt:lpstr>
      <vt:lpstr>自定义设计方案</vt:lpstr>
      <vt:lpstr>7_Office 主题</vt:lpstr>
      <vt:lpstr>19_Office 主题</vt:lpstr>
      <vt:lpstr>2_Office 主题</vt:lpstr>
      <vt:lpstr>8_Office 主题</vt:lpstr>
      <vt:lpstr>52_Office 主题</vt:lpstr>
      <vt:lpstr>PowerPoint 演示文稿</vt:lpstr>
      <vt:lpstr>目录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NTKO</dc:creator>
  <cp:lastModifiedBy>user</cp:lastModifiedBy>
  <cp:revision>2</cp:revision>
  <cp:lastPrinted>2026-06-24T06:59:34Z</cp:lastPrinted>
  <dcterms:created xsi:type="dcterms:W3CDTF">2026-06-24T06:59:34Z</dcterms:created>
  <dcterms:modified xsi:type="dcterms:W3CDTF">2026-06-24T11:52:09Z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