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61" r:id="rId2"/>
    <p:sldId id="262" r:id="rId3"/>
    <p:sldId id="263" r:id="rId4"/>
    <p:sldId id="264" r:id="rId5"/>
    <p:sldId id="266" r:id="rId6"/>
    <p:sldId id="265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724" autoAdjust="0"/>
  </p:normalViewPr>
  <p:slideViewPr>
    <p:cSldViewPr snapToGrid="0">
      <p:cViewPr>
        <p:scale>
          <a:sx n="66" d="100"/>
          <a:sy n="66" d="100"/>
        </p:scale>
        <p:origin x="876" y="-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D27EFF-D23C-4B6E-A448-C50C58D58638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E7593F-D04B-4AF5-B989-2C5704873A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8207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1116AA-80B5-45C6-B9A1-B8CE9C42A28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4149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FECF2-75D4-3864-B5C5-409196081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57759EE-ED7A-BB84-01B3-465701B003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CF9B98D-A4E1-7566-9048-52C90A2FB3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5B4BC1-47C3-5A1C-7CD8-FF358B9FD7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1116AA-80B5-45C6-B9A1-B8CE9C42A28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0956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AE758-4649-9918-013C-84FC7F944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4F7CBCC-0097-9039-641C-3154ED7A35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D066D0F-3269-397A-41DD-5A7AA5102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股权运营项目增加已完成金额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F807C2-199F-0FDE-1862-A7ECB865D3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1116AA-80B5-45C6-B9A1-B8CE9C42A28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89221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C3021-6DBB-8B83-4479-CBD61A779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369CA4-57A0-96AF-0C0B-9AF49DDF0D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6F73A23-6E2F-8DE4-1DEF-8F3B81EA03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9C0B62-932F-127B-73A4-CD6C77E107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1116AA-80B5-45C6-B9A1-B8CE9C42A28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02670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FEC01-694F-84DC-124A-48C8CF0B3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DD63E60-14C9-5C62-29EA-29ED44E616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E7A602D-778E-4656-4820-85976778DA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8B5A59-E5DC-EFDC-7853-80F703254D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1116AA-80B5-45C6-B9A1-B8CE9C42A28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05513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A6BF6-4098-9265-AA82-9AF787E1C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913872C-76EC-31F8-B82C-8B9DC1C688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4C5991B-7ADF-C798-6D44-F97621EA2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47FF0A-32F2-D902-D432-E3AABA56C5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1116AA-80B5-45C6-B9A1-B8CE9C42A28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5865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GIF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96375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  <p:extLst>
      <p:ext uri="{BB962C8B-B14F-4D97-AF65-F5344CB8AC3E}">
        <p14:creationId xmlns:p14="http://schemas.microsoft.com/office/powerpoint/2010/main" val="951028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6282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日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  <p:extLst>
      <p:ext uri="{BB962C8B-B14F-4D97-AF65-F5344CB8AC3E}">
        <p14:creationId xmlns:p14="http://schemas.microsoft.com/office/powerpoint/2010/main" val="3271483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  <p:extLst>
      <p:ext uri="{BB962C8B-B14F-4D97-AF65-F5344CB8AC3E}">
        <p14:creationId xmlns:p14="http://schemas.microsoft.com/office/powerpoint/2010/main" val="2019625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5042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l" defTabSz="8464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54651" b="-2228"/>
          <a:stretch/>
        </p:blipFill>
        <p:spPr>
          <a:xfrm>
            <a:off x="9776566" y="198909"/>
            <a:ext cx="820850" cy="478889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0597417" y="145965"/>
            <a:ext cx="12897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12D9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一汽股权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112D9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112D9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FAW EQUITY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</a:p>
        </p:txBody>
      </p:sp>
    </p:spTree>
    <p:extLst>
      <p:ext uri="{BB962C8B-B14F-4D97-AF65-F5344CB8AC3E}">
        <p14:creationId xmlns:p14="http://schemas.microsoft.com/office/powerpoint/2010/main" val="4031502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9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0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/>
        </p:nvSpPr>
        <p:spPr>
          <a:xfrm>
            <a:off x="462280" y="307975"/>
            <a:ext cx="4857865" cy="509905"/>
          </a:xfrm>
          <a:prstGeom prst="rect">
            <a:avLst/>
          </a:prstGeom>
        </p:spPr>
        <p:txBody>
          <a:bodyPr lIns="81750" tIns="40874" rIns="81750" bIns="40874"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844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委派人员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831051C-696F-BBDB-D075-4B8D03917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80" y="1289345"/>
            <a:ext cx="6308390" cy="234770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C8ADBEA-E365-7A4F-7674-9911C1B38167}"/>
              </a:ext>
            </a:extLst>
          </p:cNvPr>
          <p:cNvSpPr txBox="1"/>
          <p:nvPr/>
        </p:nvSpPr>
        <p:spPr>
          <a:xfrm>
            <a:off x="378918" y="894033"/>
            <a:ext cx="11265262" cy="518602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当前界面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614F32C-C59C-DC03-6075-24EF09FD7FEE}"/>
              </a:ext>
            </a:extLst>
          </p:cNvPr>
          <p:cNvSpPr txBox="1"/>
          <p:nvPr/>
        </p:nvSpPr>
        <p:spPr>
          <a:xfrm>
            <a:off x="6854032" y="894033"/>
            <a:ext cx="4873510" cy="3138331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存在问题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布局需平铺，单独一行，董监事合并、高管单独显示</a:t>
            </a:r>
            <a:endParaRPr lang="en-US" altLang="zh-CN" sz="14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指标需要调整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105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高管</a:t>
            </a: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履职情况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不变，删除专项管理建议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仅保留经营目标达成率、履职报告提报率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高管任职情况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lang="zh-CN" altLang="en-US" sz="105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现有指标删除，改为：应派岗位：</a:t>
            </a:r>
            <a:r>
              <a:rPr lang="en-US" altLang="zh-CN" sz="105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XXXX</a:t>
            </a:r>
            <a:r>
              <a:rPr lang="zh-CN" altLang="en-US" sz="105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个：实际派出人数：</a:t>
            </a:r>
            <a:r>
              <a:rPr lang="en-US" altLang="zh-CN" sz="105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XXX</a:t>
            </a:r>
            <a:r>
              <a:rPr lang="zh-CN" altLang="en-US" sz="105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人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新增关键岗位比例指标：取值逻辑，派出总经理、财务负责人数量</a:t>
            </a: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/</a:t>
            </a: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参股公司应派出人数）注，参股信息管理需增加字段（是否为财务负责人）下钻：具体人员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lang="zh-CN" altLang="en-US" sz="105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任职结束时间不变</a:t>
            </a:r>
            <a:endParaRPr lang="en-US" altLang="zh-CN" sz="105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105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董监事</a:t>
            </a:r>
            <a:endParaRPr lang="en-US" altLang="zh-CN" sz="105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履职不变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228600" indent="-228600">
              <a:buFont typeface="+mj-ea"/>
              <a:buAutoNum type="circleNumDbPlain"/>
              <a:defRPr/>
            </a:pPr>
            <a:r>
              <a:rPr lang="zh-CN" altLang="en-US" sz="105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新增应派岗位：</a:t>
            </a:r>
            <a:r>
              <a:rPr lang="en-US" altLang="zh-CN" sz="105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XXXX</a:t>
            </a:r>
            <a:r>
              <a:rPr lang="zh-CN" altLang="en-US" sz="105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个：实际派出人数：</a:t>
            </a:r>
            <a:r>
              <a:rPr lang="en-US" altLang="zh-CN" sz="105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XXX</a:t>
            </a:r>
            <a:r>
              <a:rPr lang="zh-CN" altLang="en-US" sz="105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人</a:t>
            </a:r>
            <a:endParaRPr lang="en-US" altLang="zh-CN" sz="105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indent="-228600">
              <a:buFont typeface="+mj-ea"/>
              <a:buAutoNum type="circleNumDbPlain"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新增委派董事覆盖率（有委派董事公司数</a:t>
            </a: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/</a:t>
            </a: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参股公司总数）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228600" indent="-228600">
              <a:buFont typeface="+mj-ea"/>
              <a:buAutoNum type="circleNumDbPlain"/>
              <a:defRPr/>
            </a:pPr>
            <a:r>
              <a:rPr lang="zh-CN" altLang="en-US" sz="105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新增关键岗位比例（派出董事长</a:t>
            </a:r>
            <a:r>
              <a:rPr lang="en-US" altLang="zh-CN" sz="105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05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副董事长人数</a:t>
            </a:r>
            <a:r>
              <a:rPr lang="en-US" altLang="zh-CN" sz="105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05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有委派董事人数），需下钻具体人员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228600" indent="-228600">
              <a:buFont typeface="+mj-ea"/>
              <a:buAutoNum type="circleNumDbPlain"/>
              <a:defRPr/>
            </a:pP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228600" indent="-228600">
              <a:buFont typeface="+mj-ea"/>
              <a:buAutoNum type="circleNumDbPlain"/>
              <a:defRPr/>
            </a:pP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32B4146-14FB-50EA-43C3-BB860B306225}"/>
              </a:ext>
            </a:extLst>
          </p:cNvPr>
          <p:cNvSpPr/>
          <p:nvPr/>
        </p:nvSpPr>
        <p:spPr bwMode="auto">
          <a:xfrm>
            <a:off x="462280" y="4032364"/>
            <a:ext cx="11265262" cy="2517168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F32FCFC-F4AB-1C56-9328-72D14C248C3E}"/>
              </a:ext>
            </a:extLst>
          </p:cNvPr>
          <p:cNvSpPr txBox="1"/>
          <p:nvPr/>
        </p:nvSpPr>
        <p:spPr>
          <a:xfrm>
            <a:off x="378918" y="3634605"/>
            <a:ext cx="11265262" cy="518602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优化后界面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6EE1A90-A899-B13C-2422-B97CF58BF379}"/>
              </a:ext>
            </a:extLst>
          </p:cNvPr>
          <p:cNvSpPr txBox="1"/>
          <p:nvPr/>
        </p:nvSpPr>
        <p:spPr>
          <a:xfrm>
            <a:off x="595901" y="4032364"/>
            <a:ext cx="2948683" cy="397759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董监高管理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E2386995-2185-3381-CAE4-A2991F4E9CC4}"/>
              </a:ext>
            </a:extLst>
          </p:cNvPr>
          <p:cNvGrpSpPr/>
          <p:nvPr/>
        </p:nvGrpSpPr>
        <p:grpSpPr>
          <a:xfrm>
            <a:off x="595902" y="4438436"/>
            <a:ext cx="3729518" cy="544529"/>
            <a:chOff x="595901" y="4438436"/>
            <a:chExt cx="10890607" cy="544529"/>
          </a:xfrm>
        </p:grpSpPr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807C999B-93DA-1746-AF37-C7F2CDD923A5}"/>
                </a:ext>
              </a:extLst>
            </p:cNvPr>
            <p:cNvCxnSpPr/>
            <p:nvPr/>
          </p:nvCxnSpPr>
          <p:spPr bwMode="auto">
            <a:xfrm>
              <a:off x="595901" y="4438436"/>
              <a:ext cx="10890607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17961" dir="2700000" algn="ctr" rotWithShape="0">
                <a:schemeClr val="tx1">
                  <a:gamma/>
                  <a:shade val="60000"/>
                  <a:invGamma/>
                </a:schemeClr>
              </a:outerShdw>
            </a:effectLst>
          </p:spPr>
        </p:cxn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CCFCE795-D5E4-4A7A-D296-82C6FAAEAE5E}"/>
                </a:ext>
              </a:extLst>
            </p:cNvPr>
            <p:cNvSpPr txBox="1"/>
            <p:nvPr/>
          </p:nvSpPr>
          <p:spPr>
            <a:xfrm>
              <a:off x="667820" y="4541178"/>
              <a:ext cx="4941870" cy="441787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zh-CN" altLang="en-US" sz="1100" b="1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委派高管</a:t>
              </a:r>
            </a:p>
          </p:txBody>
        </p:sp>
      </p:grpSp>
      <p:pic>
        <p:nvPicPr>
          <p:cNvPr id="24" name="图片 23">
            <a:extLst>
              <a:ext uri="{FF2B5EF4-FFF2-40B4-BE49-F238E27FC236}">
                <a16:creationId xmlns:a16="http://schemas.microsoft.com/office/drawing/2014/main" id="{3187F389-5E89-1592-E45E-FEE9C56C4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787" y="4977516"/>
            <a:ext cx="2276190" cy="1392213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9A535316-52C7-CAB5-7584-F6CA66BDAAAE}"/>
              </a:ext>
            </a:extLst>
          </p:cNvPr>
          <p:cNvSpPr txBox="1"/>
          <p:nvPr/>
        </p:nvSpPr>
        <p:spPr>
          <a:xfrm>
            <a:off x="620531" y="5489827"/>
            <a:ext cx="1720904" cy="441787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经营目标达成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6CC3703-7E5C-7373-EBC6-8E45EFD0DFC3}"/>
              </a:ext>
            </a:extLst>
          </p:cNvPr>
          <p:cNvSpPr txBox="1"/>
          <p:nvPr/>
        </p:nvSpPr>
        <p:spPr>
          <a:xfrm>
            <a:off x="620531" y="5936996"/>
            <a:ext cx="1720904" cy="441787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提报率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BBA4E91-E98E-DCC4-F968-B24516C8FE96}"/>
              </a:ext>
            </a:extLst>
          </p:cNvPr>
          <p:cNvSpPr txBox="1"/>
          <p:nvPr/>
        </p:nvSpPr>
        <p:spPr>
          <a:xfrm>
            <a:off x="606257" y="4992018"/>
            <a:ext cx="1720904" cy="441787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履职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F2E8F36-43B6-93C6-816F-136119614D40}"/>
              </a:ext>
            </a:extLst>
          </p:cNvPr>
          <p:cNvSpPr txBox="1"/>
          <p:nvPr/>
        </p:nvSpPr>
        <p:spPr>
          <a:xfrm>
            <a:off x="2409385" y="5480773"/>
            <a:ext cx="1720904" cy="441787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应派岗位：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xxx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br>
              <a:rPr lang="en-US" altLang="zh-CN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实际派出：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xxx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人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1E680EE-1E33-58A6-DAA5-15231D464672}"/>
              </a:ext>
            </a:extLst>
          </p:cNvPr>
          <p:cNvSpPr txBox="1"/>
          <p:nvPr/>
        </p:nvSpPr>
        <p:spPr>
          <a:xfrm>
            <a:off x="2409385" y="5927942"/>
            <a:ext cx="1720904" cy="441787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关键岗位比例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77344DB-C356-1700-6B99-1ABAEC28B9C0}"/>
              </a:ext>
            </a:extLst>
          </p:cNvPr>
          <p:cNvSpPr txBox="1"/>
          <p:nvPr/>
        </p:nvSpPr>
        <p:spPr>
          <a:xfrm>
            <a:off x="2395111" y="4982964"/>
            <a:ext cx="1720904" cy="441787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任职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3FB1641-C9E9-E422-AEF6-C9843594928A}"/>
              </a:ext>
            </a:extLst>
          </p:cNvPr>
          <p:cNvSpPr txBox="1"/>
          <p:nvPr/>
        </p:nvSpPr>
        <p:spPr>
          <a:xfrm>
            <a:off x="4402554" y="4550231"/>
            <a:ext cx="1692357" cy="44178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委派董事</a:t>
            </a:r>
            <a:r>
              <a:rPr lang="en-US" altLang="zh-CN" sz="11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委派监事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3950353-369F-AFC5-80E4-87B66CA6BD69}"/>
              </a:ext>
            </a:extLst>
          </p:cNvPr>
          <p:cNvSpPr txBox="1"/>
          <p:nvPr/>
        </p:nvSpPr>
        <p:spPr>
          <a:xfrm>
            <a:off x="4374007" y="4960833"/>
            <a:ext cx="1720904" cy="441787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履职（不变）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E6F00BC3-5AC8-FEFB-2B21-374D0F28C9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2555" y="5489827"/>
            <a:ext cx="1720904" cy="972498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C1B3C65E-5153-0E5E-23F5-3934384D796D}"/>
              </a:ext>
            </a:extLst>
          </p:cNvPr>
          <p:cNvSpPr txBox="1"/>
          <p:nvPr/>
        </p:nvSpPr>
        <p:spPr>
          <a:xfrm>
            <a:off x="6672304" y="4977516"/>
            <a:ext cx="1720904" cy="441787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任职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E8006CE-7A12-F5E4-DDEB-06F74E01E0D3}"/>
              </a:ext>
            </a:extLst>
          </p:cNvPr>
          <p:cNvSpPr txBox="1"/>
          <p:nvPr/>
        </p:nvSpPr>
        <p:spPr>
          <a:xfrm>
            <a:off x="6480916" y="5364841"/>
            <a:ext cx="1720904" cy="441787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应派岗位：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xxx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br>
              <a:rPr lang="en-US" altLang="zh-CN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实际派出：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xxx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人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CC326A52-4D22-762F-D76A-3557D9F92BBD}"/>
              </a:ext>
            </a:extLst>
          </p:cNvPr>
          <p:cNvSpPr txBox="1"/>
          <p:nvPr/>
        </p:nvSpPr>
        <p:spPr>
          <a:xfrm>
            <a:off x="6495190" y="5806628"/>
            <a:ext cx="1720904" cy="441787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委派董事覆盖率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4368285-3DAB-4802-5AA1-F80A0212E308}"/>
              </a:ext>
            </a:extLst>
          </p:cNvPr>
          <p:cNvSpPr txBox="1"/>
          <p:nvPr/>
        </p:nvSpPr>
        <p:spPr>
          <a:xfrm>
            <a:off x="6495190" y="6148722"/>
            <a:ext cx="1720904" cy="441787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关键岗位比例</a:t>
            </a:r>
          </a:p>
        </p:txBody>
      </p:sp>
    </p:spTree>
    <p:extLst>
      <p:ext uri="{BB962C8B-B14F-4D97-AF65-F5344CB8AC3E}">
        <p14:creationId xmlns:p14="http://schemas.microsoft.com/office/powerpoint/2010/main" val="2092661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F8E03-B665-701B-35D0-8882B3EFE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AE5DB24F-69FE-4975-289E-5B2998CA0402}"/>
              </a:ext>
            </a:extLst>
          </p:cNvPr>
          <p:cNvSpPr>
            <a:spLocks noGrp="1"/>
          </p:cNvSpPr>
          <p:nvPr/>
        </p:nvSpPr>
        <p:spPr>
          <a:xfrm>
            <a:off x="462280" y="307975"/>
            <a:ext cx="4857865" cy="509905"/>
          </a:xfrm>
          <a:prstGeom prst="rect">
            <a:avLst/>
          </a:prstGeom>
        </p:spPr>
        <p:txBody>
          <a:bodyPr lIns="81750" tIns="40874" rIns="81750" bIns="40874"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844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战略模块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939F297-BF2B-7AD3-04A3-1E40201CE6DB}"/>
              </a:ext>
            </a:extLst>
          </p:cNvPr>
          <p:cNvSpPr txBox="1"/>
          <p:nvPr/>
        </p:nvSpPr>
        <p:spPr>
          <a:xfrm>
            <a:off x="378918" y="894033"/>
            <a:ext cx="11265262" cy="518602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当前界面：无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9CE0978-9B5A-F83E-24D6-7D2EB619E671}"/>
              </a:ext>
            </a:extLst>
          </p:cNvPr>
          <p:cNvSpPr txBox="1"/>
          <p:nvPr/>
        </p:nvSpPr>
        <p:spPr>
          <a:xfrm>
            <a:off x="6854032" y="894033"/>
            <a:ext cx="4873510" cy="811477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存在问题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需重新搭建</a:t>
            </a:r>
            <a:endParaRPr lang="en-US" altLang="zh-CN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平铺一整行</a:t>
            </a:r>
          </a:p>
          <a:p>
            <a:pPr marL="228600" indent="-228600">
              <a:buFont typeface="+mj-ea"/>
              <a:buAutoNum type="circleNumDbPlain"/>
              <a:defRPr/>
            </a:pP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4ED9E99-9441-676F-7687-9C8F080BA9B5}"/>
              </a:ext>
            </a:extLst>
          </p:cNvPr>
          <p:cNvSpPr/>
          <p:nvPr/>
        </p:nvSpPr>
        <p:spPr bwMode="auto">
          <a:xfrm>
            <a:off x="462280" y="1886546"/>
            <a:ext cx="11265262" cy="4257399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7065C80-DF61-EFE8-4511-D5F943915029}"/>
              </a:ext>
            </a:extLst>
          </p:cNvPr>
          <p:cNvSpPr txBox="1"/>
          <p:nvPr/>
        </p:nvSpPr>
        <p:spPr>
          <a:xfrm>
            <a:off x="378918" y="1488788"/>
            <a:ext cx="11265262" cy="518602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设计界面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173588A-208B-AA5E-F43B-FFFCB67566DC}"/>
              </a:ext>
            </a:extLst>
          </p:cNvPr>
          <p:cNvSpPr txBox="1"/>
          <p:nvPr/>
        </p:nvSpPr>
        <p:spPr>
          <a:xfrm>
            <a:off x="595901" y="1886547"/>
            <a:ext cx="2948683" cy="397759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战略模块（暂定）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4250FD7C-9B33-E55C-FA53-B73655B5E77B}"/>
              </a:ext>
            </a:extLst>
          </p:cNvPr>
          <p:cNvSpPr/>
          <p:nvPr/>
        </p:nvSpPr>
        <p:spPr bwMode="auto">
          <a:xfrm>
            <a:off x="595901" y="3164949"/>
            <a:ext cx="678095" cy="1201081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规划编制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BE5D36DA-4F5B-11BF-8FCD-FF9044A18E59}"/>
              </a:ext>
            </a:extLst>
          </p:cNvPr>
          <p:cNvSpPr/>
          <p:nvPr/>
        </p:nvSpPr>
        <p:spPr bwMode="auto">
          <a:xfrm>
            <a:off x="595901" y="4950038"/>
            <a:ext cx="678095" cy="1201081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其他专项工作</a:t>
            </a:r>
          </a:p>
        </p:txBody>
      </p:sp>
      <p:sp>
        <p:nvSpPr>
          <p:cNvPr id="48" name="箭头: 五边形 47">
            <a:extLst>
              <a:ext uri="{FF2B5EF4-FFF2-40B4-BE49-F238E27FC236}">
                <a16:creationId xmlns:a16="http://schemas.microsoft.com/office/drawing/2014/main" id="{97A2FD19-361F-E106-582E-866CEA0CEE52}"/>
              </a:ext>
            </a:extLst>
          </p:cNvPr>
          <p:cNvSpPr/>
          <p:nvPr/>
        </p:nvSpPr>
        <p:spPr bwMode="auto">
          <a:xfrm>
            <a:off x="1357358" y="2589089"/>
            <a:ext cx="1941815" cy="297950"/>
          </a:xfrm>
          <a:prstGeom prst="homePlat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战略任务拆解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410049A-0562-D5CE-956D-C6E8AD52CEEA}"/>
              </a:ext>
            </a:extLst>
          </p:cNvPr>
          <p:cNvSpPr txBox="1"/>
          <p:nvPr/>
        </p:nvSpPr>
        <p:spPr>
          <a:xfrm>
            <a:off x="1357358" y="3068075"/>
            <a:ext cx="1941815" cy="1201081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当前状态：进行中</a:t>
            </a:r>
            <a:r>
              <a:rPr lang="en-US" altLang="zh-CN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审批中</a:t>
            </a:r>
            <a:r>
              <a:rPr lang="en-US" altLang="zh-CN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已完成</a:t>
            </a:r>
            <a:r>
              <a:rPr lang="en-US" altLang="zh-CN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……</a:t>
            </a:r>
          </a:p>
          <a:p>
            <a:pPr algn="l"/>
            <a:r>
              <a:rPr lang="zh-CN" altLang="en-US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完成时间：</a:t>
            </a:r>
            <a:r>
              <a:rPr lang="en-US" altLang="zh-CN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-/xxxx.xx.xx</a:t>
            </a:r>
            <a:endParaRPr lang="zh-CN" altLang="en-US" sz="1200" dirty="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箭头: 五边形 49">
            <a:extLst>
              <a:ext uri="{FF2B5EF4-FFF2-40B4-BE49-F238E27FC236}">
                <a16:creationId xmlns:a16="http://schemas.microsoft.com/office/drawing/2014/main" id="{FA549BC6-990D-CC28-DE3D-09730CE7DF99}"/>
              </a:ext>
            </a:extLst>
          </p:cNvPr>
          <p:cNvSpPr/>
          <p:nvPr/>
        </p:nvSpPr>
        <p:spPr bwMode="auto">
          <a:xfrm>
            <a:off x="3378330" y="2571246"/>
            <a:ext cx="1941815" cy="297950"/>
          </a:xfrm>
          <a:prstGeom prst="homePlat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规划编制启动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06201724-12FA-C873-1569-176EF51B0D19}"/>
              </a:ext>
            </a:extLst>
          </p:cNvPr>
          <p:cNvSpPr txBox="1"/>
          <p:nvPr/>
        </p:nvSpPr>
        <p:spPr>
          <a:xfrm>
            <a:off x="3378329" y="3025028"/>
            <a:ext cx="1941815" cy="1201081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当前状态：进行中</a:t>
            </a:r>
            <a:r>
              <a:rPr lang="en-US" altLang="zh-CN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审批中</a:t>
            </a:r>
            <a:r>
              <a:rPr lang="en-US" altLang="zh-CN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已完成</a:t>
            </a:r>
            <a:r>
              <a:rPr lang="en-US" altLang="zh-CN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……</a:t>
            </a:r>
          </a:p>
          <a:p>
            <a:pPr algn="l"/>
            <a:r>
              <a:rPr lang="zh-CN" altLang="en-US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完成时间：</a:t>
            </a:r>
            <a:r>
              <a:rPr lang="en-US" altLang="zh-CN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-/xxxx.xx.xx</a:t>
            </a:r>
            <a:endParaRPr lang="zh-CN" altLang="en-US" sz="1200" dirty="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左大括号 51">
            <a:extLst>
              <a:ext uri="{FF2B5EF4-FFF2-40B4-BE49-F238E27FC236}">
                <a16:creationId xmlns:a16="http://schemas.microsoft.com/office/drawing/2014/main" id="{01E6EA83-0556-F01F-DCF0-9D721974C378}"/>
              </a:ext>
            </a:extLst>
          </p:cNvPr>
          <p:cNvSpPr/>
          <p:nvPr/>
        </p:nvSpPr>
        <p:spPr bwMode="auto">
          <a:xfrm>
            <a:off x="5392168" y="3219741"/>
            <a:ext cx="123876" cy="1421610"/>
          </a:xfrm>
          <a:prstGeom prst="leftBrace">
            <a:avLst>
              <a:gd name="adj1" fmla="val 35452"/>
              <a:gd name="adj2" fmla="val 50000"/>
            </a:avLst>
          </a:prstGeom>
          <a:noFill/>
          <a:ln w="9525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" name="圆角矩形 16">
            <a:extLst>
              <a:ext uri="{FF2B5EF4-FFF2-40B4-BE49-F238E27FC236}">
                <a16:creationId xmlns:a16="http://schemas.microsoft.com/office/drawing/2014/main" id="{40A3CBD9-1845-B641-937F-FFE2D5D5D2EF}"/>
              </a:ext>
            </a:extLst>
          </p:cNvPr>
          <p:cNvSpPr/>
          <p:nvPr/>
        </p:nvSpPr>
        <p:spPr>
          <a:xfrm>
            <a:off x="5761454" y="3245129"/>
            <a:ext cx="848360" cy="51860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lvl="0" algn="ctr">
              <a:lnSpc>
                <a:spcPct val="200000"/>
              </a:lnSpc>
              <a:defRPr/>
            </a:pPr>
            <a:r>
              <a:rPr lang="zh-CN" altLang="en-US" sz="10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先进底盘</a:t>
            </a:r>
          </a:p>
        </p:txBody>
      </p:sp>
      <p:sp>
        <p:nvSpPr>
          <p:cNvPr id="54" name="圆角矩形 16">
            <a:extLst>
              <a:ext uri="{FF2B5EF4-FFF2-40B4-BE49-F238E27FC236}">
                <a16:creationId xmlns:a16="http://schemas.microsoft.com/office/drawing/2014/main" id="{125B13AB-C918-0FCD-602F-A81DEB872842}"/>
              </a:ext>
            </a:extLst>
          </p:cNvPr>
          <p:cNvSpPr/>
          <p:nvPr/>
        </p:nvSpPr>
        <p:spPr>
          <a:xfrm>
            <a:off x="5779703" y="3915360"/>
            <a:ext cx="848360" cy="51860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lvl="0" algn="ctr">
              <a:lnSpc>
                <a:spcPct val="200000"/>
              </a:lnSpc>
              <a:defRPr/>
            </a:pPr>
            <a:r>
              <a:rPr lang="zh-CN" altLang="en-US" sz="10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智能座舱</a:t>
            </a:r>
          </a:p>
        </p:txBody>
      </p:sp>
      <p:sp>
        <p:nvSpPr>
          <p:cNvPr id="55" name="圆角矩形 11">
            <a:extLst>
              <a:ext uri="{FF2B5EF4-FFF2-40B4-BE49-F238E27FC236}">
                <a16:creationId xmlns:a16="http://schemas.microsoft.com/office/drawing/2014/main" id="{03650541-6EC4-C58B-970A-0E7D990D2452}"/>
              </a:ext>
            </a:extLst>
          </p:cNvPr>
          <p:cNvSpPr/>
          <p:nvPr/>
        </p:nvSpPr>
        <p:spPr>
          <a:xfrm>
            <a:off x="6693176" y="3259320"/>
            <a:ext cx="883285" cy="24511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富奥公司</a:t>
            </a:r>
          </a:p>
        </p:txBody>
      </p:sp>
      <p:sp>
        <p:nvSpPr>
          <p:cNvPr id="56" name="圆角矩形 11">
            <a:extLst>
              <a:ext uri="{FF2B5EF4-FFF2-40B4-BE49-F238E27FC236}">
                <a16:creationId xmlns:a16="http://schemas.microsoft.com/office/drawing/2014/main" id="{E9F13309-BF81-E65F-12C7-8107C34A203C}"/>
              </a:ext>
            </a:extLst>
          </p:cNvPr>
          <p:cNvSpPr/>
          <p:nvPr/>
        </p:nvSpPr>
        <p:spPr>
          <a:xfrm>
            <a:off x="6726085" y="3932572"/>
            <a:ext cx="883285" cy="24511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富维公司</a:t>
            </a:r>
          </a:p>
        </p:txBody>
      </p:sp>
      <p:sp>
        <p:nvSpPr>
          <p:cNvPr id="57" name="箭头: 五边形 56">
            <a:extLst>
              <a:ext uri="{FF2B5EF4-FFF2-40B4-BE49-F238E27FC236}">
                <a16:creationId xmlns:a16="http://schemas.microsoft.com/office/drawing/2014/main" id="{3AB874C8-D9E5-4390-CD5D-64B8199BD6D5}"/>
              </a:ext>
            </a:extLst>
          </p:cNvPr>
          <p:cNvSpPr/>
          <p:nvPr/>
        </p:nvSpPr>
        <p:spPr bwMode="auto">
          <a:xfrm>
            <a:off x="7691763" y="2589118"/>
            <a:ext cx="1941815" cy="297950"/>
          </a:xfrm>
          <a:prstGeom prst="homePlat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规划编制评审</a:t>
            </a:r>
          </a:p>
        </p:txBody>
      </p:sp>
      <p:sp>
        <p:nvSpPr>
          <p:cNvPr id="58" name="箭头: 五边形 57">
            <a:extLst>
              <a:ext uri="{FF2B5EF4-FFF2-40B4-BE49-F238E27FC236}">
                <a16:creationId xmlns:a16="http://schemas.microsoft.com/office/drawing/2014/main" id="{8C650EA2-A80C-0A4F-2DAE-92A46EF56E42}"/>
              </a:ext>
            </a:extLst>
          </p:cNvPr>
          <p:cNvSpPr/>
          <p:nvPr/>
        </p:nvSpPr>
        <p:spPr bwMode="auto">
          <a:xfrm>
            <a:off x="5516044" y="2564431"/>
            <a:ext cx="1941815" cy="297950"/>
          </a:xfrm>
          <a:prstGeom prst="homePlat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规划制定</a:t>
            </a:r>
          </a:p>
        </p:txBody>
      </p:sp>
      <p:sp>
        <p:nvSpPr>
          <p:cNvPr id="59" name="左大括号 58">
            <a:extLst>
              <a:ext uri="{FF2B5EF4-FFF2-40B4-BE49-F238E27FC236}">
                <a16:creationId xmlns:a16="http://schemas.microsoft.com/office/drawing/2014/main" id="{2D70ED7A-3ED5-0B29-2B1C-EFDB612E2F09}"/>
              </a:ext>
            </a:extLst>
          </p:cNvPr>
          <p:cNvSpPr/>
          <p:nvPr/>
        </p:nvSpPr>
        <p:spPr bwMode="auto">
          <a:xfrm>
            <a:off x="7664817" y="3217172"/>
            <a:ext cx="123876" cy="1421610"/>
          </a:xfrm>
          <a:prstGeom prst="leftBrace">
            <a:avLst>
              <a:gd name="adj1" fmla="val 35452"/>
              <a:gd name="adj2" fmla="val 50000"/>
            </a:avLst>
          </a:prstGeom>
          <a:noFill/>
          <a:ln w="9525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" name="圆角矩形 16">
            <a:extLst>
              <a:ext uri="{FF2B5EF4-FFF2-40B4-BE49-F238E27FC236}">
                <a16:creationId xmlns:a16="http://schemas.microsoft.com/office/drawing/2014/main" id="{0AEDD697-B0F9-3A63-10AE-B55892143355}"/>
              </a:ext>
            </a:extLst>
          </p:cNvPr>
          <p:cNvSpPr/>
          <p:nvPr/>
        </p:nvSpPr>
        <p:spPr>
          <a:xfrm>
            <a:off x="8034103" y="3242560"/>
            <a:ext cx="848360" cy="51860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lvl="0" algn="ctr">
              <a:lnSpc>
                <a:spcPct val="200000"/>
              </a:lnSpc>
              <a:defRPr/>
            </a:pPr>
            <a:r>
              <a:rPr lang="zh-CN" altLang="en-US" sz="10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先进底盘</a:t>
            </a:r>
          </a:p>
        </p:txBody>
      </p:sp>
      <p:sp>
        <p:nvSpPr>
          <p:cNvPr id="61" name="圆角矩形 16">
            <a:extLst>
              <a:ext uri="{FF2B5EF4-FFF2-40B4-BE49-F238E27FC236}">
                <a16:creationId xmlns:a16="http://schemas.microsoft.com/office/drawing/2014/main" id="{17BEDE74-CD71-0927-B425-2DE73F2D0526}"/>
              </a:ext>
            </a:extLst>
          </p:cNvPr>
          <p:cNvSpPr/>
          <p:nvPr/>
        </p:nvSpPr>
        <p:spPr>
          <a:xfrm>
            <a:off x="8052352" y="3912791"/>
            <a:ext cx="848360" cy="51860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lvl="0" algn="ctr">
              <a:lnSpc>
                <a:spcPct val="200000"/>
              </a:lnSpc>
              <a:defRPr/>
            </a:pPr>
            <a:r>
              <a:rPr lang="zh-CN" altLang="en-US" sz="10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智能座舱</a:t>
            </a:r>
          </a:p>
        </p:txBody>
      </p:sp>
      <p:sp>
        <p:nvSpPr>
          <p:cNvPr id="62" name="圆角矩形 11">
            <a:extLst>
              <a:ext uri="{FF2B5EF4-FFF2-40B4-BE49-F238E27FC236}">
                <a16:creationId xmlns:a16="http://schemas.microsoft.com/office/drawing/2014/main" id="{81D3846D-72E5-8605-121B-690D0B5559CD}"/>
              </a:ext>
            </a:extLst>
          </p:cNvPr>
          <p:cNvSpPr/>
          <p:nvPr/>
        </p:nvSpPr>
        <p:spPr>
          <a:xfrm>
            <a:off x="8965825" y="3256751"/>
            <a:ext cx="883285" cy="24511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富奥公司</a:t>
            </a:r>
          </a:p>
        </p:txBody>
      </p:sp>
      <p:sp>
        <p:nvSpPr>
          <p:cNvPr id="63" name="圆角矩形 11">
            <a:extLst>
              <a:ext uri="{FF2B5EF4-FFF2-40B4-BE49-F238E27FC236}">
                <a16:creationId xmlns:a16="http://schemas.microsoft.com/office/drawing/2014/main" id="{20D1C51D-EA67-541E-BF8B-E611F40483DB}"/>
              </a:ext>
            </a:extLst>
          </p:cNvPr>
          <p:cNvSpPr/>
          <p:nvPr/>
        </p:nvSpPr>
        <p:spPr>
          <a:xfrm>
            <a:off x="8998734" y="3930003"/>
            <a:ext cx="883285" cy="24511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富维公司</a:t>
            </a:r>
          </a:p>
        </p:txBody>
      </p: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FC25282A-B4A2-49CE-53DE-2913EA2613FA}"/>
              </a:ext>
            </a:extLst>
          </p:cNvPr>
          <p:cNvCxnSpPr>
            <a:cxnSpLocks/>
          </p:cNvCxnSpPr>
          <p:nvPr/>
        </p:nvCxnSpPr>
        <p:spPr>
          <a:xfrm flipV="1">
            <a:off x="462280" y="4809652"/>
            <a:ext cx="11133819" cy="33676"/>
          </a:xfrm>
          <a:prstGeom prst="line">
            <a:avLst/>
          </a:prstGeom>
          <a:ln w="31750" cap="rnd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2241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DE67F-8E94-84C4-7684-F6CD71A01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9F6F85DB-6DD2-3517-B646-209F06980891}"/>
              </a:ext>
            </a:extLst>
          </p:cNvPr>
          <p:cNvSpPr>
            <a:spLocks noGrp="1"/>
          </p:cNvSpPr>
          <p:nvPr/>
        </p:nvSpPr>
        <p:spPr>
          <a:xfrm>
            <a:off x="462280" y="307975"/>
            <a:ext cx="4857865" cy="509905"/>
          </a:xfrm>
          <a:prstGeom prst="rect">
            <a:avLst/>
          </a:prstGeom>
        </p:spPr>
        <p:txBody>
          <a:bodyPr lIns="81750" tIns="40874" rIns="81750" bIns="40874"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844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>
                <a:solidFill>
                  <a:srgbClr val="152A8C"/>
                </a:solidFill>
              </a:rPr>
              <a:t>股权运营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5C50FB2-11A9-17D0-481A-C2BE06C223F9}"/>
              </a:ext>
            </a:extLst>
          </p:cNvPr>
          <p:cNvSpPr txBox="1"/>
          <p:nvPr/>
        </p:nvSpPr>
        <p:spPr>
          <a:xfrm>
            <a:off x="378918" y="894033"/>
            <a:ext cx="11265262" cy="518602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当前界面：无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A114AF7-8AF8-09F7-E30A-4A2ADA82A2F6}"/>
              </a:ext>
            </a:extLst>
          </p:cNvPr>
          <p:cNvSpPr txBox="1"/>
          <p:nvPr/>
        </p:nvSpPr>
        <p:spPr>
          <a:xfrm>
            <a:off x="6854032" y="894033"/>
            <a:ext cx="4873510" cy="811477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存在问题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进展部分放在最前面</a:t>
            </a:r>
            <a:endParaRPr lang="en-US" altLang="zh-CN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按截至上期显示已完成金额</a:t>
            </a:r>
            <a:r>
              <a:rPr lang="en-US" altLang="zh-CN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计划完成金额</a:t>
            </a:r>
            <a:endParaRPr lang="en-US" altLang="zh-CN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股权经营方式指标：鼠标移动位置显示具体项目名称</a:t>
            </a:r>
            <a:endParaRPr lang="en-US" altLang="zh-CN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按项目危险程度排序显示</a:t>
            </a:r>
            <a:endParaRPr lang="en-US" altLang="zh-CN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时间戳调整到</a:t>
            </a: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26</a:t>
            </a: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年前显示信息一样，能否以</a:t>
            </a: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26</a:t>
            </a: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年为起点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5A94576-C976-DE35-5855-E201F5198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918" y="1299771"/>
            <a:ext cx="6308389" cy="201636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AD0EBBB-1791-912B-1660-AC89B8D0A134}"/>
              </a:ext>
            </a:extLst>
          </p:cNvPr>
          <p:cNvSpPr txBox="1"/>
          <p:nvPr/>
        </p:nvSpPr>
        <p:spPr>
          <a:xfrm>
            <a:off x="378918" y="3634605"/>
            <a:ext cx="11265262" cy="518602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优化后界面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1A3285F-5E60-7127-1BD1-A2E6C8773F39}"/>
              </a:ext>
            </a:extLst>
          </p:cNvPr>
          <p:cNvSpPr/>
          <p:nvPr/>
        </p:nvSpPr>
        <p:spPr bwMode="auto">
          <a:xfrm>
            <a:off x="462280" y="4032364"/>
            <a:ext cx="11265262" cy="2517168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01A42D2-987D-4B66-E37C-31A0115D5E15}"/>
              </a:ext>
            </a:extLst>
          </p:cNvPr>
          <p:cNvSpPr txBox="1"/>
          <p:nvPr/>
        </p:nvSpPr>
        <p:spPr>
          <a:xfrm>
            <a:off x="595901" y="4032364"/>
            <a:ext cx="2948683" cy="397759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股权运营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3C89DF3-F7A9-037F-9154-8812D570EC39}"/>
              </a:ext>
            </a:extLst>
          </p:cNvPr>
          <p:cNvSpPr txBox="1"/>
          <p:nvPr/>
        </p:nvSpPr>
        <p:spPr>
          <a:xfrm>
            <a:off x="595900" y="4582274"/>
            <a:ext cx="5640513" cy="163359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华大半导体（正常推进或危险标识）：具体进展</a:t>
            </a:r>
            <a:r>
              <a:rPr lang="en-US" altLang="zh-CN" sz="1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XXX</a:t>
            </a:r>
          </a:p>
          <a:p>
            <a:r>
              <a:rPr lang="en-US" altLang="zh-CN" sz="1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中联电子（正常推进或危险标识） ：具体进展</a:t>
            </a:r>
            <a:r>
              <a:rPr lang="en-US" altLang="zh-CN" sz="1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XXX</a:t>
            </a:r>
          </a:p>
          <a:p>
            <a:r>
              <a:rPr lang="en-US" altLang="zh-CN" sz="1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3.XXX</a:t>
            </a: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（正常推进或危险标识） ：</a:t>
            </a:r>
            <a:endParaRPr lang="en-US" altLang="zh-CN" sz="12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（截取各项目在最近一期经审批后的项目进展，进展字数太多，左右滚动播放）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41693EA-4160-851C-FC30-494289B4F6B9}"/>
              </a:ext>
            </a:extLst>
          </p:cNvPr>
          <p:cNvSpPr txBox="1"/>
          <p:nvPr/>
        </p:nvSpPr>
        <p:spPr>
          <a:xfrm>
            <a:off x="2445249" y="4440397"/>
            <a:ext cx="1692357" cy="23388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项目进展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F4AEE2F-2DDB-642E-67F8-D5A2731E731C}"/>
              </a:ext>
            </a:extLst>
          </p:cNvPr>
          <p:cNvSpPr txBox="1"/>
          <p:nvPr/>
        </p:nvSpPr>
        <p:spPr>
          <a:xfrm>
            <a:off x="6527025" y="4471676"/>
            <a:ext cx="1692357" cy="23388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股权增值金额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3D47F21-C69A-E06B-1E2B-147BD738C5EA}"/>
              </a:ext>
            </a:extLst>
          </p:cNvPr>
          <p:cNvSpPr txBox="1"/>
          <p:nvPr/>
        </p:nvSpPr>
        <p:spPr>
          <a:xfrm>
            <a:off x="6527025" y="4762087"/>
            <a:ext cx="1692357" cy="657881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XXX</a:t>
            </a: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亿</a:t>
            </a:r>
            <a:endParaRPr lang="en-US" altLang="zh-CN" sz="16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已完成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944C7CB-4BAB-A5C7-04C6-4A1A432B39B9}"/>
              </a:ext>
            </a:extLst>
          </p:cNvPr>
          <p:cNvSpPr txBox="1"/>
          <p:nvPr/>
        </p:nvSpPr>
        <p:spPr>
          <a:xfrm>
            <a:off x="6527025" y="5436146"/>
            <a:ext cx="1692357" cy="657881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XXX</a:t>
            </a: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亿</a:t>
            </a:r>
            <a:endParaRPr lang="en-US" altLang="zh-CN" sz="16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计划完成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0CE4CDF-58F9-8112-3ECE-942C8431F7B7}"/>
              </a:ext>
            </a:extLst>
          </p:cNvPr>
          <p:cNvSpPr txBox="1"/>
          <p:nvPr/>
        </p:nvSpPr>
        <p:spPr>
          <a:xfrm>
            <a:off x="595901" y="6292907"/>
            <a:ext cx="4325420" cy="187154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注：按双周更新、危险的排序在上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631A3CF-6615-54CB-1A2F-E1C499FA33AF}"/>
              </a:ext>
            </a:extLst>
          </p:cNvPr>
          <p:cNvSpPr txBox="1"/>
          <p:nvPr/>
        </p:nvSpPr>
        <p:spPr>
          <a:xfrm>
            <a:off x="6094911" y="6292907"/>
            <a:ext cx="3012042" cy="233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注：需增加手动填写金额的功能，并有下钻页面，显示项目名称，增利时间、增利金额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8AFE67F-C7BD-319F-32CA-420902DC4AD8}"/>
              </a:ext>
            </a:extLst>
          </p:cNvPr>
          <p:cNvSpPr/>
          <p:nvPr/>
        </p:nvSpPr>
        <p:spPr bwMode="auto">
          <a:xfrm>
            <a:off x="10161142" y="4153207"/>
            <a:ext cx="1434957" cy="318469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时间：删除</a:t>
            </a:r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3569821D-AC21-6721-657F-B6A4CACAA6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7725" y="4597581"/>
            <a:ext cx="2306833" cy="1838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291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85C43-6FA0-2548-AC82-E26ECFC59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0072C1F3-8C1D-730F-0687-4479815471BC}"/>
              </a:ext>
            </a:extLst>
          </p:cNvPr>
          <p:cNvSpPr>
            <a:spLocks noGrp="1"/>
          </p:cNvSpPr>
          <p:nvPr/>
        </p:nvSpPr>
        <p:spPr>
          <a:xfrm>
            <a:off x="462280" y="307975"/>
            <a:ext cx="4857865" cy="509905"/>
          </a:xfrm>
          <a:prstGeom prst="rect">
            <a:avLst/>
          </a:prstGeom>
        </p:spPr>
        <p:txBody>
          <a:bodyPr lIns="81750" tIns="40874" rIns="81750" bIns="40874"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844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>
                <a:solidFill>
                  <a:srgbClr val="152A8C"/>
                </a:solidFill>
              </a:rPr>
              <a:t>参股党建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EB61048-4E1A-D07A-65A1-6ADFCB24EBA1}"/>
              </a:ext>
            </a:extLst>
          </p:cNvPr>
          <p:cNvSpPr txBox="1"/>
          <p:nvPr/>
        </p:nvSpPr>
        <p:spPr>
          <a:xfrm>
            <a:off x="378918" y="894033"/>
            <a:ext cx="11265262" cy="518602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当前界面：无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21BD0B7-4F8B-04BE-DEB0-86CBE06BFA91}"/>
              </a:ext>
            </a:extLst>
          </p:cNvPr>
          <p:cNvSpPr txBox="1"/>
          <p:nvPr/>
        </p:nvSpPr>
        <p:spPr>
          <a:xfrm>
            <a:off x="6854032" y="894033"/>
            <a:ext cx="4873510" cy="811477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存在问题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新增指标：是否</a:t>
            </a:r>
            <a:r>
              <a:rPr lang="en-US" altLang="zh-CN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GYKG</a:t>
            </a: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混合所有制企业（待定）</a:t>
            </a:r>
            <a:endParaRPr lang="en-US" altLang="zh-CN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无法下钻，需设置下钻页面：公司名称、是否设立党组织、是否进章程（分母剔除</a:t>
            </a:r>
            <a:r>
              <a:rPr lang="en-US" altLang="zh-CN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T3</a:t>
            </a: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）、党建工作责任主体</a:t>
            </a:r>
            <a:endParaRPr lang="en-US" altLang="zh-CN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鼠标悬浮，能显示未覆盖、未进章程公司名称</a:t>
            </a:r>
            <a:endParaRPr lang="en-US" altLang="zh-CN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endParaRPr lang="en-US" altLang="zh-CN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479585A-A9DF-4BA7-144D-70A4289F0537}"/>
              </a:ext>
            </a:extLst>
          </p:cNvPr>
          <p:cNvSpPr txBox="1"/>
          <p:nvPr/>
        </p:nvSpPr>
        <p:spPr>
          <a:xfrm>
            <a:off x="378918" y="3634605"/>
            <a:ext cx="11265262" cy="518602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优化后界面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D29DFD-C7C2-050F-CAD4-94628923A555}"/>
              </a:ext>
            </a:extLst>
          </p:cNvPr>
          <p:cNvSpPr/>
          <p:nvPr/>
        </p:nvSpPr>
        <p:spPr bwMode="auto">
          <a:xfrm>
            <a:off x="462280" y="4032364"/>
            <a:ext cx="11265262" cy="2517168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FE1FA7B-AA73-CDBA-4037-843F6E5BCD7A}"/>
              </a:ext>
            </a:extLst>
          </p:cNvPr>
          <p:cNvSpPr txBox="1"/>
          <p:nvPr/>
        </p:nvSpPr>
        <p:spPr>
          <a:xfrm>
            <a:off x="595901" y="4032364"/>
            <a:ext cx="2948683" cy="397759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参股党建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D999722-56F4-9DEE-B9C3-2BDEB1BDA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80" y="1221501"/>
            <a:ext cx="4971429" cy="220749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66E2492-9500-41A4-F91E-678AA123F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901" y="4342034"/>
            <a:ext cx="4971429" cy="203314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A708B43-FD83-E8E8-81AC-4C86EC0A44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4378" y="4342034"/>
            <a:ext cx="3568977" cy="2077877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D49676B3-7375-8523-5341-B19E02C93805}"/>
              </a:ext>
            </a:extLst>
          </p:cNvPr>
          <p:cNvSpPr txBox="1"/>
          <p:nvPr/>
        </p:nvSpPr>
        <p:spPr>
          <a:xfrm>
            <a:off x="8763856" y="4931596"/>
            <a:ext cx="1438382" cy="801384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显示公司名称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C005B09-E830-C392-795B-D161C8475D12}"/>
              </a:ext>
            </a:extLst>
          </p:cNvPr>
          <p:cNvSpPr/>
          <p:nvPr/>
        </p:nvSpPr>
        <p:spPr bwMode="auto">
          <a:xfrm>
            <a:off x="8675535" y="4728864"/>
            <a:ext cx="1962364" cy="99809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dirty="0">
                <a:latin typeface="Arial" panose="020B0604020202020204" pitchFamily="34" charset="0"/>
                <a:ea typeface="宋体" panose="02010600030101010101" pitchFamily="2" charset="-122"/>
              </a:rPr>
              <a:t>数量和比例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9574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DDAEA-95BB-063E-9688-F3B166359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88E74426-C4EC-4785-A33D-ED092D9E29D1}"/>
              </a:ext>
            </a:extLst>
          </p:cNvPr>
          <p:cNvSpPr>
            <a:spLocks noGrp="1"/>
          </p:cNvSpPr>
          <p:nvPr/>
        </p:nvSpPr>
        <p:spPr>
          <a:xfrm>
            <a:off x="462280" y="307975"/>
            <a:ext cx="4857865" cy="509905"/>
          </a:xfrm>
          <a:prstGeom prst="rect">
            <a:avLst/>
          </a:prstGeom>
        </p:spPr>
        <p:txBody>
          <a:bodyPr lIns="81750" tIns="40874" rIns="81750" bIns="40874"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844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>
                <a:solidFill>
                  <a:srgbClr val="152A8C"/>
                </a:solidFill>
              </a:rPr>
              <a:t>监督控制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0454548-909B-1A80-FD2B-5FE094940421}"/>
              </a:ext>
            </a:extLst>
          </p:cNvPr>
          <p:cNvSpPr txBox="1"/>
          <p:nvPr/>
        </p:nvSpPr>
        <p:spPr>
          <a:xfrm>
            <a:off x="378918" y="894033"/>
            <a:ext cx="11265262" cy="518602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当前界面：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BE086A4-8F97-BDEB-3BBD-058F629CA6DD}"/>
              </a:ext>
            </a:extLst>
          </p:cNvPr>
          <p:cNvSpPr txBox="1"/>
          <p:nvPr/>
        </p:nvSpPr>
        <p:spPr>
          <a:xfrm>
            <a:off x="6854032" y="894033"/>
            <a:ext cx="4873510" cy="2051534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存在问题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左侧红框标记处删除，涉及风险管理、审计管理</a:t>
            </a:r>
            <a:endParaRPr lang="en-US" altLang="zh-CN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风险企业指标：需设置下钻页面：公司名称、是否存在风险点（逻辑与当前保持一致）、风险数量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342900" lvl="0" indent="-342900">
              <a:buFont typeface="+mj-lt"/>
              <a:buAutoNum type="arabicPeriod"/>
              <a:defRPr/>
            </a:pPr>
            <a:r>
              <a:rPr lang="zh-CN" altLang="en-US" sz="105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风险分析指标：需设置下钻页面：公司名称、风险名称、触发时间、处理时间、风险状态（处理中、已关闭）、处理结果（取具体风险中核实结果说明）</a:t>
            </a:r>
            <a:endParaRPr lang="en-US" altLang="zh-CN" sz="105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lvl="0" indent="-342900">
              <a:buFont typeface="+mj-lt"/>
              <a:buAutoNum type="arabicPeriod"/>
              <a:defRPr/>
            </a:pPr>
            <a:r>
              <a:rPr lang="zh-CN" altLang="en-US" sz="105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风险分析指标：图例显示不完整</a:t>
            </a:r>
            <a:endParaRPr lang="en-US" altLang="zh-CN" sz="105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lvl="0" indent="-342900">
              <a:buFont typeface="+mj-lt"/>
              <a:buAutoNum type="arabicPeriod"/>
              <a:defRPr/>
            </a:pPr>
            <a:r>
              <a:rPr lang="zh-CN" altLang="en-US" sz="105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风险状态指标：需设置下钻页面：公司名称、风险名称、触发时间、处理时间、风险状态（处理中、已关闭）、处理结果（取具体风险中核实结果说明）</a:t>
            </a:r>
            <a:endParaRPr lang="en-US" altLang="zh-CN" sz="105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lvl="0" indent="-342900">
              <a:buFont typeface="+mj-lt"/>
              <a:buAutoNum type="arabicPeriod"/>
              <a:defRPr/>
            </a:pPr>
            <a:r>
              <a:rPr lang="zh-CN" altLang="en-US" sz="105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时间戳调整后，数据均无变化，应该是这样么？</a:t>
            </a:r>
            <a:endParaRPr lang="en-US" altLang="zh-CN" sz="105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855C030-66DF-44F4-153F-DF38F198572A}"/>
              </a:ext>
            </a:extLst>
          </p:cNvPr>
          <p:cNvSpPr txBox="1"/>
          <p:nvPr/>
        </p:nvSpPr>
        <p:spPr>
          <a:xfrm>
            <a:off x="378918" y="3634605"/>
            <a:ext cx="11265262" cy="518602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优化后界面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A59464E-9A23-0CDB-4F8F-3009B8B32745}"/>
              </a:ext>
            </a:extLst>
          </p:cNvPr>
          <p:cNvSpPr/>
          <p:nvPr/>
        </p:nvSpPr>
        <p:spPr bwMode="auto">
          <a:xfrm>
            <a:off x="462280" y="4032364"/>
            <a:ext cx="11265262" cy="2517168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60A613D-7CDA-3426-E5D6-2525B1589BD6}"/>
              </a:ext>
            </a:extLst>
          </p:cNvPr>
          <p:cNvSpPr txBox="1"/>
          <p:nvPr/>
        </p:nvSpPr>
        <p:spPr>
          <a:xfrm>
            <a:off x="595901" y="4032364"/>
            <a:ext cx="2948683" cy="397759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监督控制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22430E5-FC87-B440-50B6-3FCE3C438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80" y="1306156"/>
            <a:ext cx="6020713" cy="2051534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1516F176-EE7D-D382-25C5-98764F43F498}"/>
              </a:ext>
            </a:extLst>
          </p:cNvPr>
          <p:cNvSpPr/>
          <p:nvPr/>
        </p:nvSpPr>
        <p:spPr bwMode="auto">
          <a:xfrm>
            <a:off x="595901" y="1808252"/>
            <a:ext cx="965771" cy="267128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C4392D-6A8F-97C7-6F44-E91C312078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4601" y="3223395"/>
            <a:ext cx="4873509" cy="268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090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68928-310B-C2B3-BFE7-C4499FEDE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37DBD032-E6ED-DB28-497B-C51E5161E540}"/>
              </a:ext>
            </a:extLst>
          </p:cNvPr>
          <p:cNvSpPr>
            <a:spLocks noGrp="1"/>
          </p:cNvSpPr>
          <p:nvPr/>
        </p:nvSpPr>
        <p:spPr>
          <a:xfrm>
            <a:off x="462280" y="307975"/>
            <a:ext cx="4857865" cy="509905"/>
          </a:xfrm>
          <a:prstGeom prst="rect">
            <a:avLst/>
          </a:prstGeom>
        </p:spPr>
        <p:txBody>
          <a:bodyPr lIns="81750" tIns="40874" rIns="81750" bIns="40874"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844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其他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B7340A4-7902-EC5C-BB88-E031FEF0CD96}"/>
              </a:ext>
            </a:extLst>
          </p:cNvPr>
          <p:cNvSpPr txBox="1"/>
          <p:nvPr/>
        </p:nvSpPr>
        <p:spPr>
          <a:xfrm>
            <a:off x="378918" y="894033"/>
            <a:ext cx="11265262" cy="518602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当前界面：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A8E84CC-3CC6-EA87-163E-5F3D74861148}"/>
              </a:ext>
            </a:extLst>
          </p:cNvPr>
          <p:cNvSpPr txBox="1"/>
          <p:nvPr/>
        </p:nvSpPr>
        <p:spPr>
          <a:xfrm>
            <a:off x="6854032" y="894033"/>
            <a:ext cx="4873510" cy="2051534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存在问题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会议、人事调动无信息</a:t>
            </a:r>
            <a:endParaRPr lang="en-US" altLang="zh-CN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左右布局需统一调整</a:t>
            </a:r>
            <a:endParaRPr lang="en-US" altLang="zh-CN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一企一策选择</a:t>
            </a:r>
            <a:r>
              <a:rPr lang="en-US" altLang="zh-CN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Q1</a:t>
            </a: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无信息</a:t>
            </a:r>
            <a:endParaRPr lang="en-US" altLang="zh-CN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亏损金额、盈利金额数据不对：富赛电子显示数据与系统录入数据不符</a:t>
            </a:r>
            <a:endParaRPr lang="en-US" altLang="zh-CN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CN" altLang="en-US" sz="105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参股企业经营情况数据错误</a:t>
            </a:r>
            <a:endParaRPr lang="en-US" altLang="zh-CN" sz="105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1289838E-2578-7057-01FB-DBEDE2794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80" y="1264221"/>
            <a:ext cx="3311878" cy="5285804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7FDE3E53-A3C9-070F-ECFA-9D941A464F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7520" y="1241437"/>
            <a:ext cx="2366369" cy="1826595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FAD85EB7-FC1C-D5F3-F6F2-4B5A451E07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7520" y="3068033"/>
            <a:ext cx="6095999" cy="1826596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96AD8E69-244D-4884-6EEF-2BFEE24992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7520" y="4843881"/>
            <a:ext cx="6342857" cy="154536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94D9593-62AE-D3B3-01F9-1A183EF00F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0377" y="3381007"/>
            <a:ext cx="1925995" cy="146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742351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803</Words>
  <Application>Microsoft Office PowerPoint</Application>
  <PresentationFormat>宽屏</PresentationFormat>
  <Paragraphs>118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微软雅黑</vt:lpstr>
      <vt:lpstr>Arial</vt:lpstr>
      <vt:lpstr>Calibri</vt:lpstr>
      <vt:lpstr>Wingdings</vt:lpstr>
      <vt:lpstr>2_Office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40</cp:revision>
  <dcterms:created xsi:type="dcterms:W3CDTF">2026-07-15T01:50:36Z</dcterms:created>
  <dcterms:modified xsi:type="dcterms:W3CDTF">2026-07-16T09:40:28Z</dcterms:modified>
</cp:coreProperties>
</file>