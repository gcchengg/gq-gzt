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"/>
  </p:notesMasterIdLst>
  <p:sldIdLst>
    <p:sldId id="3941" r:id="rId3"/>
    <p:sldId id="3942" r:id="rId4"/>
    <p:sldId id="3943" r:id="rId5"/>
    <p:sldId id="3944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2A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588" autoAdjust="0"/>
  </p:normalViewPr>
  <p:slideViewPr>
    <p:cSldViewPr snapToGrid="0">
      <p:cViewPr varScale="1">
        <p:scale>
          <a:sx n="59" d="100"/>
          <a:sy n="59" d="100"/>
        </p:scale>
        <p:origin x="4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 altLang="en-US" dirty="0"/>
              <a:t>利润贡献情况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投资收益总额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Sheet1!$C$2:$C$9</c:f>
              <c:strCache>
                <c:ptCount val="8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  <c:pt idx="7">
                  <c:v>2026年度目标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87878</c:v>
                </c:pt>
                <c:pt idx="1">
                  <c:v>69849</c:v>
                </c:pt>
                <c:pt idx="2">
                  <c:v>53954</c:v>
                </c:pt>
                <c:pt idx="3">
                  <c:v>55047</c:v>
                </c:pt>
                <c:pt idx="4">
                  <c:v>64030</c:v>
                </c:pt>
                <c:pt idx="5">
                  <c:v>66977</c:v>
                </c:pt>
                <c:pt idx="6">
                  <c:v>99332</c:v>
                </c:pt>
                <c:pt idx="7">
                  <c:v>100000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41-4471-B0FA-D0B6B9A93DA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4746616"/>
        <c:axId val="584745536"/>
      </c:barChart>
      <c:catAx>
        <c:axId val="584746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584745536"/>
        <c:crosses val="autoZero"/>
        <c:auto val="1"/>
        <c:lblAlgn val="ctr"/>
        <c:lblOffset val="100"/>
        <c:noMultiLvlLbl val="0"/>
      </c:catAx>
      <c:valAx>
        <c:axId val="58474553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84746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rgbClr val="FFFFFF">
          <a:lumMod val="85000"/>
        </a:srgbClr>
      </a:solidFill>
    </a:ln>
    <a:effectLst/>
  </c:spPr>
  <c:txPr>
    <a:bodyPr/>
    <a:lstStyle/>
    <a:p>
      <a:pPr>
        <a:defRPr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 altLang="en-US" b="1" dirty="0"/>
              <a:t>资产负债率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Sheet1!$E$29</c:f>
              <c:strCache>
                <c:ptCount val="1"/>
                <c:pt idx="0">
                  <c:v>资产负债率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3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Sheet1!$D$30:$D$35</c:f>
              <c:strCache>
                <c:ptCount val="6"/>
                <c:pt idx="0">
                  <c:v>A公司</c:v>
                </c:pt>
                <c:pt idx="1">
                  <c:v>B公司</c:v>
                </c:pt>
                <c:pt idx="2">
                  <c:v>C公司</c:v>
                </c:pt>
                <c:pt idx="3">
                  <c:v>D公司</c:v>
                </c:pt>
                <c:pt idx="4">
                  <c:v>E公司</c:v>
                </c:pt>
                <c:pt idx="5">
                  <c:v>F公司</c:v>
                </c:pt>
              </c:strCache>
            </c:strRef>
          </c:cat>
          <c:val>
            <c:numRef>
              <c:f>Sheet1!$E$30:$E$35</c:f>
              <c:numCache>
                <c:formatCode>0%</c:formatCode>
                <c:ptCount val="6"/>
                <c:pt idx="0">
                  <c:v>0.75</c:v>
                </c:pt>
                <c:pt idx="1">
                  <c:v>0.8</c:v>
                </c:pt>
                <c:pt idx="2">
                  <c:v>0.82</c:v>
                </c:pt>
                <c:pt idx="3">
                  <c:v>0.79</c:v>
                </c:pt>
                <c:pt idx="4">
                  <c:v>0.75</c:v>
                </c:pt>
                <c:pt idx="5">
                  <c:v>0.92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D6-4F9A-9931-3247A02D6C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84745896"/>
        <c:axId val="584732936"/>
      </c:barChart>
      <c:catAx>
        <c:axId val="5847458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584732936"/>
        <c:crosses val="autoZero"/>
        <c:auto val="1"/>
        <c:lblAlgn val="ctr"/>
        <c:lblOffset val="100"/>
        <c:noMultiLvlLbl val="0"/>
      </c:catAx>
      <c:valAx>
        <c:axId val="58473293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5847458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rgbClr val="FFFFFF">
          <a:lumMod val="85000"/>
        </a:srgbClr>
      </a:solidFill>
    </a:ln>
    <a:effectLst/>
  </c:spPr>
  <c:txPr>
    <a:bodyPr/>
    <a:lstStyle/>
    <a:p>
      <a:pPr>
        <a:defRPr>
          <a:solidFill>
            <a:schemeClr val="accent3">
              <a:lumMod val="50000"/>
            </a:schemeClr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en-US"/>
              <a:t>ROA</a:t>
            </a:r>
            <a:r>
              <a:rPr lang="zh-CN"/>
              <a:t>异常变动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3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Sheet1!$H$29</c:f>
              <c:strCache>
                <c:ptCount val="1"/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accent3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Sheet1!$G$30:$G$35</c:f>
              <c:strCache>
                <c:ptCount val="6"/>
                <c:pt idx="0">
                  <c:v>A公司</c:v>
                </c:pt>
                <c:pt idx="1">
                  <c:v>B公司</c:v>
                </c:pt>
                <c:pt idx="2">
                  <c:v>C公司</c:v>
                </c:pt>
                <c:pt idx="3">
                  <c:v>D公司</c:v>
                </c:pt>
                <c:pt idx="4">
                  <c:v>E公司</c:v>
                </c:pt>
                <c:pt idx="5">
                  <c:v>F公司</c:v>
                </c:pt>
              </c:strCache>
            </c:strRef>
          </c:cat>
          <c:val>
            <c:numRef>
              <c:f>Sheet1!$H$30:$H$35</c:f>
              <c:numCache>
                <c:formatCode>0.00%</c:formatCode>
                <c:ptCount val="6"/>
                <c:pt idx="0">
                  <c:v>2.5000000000000001E-2</c:v>
                </c:pt>
                <c:pt idx="1">
                  <c:v>2.5000000000000001E-2</c:v>
                </c:pt>
                <c:pt idx="2">
                  <c:v>2.5000000000000001E-2</c:v>
                </c:pt>
                <c:pt idx="3">
                  <c:v>2.5000000000000001E-2</c:v>
                </c:pt>
                <c:pt idx="4">
                  <c:v>2.5000000000000001E-2</c:v>
                </c:pt>
                <c:pt idx="5">
                  <c:v>2.5000000000000001E-2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C1-4617-BAC8-F6AA8EC5D5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8667720"/>
        <c:axId val="438661600"/>
      </c:barChart>
      <c:catAx>
        <c:axId val="438667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3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438661600"/>
        <c:crosses val="autoZero"/>
        <c:auto val="1"/>
        <c:lblAlgn val="ctr"/>
        <c:lblOffset val="100"/>
        <c:noMultiLvlLbl val="0"/>
      </c:catAx>
      <c:valAx>
        <c:axId val="438661600"/>
        <c:scaling>
          <c:orientation val="minMax"/>
        </c:scaling>
        <c:delete val="1"/>
        <c:axPos val="l"/>
        <c:numFmt formatCode="0.00%" sourceLinked="1"/>
        <c:majorTickMark val="none"/>
        <c:minorTickMark val="none"/>
        <c:tickLblPos val="nextTo"/>
        <c:crossAx val="438667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solidFill>
        <a:srgbClr val="FFFFFF">
          <a:lumMod val="85000"/>
        </a:srgbClr>
      </a:solidFill>
    </a:ln>
    <a:effectLst/>
  </c:spPr>
  <c:txPr>
    <a:bodyPr/>
    <a:lstStyle/>
    <a:p>
      <a:pPr>
        <a:defRPr>
          <a:solidFill>
            <a:schemeClr val="accent3">
              <a:lumMod val="50000"/>
            </a:schemeClr>
          </a:solidFill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958C3-D505-45C5-8739-CC4167239C1C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94F59C-D7B4-499A-9E61-9765899A40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1505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连续非持续经营、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10ECC9-BEFD-40EB-A993-E432DA1E79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232C5-1F19-F020-B977-AE6048476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CB2476-CAA1-4DD4-A74B-AA59D83D55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ACFBA0E-1D10-D6D3-0F73-04FCAEE6C6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连续非持续经营、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879DAA-5383-3769-2A5A-C9011A151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10ECC9-BEFD-40EB-A993-E432DA1E79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28812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D62DC-A324-6E28-71EC-BB2D7BF08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FC10810-4763-85A7-B631-5DC184BA6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01D25A1-2BB5-E15E-B505-5E8A86C0D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连续非持续经营、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E12F67-E321-73B1-98B8-7F75EB136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10ECC9-BEFD-40EB-A993-E432DA1E79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0003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7FE88-0A32-44F4-38E9-CDEB3BFEA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17979C-2841-2962-3091-6A495F36D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E43A2D-D938-14D3-8C0E-D50AAB4655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连续非持续经营、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4E5055-1D66-8CE6-6E38-F9AB84597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10ECC9-BEFD-40EB-A993-E432DA1E796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4966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GI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GIF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788B3-ABFA-F4A4-A138-796683814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C429306-311F-35E6-D647-5FDD492DF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C6761A-B65F-5B89-CF5F-B59D77761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842CCC-19C5-ED0A-93DD-6910322F2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16E9D7-1DA9-5903-E2E8-4E523BFC0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150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D524C1-615C-B2F1-4BB1-E20FFC293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A163D15-61EA-6FC9-E6A2-CD33986D1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0A42D1-E13C-C114-C08E-4255826A2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09196A-78F2-B305-143B-BB4FA7D84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B2B3F5-D594-44B8-89B6-1FF654597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827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70C1C-5543-8DB5-1799-FDC569ED4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D241D4-45E2-55A3-41DA-CE1681AE5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23EF20-3F2B-9BC1-5C63-A16CD77F9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96BC8E-2B59-2333-7898-BF9B1565D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5E7737-5930-4E38-CFE2-36B1B3206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40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575B1-9CF5-430C-81C3-C8290A7C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FA7C3E-EFBE-00F4-621E-E4A30113FC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54DBFD6-CB14-EA99-A060-12E6BB372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98FAD2-E143-1067-982B-73F1AF91A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0317A1-D5C4-BE9D-5A3F-D1A1F2B8C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ABF5DF9-2B77-EED4-F345-D4B456B8F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410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359960-AAC6-C0D4-A434-B770A40EE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F93B1C-45EA-2A51-14AC-618093A54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3F406A-3489-2292-E97D-6723F544D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0494E98-13FF-9F45-52CB-E84173362D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3184FB2-C707-A079-EDF9-83A047864B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4944C7-0B0A-E798-F866-6C2FCE8A2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5C57372-246D-791B-EA22-1BA40BAE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626F27-C846-AF73-5966-EAEA2C68A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9181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FE380B-FB24-F848-1737-776E416DE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B5470D-C1E6-F078-4BBD-27B48D922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237883-5145-B995-43DD-B58F75EFD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256EC0-595C-BE24-EB74-3E9F16D35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83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E08F81-1E40-B2A5-94E3-ACEF92162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BA50080-6C65-D28A-2790-F8F38D0D0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7D1209-3E21-6430-EBBD-7974AA896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97875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8BA144-4F4B-4712-A9AA-0ABED884D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EE37C5-EF1B-E4FE-04C0-2444E8353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5C2554-6C27-E5A1-6B72-2BA3D150AF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824B92-512D-AA30-D093-425D3DFE7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003C39-2F93-4A71-FBC5-B50832977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558B4C-A2A2-B0AE-954E-8DF0B5D5A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929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BDB243-E3E5-4F31-9774-3B432DDB2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B0BFA5-1AAB-480D-C583-EB5DAA6DF6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8548310-2B8D-CF4F-B516-9B339FADB3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E977DC-913E-B3EB-B32B-20D753940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BC510B-7ABE-82E2-87CC-3D5981A24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F78F4D-7C1A-161D-018F-9ADADD27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088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8572B2-4B08-4148-7458-C79767C9A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A37C31-216D-19F2-9432-170591A027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BDE09C-CCF7-5753-C8CD-8A8059951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3143D8-EFD3-A512-E9A8-9FB93D9A2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E659F9-31AA-9176-71E2-731A4C4AB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18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B4EC127-B11A-6025-7D3E-0442B19937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74F37B-C51A-5F8A-AB24-93534259B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333505-8AD3-D3AB-E450-630718E6C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2913F-9AA0-4860-A278-D7309D854EC7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9C24F2-EFF0-0B6A-1FDE-2DFBF5F1C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14F313-59C0-0FCC-145D-063EE808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D00A5-D8E5-4CB8-A620-633577BDB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55326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327388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  <p:extLst>
      <p:ext uri="{BB962C8B-B14F-4D97-AF65-F5344CB8AC3E}">
        <p14:creationId xmlns:p14="http://schemas.microsoft.com/office/powerpoint/2010/main" val="2901544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093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日</a:t>
            </a: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  <p:extLst>
      <p:ext uri="{BB962C8B-B14F-4D97-AF65-F5344CB8AC3E}">
        <p14:creationId xmlns:p14="http://schemas.microsoft.com/office/powerpoint/2010/main" val="288324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</a:p>
        </p:txBody>
      </p:sp>
    </p:spTree>
    <p:extLst>
      <p:ext uri="{BB962C8B-B14F-4D97-AF65-F5344CB8AC3E}">
        <p14:creationId xmlns:p14="http://schemas.microsoft.com/office/powerpoint/2010/main" val="19048875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rPr>
              <a:t>‹#›</a:t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黑体" panose="02010609060101010101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6704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5586" y="182604"/>
            <a:ext cx="10290733" cy="510092"/>
          </a:xfrm>
          <a:prstGeom prst="rect">
            <a:avLst/>
          </a:prstGeom>
        </p:spPr>
        <p:txBody>
          <a:bodyPr lIns="81750" tIns="40874" rIns="81750" bIns="40874"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3138" y="836362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36044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86741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4CD927-5ABD-C4F5-1C4D-9001F16E4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A23BC2-A5C1-9A9D-CEBB-C1DEFBF58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AF2902-C5B0-9A30-80A3-9B3E117EC2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E2913F-9AA0-4860-A278-D7309D854EC7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FECA17-34E7-6FBC-A651-F2A89EA5E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3D4EBE-300B-8498-0584-DBFBE45ABC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9D00A5-D8E5-4CB8-A620-633577BDB04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227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731021" y="6555928"/>
            <a:ext cx="378017" cy="272039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2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‹#›</a:t>
            </a:fld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4651" b="-2228"/>
          <a:stretch>
            <a:fillRect/>
          </a:stretch>
        </p:blipFill>
        <p:spPr>
          <a:xfrm>
            <a:off x="9776566" y="198909"/>
            <a:ext cx="820850" cy="478889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0597417" y="145965"/>
            <a:ext cx="1289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一汽股权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112D9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FAW EQUITY</a:t>
            </a: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</a:p>
        </p:txBody>
      </p:sp>
    </p:spTree>
    <p:extLst>
      <p:ext uri="{BB962C8B-B14F-4D97-AF65-F5344CB8AC3E}">
        <p14:creationId xmlns:p14="http://schemas.microsoft.com/office/powerpoint/2010/main" val="2253097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1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2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3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Blip>
          <a:blip r:embed="rId14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chart" Target="../charts/chart1.xml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20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472290" y="974504"/>
            <a:ext cx="11186332" cy="3189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36000" rIns="0" bIns="36000" anchor="t" anchorCtr="0">
            <a:spAutoFit/>
          </a:bodyPr>
          <a:lstStyle/>
          <a:p>
            <a:pPr marL="285750" marR="0" lvl="1" indent="-285750" algn="just" defTabSz="914400" rtl="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52A8C"/>
              </a:buClr>
              <a:buSzPct val="100000"/>
              <a:buFont typeface="Wingdings" panose="05000000000000000000" pitchFamily="2" charset="2"/>
              <a:buChar char="p"/>
              <a:tabLst>
                <a:tab pos="0" algn="l"/>
              </a:tabLst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绩效考核</a:t>
            </a:r>
            <a:r>
              <a:rPr lang="zh-CN" altLang="en-US" sz="16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指标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标题 4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7860" y="288568"/>
            <a:ext cx="9850832" cy="548571"/>
          </a:xfrm>
          <a:prstGeom prst="rect">
            <a:avLst/>
          </a:prstGeom>
        </p:spPr>
        <p:txBody>
          <a:bodyPr lIns="81750" tIns="40874" rIns="81750" bIns="40874" anchor="ctr" anchorCtr="0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微软雅黑" panose="020B0503020204020204" charset="-122"/>
              </a:rPr>
              <a:t>设计界面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rgbClr val="112D9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微软雅黑" panose="020B050302020402020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BB8D979-5C70-2705-2BA8-91D77D5EB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91" y="1402936"/>
            <a:ext cx="11332715" cy="1278619"/>
          </a:xfrm>
          <a:prstGeom prst="rect">
            <a:avLst/>
          </a:prstGeom>
        </p:spPr>
      </p:pic>
      <p:sp>
        <p:nvSpPr>
          <p:cNvPr id="5" name="矩形: 圆角 4">
            <a:extLst>
              <a:ext uri="{FF2B5EF4-FFF2-40B4-BE49-F238E27FC236}">
                <a16:creationId xmlns:a16="http://schemas.microsoft.com/office/drawing/2014/main" id="{5A50246E-B61F-F667-BAF1-BE60AD9AF73B}"/>
              </a:ext>
            </a:extLst>
          </p:cNvPr>
          <p:cNvSpPr/>
          <p:nvPr/>
        </p:nvSpPr>
        <p:spPr bwMode="auto">
          <a:xfrm>
            <a:off x="472290" y="2843197"/>
            <a:ext cx="2693399" cy="1099335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9C711C9-0F70-26BD-833E-AC612FD0D93C}"/>
              </a:ext>
            </a:extLst>
          </p:cNvPr>
          <p:cNvSpPr txBox="1"/>
          <p:nvPr/>
        </p:nvSpPr>
        <p:spPr>
          <a:xfrm>
            <a:off x="658663" y="2966487"/>
            <a:ext cx="2507026" cy="24729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技术及产品被集团应用比例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4D41639-8AB6-CBDB-CC00-A971A7509D06}"/>
              </a:ext>
            </a:extLst>
          </p:cNvPr>
          <p:cNvSpPr txBox="1"/>
          <p:nvPr/>
        </p:nvSpPr>
        <p:spPr>
          <a:xfrm>
            <a:off x="658663" y="3272143"/>
            <a:ext cx="1498340" cy="30565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en-US" altLang="zh-CN" sz="12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lang="zh-CN" altLang="en-US" sz="120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FC23594-F35C-B8AE-9145-19C1C7D785A4}"/>
              </a:ext>
            </a:extLst>
          </p:cNvPr>
          <p:cNvSpPr/>
          <p:nvPr/>
        </p:nvSpPr>
        <p:spPr bwMode="auto">
          <a:xfrm>
            <a:off x="658663" y="3590642"/>
            <a:ext cx="2418583" cy="247298"/>
          </a:xfrm>
          <a:prstGeom prst="round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上季度考核达成进度：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2DD90B1-C9A3-17DD-8F7E-F4F5AB001CEB}"/>
              </a:ext>
            </a:extLst>
          </p:cNvPr>
          <p:cNvSpPr/>
          <p:nvPr/>
        </p:nvSpPr>
        <p:spPr bwMode="auto">
          <a:xfrm>
            <a:off x="3352063" y="2843197"/>
            <a:ext cx="2693399" cy="1099335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14BC3D0-C4BC-D75D-027E-034BB196E5E8}"/>
              </a:ext>
            </a:extLst>
          </p:cNvPr>
          <p:cNvSpPr txBox="1"/>
          <p:nvPr/>
        </p:nvSpPr>
        <p:spPr>
          <a:xfrm>
            <a:off x="3538435" y="2966487"/>
            <a:ext cx="1918832" cy="24729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赋能参股企业合作数量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A518B4-0041-21D4-EC1B-F767CF8E70D3}"/>
              </a:ext>
            </a:extLst>
          </p:cNvPr>
          <p:cNvSpPr txBox="1"/>
          <p:nvPr/>
        </p:nvSpPr>
        <p:spPr>
          <a:xfrm>
            <a:off x="3538436" y="3272143"/>
            <a:ext cx="1498340" cy="30565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4 </a:t>
            </a:r>
            <a:r>
              <a:rPr lang="zh-CN" altLang="en-US" sz="12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6B80D65-F0CE-BD45-2CC9-374BF141AE19}"/>
              </a:ext>
            </a:extLst>
          </p:cNvPr>
          <p:cNvSpPr/>
          <p:nvPr/>
        </p:nvSpPr>
        <p:spPr bwMode="auto">
          <a:xfrm>
            <a:off x="3538436" y="3590642"/>
            <a:ext cx="2418583" cy="247298"/>
          </a:xfrm>
          <a:prstGeom prst="round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上季度考核达成进度：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23D2857-E28C-AF45-4CF6-666607318C8F}"/>
              </a:ext>
            </a:extLst>
          </p:cNvPr>
          <p:cNvSpPr/>
          <p:nvPr/>
        </p:nvSpPr>
        <p:spPr bwMode="auto">
          <a:xfrm>
            <a:off x="6231834" y="2843197"/>
            <a:ext cx="2693399" cy="1099335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62E456E-003A-5754-E9EC-8C30B64725B7}"/>
              </a:ext>
            </a:extLst>
          </p:cNvPr>
          <p:cNvSpPr txBox="1"/>
          <p:nvPr/>
        </p:nvSpPr>
        <p:spPr>
          <a:xfrm>
            <a:off x="6418207" y="2966487"/>
            <a:ext cx="1918832" cy="24729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数智化建设完成率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4537606-0975-8908-5CB8-C303D0B48E59}"/>
              </a:ext>
            </a:extLst>
          </p:cNvPr>
          <p:cNvSpPr txBox="1"/>
          <p:nvPr/>
        </p:nvSpPr>
        <p:spPr>
          <a:xfrm>
            <a:off x="6418208" y="3272143"/>
            <a:ext cx="1498340" cy="30565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en-US" altLang="zh-CN" sz="12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lang="zh-CN" altLang="en-US" sz="120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94E8C70-0DD2-5235-B887-2669CE9A9F2C}"/>
              </a:ext>
            </a:extLst>
          </p:cNvPr>
          <p:cNvSpPr/>
          <p:nvPr/>
        </p:nvSpPr>
        <p:spPr bwMode="auto">
          <a:xfrm>
            <a:off x="6418208" y="3590642"/>
            <a:ext cx="2418583" cy="247298"/>
          </a:xfrm>
          <a:prstGeom prst="round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上季度考核达成进度：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80F14EC-F007-EF33-DCC0-D7A6A54561C4}"/>
              </a:ext>
            </a:extLst>
          </p:cNvPr>
          <p:cNvSpPr/>
          <p:nvPr/>
        </p:nvSpPr>
        <p:spPr bwMode="auto">
          <a:xfrm>
            <a:off x="9111606" y="2843197"/>
            <a:ext cx="2693399" cy="1099335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2E5B957-1E0E-A070-FDFF-58677168FFA3}"/>
              </a:ext>
            </a:extLst>
          </p:cNvPr>
          <p:cNvSpPr txBox="1"/>
          <p:nvPr/>
        </p:nvSpPr>
        <p:spPr>
          <a:xfrm>
            <a:off x="9297978" y="2966487"/>
            <a:ext cx="1918832" cy="24729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能力提升任务完成率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8AE1F3-7C99-875C-D4BF-CB9490377EF8}"/>
              </a:ext>
            </a:extLst>
          </p:cNvPr>
          <p:cNvSpPr txBox="1"/>
          <p:nvPr/>
        </p:nvSpPr>
        <p:spPr>
          <a:xfrm>
            <a:off x="9297979" y="3272143"/>
            <a:ext cx="1498340" cy="30565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24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100</a:t>
            </a:r>
            <a:r>
              <a:rPr lang="en-US" altLang="zh-CN" sz="1200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%</a:t>
            </a:r>
            <a:endParaRPr lang="zh-CN" altLang="en-US" sz="1200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AE27510B-53AD-427E-B037-265CC56F7041}"/>
              </a:ext>
            </a:extLst>
          </p:cNvPr>
          <p:cNvSpPr/>
          <p:nvPr/>
        </p:nvSpPr>
        <p:spPr bwMode="auto">
          <a:xfrm>
            <a:off x="9297979" y="3590642"/>
            <a:ext cx="2418583" cy="247298"/>
          </a:xfrm>
          <a:prstGeom prst="roundRect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上季度考核达成进度：</a:t>
            </a:r>
            <a:r>
              <a:rPr lang="en-US" altLang="zh-CN" sz="1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100%</a:t>
            </a:r>
            <a:endParaRPr kumimoji="0" lang="zh-CN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4FF4C26-26E3-A195-D316-674118B0D05B}"/>
              </a:ext>
            </a:extLst>
          </p:cNvPr>
          <p:cNvSpPr/>
          <p:nvPr/>
        </p:nvSpPr>
        <p:spPr>
          <a:xfrm>
            <a:off x="472290" y="4161548"/>
            <a:ext cx="11186332" cy="3189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36000" rIns="0" bIns="36000" anchor="t" anchorCtr="0">
            <a:spAutoFit/>
          </a:bodyPr>
          <a:lstStyle/>
          <a:p>
            <a:pPr marL="285750" marR="0" lvl="1" indent="-285750" algn="just" defTabSz="914400" rtl="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52A8C"/>
              </a:buClr>
              <a:buSzPct val="100000"/>
              <a:buFont typeface="Wingdings" panose="05000000000000000000" pitchFamily="2" charset="2"/>
              <a:buChar char="p"/>
              <a:tabLst>
                <a:tab pos="0" algn="l"/>
              </a:tabLst>
              <a:defRPr/>
            </a:pPr>
            <a:r>
              <a:rPr lang="zh-CN" altLang="en-US" sz="16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国资监管指标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45DA3BFA-F0BE-04B0-2237-13C6BAAA21EF}"/>
              </a:ext>
            </a:extLst>
          </p:cNvPr>
          <p:cNvGrpSpPr/>
          <p:nvPr/>
        </p:nvGrpSpPr>
        <p:grpSpPr>
          <a:xfrm>
            <a:off x="472290" y="4542631"/>
            <a:ext cx="11332715" cy="1241720"/>
            <a:chOff x="472290" y="4542631"/>
            <a:chExt cx="8472937" cy="1241720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1540B583-41D3-1D89-BC79-75BD50BD22EF}"/>
                </a:ext>
              </a:extLst>
            </p:cNvPr>
            <p:cNvGrpSpPr/>
            <p:nvPr/>
          </p:nvGrpSpPr>
          <p:grpSpPr>
            <a:xfrm>
              <a:off x="472290" y="4542631"/>
              <a:ext cx="2693399" cy="1241720"/>
              <a:chOff x="472290" y="4542631"/>
              <a:chExt cx="2693399" cy="1099335"/>
            </a:xfrm>
          </p:grpSpPr>
          <p:sp>
            <p:nvSpPr>
              <p:cNvPr id="28" name="矩形: 圆角 27">
                <a:extLst>
                  <a:ext uri="{FF2B5EF4-FFF2-40B4-BE49-F238E27FC236}">
                    <a16:creationId xmlns:a16="http://schemas.microsoft.com/office/drawing/2014/main" id="{237B3EEB-2B02-4BE8-9E2A-8EEB3B79B2B8}"/>
                  </a:ext>
                </a:extLst>
              </p:cNvPr>
              <p:cNvSpPr/>
              <p:nvPr/>
            </p:nvSpPr>
            <p:spPr bwMode="auto">
              <a:xfrm>
                <a:off x="472290" y="4542631"/>
                <a:ext cx="2693399" cy="1099335"/>
              </a:xfrm>
              <a:prstGeom prst="roundRect">
                <a:avLst/>
              </a:prstGeom>
              <a:solidFill>
                <a:schemeClr val="tx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tx1">
                    <a:gamma/>
                    <a:shade val="60000"/>
                    <a:invGamma/>
                  </a:schemeClr>
                </a:outerShdw>
              </a:effectLst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81A94A5-3726-5C03-F6E6-CF00C9858134}"/>
                  </a:ext>
                </a:extLst>
              </p:cNvPr>
              <p:cNvSpPr txBox="1"/>
              <p:nvPr/>
            </p:nvSpPr>
            <p:spPr>
              <a:xfrm>
                <a:off x="658662" y="4665921"/>
                <a:ext cx="1918832" cy="24729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l"/>
                <a:r>
                  <a:rPr lang="zh-CN" altLang="en-US" sz="12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连续五年未分红企业占比</a:t>
                </a: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91F4D786-F702-F550-F1CC-399828FF08BF}"/>
                  </a:ext>
                </a:extLst>
              </p:cNvPr>
              <p:cNvSpPr txBox="1"/>
              <p:nvPr/>
            </p:nvSpPr>
            <p:spPr>
              <a:xfrm>
                <a:off x="1667349" y="5168802"/>
                <a:ext cx="1498340" cy="30565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l"/>
                <a:r>
                  <a:rPr lang="en-US" altLang="zh-CN" sz="24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XX</a:t>
                </a:r>
                <a:r>
                  <a:rPr lang="zh-CN" altLang="en-US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家</a:t>
                </a:r>
                <a:r>
                  <a:rPr lang="en-US" altLang="zh-CN" sz="12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/</a:t>
                </a:r>
                <a:r>
                  <a:rPr lang="en-US" altLang="zh-CN" sz="24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XX</a:t>
                </a:r>
                <a:r>
                  <a:rPr lang="en-US" altLang="zh-CN" sz="12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%</a:t>
                </a:r>
                <a:endParaRPr lang="zh-CN" altLang="en-US" sz="12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5544D73A-D85C-6F97-7B84-CF606A4466AD}"/>
                </a:ext>
              </a:extLst>
            </p:cNvPr>
            <p:cNvGrpSpPr/>
            <p:nvPr/>
          </p:nvGrpSpPr>
          <p:grpSpPr>
            <a:xfrm>
              <a:off x="3372057" y="4542631"/>
              <a:ext cx="2693399" cy="1241720"/>
              <a:chOff x="472290" y="4542631"/>
              <a:chExt cx="2693399" cy="1099335"/>
            </a:xfrm>
          </p:grpSpPr>
          <p:sp>
            <p:nvSpPr>
              <p:cNvPr id="34" name="矩形: 圆角 33">
                <a:extLst>
                  <a:ext uri="{FF2B5EF4-FFF2-40B4-BE49-F238E27FC236}">
                    <a16:creationId xmlns:a16="http://schemas.microsoft.com/office/drawing/2014/main" id="{D189FC2C-D82F-E8CE-5FDE-D6C2DB7A7BC4}"/>
                  </a:ext>
                </a:extLst>
              </p:cNvPr>
              <p:cNvSpPr/>
              <p:nvPr/>
            </p:nvSpPr>
            <p:spPr bwMode="auto">
              <a:xfrm>
                <a:off x="472290" y="4542631"/>
                <a:ext cx="2693399" cy="1099335"/>
              </a:xfrm>
              <a:prstGeom prst="roundRect">
                <a:avLst/>
              </a:prstGeom>
              <a:solidFill>
                <a:schemeClr val="tx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tx1">
                    <a:gamma/>
                    <a:shade val="60000"/>
                    <a:invGamma/>
                  </a:schemeClr>
                </a:outerShdw>
              </a:effectLst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2F95B171-5323-9C2B-1009-C36FF906A4B1}"/>
                  </a:ext>
                </a:extLst>
              </p:cNvPr>
              <p:cNvSpPr txBox="1"/>
              <p:nvPr/>
            </p:nvSpPr>
            <p:spPr>
              <a:xfrm>
                <a:off x="658662" y="4665921"/>
                <a:ext cx="1918832" cy="24729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l"/>
                <a:r>
                  <a:rPr lang="zh-CN" altLang="en-US" sz="12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连续三年亏损占比</a:t>
                </a: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58635B28-2FF8-6414-4259-9EE776FB98AD}"/>
                  </a:ext>
                </a:extLst>
              </p:cNvPr>
              <p:cNvSpPr txBox="1"/>
              <p:nvPr/>
            </p:nvSpPr>
            <p:spPr>
              <a:xfrm>
                <a:off x="1667349" y="5168802"/>
                <a:ext cx="1498340" cy="30565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l"/>
                <a:r>
                  <a:rPr lang="en-US" altLang="zh-CN" sz="24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XX</a:t>
                </a:r>
                <a:r>
                  <a:rPr lang="zh-CN" altLang="en-US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家</a:t>
                </a:r>
                <a:r>
                  <a:rPr lang="en-US" altLang="zh-CN" sz="12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/</a:t>
                </a:r>
                <a:r>
                  <a:rPr lang="en-US" altLang="zh-CN" sz="24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XX</a:t>
                </a:r>
                <a:r>
                  <a:rPr lang="en-US" altLang="zh-CN" sz="12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%</a:t>
                </a:r>
                <a:endParaRPr lang="zh-CN" altLang="en-US" sz="12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06955D5B-E1BD-1999-0C30-F3DBA9F5F2E7}"/>
                </a:ext>
              </a:extLst>
            </p:cNvPr>
            <p:cNvGrpSpPr/>
            <p:nvPr/>
          </p:nvGrpSpPr>
          <p:grpSpPr>
            <a:xfrm>
              <a:off x="6251828" y="4542631"/>
              <a:ext cx="2693399" cy="1241720"/>
              <a:chOff x="472290" y="4542631"/>
              <a:chExt cx="2693399" cy="1099335"/>
            </a:xfrm>
          </p:grpSpPr>
          <p:sp>
            <p:nvSpPr>
              <p:cNvPr id="38" name="矩形: 圆角 37">
                <a:extLst>
                  <a:ext uri="{FF2B5EF4-FFF2-40B4-BE49-F238E27FC236}">
                    <a16:creationId xmlns:a16="http://schemas.microsoft.com/office/drawing/2014/main" id="{ECEA65FA-324A-9568-0790-7EE33D555695}"/>
                  </a:ext>
                </a:extLst>
              </p:cNvPr>
              <p:cNvSpPr/>
              <p:nvPr/>
            </p:nvSpPr>
            <p:spPr bwMode="auto">
              <a:xfrm>
                <a:off x="472290" y="4542631"/>
                <a:ext cx="2693399" cy="1099335"/>
              </a:xfrm>
              <a:prstGeom prst="roundRect">
                <a:avLst/>
              </a:prstGeom>
              <a:solidFill>
                <a:schemeClr val="tx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>
                <a:outerShdw dist="17961" dir="2700000" algn="ctr" rotWithShape="0">
                  <a:schemeClr val="tx1">
                    <a:gamma/>
                    <a:shade val="60000"/>
                    <a:invGamma/>
                  </a:schemeClr>
                </a:outerShdw>
              </a:effectLst>
            </p:spPr>
            <p:txBody>
              <a:bodyPr vert="horz" wrap="square" lIns="91440" tIns="45720" rIns="91440" bIns="45720" numCol="1" rtlCol="0" anchor="ctr" anchorCtr="0" compatLnSpc="1"/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0" lang="zh-CN" altLang="en-US" sz="16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A8BF4E63-5569-1278-44D0-0ED538539E10}"/>
                  </a:ext>
                </a:extLst>
              </p:cNvPr>
              <p:cNvSpPr txBox="1"/>
              <p:nvPr/>
            </p:nvSpPr>
            <p:spPr>
              <a:xfrm>
                <a:off x="658662" y="4665921"/>
                <a:ext cx="1918832" cy="24729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l"/>
                <a:r>
                  <a:rPr lang="zh-CN" altLang="en-US" sz="1200" b="1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连续非持续经营占比</a:t>
                </a: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340BC6CD-C0CC-A606-2347-1784677E90A4}"/>
                  </a:ext>
                </a:extLst>
              </p:cNvPr>
              <p:cNvSpPr txBox="1"/>
              <p:nvPr/>
            </p:nvSpPr>
            <p:spPr>
              <a:xfrm>
                <a:off x="1667349" y="5168802"/>
                <a:ext cx="1498340" cy="305656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Autofit/>
              </a:bodyPr>
              <a:lstStyle/>
              <a:p>
                <a:pPr algn="l"/>
                <a:r>
                  <a:rPr lang="en-US" altLang="zh-CN" sz="24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XX</a:t>
                </a:r>
                <a:r>
                  <a:rPr lang="zh-CN" altLang="en-US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家</a:t>
                </a:r>
                <a:r>
                  <a:rPr lang="en-US" altLang="zh-CN" sz="12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/</a:t>
                </a:r>
                <a:r>
                  <a:rPr lang="en-US" altLang="zh-CN" sz="24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XX</a:t>
                </a:r>
                <a:r>
                  <a:rPr lang="en-US" altLang="zh-CN" sz="1200" dirty="0">
                    <a:solidFill>
                      <a:srgbClr val="152A8C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%</a:t>
                </a:r>
                <a:endParaRPr lang="zh-CN" altLang="en-US" sz="1200" dirty="0">
                  <a:solidFill>
                    <a:srgbClr val="152A8C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403CC-6721-666A-9E0D-91147318E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F13F4B7-154B-0206-3B89-1FA08C951772}"/>
              </a:ext>
            </a:extLst>
          </p:cNvPr>
          <p:cNvSpPr/>
          <p:nvPr/>
        </p:nvSpPr>
        <p:spPr>
          <a:xfrm>
            <a:off x="472290" y="974504"/>
            <a:ext cx="11186332" cy="3189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36000" rIns="0" bIns="36000" anchor="t" anchorCtr="0">
            <a:spAutoFit/>
          </a:bodyPr>
          <a:lstStyle/>
          <a:p>
            <a:pPr marL="285750" marR="0" lvl="1" indent="-285750" algn="just" defTabSz="914400" rtl="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52A8C"/>
              </a:buClr>
              <a:buSzPct val="100000"/>
              <a:buFont typeface="Wingdings" panose="05000000000000000000" pitchFamily="2" charset="2"/>
              <a:buChar char="p"/>
              <a:tabLst>
                <a:tab pos="0" algn="l"/>
              </a:tabLst>
              <a:defRPr/>
            </a:pPr>
            <a:r>
              <a:rPr lang="zh-CN" altLang="en-US" sz="16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参股经营指标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标题 4">
            <a:extLst>
              <a:ext uri="{FF2B5EF4-FFF2-40B4-BE49-F238E27FC236}">
                <a16:creationId xmlns:a16="http://schemas.microsoft.com/office/drawing/2014/main" id="{51813BB2-02A8-FE27-DBCF-6530F4EB63B7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7860" y="288568"/>
            <a:ext cx="9850832" cy="548571"/>
          </a:xfrm>
          <a:prstGeom prst="rect">
            <a:avLst/>
          </a:prstGeom>
        </p:spPr>
        <p:txBody>
          <a:bodyPr lIns="81750" tIns="40874" rIns="81750" bIns="40874" anchor="ctr" anchorCtr="0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微软雅黑" panose="020B0503020204020204" charset="-122"/>
              </a:rPr>
              <a:t>设计界面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rgbClr val="112D9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微软雅黑" panose="020B050302020402020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CB92E44-7211-3FCC-4C4A-0EDCEF965CA1}"/>
              </a:ext>
            </a:extLst>
          </p:cNvPr>
          <p:cNvSpPr/>
          <p:nvPr/>
        </p:nvSpPr>
        <p:spPr bwMode="auto">
          <a:xfrm>
            <a:off x="472290" y="1438382"/>
            <a:ext cx="11186332" cy="2476072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40885A3-17FD-A1CC-42E9-1574498BF967}"/>
              </a:ext>
            </a:extLst>
          </p:cNvPr>
          <p:cNvSpPr/>
          <p:nvPr/>
        </p:nvSpPr>
        <p:spPr bwMode="auto">
          <a:xfrm>
            <a:off x="472290" y="4093360"/>
            <a:ext cx="11186332" cy="2476072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0A52344-2726-01E4-06FC-8363805FBBF2}"/>
              </a:ext>
            </a:extLst>
          </p:cNvPr>
          <p:cNvSpPr txBox="1"/>
          <p:nvPr/>
        </p:nvSpPr>
        <p:spPr>
          <a:xfrm>
            <a:off x="690743" y="1558545"/>
            <a:ext cx="2566475" cy="27932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利润贡献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2A1A4B3-5088-6B43-0B1D-792858627C30}"/>
              </a:ext>
            </a:extLst>
          </p:cNvPr>
          <p:cNvSpPr txBox="1"/>
          <p:nvPr/>
        </p:nvSpPr>
        <p:spPr>
          <a:xfrm>
            <a:off x="690743" y="4228113"/>
            <a:ext cx="2566475" cy="27932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分红情况</a:t>
            </a:r>
          </a:p>
        </p:txBody>
      </p:sp>
      <p:graphicFrame>
        <p:nvGraphicFramePr>
          <p:cNvPr id="48" name="图表 47">
            <a:extLst>
              <a:ext uri="{FF2B5EF4-FFF2-40B4-BE49-F238E27FC236}">
                <a16:creationId xmlns:a16="http://schemas.microsoft.com/office/drawing/2014/main" id="{63835714-F3B1-7FC6-3992-F5DFF359D02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3259068"/>
              </p:ext>
            </p:extLst>
          </p:nvPr>
        </p:nvGraphicFramePr>
        <p:xfrm>
          <a:off x="533378" y="1837874"/>
          <a:ext cx="3453183" cy="1891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0" name="文本框 49">
            <a:extLst>
              <a:ext uri="{FF2B5EF4-FFF2-40B4-BE49-F238E27FC236}">
                <a16:creationId xmlns:a16="http://schemas.microsoft.com/office/drawing/2014/main" id="{44758456-E665-0703-BFC4-981A479ABDD0}"/>
              </a:ext>
            </a:extLst>
          </p:cNvPr>
          <p:cNvSpPr txBox="1"/>
          <p:nvPr/>
        </p:nvSpPr>
        <p:spPr>
          <a:xfrm>
            <a:off x="2447563" y="2210123"/>
            <a:ext cx="794657" cy="2286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总体情况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11F8BD6-43F9-4185-7AC8-78420ACF6FAC}"/>
              </a:ext>
            </a:extLst>
          </p:cNvPr>
          <p:cNvSpPr txBox="1"/>
          <p:nvPr/>
        </p:nvSpPr>
        <p:spPr>
          <a:xfrm>
            <a:off x="3187781" y="2210123"/>
            <a:ext cx="794657" cy="2286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利润结构</a:t>
            </a: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7ABBF072-89FE-7A38-C2D7-ED33C2907A0D}"/>
              </a:ext>
            </a:extLst>
          </p:cNvPr>
          <p:cNvGrpSpPr/>
          <p:nvPr/>
        </p:nvGrpSpPr>
        <p:grpSpPr>
          <a:xfrm>
            <a:off x="4047648" y="1837873"/>
            <a:ext cx="3453183" cy="1891645"/>
            <a:chOff x="4887686" y="1829079"/>
            <a:chExt cx="4245451" cy="1991807"/>
          </a:xfrm>
        </p:grpSpPr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C8DBA59B-F308-D4AD-B8B6-DAC4AADC0CDE}"/>
                </a:ext>
              </a:extLst>
            </p:cNvPr>
            <p:cNvSpPr txBox="1"/>
            <p:nvPr/>
          </p:nvSpPr>
          <p:spPr>
            <a:xfrm>
              <a:off x="7498443" y="2166122"/>
              <a:ext cx="794657" cy="22860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zh-CN" altLang="en-US" sz="1200" b="1" dirty="0">
                  <a:solidFill>
                    <a:schemeClr val="accent3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总体情况</a:t>
              </a:r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055B783C-82F6-318C-D081-1172EF1DDAB7}"/>
                </a:ext>
              </a:extLst>
            </p:cNvPr>
            <p:cNvSpPr txBox="1"/>
            <p:nvPr/>
          </p:nvSpPr>
          <p:spPr>
            <a:xfrm>
              <a:off x="8238661" y="2166122"/>
              <a:ext cx="794657" cy="228600"/>
            </a:xfrm>
            <a:prstGeom prst="rect">
              <a:avLst/>
            </a:prstGeom>
            <a:noFill/>
          </p:spPr>
          <p:txBody>
            <a:bodyPr wrap="square" rtlCol="0" anchor="ctr" anchorCtr="0">
              <a:noAutofit/>
            </a:bodyPr>
            <a:lstStyle/>
            <a:p>
              <a:pPr algn="l"/>
              <a:r>
                <a:rPr lang="zh-CN" altLang="en-US" sz="1200" b="1" dirty="0">
                  <a:solidFill>
                    <a:schemeClr val="accent3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利润结构</a:t>
              </a:r>
            </a:p>
          </p:txBody>
        </p:sp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5873F1F5-F136-B973-456E-2291F06DC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138961" y="3539043"/>
              <a:ext cx="3590476" cy="190476"/>
            </a:xfrm>
            <a:prstGeom prst="rect">
              <a:avLst/>
            </a:prstGeom>
          </p:spPr>
        </p:pic>
        <p:sp>
          <p:nvSpPr>
            <p:cNvPr id="59" name="矩形 58">
              <a:extLst>
                <a:ext uri="{FF2B5EF4-FFF2-40B4-BE49-F238E27FC236}">
                  <a16:creationId xmlns:a16="http://schemas.microsoft.com/office/drawing/2014/main" id="{0347CE07-8D9D-74CE-72D9-660C5FFFFB23}"/>
                </a:ext>
              </a:extLst>
            </p:cNvPr>
            <p:cNvSpPr/>
            <p:nvPr/>
          </p:nvSpPr>
          <p:spPr bwMode="auto">
            <a:xfrm>
              <a:off x="4887686" y="2166122"/>
              <a:ext cx="579311" cy="32536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投资收益</a:t>
              </a: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322FD2AE-38A0-AED0-558C-09A4FD0E973D}"/>
                </a:ext>
              </a:extLst>
            </p:cNvPr>
            <p:cNvSpPr/>
            <p:nvPr/>
          </p:nvSpPr>
          <p:spPr bwMode="auto">
            <a:xfrm>
              <a:off x="4887686" y="2676418"/>
              <a:ext cx="579311" cy="325361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05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股权退出</a:t>
              </a: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73ECA28-7A9A-6446-D59F-AD8F12A2DB40}"/>
                </a:ext>
              </a:extLst>
            </p:cNvPr>
            <p:cNvSpPr/>
            <p:nvPr/>
          </p:nvSpPr>
          <p:spPr bwMode="auto">
            <a:xfrm>
              <a:off x="4887686" y="1829079"/>
              <a:ext cx="4245451" cy="1991807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zh-CN" altLang="en-US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65" name="图片 64">
              <a:extLst>
                <a:ext uri="{FF2B5EF4-FFF2-40B4-BE49-F238E27FC236}">
                  <a16:creationId xmlns:a16="http://schemas.microsoft.com/office/drawing/2014/main" id="{543B3EEF-FFEF-5FDA-43DC-BFA3581DA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41300" y="1884699"/>
              <a:ext cx="1057143" cy="409524"/>
            </a:xfrm>
            <a:prstGeom prst="rect">
              <a:avLst/>
            </a:prstGeom>
          </p:spPr>
        </p:pic>
      </p:grpSp>
      <p:pic>
        <p:nvPicPr>
          <p:cNvPr id="68" name="图片 67">
            <a:extLst>
              <a:ext uri="{FF2B5EF4-FFF2-40B4-BE49-F238E27FC236}">
                <a16:creationId xmlns:a16="http://schemas.microsoft.com/office/drawing/2014/main" id="{D1FAB8C5-F519-AA95-A248-2777553457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57797" y="1855248"/>
            <a:ext cx="3959290" cy="1891645"/>
          </a:xfrm>
          <a:prstGeom prst="rect">
            <a:avLst/>
          </a:prstGeom>
        </p:spPr>
      </p:pic>
      <p:pic>
        <p:nvPicPr>
          <p:cNvPr id="70" name="图片 69">
            <a:extLst>
              <a:ext uri="{FF2B5EF4-FFF2-40B4-BE49-F238E27FC236}">
                <a16:creationId xmlns:a16="http://schemas.microsoft.com/office/drawing/2014/main" id="{C7EFA04C-F5E4-DCD9-5992-40AAD7F99B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743" y="4575577"/>
            <a:ext cx="3707086" cy="1811903"/>
          </a:xfrm>
          <a:prstGeom prst="rect">
            <a:avLst/>
          </a:prstGeom>
        </p:spPr>
      </p:pic>
      <p:pic>
        <p:nvPicPr>
          <p:cNvPr id="72" name="图片 71">
            <a:extLst>
              <a:ext uri="{FF2B5EF4-FFF2-40B4-BE49-F238E27FC236}">
                <a16:creationId xmlns:a16="http://schemas.microsoft.com/office/drawing/2014/main" id="{62FBE660-17AB-6497-B212-E45F032D3F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22982" y="4575577"/>
            <a:ext cx="6754618" cy="1811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393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885D0-8A92-B759-553C-21B7EEB3D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C7808A9-6508-C221-1A94-D88E66D8D97B}"/>
              </a:ext>
            </a:extLst>
          </p:cNvPr>
          <p:cNvSpPr/>
          <p:nvPr/>
        </p:nvSpPr>
        <p:spPr>
          <a:xfrm>
            <a:off x="472290" y="974504"/>
            <a:ext cx="11186332" cy="3189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36000" rIns="0" bIns="36000" anchor="t" anchorCtr="0">
            <a:spAutoFit/>
          </a:bodyPr>
          <a:lstStyle/>
          <a:p>
            <a:pPr marL="285750" marR="0" lvl="1" indent="-285750" algn="just" defTabSz="914400" rtl="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52A8C"/>
              </a:buClr>
              <a:buSzPct val="100000"/>
              <a:buFont typeface="Wingdings" panose="05000000000000000000" pitchFamily="2" charset="2"/>
              <a:buChar char="p"/>
              <a:tabLst>
                <a:tab pos="0" algn="l"/>
              </a:tabLst>
              <a:defRPr/>
            </a:pPr>
            <a:r>
              <a:rPr lang="zh-CN" altLang="en-US" sz="16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参股经营指标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标题 4">
            <a:extLst>
              <a:ext uri="{FF2B5EF4-FFF2-40B4-BE49-F238E27FC236}">
                <a16:creationId xmlns:a16="http://schemas.microsoft.com/office/drawing/2014/main" id="{E3513DC1-B0E6-04B3-4649-0FC3836BA00C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7860" y="288568"/>
            <a:ext cx="9850832" cy="548571"/>
          </a:xfrm>
          <a:prstGeom prst="rect">
            <a:avLst/>
          </a:prstGeom>
        </p:spPr>
        <p:txBody>
          <a:bodyPr lIns="81750" tIns="40874" rIns="81750" bIns="40874" anchor="ctr" anchorCtr="0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微软雅黑" panose="020B0503020204020204" charset="-122"/>
              </a:rPr>
              <a:t>设计界面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rgbClr val="112D9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微软雅黑" panose="020B050302020402020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A55618EA-C115-80A4-62D1-633E93C9D49B}"/>
              </a:ext>
            </a:extLst>
          </p:cNvPr>
          <p:cNvSpPr/>
          <p:nvPr/>
        </p:nvSpPr>
        <p:spPr bwMode="auto">
          <a:xfrm>
            <a:off x="472290" y="1438381"/>
            <a:ext cx="11186332" cy="3634361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55C0BA8-FC74-6C57-F578-CA477FFC2B6C}"/>
              </a:ext>
            </a:extLst>
          </p:cNvPr>
          <p:cNvSpPr txBox="1"/>
          <p:nvPr/>
        </p:nvSpPr>
        <p:spPr>
          <a:xfrm>
            <a:off x="690743" y="1558545"/>
            <a:ext cx="2566475" cy="27932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经营指标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4EC5F15-CAAD-9305-ABED-6C1B9D003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43" y="1864964"/>
            <a:ext cx="3358743" cy="217895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E02FC7E-7A93-D4E9-000D-99445922E13C}"/>
              </a:ext>
            </a:extLst>
          </p:cNvPr>
          <p:cNvSpPr txBox="1"/>
          <p:nvPr/>
        </p:nvSpPr>
        <p:spPr>
          <a:xfrm>
            <a:off x="794657" y="4103914"/>
            <a:ext cx="3113314" cy="27932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连续三年收入增长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AC65DD1-966C-DCE2-DF25-13C43EC07EB8}"/>
              </a:ext>
            </a:extLst>
          </p:cNvPr>
          <p:cNvSpPr txBox="1"/>
          <p:nvPr/>
        </p:nvSpPr>
        <p:spPr>
          <a:xfrm>
            <a:off x="794657" y="4486816"/>
            <a:ext cx="3113314" cy="27932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chemeClr val="accent3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连续三年收入下降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3C3EDD0-F578-5CA3-F670-5C5133B93693}"/>
              </a:ext>
            </a:extLst>
          </p:cNvPr>
          <p:cNvSpPr txBox="1"/>
          <p:nvPr/>
        </p:nvSpPr>
        <p:spPr>
          <a:xfrm>
            <a:off x="4344606" y="1585636"/>
            <a:ext cx="2056194" cy="279328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defRPr sz="1200" b="1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预警指标</a:t>
            </a:r>
          </a:p>
        </p:txBody>
      </p:sp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C3CBBC8C-E612-0EB8-89BB-90FAC1DA63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9364871"/>
              </p:ext>
            </p:extLst>
          </p:nvPr>
        </p:nvGraphicFramePr>
        <p:xfrm>
          <a:off x="4114801" y="1804970"/>
          <a:ext cx="3679370" cy="2961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45F8FFDF-0BE8-2335-2A92-29AA83C775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4966916"/>
              </p:ext>
            </p:extLst>
          </p:nvPr>
        </p:nvGraphicFramePr>
        <p:xfrm>
          <a:off x="8023976" y="1804969"/>
          <a:ext cx="3373368" cy="29611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858361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47828-CD4A-75E1-CB5A-DAA4078C5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4E98B91-47AD-4E50-C5EF-2521F1A141CF}"/>
              </a:ext>
            </a:extLst>
          </p:cNvPr>
          <p:cNvSpPr/>
          <p:nvPr/>
        </p:nvSpPr>
        <p:spPr>
          <a:xfrm>
            <a:off x="472290" y="974504"/>
            <a:ext cx="11186332" cy="31892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0" tIns="36000" rIns="0" bIns="36000" anchor="t" anchorCtr="0">
            <a:spAutoFit/>
          </a:bodyPr>
          <a:lstStyle/>
          <a:p>
            <a:pPr marL="285750" marR="0" lvl="1" indent="-285750" algn="just" defTabSz="914400" rtl="0" eaLnBrk="0" fontAlgn="auto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152A8C"/>
              </a:buClr>
              <a:buSzPct val="100000"/>
              <a:buFont typeface="Wingdings" panose="05000000000000000000" pitchFamily="2" charset="2"/>
              <a:buChar char="p"/>
              <a:tabLst>
                <a:tab pos="0" algn="l"/>
              </a:tabLst>
              <a:defRPr/>
            </a:pPr>
            <a:r>
              <a:rPr lang="zh-CN" altLang="en-US" sz="16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股权运营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标题 4">
            <a:extLst>
              <a:ext uri="{FF2B5EF4-FFF2-40B4-BE49-F238E27FC236}">
                <a16:creationId xmlns:a16="http://schemas.microsoft.com/office/drawing/2014/main" id="{58E7CAB6-022D-FAF2-3BF3-AD5576DB1357}"/>
              </a:ext>
            </a:extLst>
          </p:cNvPr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77860" y="288568"/>
            <a:ext cx="9850832" cy="548571"/>
          </a:xfrm>
          <a:prstGeom prst="rect">
            <a:avLst/>
          </a:prstGeom>
        </p:spPr>
        <p:txBody>
          <a:bodyPr lIns="81750" tIns="40874" rIns="81750" bIns="40874" anchor="ctr" anchorCtr="0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300" b="1" i="0" u="none" strike="noStrike" kern="1200" cap="none" spc="0" normalizeH="0" baseline="0" noProof="0" dirty="0">
                <a:ln>
                  <a:noFill/>
                </a:ln>
                <a:solidFill>
                  <a:srgbClr val="112D98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  <a:sym typeface="微软雅黑" panose="020B0503020204020204" charset="-122"/>
              </a:rPr>
              <a:t>设计界面</a:t>
            </a:r>
            <a:endParaRPr kumimoji="0" lang="en-US" altLang="zh-CN" sz="2300" b="1" i="0" u="none" strike="noStrike" kern="1200" cap="none" spc="0" normalizeH="0" baseline="0" noProof="0" dirty="0">
              <a:ln>
                <a:noFill/>
              </a:ln>
              <a:solidFill>
                <a:srgbClr val="112D98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  <a:sym typeface="微软雅黑" panose="020B0503020204020204" charset="-122"/>
            </a:endParaRP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A474072-E366-D1DC-D7E6-F5C20A167BBB}"/>
              </a:ext>
            </a:extLst>
          </p:cNvPr>
          <p:cNvSpPr/>
          <p:nvPr/>
        </p:nvSpPr>
        <p:spPr bwMode="auto">
          <a:xfrm>
            <a:off x="472290" y="1438381"/>
            <a:ext cx="11186332" cy="3634361"/>
          </a:xfrm>
          <a:prstGeom prst="roundRect">
            <a:avLst/>
          </a:prstGeom>
          <a:solidFill>
            <a:schemeClr val="tx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zh-CN" altLang="en-US" sz="16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962AD1-C746-2A17-79C1-D26BCFD03F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19" y="1636513"/>
            <a:ext cx="2933333" cy="3238095"/>
          </a:xfrm>
          <a:prstGeom prst="rect">
            <a:avLst/>
          </a:prstGeom>
        </p:spPr>
      </p:pic>
      <p:grpSp>
        <p:nvGrpSpPr>
          <p:cNvPr id="22" name="组合 21">
            <a:extLst>
              <a:ext uri="{FF2B5EF4-FFF2-40B4-BE49-F238E27FC236}">
                <a16:creationId xmlns:a16="http://schemas.microsoft.com/office/drawing/2014/main" id="{F9520546-9F0A-15D8-0A25-F1AAD4E3DF62}"/>
              </a:ext>
            </a:extLst>
          </p:cNvPr>
          <p:cNvGrpSpPr/>
          <p:nvPr/>
        </p:nvGrpSpPr>
        <p:grpSpPr>
          <a:xfrm>
            <a:off x="3799114" y="1636513"/>
            <a:ext cx="4865915" cy="3238096"/>
            <a:chOff x="3799114" y="1636513"/>
            <a:chExt cx="5410200" cy="3238096"/>
          </a:xfrm>
        </p:grpSpPr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EDBC131B-519D-017B-8ECE-F3016629D1C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16681" y="1636513"/>
              <a:ext cx="5392633" cy="657143"/>
            </a:xfrm>
            <a:prstGeom prst="rect">
              <a:avLst/>
            </a:prstGeom>
          </p:spPr>
        </p:pic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09479B0-F08D-138B-C3AA-4E81717B15A3}"/>
                </a:ext>
              </a:extLst>
            </p:cNvPr>
            <p:cNvSpPr/>
            <p:nvPr/>
          </p:nvSpPr>
          <p:spPr bwMode="auto">
            <a:xfrm>
              <a:off x="3799114" y="2373086"/>
              <a:ext cx="979715" cy="315685"/>
            </a:xfrm>
            <a:prstGeom prst="rect">
              <a:avLst/>
            </a:prstGeom>
            <a:solidFill>
              <a:srgbClr val="92D050"/>
            </a:solidFill>
            <a:ln w="9525" cap="flat" cmpd="sng" algn="ctr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正常类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10F3096-6AF0-B2EE-B7BE-A3747C62DE8C}"/>
                </a:ext>
              </a:extLst>
            </p:cNvPr>
            <p:cNvSpPr/>
            <p:nvPr/>
          </p:nvSpPr>
          <p:spPr bwMode="auto">
            <a:xfrm>
              <a:off x="4913418" y="2373086"/>
              <a:ext cx="979715" cy="315685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警告类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3599587-2C1F-9CB9-5674-3392B71D17FB}"/>
                </a:ext>
              </a:extLst>
            </p:cNvPr>
            <p:cNvSpPr/>
            <p:nvPr/>
          </p:nvSpPr>
          <p:spPr bwMode="auto">
            <a:xfrm>
              <a:off x="6027722" y="2373086"/>
              <a:ext cx="979715" cy="315685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chemeClr val="bg1">
                  <a:lumMod val="95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  <p:txBody>
            <a:bodyPr vert="horz" wrap="square" lIns="91440" tIns="45720" rIns="91440" bIns="45720" numCol="1" rtlCol="0" anchor="ctr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zh-CN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  <a:ea typeface="宋体" panose="02010600030101010101" pitchFamily="2" charset="-122"/>
                </a:rPr>
                <a:t>预警类</a:t>
              </a:r>
            </a:p>
          </p:txBody>
        </p: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6ED94D68-60CF-7DD7-AD39-EE0513E1D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16681" y="2836019"/>
              <a:ext cx="5392633" cy="2038590"/>
            </a:xfrm>
            <a:prstGeom prst="rect">
              <a:avLst/>
            </a:prstGeom>
          </p:spPr>
        </p:pic>
      </p:grpSp>
      <p:pic>
        <p:nvPicPr>
          <p:cNvPr id="21" name="图片 20">
            <a:extLst>
              <a:ext uri="{FF2B5EF4-FFF2-40B4-BE49-F238E27FC236}">
                <a16:creationId xmlns:a16="http://schemas.microsoft.com/office/drawing/2014/main" id="{33FC0563-F6D3-6D7E-1E66-F3F4FB5E4A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7138" y="1636512"/>
            <a:ext cx="2667043" cy="3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07575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474_1*a*1"/>
  <p:tag name="KSO_WM_TEMPLATE_CATEGORY" val="custom"/>
  <p:tag name="KSO_WM_TEMPLATE_INDEX" val="20234474"/>
  <p:tag name="KSO_WM_UNIT_LAYERLEVEL" val="1"/>
  <p:tag name="KSO_WM_TAG_VERSION" val="3.0"/>
  <p:tag name="KSO_WM_BEAUTIFY_FLAG" val="#wm#"/>
  <p:tag name="KSO_WM_UNIT_TEXT_TYPE" val="1"/>
  <p:tag name="KSO_WM_UNIT_TEXT_FILL_FORE_SCHEMECOLOR_INDEX" val="13"/>
  <p:tag name="KSO_WM_UNIT_TEXT_FILL_TYPE" val="1"/>
  <p:tag name="KSO_WM_UNIT_USESOURCEFORMAT_APPLY" val="1"/>
  <p:tag name="KSO_WM_UNIT_PRESET_TEXT" val="单击此处添加标题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474_1*a*1"/>
  <p:tag name="KSO_WM_TEMPLATE_CATEGORY" val="custom"/>
  <p:tag name="KSO_WM_TEMPLATE_INDEX" val="20234474"/>
  <p:tag name="KSO_WM_UNIT_LAYERLEVEL" val="1"/>
  <p:tag name="KSO_WM_TAG_VERSION" val="3.0"/>
  <p:tag name="KSO_WM_BEAUTIFY_FLAG" val="#wm#"/>
  <p:tag name="KSO_WM_UNIT_TEXT_TYPE" val="1"/>
  <p:tag name="KSO_WM_UNIT_TEXT_FILL_FORE_SCHEMECOLOR_INDEX" val="13"/>
  <p:tag name="KSO_WM_UNIT_TEXT_FILL_TYPE" val="1"/>
  <p:tag name="KSO_WM_UNIT_USESOURCEFORMAT_APPLY" val="1"/>
  <p:tag name="KSO_WM_UNIT_PRESET_TEXT" val="单击此处添加标题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474_1*a*1"/>
  <p:tag name="KSO_WM_TEMPLATE_CATEGORY" val="custom"/>
  <p:tag name="KSO_WM_TEMPLATE_INDEX" val="20234474"/>
  <p:tag name="KSO_WM_UNIT_LAYERLEVEL" val="1"/>
  <p:tag name="KSO_WM_TAG_VERSION" val="3.0"/>
  <p:tag name="KSO_WM_BEAUTIFY_FLAG" val="#wm#"/>
  <p:tag name="KSO_WM_UNIT_TEXT_TYPE" val="1"/>
  <p:tag name="KSO_WM_UNIT_TEXT_FILL_FORE_SCHEMECOLOR_INDEX" val="13"/>
  <p:tag name="KSO_WM_UNIT_TEXT_FILL_TYPE" val="1"/>
  <p:tag name="KSO_WM_UNIT_USESOURCEFORMAT_APPLY" val="1"/>
  <p:tag name="KSO_WM_UNIT_PRESET_TEXT" val="单击此处添加标题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4474_1*a*1"/>
  <p:tag name="KSO_WM_TEMPLATE_CATEGORY" val="custom"/>
  <p:tag name="KSO_WM_TEMPLATE_INDEX" val="20234474"/>
  <p:tag name="KSO_WM_UNIT_LAYERLEVEL" val="1"/>
  <p:tag name="KSO_WM_TAG_VERSION" val="3.0"/>
  <p:tag name="KSO_WM_BEAUTIFY_FLAG" val="#wm#"/>
  <p:tag name="KSO_WM_UNIT_TEXT_TYPE" val="1"/>
  <p:tag name="KSO_WM_UNIT_TEXT_FILL_FORE_SCHEMECOLOR_INDEX" val="13"/>
  <p:tag name="KSO_WM_UNIT_TEXT_FILL_TYPE" val="1"/>
  <p:tag name="KSO_WM_UNIT_USESOURCEFORMAT_APPLY" val="1"/>
  <p:tag name="KSO_WM_UNIT_PRESET_TEXT" val="单击此处添加标题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9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181</Words>
  <Application>Microsoft Office PowerPoint</Application>
  <PresentationFormat>宽屏</PresentationFormat>
  <Paragraphs>53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等线</vt:lpstr>
      <vt:lpstr>等线 Light</vt:lpstr>
      <vt:lpstr>微软雅黑</vt:lpstr>
      <vt:lpstr>Arial</vt:lpstr>
      <vt:lpstr>Calibri</vt:lpstr>
      <vt:lpstr>Wingdings</vt:lpstr>
      <vt:lpstr>Office 主题​​</vt:lpstr>
      <vt:lpstr>9_Office 主题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29</cp:revision>
  <dcterms:created xsi:type="dcterms:W3CDTF">2026-08-11T10:41:00Z</dcterms:created>
  <dcterms:modified xsi:type="dcterms:W3CDTF">2026-08-20T10:17:40Z</dcterms:modified>
</cp:coreProperties>
</file>