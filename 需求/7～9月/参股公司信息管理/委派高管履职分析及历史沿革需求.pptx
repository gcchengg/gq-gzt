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9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319812" y="202845"/>
            <a:ext cx="2144357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委派高管履职分析（例：天津爱信）</a:t>
            </a:r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319802" y="1815703"/>
            <a:ext cx="6774656" cy="2392362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en-US" altLang="zh-CN" sz="1200" b="1"/>
              <a:t>1.</a:t>
            </a:r>
            <a:r>
              <a:rPr lang="zh-CN" altLang="en-US" sz="1200" b="1"/>
              <a:t>任职单位工作完成情况分析（抓取月报任职单位工作完成情况栏）</a:t>
            </a:r>
            <a:r>
              <a:rPr lang="en-US" altLang="zh-CN" sz="1200" b="1"/>
              <a:t>（200</a:t>
            </a:r>
            <a:r>
              <a:rPr lang="zh-CN" altLang="en-US" sz="1200" b="1"/>
              <a:t>字以内</a:t>
            </a:r>
            <a:r>
              <a:rPr lang="en-US" altLang="zh-CN" sz="1200" b="1"/>
              <a:t>）</a:t>
            </a:r>
            <a:endParaRPr lang="zh-CN" altLang="en-US" sz="1200" b="1"/>
          </a:p>
          <a:p>
            <a:pPr algn="l"/>
            <a:r>
              <a:rPr lang="zh-CN" altLang="en-US" sz="1200"/>
              <a:t>主要围绕经营企划、成本递减、党工团三方面开展工作</a:t>
            </a:r>
            <a:r>
              <a:rPr lang="en-US" altLang="zh-CN" sz="1200"/>
              <a:t>XXXXXX</a:t>
            </a:r>
            <a:endParaRPr lang="en-US" altLang="zh-CN" sz="1200"/>
          </a:p>
          <a:p>
            <a:pPr algn="l"/>
            <a:endParaRPr lang="zh-CN" altLang="en-US" sz="1200"/>
          </a:p>
          <a:p>
            <a:pPr algn="l"/>
            <a:r>
              <a:rPr lang="en-US" altLang="zh-CN" sz="1200" b="1"/>
              <a:t>2.</a:t>
            </a:r>
            <a:r>
              <a:rPr lang="zh-CN" altLang="en-US" sz="1200" b="1"/>
              <a:t>助力集团公司发展情况</a:t>
            </a:r>
            <a:r>
              <a:rPr lang="zh-CN" altLang="en-US" sz="1200" b="1">
                <a:sym typeface="+mn-ea"/>
              </a:rPr>
              <a:t>（抓取月报助力集团公司发展情况栏）</a:t>
            </a:r>
            <a:r>
              <a:rPr lang="en-US" altLang="zh-CN" sz="1200" b="1">
                <a:sym typeface="+mn-ea"/>
              </a:rPr>
              <a:t>（200</a:t>
            </a:r>
            <a:r>
              <a:rPr lang="zh-CN" altLang="en-US" sz="1200" b="1">
                <a:sym typeface="+mn-ea"/>
              </a:rPr>
              <a:t>字以内</a:t>
            </a:r>
            <a:r>
              <a:rPr lang="en-US" altLang="zh-CN" sz="1200" b="1">
                <a:sym typeface="+mn-ea"/>
              </a:rPr>
              <a:t>）</a:t>
            </a:r>
            <a:endParaRPr lang="zh-CN" altLang="en-US" sz="1200" b="1">
              <a:sym typeface="+mn-ea"/>
            </a:endParaRPr>
          </a:p>
          <a:p>
            <a:pPr algn="l"/>
            <a:r>
              <a:rPr lang="zh-CN" altLang="en-US" sz="1200">
                <a:sym typeface="+mn-ea"/>
              </a:rPr>
              <a:t>主要围绕积极宣传一汽、红旗配套项目品质保障、红旗配套项目供货保障</a:t>
            </a:r>
            <a:r>
              <a:rPr lang="en-US" altLang="zh-CN" sz="1200">
                <a:sym typeface="+mn-ea"/>
              </a:rPr>
              <a:t>XXXXX</a:t>
            </a:r>
            <a:endParaRPr lang="zh-CN" altLang="en-US" sz="1200">
              <a:sym typeface="+mn-ea"/>
            </a:endParaRPr>
          </a:p>
          <a:p>
            <a:pPr algn="l"/>
            <a:endParaRPr lang="en-US" altLang="zh-CN" sz="1200" b="1">
              <a:sym typeface="+mn-ea"/>
            </a:endParaRPr>
          </a:p>
          <a:p>
            <a:pPr algn="l"/>
            <a:r>
              <a:rPr lang="en-US" altLang="zh-CN" sz="1200" b="1">
                <a:sym typeface="+mn-ea"/>
              </a:rPr>
              <a:t>3.</a:t>
            </a:r>
            <a:r>
              <a:rPr lang="zh-CN" altLang="en-US" sz="1200" b="1">
                <a:sym typeface="+mn-ea"/>
              </a:rPr>
              <a:t>任职单位基本情况</a:t>
            </a:r>
            <a:r>
              <a:rPr lang="en-US" altLang="zh-CN" sz="1200" b="1">
                <a:sym typeface="+mn-ea"/>
              </a:rPr>
              <a:t> （50</a:t>
            </a:r>
            <a:r>
              <a:rPr lang="zh-CN" altLang="en-US" sz="1200" b="1">
                <a:sym typeface="+mn-ea"/>
              </a:rPr>
              <a:t>字以内</a:t>
            </a:r>
            <a:r>
              <a:rPr lang="en-US" altLang="zh-CN" sz="1200" b="1">
                <a:sym typeface="+mn-ea"/>
              </a:rPr>
              <a:t>）</a:t>
            </a:r>
            <a:endParaRPr lang="zh-CN" altLang="en-US" sz="1200" b="1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XXXXXX</a:t>
            </a:r>
            <a:endParaRPr lang="en-US" altLang="zh-CN" sz="1200">
              <a:sym typeface="+mn-ea"/>
            </a:endParaRPr>
          </a:p>
          <a:p>
            <a:pPr algn="l"/>
            <a:endParaRPr lang="en-US" altLang="zh-CN" sz="1200">
              <a:sym typeface="+mn-ea"/>
            </a:endParaRPr>
          </a:p>
          <a:p>
            <a:pPr algn="l"/>
            <a:r>
              <a:rPr lang="en-US" altLang="zh-CN" sz="1200" b="1">
                <a:sym typeface="+mn-ea"/>
              </a:rPr>
              <a:t>4.</a:t>
            </a:r>
            <a:r>
              <a:rPr lang="zh-CN" altLang="en-US" sz="1200" b="1">
                <a:sym typeface="+mn-ea"/>
              </a:rPr>
              <a:t>工作中存在问题</a:t>
            </a:r>
            <a:r>
              <a:rPr lang="en-US" altLang="zh-CN" sz="1200" b="1">
                <a:sym typeface="+mn-ea"/>
              </a:rPr>
              <a:t>（50</a:t>
            </a:r>
            <a:r>
              <a:rPr lang="zh-CN" altLang="en-US" sz="1200" b="1">
                <a:sym typeface="+mn-ea"/>
              </a:rPr>
              <a:t>字以内</a:t>
            </a:r>
            <a:r>
              <a:rPr lang="en-US" altLang="zh-CN" sz="1200" b="1">
                <a:sym typeface="+mn-ea"/>
              </a:rPr>
              <a:t>）</a:t>
            </a:r>
            <a:endParaRPr lang="zh-CN" altLang="en-US" sz="1200" b="1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XXXXX</a:t>
            </a:r>
            <a:endParaRPr lang="en-US" altLang="zh-CN" sz="1200">
              <a:sym typeface="+mn-ea"/>
            </a:endParaRPr>
          </a:p>
          <a:p>
            <a:pPr algn="l"/>
            <a:endParaRPr lang="en-US" altLang="zh-CN" sz="1200">
              <a:sym typeface="+mn-ea"/>
            </a:endParaRPr>
          </a:p>
          <a:p>
            <a:pPr algn="l"/>
            <a:r>
              <a:rPr lang="en-US" altLang="zh-CN" sz="1200" b="1">
                <a:sym typeface="+mn-ea"/>
              </a:rPr>
              <a:t>5.</a:t>
            </a:r>
            <a:r>
              <a:rPr lang="zh-CN" altLang="en-US" sz="1200" b="1">
                <a:sym typeface="+mn-ea"/>
              </a:rPr>
              <a:t>其他需报告事项</a:t>
            </a:r>
            <a:r>
              <a:rPr lang="en-US" altLang="zh-CN" sz="1200" b="1">
                <a:sym typeface="+mn-ea"/>
              </a:rPr>
              <a:t>（50</a:t>
            </a:r>
            <a:r>
              <a:rPr lang="zh-CN" altLang="en-US" sz="1200" b="1">
                <a:sym typeface="+mn-ea"/>
              </a:rPr>
              <a:t>字以内</a:t>
            </a:r>
            <a:r>
              <a:rPr lang="en-US" altLang="zh-CN" sz="1200" b="1">
                <a:sym typeface="+mn-ea"/>
              </a:rPr>
              <a:t>）</a:t>
            </a:r>
            <a:endParaRPr lang="zh-CN" altLang="en-US" sz="1200" b="1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XXXXXX</a:t>
            </a:r>
            <a:endParaRPr lang="en-US" altLang="zh-CN" sz="1200">
              <a:sym typeface="+mn-ea"/>
            </a:endParaRPr>
          </a:p>
          <a:p>
            <a:pPr algn="l"/>
            <a:endParaRPr lang="en-US" altLang="zh-CN" sz="1200">
              <a:sym typeface="+mn-ea"/>
            </a:endParaRPr>
          </a:p>
          <a:p>
            <a:pPr algn="l"/>
            <a:r>
              <a:rPr lang="en-US" altLang="zh-CN" sz="1200" b="1">
                <a:sym typeface="+mn-ea"/>
              </a:rPr>
              <a:t>6.</a:t>
            </a:r>
            <a:r>
              <a:rPr lang="zh-CN" altLang="en-US" sz="1200" b="1">
                <a:sym typeface="+mn-ea"/>
              </a:rPr>
              <a:t>专项管理建议</a:t>
            </a:r>
            <a:r>
              <a:rPr lang="en-US" altLang="zh-CN" sz="1200" b="1">
                <a:sym typeface="+mn-ea"/>
              </a:rPr>
              <a:t>（50</a:t>
            </a:r>
            <a:r>
              <a:rPr lang="zh-CN" altLang="en-US" sz="1200" b="1">
                <a:sym typeface="+mn-ea"/>
              </a:rPr>
              <a:t>字以内</a:t>
            </a:r>
            <a:r>
              <a:rPr lang="en-US" altLang="zh-CN" sz="1200" b="1">
                <a:sym typeface="+mn-ea"/>
              </a:rPr>
              <a:t>）</a:t>
            </a:r>
            <a:endParaRPr lang="zh-CN" altLang="en-US" sz="1200" b="1">
              <a:sym typeface="+mn-ea"/>
            </a:endParaRPr>
          </a:p>
          <a:p>
            <a:pPr algn="l"/>
            <a:r>
              <a:rPr lang="en-US" altLang="zh-CN" sz="1200">
                <a:sym typeface="+mn-ea"/>
              </a:rPr>
              <a:t>XXXXXXX</a:t>
            </a:r>
            <a:endParaRPr lang="zh-CN" altLang="en-US" sz="1200"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319802" y="704453"/>
            <a:ext cx="6774656" cy="606425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 sz="1200" b="1"/>
              <a:t>基本情况</a:t>
            </a:r>
            <a:endParaRPr lang="zh-CN" altLang="en-US" sz="1200" b="1"/>
          </a:p>
          <a:p>
            <a:r>
              <a:rPr lang="zh-CN" altLang="en-US" sz="1200"/>
              <a:t>截至</a:t>
            </a:r>
            <a:r>
              <a:rPr lang="en-US" altLang="zh-CN" sz="1200"/>
              <a:t>2026</a:t>
            </a:r>
            <a:r>
              <a:rPr lang="zh-CN" altLang="en-US" sz="1200"/>
              <a:t>年</a:t>
            </a:r>
            <a:r>
              <a:rPr lang="en-US" altLang="zh-CN" sz="1200"/>
              <a:t>9</a:t>
            </a:r>
            <a:r>
              <a:rPr lang="zh-CN" altLang="en-US" sz="1200"/>
              <a:t>月，天津爱信共</a:t>
            </a:r>
            <a:r>
              <a:rPr lang="en-US" altLang="zh-CN" sz="1200"/>
              <a:t>3</a:t>
            </a:r>
            <a:r>
              <a:rPr lang="zh-CN" altLang="en-US" sz="1200"/>
              <a:t>名委派高管，为副总经理胡克强、管理部副部长李国伟、制造部副部长杨新义</a:t>
            </a:r>
            <a:endParaRPr lang="zh-CN" altLang="en-US" sz="1200" b="1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19802" y="1441847"/>
            <a:ext cx="6774656" cy="373856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 sz="1200"/>
              <a:t>副总经理胡克强履职情况</a:t>
            </a:r>
            <a:endParaRPr lang="zh-CN" altLang="en-US" sz="120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319780" y="5292869"/>
            <a:ext cx="6774656" cy="373856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 sz="1200"/>
              <a:t>管理部副部长李国伟履职情况</a:t>
            </a:r>
            <a:endParaRPr lang="zh-CN" altLang="en-US" sz="1200"/>
          </a:p>
          <a:p>
            <a:r>
              <a:rPr lang="zh-CN" altLang="en-US" sz="1200"/>
              <a:t>格式同胡克强</a:t>
            </a:r>
            <a:endParaRPr lang="zh-CN" altLang="en-US" sz="1200"/>
          </a:p>
        </p:txBody>
      </p:sp>
      <p:sp>
        <p:nvSpPr>
          <p:cNvPr id="10" name="矩形 9"/>
          <p:cNvSpPr/>
          <p:nvPr userDrawn="1"/>
        </p:nvSpPr>
        <p:spPr>
          <a:xfrm>
            <a:off x="309563" y="678656"/>
            <a:ext cx="7310437" cy="726281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319780" y="2367179"/>
            <a:ext cx="7310437" cy="527122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319802" y="1756172"/>
            <a:ext cx="7310437" cy="552433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309543" y="678666"/>
            <a:ext cx="7310437" cy="726281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309563" y="2954914"/>
            <a:ext cx="7310437" cy="474501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309563" y="3490029"/>
            <a:ext cx="7310437" cy="460681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309562" y="4011324"/>
            <a:ext cx="7310437" cy="552433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309562" y="4624370"/>
            <a:ext cx="7310437" cy="552433"/>
          </a:xfrm>
          <a:prstGeom prst="rect">
            <a:avLst/>
          </a:prstGeom>
          <a:noFill/>
          <a:ln w="12700" cap="flat" cmpd="sng" algn="ctr">
            <a:solidFill>
              <a:srgbClr val="000000">
                <a:alpha val="100000"/>
              </a:srgb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319780" y="5852213"/>
            <a:ext cx="6774656" cy="373856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 sz="1200"/>
              <a:t>制造部副部长杨新义履职情况</a:t>
            </a:r>
            <a:endParaRPr lang="zh-CN" altLang="en-US" sz="1200"/>
          </a:p>
          <a:p>
            <a:r>
              <a:rPr lang="zh-CN" altLang="en-US" sz="1200"/>
              <a:t>格式同胡克强</a:t>
            </a:r>
            <a:endParaRPr lang="zh-CN" altLang="en-US" sz="1200"/>
          </a:p>
        </p:txBody>
      </p:sp>
      <p:sp>
        <p:nvSpPr>
          <p:cNvPr id="22" name="文本框 21"/>
          <p:cNvSpPr txBox="1"/>
          <p:nvPr userDrawn="1"/>
        </p:nvSpPr>
        <p:spPr>
          <a:xfrm>
            <a:off x="8312727" y="692727"/>
            <a:ext cx="3662795" cy="3398982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/>
              <a:t>1.</a:t>
            </a:r>
            <a:r>
              <a:rPr lang="zh-CN" altLang="en-US" sz="1200"/>
              <a:t>委派高管分析进行结构化，第一栏说明该企业共几名委派高管，及职务、姓名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各委派高管单独分析，抓取外派高管月报中必填数据分栏抓取，其他需报告事项、专项管理建议保留，如能抓取到数据则增加栏，数据为空则不抓取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3.</a:t>
            </a:r>
            <a:r>
              <a:rPr lang="zh-CN" altLang="en-US" sz="1200"/>
              <a:t>每个高管单独进行分析，不进行混同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 strike="sngStrike"/>
              <a:t>4.</a:t>
            </a:r>
            <a:r>
              <a:rPr lang="zh-CN" altLang="en-US" sz="1200" strike="sngStrike"/>
              <a:t>如有补充报告（即页面存在可下载文件），需抓取文件内信息进行分析</a:t>
            </a:r>
            <a:endParaRPr lang="zh-CN" altLang="en-US" sz="1200" strike="sngStrike"/>
          </a:p>
          <a:p>
            <a:endParaRPr lang="zh-CN" altLang="en-US" sz="1200"/>
          </a:p>
          <a:p>
            <a:r>
              <a:rPr lang="en-US" altLang="zh-CN" sz="1200"/>
              <a:t>5.</a:t>
            </a:r>
            <a:r>
              <a:rPr lang="zh-CN" altLang="en-US" sz="1200"/>
              <a:t>风险与待核实事项无需分析，综合评价可保留。</a:t>
            </a:r>
            <a:endParaRPr lang="zh-CN" altLang="en-US" sz="1200"/>
          </a:p>
          <a:p>
            <a:endParaRPr lang="zh-CN" altLang="en-US" sz="1200"/>
          </a:p>
          <a:p>
            <a:r>
              <a:rPr lang="en-US" altLang="zh-CN" sz="1200"/>
              <a:t>6.</a:t>
            </a:r>
            <a:r>
              <a:rPr lang="zh-CN" altLang="en-US" sz="1200"/>
              <a:t>每名委派高管履职分析的总字数控制在</a:t>
            </a:r>
            <a:r>
              <a:rPr lang="en-US" altLang="zh-CN" sz="1200"/>
              <a:t>500</a:t>
            </a:r>
            <a:r>
              <a:rPr lang="zh-CN" altLang="en-US" sz="1200"/>
              <a:t>字以内。</a:t>
            </a:r>
            <a:endParaRPr lang="zh-CN" altLang="en-US" sz="1200"/>
          </a:p>
        </p:txBody>
      </p:sp>
      <p:sp>
        <p:nvSpPr>
          <p:cNvPr id="2" name="文本框 1"/>
          <p:cNvSpPr txBox="1"/>
          <p:nvPr/>
        </p:nvSpPr>
        <p:spPr>
          <a:xfrm>
            <a:off x="8151495" y="4034790"/>
            <a:ext cx="33750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3456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项直接取原文拼接，还是提取后</a:t>
            </a:r>
            <a:r>
              <a:rPr lang="en-US" altLang="zh-CN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分析？</a:t>
            </a:r>
            <a:endParaRPr lang="zh-CN" altLang="en-US" sz="1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1400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补充报告内容可分析</a:t>
            </a:r>
            <a:r>
              <a:rPr lang="en-US" altLang="zh-CN" sz="1400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PDF</a:t>
            </a:r>
            <a:r>
              <a:rPr lang="zh-CN" altLang="en-US" sz="1400" strike="sngStrike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格式</a:t>
            </a:r>
            <a:endParaRPr lang="zh-CN" altLang="en-US" sz="1400" strike="sngStrike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319812" y="202845"/>
            <a:ext cx="2144357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参股公司历史沿革</a:t>
            </a:r>
            <a:endParaRPr lang="zh-CN" altLang="en-US"/>
          </a:p>
        </p:txBody>
      </p:sp>
      <p:pic>
        <p:nvPicPr>
          <p:cNvPr id="2" name="图片 1" descr="upload_post_object_v2_2760109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8" y="724800"/>
            <a:ext cx="7490658" cy="1790700"/>
          </a:xfrm>
          <a:prstGeom prst="rect">
            <a:avLst/>
          </a:prstGeom>
        </p:spPr>
      </p:pic>
      <p:sp>
        <p:nvSpPr>
          <p:cNvPr id="22" name="文本框 21"/>
          <p:cNvSpPr txBox="1"/>
          <p:nvPr userDrawn="1"/>
        </p:nvSpPr>
        <p:spPr>
          <a:xfrm>
            <a:off x="8312727" y="692727"/>
            <a:ext cx="3662795" cy="182273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/>
              <a:t>1.</a:t>
            </a:r>
            <a:r>
              <a:rPr lang="zh-CN" altLang="en-US" sz="1200"/>
              <a:t>“一口清”界面放在第一部分，</a:t>
            </a:r>
            <a:r>
              <a:rPr lang="en-US" altLang="zh-CN" sz="1200"/>
              <a:t>3.</a:t>
            </a:r>
            <a:r>
              <a:rPr lang="zh-CN" altLang="en-US" sz="1200"/>
              <a:t>股权与治理机构后，名称为“历史沿革”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数据结构化展示，存储位置参股公司信息管理。</a:t>
            </a:r>
            <a:endParaRPr lang="zh-CN" altLang="en-US" sz="1200"/>
          </a:p>
        </p:txBody>
      </p:sp>
      <p:sp>
        <p:nvSpPr>
          <p:cNvPr id="3" name="文本框 2"/>
          <p:cNvSpPr txBox="1"/>
          <p:nvPr userDrawn="1"/>
        </p:nvSpPr>
        <p:spPr>
          <a:xfrm>
            <a:off x="319789" y="2757767"/>
            <a:ext cx="3924188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zh-CN" altLang="en-US"/>
              <a:t>参股公司历史沿革结构化信息情况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19789" y="3242053"/>
            <a:ext cx="6774656" cy="373856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200" b="1"/>
              <a:t>基础简介</a:t>
            </a:r>
            <a:endParaRPr lang="zh-CN" altLang="en-US" sz="1200" b="1"/>
          </a:p>
          <a:p>
            <a:pPr algn="l"/>
            <a:r>
              <a:rPr sz="1000"/>
              <a:t>长春一东的源头可追溯至一汽东光离合器厂，系1993年吉林东光以货币和厂房出资、中国一汽以货币、设备及膜片弹簧离合器技术出资共同设立的联营企业。</a:t>
            </a:r>
            <a:endParaRPr lang="zh-CN" altLang="en-US" sz="1000" b="1"/>
          </a:p>
        </p:txBody>
      </p:sp>
      <p:sp>
        <p:nvSpPr>
          <p:cNvPr id="5" name="文本框 4"/>
          <p:cNvSpPr txBox="1"/>
          <p:nvPr userDrawn="1"/>
        </p:nvSpPr>
        <p:spPr>
          <a:xfrm>
            <a:off x="319849" y="3846096"/>
            <a:ext cx="8708231" cy="2882106"/>
          </a:xfrm>
          <a:prstGeom prst="rect">
            <a:avLst/>
          </a:prstGeom>
        </p:spPr>
        <p:txBody>
          <a:bodyPr wrap="none" rtlCol="0">
            <a:noAutofit/>
          </a:bodyPr>
          <a:p>
            <a:pPr algn="l"/>
            <a:r>
              <a:rPr lang="zh-CN" altLang="en-US" sz="1000" b="1"/>
              <a:t>里程碑事件</a:t>
            </a:r>
            <a:endParaRPr lang="zh-CN" altLang="en-US" sz="1000" b="1"/>
          </a:p>
          <a:p>
            <a:pPr algn="l"/>
            <a:r>
              <a:rPr sz="1000"/>
              <a:t>1997年经国家体改委批准，以一汽东光离合器厂为改组主体整体改制，采用募集方式设立股份公司； </a:t>
            </a:r>
            <a:endParaRPr sz="1000"/>
          </a:p>
          <a:p>
            <a:pPr algn="l"/>
            <a:r>
              <a:rPr sz="1000"/>
              <a:t>1998年5月4日召开创立大会，5月7日完成工商注册，5月20日在上交所上市，上市初期吉林东光持股44.80%，中国一汽持股28.47%； </a:t>
            </a:r>
            <a:endParaRPr sz="1000"/>
          </a:p>
          <a:p>
            <a:pPr algn="l"/>
            <a:r>
              <a:rPr sz="1000"/>
              <a:t>2001年，长春一东完成配股，总股本增值1415.2万股，该股本延续至今，本次配股后吉林东光持股43%，中国一汽持股27.32%； </a:t>
            </a:r>
            <a:endParaRPr sz="1000"/>
          </a:p>
          <a:p>
            <a:pPr algn="l"/>
            <a:r>
              <a:rPr sz="1000"/>
              <a:t>2004年，与韩国东进精工合资成立一东零部件制造公司，增加液压举升机构的研发、生产、销售业务，形成当前“离合器+液压举升机构”主营业务格局 </a:t>
            </a:r>
            <a:endParaRPr sz="1000"/>
          </a:p>
          <a:p>
            <a:pPr algn="l"/>
            <a:r>
              <a:rPr sz="1000"/>
              <a:t>2006年，完成股份分置改革，吉林东光股比降至37.01%，中国一汽股比降至23.52%； </a:t>
            </a:r>
            <a:endParaRPr sz="1000"/>
          </a:p>
          <a:p>
            <a:pPr algn="l"/>
            <a:r>
              <a:rPr sz="1000"/>
              <a:t>2015年，吉林东光减持，持股比例降至32.07%； </a:t>
            </a:r>
            <a:endParaRPr sz="1000"/>
          </a:p>
          <a:p>
            <a:pPr algn="l"/>
            <a:r>
              <a:rPr sz="1000"/>
              <a:t>2018年，中国一汽划转23.52%股权至一汽股权； </a:t>
            </a:r>
            <a:endParaRPr sz="1000"/>
          </a:p>
          <a:p>
            <a:pPr algn="l"/>
            <a:r>
              <a:rPr sz="1000"/>
              <a:t>2020年，吉林东光划转8.07%股权至中兵投资； </a:t>
            </a:r>
            <a:endParaRPr sz="1000"/>
          </a:p>
          <a:p>
            <a:pPr algn="l"/>
            <a:r>
              <a:rPr sz="1000"/>
              <a:t>2022年，吉林东光划转24%股权至东北工业集团；</a:t>
            </a:r>
            <a:endParaRPr lang="zh-CN" altLang="en-US" sz="1000" b="1">
              <a:sym typeface="+mn-ea"/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9296977" y="3381952"/>
            <a:ext cx="2786495" cy="1822736"/>
          </a:xfrm>
          <a:prstGeom prst="rect">
            <a:avLst/>
          </a:prstGeom>
        </p:spPr>
        <p:txBody>
          <a:bodyPr wrap="square" rtlCol="0">
            <a:noAutofit/>
          </a:bodyPr>
          <a:p>
            <a:r>
              <a:rPr lang="en-US" altLang="zh-CN" sz="1200"/>
              <a:t>1.</a:t>
            </a:r>
            <a:r>
              <a:rPr lang="zh-CN" altLang="en-US" sz="1200"/>
              <a:t>整体分外两部分，基础简介及里程碑事件</a:t>
            </a:r>
            <a:endParaRPr lang="zh-CN" altLang="en-US" sz="1200"/>
          </a:p>
          <a:p>
            <a:r>
              <a:rPr lang="en-US" altLang="zh-CN" sz="1200"/>
              <a:t>2.</a:t>
            </a:r>
            <a:r>
              <a:rPr lang="zh-CN" altLang="en-US" sz="1200"/>
              <a:t>基础简介为单纯文字文本框填写；</a:t>
            </a:r>
            <a:endParaRPr lang="zh-CN" altLang="en-US" sz="1200"/>
          </a:p>
          <a:p>
            <a:r>
              <a:rPr lang="en-US" altLang="zh-CN" sz="1200"/>
              <a:t>3.</a:t>
            </a:r>
            <a:r>
              <a:rPr lang="zh-CN" altLang="en-US" sz="1200"/>
              <a:t>里程碑时间可手动增加条目，按时间、时间进行手动填写</a:t>
            </a:r>
            <a:endParaRPr lang="zh-CN" altLang="en-US" sz="1200"/>
          </a:p>
          <a:p>
            <a:r>
              <a:rPr lang="en-US" altLang="zh-CN" sz="1200"/>
              <a:t>4.</a:t>
            </a:r>
            <a:r>
              <a:rPr lang="zh-CN" altLang="en-US" sz="1200"/>
              <a:t>“一口清”界面整体按结构化展示。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3890010" y="5110480"/>
            <a:ext cx="33597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>
                <a:solidFill>
                  <a:srgbClr val="FF0000"/>
                </a:solidFill>
              </a:rPr>
              <a:t>数据结构：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>
                <a:solidFill>
                  <a:srgbClr val="FF0000"/>
                </a:solidFill>
              </a:rPr>
              <a:t>主表：年份月份，里程碑事件</a:t>
            </a:r>
            <a:endParaRPr lang="zh-CN" altLang="en-US" sz="1200">
              <a:solidFill>
                <a:srgbClr val="FF0000"/>
              </a:solidFill>
            </a:endParaRPr>
          </a:p>
          <a:p>
            <a:r>
              <a:rPr lang="zh-CN" altLang="en-US" sz="1200" strike="sngStrike">
                <a:solidFill>
                  <a:srgbClr val="FF0000"/>
                </a:solidFill>
              </a:rPr>
              <a:t>子表：月日，里程碑事件</a:t>
            </a:r>
            <a:endParaRPr lang="zh-CN" altLang="en-US" sz="1200" strike="sngStrike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736840" y="5110480"/>
            <a:ext cx="335978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200">
                <a:solidFill>
                  <a:srgbClr val="FF0000"/>
                </a:solidFill>
              </a:rPr>
              <a:t>XXX</a:t>
            </a:r>
            <a:r>
              <a:rPr lang="zh-CN" altLang="en-US" sz="1200">
                <a:solidFill>
                  <a:srgbClr val="FF0000"/>
                </a:solidFill>
              </a:rPr>
              <a:t>年</a:t>
            </a:r>
            <a:r>
              <a:rPr lang="en-US" altLang="zh-CN" sz="1200">
                <a:solidFill>
                  <a:srgbClr val="FF0000"/>
                </a:solidFill>
              </a:rPr>
              <a:t>   </a:t>
            </a:r>
            <a:endParaRPr lang="en-US" altLang="zh-CN" sz="1200">
              <a:solidFill>
                <a:srgbClr val="FF0000"/>
              </a:solidFill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zh-CN" sz="1200">
                <a:solidFill>
                  <a:srgbClr val="FF0000"/>
                </a:solidFill>
              </a:rPr>
              <a:t> 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X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月，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XXXX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事件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zh-CN" altLang="en-US" sz="1200">
                <a:solidFill>
                  <a:srgbClr val="FF0000"/>
                </a:solidFill>
              </a:rPr>
              <a:t> </a:t>
            </a:r>
            <a:r>
              <a:rPr lang="en-US" altLang="zh-CN" sz="1200">
                <a:solidFill>
                  <a:srgbClr val="FF0000"/>
                </a:solidFill>
              </a:rPr>
              <a:t>  X</a:t>
            </a:r>
            <a:r>
              <a:rPr lang="zh-CN" altLang="en-US" sz="1200">
                <a:solidFill>
                  <a:srgbClr val="FF0000"/>
                </a:solidFill>
              </a:rPr>
              <a:t>月，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XXXX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事件</a:t>
            </a:r>
            <a:endParaRPr lang="zh-CN" altLang="en-US" sz="1200">
              <a:solidFill>
                <a:srgbClr val="FF0000"/>
              </a:solidFill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             ....</a:t>
            </a:r>
            <a:endParaRPr lang="zh-CN" altLang="en-US" sz="1200">
              <a:solidFill>
                <a:srgbClr val="FF0000"/>
              </a:solidFill>
            </a:endParaRPr>
          </a:p>
          <a:p>
            <a:pPr marL="171450" indent="-171450">
              <a:buFont typeface="Wingdings" panose="05000000000000000000" charset="0"/>
              <a:buChar char="l"/>
            </a:pPr>
            <a:r>
              <a:rPr lang="en-US" altLang="zh-CN" sz="1200">
                <a:solidFill>
                  <a:srgbClr val="FF0000"/>
                </a:solidFill>
                <a:sym typeface="+mn-ea"/>
              </a:rPr>
              <a:t>XXX</a:t>
            </a:r>
            <a:r>
              <a:rPr lang="zh-CN" altLang="en-US" sz="1200">
                <a:solidFill>
                  <a:srgbClr val="FF0000"/>
                </a:solidFill>
                <a:sym typeface="+mn-ea"/>
              </a:rPr>
              <a:t>年</a:t>
            </a:r>
            <a:r>
              <a:rPr lang="en-US" altLang="zh-CN" sz="1200">
                <a:solidFill>
                  <a:srgbClr val="FF0000"/>
                </a:solidFill>
                <a:sym typeface="+mn-ea"/>
              </a:rPr>
              <a:t>  </a:t>
            </a:r>
            <a:r>
              <a:rPr lang="en-US" altLang="zh-CN" sz="1200">
                <a:solidFill>
                  <a:srgbClr val="FF0000"/>
                </a:solidFill>
              </a:rPr>
              <a:t>......</a:t>
            </a:r>
            <a:endParaRPr lang="en-US" altLang="zh-CN" sz="1200">
              <a:solidFill>
                <a:srgbClr val="FF0000"/>
              </a:solidFill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886700" y="4829175"/>
            <a:ext cx="10160" cy="1820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1328</Words>
  <Application>WPS 文字</Application>
  <PresentationFormat>宽屏</PresentationFormat>
  <Paragraphs>83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Wingdings</vt:lpstr>
      <vt:lpstr>Calibri</vt:lpstr>
      <vt:lpstr>Helvetica Neue</vt:lpstr>
      <vt:lpstr>宋体</vt:lpstr>
      <vt:lpstr>Arial Unicode MS</vt:lpstr>
      <vt:lpstr>汉仪书宋二KW</vt:lpstr>
      <vt:lpstr>微软雅黑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郭_少</cp:lastModifiedBy>
  <cp:revision>8</cp:revision>
  <dcterms:created xsi:type="dcterms:W3CDTF">2026-09-03T02:53:19Z</dcterms:created>
  <dcterms:modified xsi:type="dcterms:W3CDTF">2026-09-03T02:53:19Z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/>
  </property>
</Properties>
</file>