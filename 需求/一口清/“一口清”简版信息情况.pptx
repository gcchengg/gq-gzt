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2042398" y="144266"/>
            <a:ext cx="3768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长春一东离合器股份有限公司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4814693" y="51260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持股比例：</a:t>
            </a:r>
            <a:r>
              <a:rPr lang="en-US" altLang="zh-CN"/>
              <a:t>16.57%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639604" y="88090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记账方式：长期股权投资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814729" y="88090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股权分类：产业性</a:t>
            </a:r>
            <a:r>
              <a:rPr lang="en-US" altLang="zh-CN"/>
              <a:t>/</a:t>
            </a:r>
            <a:r>
              <a:rPr lang="zh-CN" altLang="en-US"/>
              <a:t>保留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74625" y="1389063"/>
            <a:ext cx="7620066" cy="1"/>
          </a:xfrm>
          <a:prstGeom prst="line">
            <a:avLst/>
          </a:prstGeom>
          <a:ln w="19050" cap="flat" cmpd="sng" algn="ctr">
            <a:solidFill>
              <a:srgbClr val="979797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512604" y="151606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一、基础信息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512604" y="1961357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企业画像</a:t>
            </a:r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512604" y="2406651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业务与定位</a:t>
            </a:r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12604" y="2851945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3.</a:t>
            </a:r>
            <a:r>
              <a:rPr lang="zh-CN" altLang="en-US"/>
              <a:t>历史沿革</a:t>
            </a:r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512604" y="3297238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4.</a:t>
            </a:r>
            <a:r>
              <a:rPr lang="zh-CN" altLang="en-US"/>
              <a:t>生命周期重要事项</a:t>
            </a:r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12604" y="3742532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二、财务状况</a:t>
            </a:r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12604" y="4187826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本期经营完成</a:t>
            </a:r>
            <a:endParaRPr lang="zh-CN" altLang="en-US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12604" y="4633119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近</a:t>
            </a:r>
            <a:r>
              <a:rPr lang="en-US" altLang="zh-CN"/>
              <a:t>3</a:t>
            </a:r>
            <a:r>
              <a:rPr lang="zh-CN" altLang="en-US"/>
              <a:t>年财务表现</a:t>
            </a:r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12604" y="5078413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3.</a:t>
            </a:r>
            <a:r>
              <a:rPr lang="zh-CN" altLang="en-US"/>
              <a:t>分红情况</a:t>
            </a:r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3624104" y="1516063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三、治理行权</a:t>
            </a:r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3624104" y="1896818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三会议题管理</a:t>
            </a:r>
            <a:endParaRPr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24104" y="227757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委派高管情况</a:t>
            </a:r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3624178" y="2658330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3.</a:t>
            </a:r>
            <a:r>
              <a:rPr lang="zh-CN" altLang="en-US"/>
              <a:t>委派董事情况</a:t>
            </a:r>
            <a:endParaRPr lang="zh-CN" altLang="en-US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624104" y="3039086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四、产业协同</a:t>
            </a:r>
            <a:endParaRPr lang="zh-CN" altLang="en-US"/>
          </a:p>
        </p:txBody>
      </p:sp>
      <p:sp>
        <p:nvSpPr>
          <p:cNvPr id="23" name="文本框 22"/>
          <p:cNvSpPr txBox="1"/>
          <p:nvPr userDrawn="1"/>
        </p:nvSpPr>
        <p:spPr>
          <a:xfrm>
            <a:off x="3624104" y="3419841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战略定位</a:t>
            </a:r>
            <a:endParaRPr lang="zh-CN" altLang="en-US"/>
          </a:p>
        </p:txBody>
      </p:sp>
      <p:sp>
        <p:nvSpPr>
          <p:cNvPr id="24" name="文本框 23"/>
          <p:cNvSpPr txBox="1"/>
          <p:nvPr userDrawn="1"/>
        </p:nvSpPr>
        <p:spPr>
          <a:xfrm>
            <a:off x="3624104" y="3800597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战略执行</a:t>
            </a:r>
            <a:endParaRPr lang="zh-CN" altLang="en-US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3624104" y="4181353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3.</a:t>
            </a:r>
            <a:r>
              <a:rPr lang="zh-CN" altLang="en-US"/>
              <a:t>战略成果</a:t>
            </a:r>
            <a:endParaRPr lang="zh-CN" altLang="en-US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3624104" y="4562109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五、管理策略</a:t>
            </a:r>
            <a:endParaRPr lang="zh-CN" altLang="en-US"/>
          </a:p>
        </p:txBody>
      </p:sp>
      <p:sp>
        <p:nvSpPr>
          <p:cNvPr id="27" name="文本框 26"/>
          <p:cNvSpPr txBox="1"/>
          <p:nvPr userDrawn="1"/>
        </p:nvSpPr>
        <p:spPr>
          <a:xfrm>
            <a:off x="3624104" y="494286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本轮结果</a:t>
            </a:r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3624104" y="5323620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施策方向</a:t>
            </a:r>
            <a:endParaRPr lang="zh-CN" altLang="en-US"/>
          </a:p>
        </p:txBody>
      </p:sp>
      <p:sp>
        <p:nvSpPr>
          <p:cNvPr id="29" name="文本框 28"/>
          <p:cNvSpPr txBox="1"/>
          <p:nvPr userDrawn="1"/>
        </p:nvSpPr>
        <p:spPr>
          <a:xfrm>
            <a:off x="3624104" y="5704376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产业协同</a:t>
            </a:r>
            <a:endParaRPr lang="zh-CN" altLang="en-US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3624104" y="6085132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经营管理</a:t>
            </a:r>
            <a:endParaRPr lang="zh-CN" altLang="en-US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3624104" y="6465888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股权经营</a:t>
            </a:r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016875" y="512604"/>
            <a:ext cx="4064000" cy="5943918"/>
          </a:xfrm>
          <a:prstGeom prst="rect">
            <a:avLst/>
          </a:prstGeom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/>
              <a:t>1.</a:t>
            </a:r>
            <a:r>
              <a:rPr lang="zh-CN" altLang="en-US"/>
              <a:t>标题保留参股公司全称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2.</a:t>
            </a:r>
            <a:r>
              <a:rPr lang="zh-CN" altLang="en-US"/>
              <a:t>仅保留管理部门、持股比例、记账方式、股权分类四项标签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3.</a:t>
            </a:r>
            <a:r>
              <a:rPr lang="zh-CN" altLang="en-US"/>
              <a:t>标题均去掉“清”字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4.</a:t>
            </a:r>
            <a:r>
              <a:rPr lang="zh-CN" altLang="en-US"/>
              <a:t>基础信息保留企业画像、业务与定位、历史沿革、生命周期重要事项四项，数据不变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5.</a:t>
            </a:r>
            <a:r>
              <a:rPr lang="zh-CN" altLang="en-US"/>
              <a:t>财务状况保留本期经营完成情况、近</a:t>
            </a:r>
            <a:r>
              <a:rPr lang="en-US" altLang="zh-CN"/>
              <a:t>3</a:t>
            </a:r>
            <a:r>
              <a:rPr lang="zh-CN" altLang="en-US"/>
              <a:t>年财务表现、分红情况，数据不变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6.</a:t>
            </a:r>
            <a:r>
              <a:rPr lang="zh-CN" altLang="en-US"/>
              <a:t>治理行权，保留三会议题管理（规则不变，仅展示带管理建议议题），委派高管（仅保留委派高管人数、任职情况），委派董事（仅保留委派董事人数、任职情况）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7.</a:t>
            </a:r>
            <a:r>
              <a:rPr lang="zh-CN" altLang="en-US"/>
              <a:t>产业协同，战略定位、战略执行、战略成果完整保留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8.</a:t>
            </a:r>
            <a:r>
              <a:rPr lang="zh-CN" altLang="en-US"/>
              <a:t>管理策略，本轮结果、施策方向、产业协同、经营管理、股权经营完整保留</a:t>
            </a:r>
            <a:endParaRPr lang="zh-CN" altLang="en-US"/>
          </a:p>
        </p:txBody>
      </p:sp>
      <p:sp>
        <p:nvSpPr>
          <p:cNvPr id="35" name="文本框 34"/>
          <p:cNvSpPr txBox="1"/>
          <p:nvPr userDrawn="1"/>
        </p:nvSpPr>
        <p:spPr>
          <a:xfrm>
            <a:off x="639604" y="512604"/>
            <a:ext cx="18631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管理部门：股权运营部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WPS Office WWO_dingtalk_20240221035043-c523bba0e7</Application>
  <PresentationFormat>宽屏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汉仪书宋二KW</vt:lpstr>
      <vt:lpstr>Kingsoft Confetti</vt:lpstr>
      <vt:lpstr>Calibri</vt:lpstr>
      <vt:lpstr>微软雅黑</vt:lpstr>
      <vt:lpstr>汉仪旗黑KW 55S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2026-09-14T10:46:43Z</dcterms:created>
  <dcterms:modified xsi:type="dcterms:W3CDTF">2026-09-14T10:46:43Z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