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3125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FF747-3466-430C-BB2C-E86A4F1796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2BE3A-4128-4269-8CCE-FBC0564D02B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6759" y="2041677"/>
            <a:ext cx="387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一、基础底数“清”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6759" y="81012"/>
            <a:ext cx="1227221" cy="6256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①长春一东</a:t>
            </a:r>
            <a:endParaRPr lang="zh-CN" altLang="en-US" sz="1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68248" y="81012"/>
            <a:ext cx="2556711" cy="6256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②管户：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丛圣元</a:t>
            </a:r>
            <a:endParaRPr lang="en-US" altLang="zh-CN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③管理部门：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股权运营部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45181" y="796308"/>
            <a:ext cx="3053478" cy="5440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⑥股权分类：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</a:t>
            </a:r>
            <a:endParaRPr lang="en-US" altLang="zh-CN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29227" y="81012"/>
            <a:ext cx="2069432" cy="6256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④持股比例：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16.58%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36759" y="796308"/>
            <a:ext cx="3053478" cy="5440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⑤管理分类：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长期股权投资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0584" y="6588125"/>
            <a:ext cx="6507881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①对标情况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看行业：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国内商用车离合器行业规模约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135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亿元，年增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6%-8%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国六升级、老旧货车淘汰支撑传统配套，混动商用车电控离合器增量显著，但纯电重卡长期挤压传统产品。行业加速国产替代，外资把持高端，本土企业比拼规模、客户与售后渠道，技术向轻量化、电控化迭代，原材料波动持续压缩制造端毛利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看市场：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市场分整车配套与售后两大板块，售后毛利率显著高于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OEM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。铁流双线布局配套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商用车供应链服务，海内外渠道均衡；长春一东依托一汽系主机配套，国内重卡定点资源稳固，海外出口稳步扩容，但售后业务体量偏小，多元化市场布局弱于铁流。行业集中度持续抬升，中小厂商出清加速。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看竞争：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流股份营收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23.82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亿元、归母净利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7747.51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万元、归母净资产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17.22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亿元；营收体量为长春一东（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7.66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亿元）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倍，盈利规模大幅领先，业务多元抗周期更强。长春一东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年净利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1143.12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万元，虽实现大幅扭亏，但净利率、资产规模、营收规模全面落后对标企业，规模效应不足，产品线单一。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看自己：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优势：背靠兵器工业、中国一汽两大央企集团，重卡配套壁垒高，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年营收同比增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10.99%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盈利修复弹性更大。短板：营收、净资产仅为铁流三分之一与四分之一，业务仅聚焦离合器，缺少零部件贸易、精密加工第二增长曲线；盈利基数低，业绩波动大，售后与海外渠道布局滞后，规模成本劣势明显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整体结论：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长春一东客户壁垒突出，但规模、多元布局、盈利能力均显著弱于铁流，需拓宽市场、丰富产品线放大经营稳定性。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6525" y="1430020"/>
            <a:ext cx="6261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数据来源：①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名称、②管户、③管理部门、④持股比例、⑤管理分类、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⑥股权分类（参股公司信息管理）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6525" y="2500630"/>
            <a:ext cx="62617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长春一东离合器股份有限公司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，成立于②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1998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，注册资本③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14151.64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万元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，④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沪交所上市公司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，代码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600148.SH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，法定代表人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⑤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孟庆洪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，注册地址为⑥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吉林省长春市高新开发区超然街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2555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号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，⑦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人员规模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404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36525" y="3140075"/>
            <a:ext cx="6261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数据来源：①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名称、②成立时间、③注册资本、⑤法定代表人、⑥注册地址、⑦人员规模（参股公司信息管理）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④上市信息，暂无数据来源，建议在参股信息管理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6525" y="3675380"/>
            <a:ext cx="62611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①主营业务为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商用车离合器、液压举升器的研发、制造与销售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；②主要产品为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商用车离合器总成、液压举升器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③战略定位为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集团公司商用车传动系统零部件的重要供应方，为解放品牌配套离合器总成、液压举升器等产品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60350" y="4329430"/>
            <a:ext cx="6261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①主营业务②主要产品（参股公司信息管理），其中主要产品取前五数据；③战略定位，暂无数据来源，建议在参股公司信息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60350" y="4850130"/>
            <a:ext cx="613854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①长春一东的股权结构为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东北工业集团持股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24.00%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，一汽股权投资（天津）有限公司持股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16.58%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，中兵投资管理有限责任公司持股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8.07%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，其他股东持股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51.36%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②长春一东董事会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席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，其中一汽方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席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③经管层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席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，其中一汽方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席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④长春一东党建要求已进章程，⑤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已成立党组织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60350" y="5819775"/>
            <a:ext cx="6261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①股权结构（抓控股股东、一汽方股东、除控股和一汽外最大股东，其他按比例归纳为其他股东）②董事会构成及一汽方席位③经管层构成及一汽方席位④党建是否进章、是否成立党组织（参股信息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管理）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0350" y="10187940"/>
            <a:ext cx="63881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基于万得平台信息，由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生成，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位置月度投后报告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综合评价。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要求：以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看行业、看市场、看竞争、看自己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四看维度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生成对标报告。所需数据均可在一口清数据中提取。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【角色】你是资深投行分析专家，擅长行业分析与对标，贯通华为“五看”方案论。【背景】我需要你根据相关数据，输出一份“五看”架构的对标报告。【任务】以长春一东为例，生成一份2026年对标报告。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【输入数据】以长春一东2025年公开数据为基础，制定该报告。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【要求】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对标情况前置，200字以内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个模块：核心结论、“看行业”、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看市场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看竞争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看自己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【输出格式】使用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Markdown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排版，二级标题拆分模块，关键数据加粗。【约束】不得编造输入以外的数据，不得出现空泛套话，语言符合券商正式汇报风格。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22555" y="131479"/>
            <a:ext cx="387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二、财务状况“清”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2555" y="500811"/>
            <a:ext cx="650788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截至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月，①长春一东完成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营业收入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35805.11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，②预算完成度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46.72%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，③实现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归母净利润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920.40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，④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预算完成度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68.48%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⑤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年度长春一东营业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收入预算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80,232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，⑥较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决算增长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4.71%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；⑦归母净利润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预算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1344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，⑧较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决算增长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16.92%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/>
              <a:t>        </a:t>
            </a:r>
            <a:endParaRPr lang="en-US" altLang="zh-CN" sz="14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59314" y="2170332"/>
          <a:ext cx="62618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557"/>
                <a:gridCol w="894557"/>
                <a:gridCol w="894557"/>
                <a:gridCol w="894557"/>
                <a:gridCol w="894557"/>
                <a:gridCol w="894557"/>
                <a:gridCol w="894557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年度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营业收入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归母净利润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归母所有者权益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cPr/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决算金额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同比增长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决算金额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同比增长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决算金额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同比增长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76615.76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10.99%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1143.12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592.47%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47670.03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2.70%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69029.65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-0.85%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-232.12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-451.27%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46419.12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-1.66%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29618.95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26.33%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66.08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109.38%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47201.79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0.17%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35687" y="4438583"/>
            <a:ext cx="650788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长春一东本年度①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完成分红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93.8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，②历史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累计分红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458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59080" y="1356995"/>
            <a:ext cx="6261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①营业收入③归母净利润⑤收入预算⑦归母净利润预算（投后工作报告核心利润指标）②营业收入预算完成度④归母净利润预算完成度⑥营业收入增长度⑧归母净利润增长（根据公式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计算）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8445" y="4024630"/>
            <a:ext cx="6261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金额均取参股公司大司库（运营监控平台）数据，同比增长根据公式计算；单位万元，不保留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小数点。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9080" y="4689475"/>
            <a:ext cx="62611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①本年度分红②历史累计分红（投后工作报告经营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情况）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3767" y="4943596"/>
            <a:ext cx="387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三、治理行权“清”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5059" y="5312928"/>
            <a:ext cx="6507881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截至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月，①共审核长春一东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三会议题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同意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反对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发表管理建议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管理建议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1.《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关于计提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年度资产减值准备的议案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，管理建议为：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要加强存货管理。①认真落实盘点机制，动态管理库存；②加强采购、生产、销售联动，制定科学的生产计划、采购计划与销售计划，优化产销协同机制，对滞销产品及时处理，降低损失。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针对上汽红岩、东风朝阳动力等大额应收账款，要通过加大清收力度，通过协商、积极参与破产程序保障债权人权益等多种手段进行清收，争取超出本年度预算目标。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落实情况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：长春一东由经管层牵头成立应收账款回收专项组，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月成功收回上汽红岩部分应收账款，冲回资产减值损失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237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1145" y="7937500"/>
            <a:ext cx="637222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截至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月，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长春一东共有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名委派高管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，为②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副总经理（财务负责人）高英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。③委派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高管高英围绕提质增效、运营管理、风险控制开展履职工作，推动长春一东高水平完成上半年经营指标。同时委派干部充分发挥桥梁作用，在股东减持、产业协同等方面助力集团公司发展。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58445" y="7251065"/>
            <a:ext cx="6261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①三会议题情况（三会管理工作台）②管理建议（三会管理工作台）③落实情况，暂无数据来源，可手填，后续从三会工作台后，进行取数（</a:t>
            </a:r>
            <a:r>
              <a:rPr lang="zh-CN" altLang="en-US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明确需管理建议自动带入</a:t>
            </a:r>
            <a:r>
              <a:rPr lang="en-US" altLang="zh-CN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议题交办）</a:t>
            </a:r>
            <a:endParaRPr lang="zh-CN" altLang="en-US" sz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71145" y="9354185"/>
            <a:ext cx="62496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①长春一东共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名委派董事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，②为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副董事长李秀柱、董事马振来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③截至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月，委派董事按制度要求履职，完成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次董事会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项议题的审议。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59715" y="8709025"/>
            <a:ext cx="6261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①委派干部数量②职务及人员（外派高管月报复核），③工作情况总结，抓取外派高管月报情况本单位任职情况、助力集团发展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情况（当年累积，次年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月抓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全年），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生成信息。如有多名委派高管，则生成多条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69570" y="9893300"/>
            <a:ext cx="62611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①委派董事数量②职务及人员（委派董事月报复核），③工作情况总结，抓取委派董事月报情况，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生成信息。如有多名委派高管，则生成多条信息。重点关注出席董事会正式会会议情况，如有专项建议，则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列入。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102" y="392551"/>
            <a:ext cx="387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四、产业协同“清”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8394" y="761883"/>
            <a:ext cx="6507881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战略定位：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为集团公司商用车传动系统零部件的重要供应方，为解放品牌配套离合器总成、液压举升器等产品。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②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集团内客户及供应产品、服务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：集团内客户为一汽解放，供应商用车离合器总成及液压举升器。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协同项目情况：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重卡离合器占一汽解放本部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65%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供应份额、占解放青岛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38%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供应份额。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车型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档变速箱离合器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月份完成技术交流并对标样件分析，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月份完成方案确认，目前处于图纸设计阶段；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车型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档离合器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月份已完成方案确认和图纸开发，计划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月份提交样件。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6670" y="3263723"/>
            <a:ext cx="387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五、风险隐患“清”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87962" y="3696555"/>
            <a:ext cx="650788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①审计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及整改情况：长春一东暂无审计及专项整改事项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②风险情况：长春一东暂无风险上报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535" y="4589147"/>
            <a:ext cx="387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六、管理策略“清”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88192" y="4958479"/>
            <a:ext cx="6507881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①产业协同：长春一东是一汽解放重要的离合器总成、液压举升器的供应商，双方已建立良好的市场化合作机制，且在适用于新能源商用车的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方面也展开合作。该方面的主要策略为延续双方良好的市场化合作机制，在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、限扭减振器等适用于新能源商用车的领域继续展开合作。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②经营管理：紧盯长春一东总部利润情况，推动长春一东通过压降管理费用、汇率套期、专项清收大额应收账款等方式，提升总部利润贡献度，继而提升归母净利润水平。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股权经营：谋划长春一东股权经营方案，为股权增利储备机会。具体而言，转变长春一东股权运营方式，由深度参与日常经营转变为行使股东权利，撤回委派董事、高管，将长春一东记账方式由长期股权投资转变为交易性金融资产，实现股权增利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9080" y="2433955"/>
            <a:ext cx="62611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①战略定位（同基础信息）②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集团内客户及供应产品、服务，集团内客户取参股信息管理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产品信息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向中国一汽供货品牌；供应产品、服务取产品大类，建议取前五数据；</a:t>
            </a:r>
            <a:r>
              <a:rPr lang="zh-CN" altLang="en-US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③协同项目情况：短期取月度投后报告</a:t>
            </a:r>
            <a:r>
              <a:rPr lang="en-US" altLang="zh-CN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重点工作推进情况，新增大类协同项目</a:t>
            </a:r>
            <a:r>
              <a:rPr lang="zh-CN" altLang="en-US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情况</a:t>
            </a:r>
            <a:endParaRPr lang="zh-CN" altLang="en-US" sz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9080" y="4142740"/>
            <a:ext cx="6261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①审计及整改情况②风险情况，同运营驾驶舱风险管理、审计管理数据源；</a:t>
            </a:r>
            <a:r>
              <a:rPr lang="zh-CN" altLang="en-US" sz="1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整改后续借用股权经营项目模式，按月填写进展</a:t>
            </a:r>
            <a:endParaRPr lang="zh-CN" altLang="en-US" sz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9080" y="6711950"/>
            <a:ext cx="62611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初始化导入，待一企一策上线后，同步抓取数据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4044</Words>
  <Application>WPS 演示</Application>
  <PresentationFormat>宽屏</PresentationFormat>
  <Paragraphs>163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Arial Unicode MS</vt:lpstr>
      <vt:lpstr>等线 Light</vt:lpstr>
      <vt:lpstr>Calibri Light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贰人行</cp:lastModifiedBy>
  <cp:revision>6</cp:revision>
  <dcterms:created xsi:type="dcterms:W3CDTF">2026-07-02T06:42:00Z</dcterms:created>
  <dcterms:modified xsi:type="dcterms:W3CDTF">2026-07-10T09:24:12Z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33652F98164648D8991448EABF67D009_12</vt:lpwstr>
  </property>
</Properties>
</file>