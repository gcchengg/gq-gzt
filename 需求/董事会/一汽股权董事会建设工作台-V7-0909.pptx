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8" r:id="rId2"/>
    <p:sldMasterId id="2147483670" r:id="rId3"/>
    <p:sldMasterId id="2147483677" r:id="rId4"/>
    <p:sldMasterId id="2147483679" r:id="rId5"/>
  </p:sldMasterIdLst>
  <p:notesMasterIdLst>
    <p:notesMasterId r:id="rId19"/>
  </p:notesMasterIdLst>
  <p:sldIdLst>
    <p:sldId id="268" r:id="rId6"/>
    <p:sldId id="265" r:id="rId7"/>
    <p:sldId id="266" r:id="rId8"/>
    <p:sldId id="272" r:id="rId9"/>
    <p:sldId id="269" r:id="rId10"/>
    <p:sldId id="274" r:id="rId11"/>
    <p:sldId id="278" r:id="rId12"/>
    <p:sldId id="279" r:id="rId13"/>
    <p:sldId id="270" r:id="rId14"/>
    <p:sldId id="271" r:id="rId15"/>
    <p:sldId id="280" r:id="rId16"/>
    <p:sldId id="276" r:id="rId17"/>
    <p:sldId id="27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0887" autoAdjust="0"/>
  </p:normalViewPr>
  <p:slideViewPr>
    <p:cSldViewPr snapToGrid="0">
      <p:cViewPr>
        <p:scale>
          <a:sx n="50" d="100"/>
          <a:sy n="50" d="100"/>
        </p:scale>
        <p:origin x="187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7B5CC-7531-4BAA-A2BD-14EEC30D60D2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8E8CC-94B3-4709-84CB-68D13476C5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908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550FA7-EFCA-47A9-BD46-0E28EB4690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319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78E8CC-94B3-4709-84CB-68D13476C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286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78E8CC-94B3-4709-84CB-68D13476C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692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初始培训清单管理（资料名称、责任部门、责任人）</a:t>
            </a:r>
            <a:r>
              <a:rPr lang="en-US" altLang="zh-CN" dirty="0" smtClean="0"/>
              <a:t>【</a:t>
            </a:r>
            <a:r>
              <a:rPr lang="zh-CN" altLang="en-US" dirty="0" smtClean="0"/>
              <a:t>编制、</a:t>
            </a:r>
            <a:r>
              <a:rPr lang="en-US" altLang="zh-CN" dirty="0" smtClean="0"/>
              <a:t>】-</a:t>
            </a:r>
          </a:p>
          <a:p>
            <a:r>
              <a:rPr lang="zh-CN" altLang="en-US" dirty="0" smtClean="0"/>
              <a:t>综合管理部（董办、人力）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78E8CC-94B3-4709-84CB-68D13476C5B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44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董事人员信息库（董事标签，打通集团组织机构，集团人力？）</a:t>
            </a:r>
            <a:endParaRPr lang="en-US" altLang="zh-CN" dirty="0" smtClean="0"/>
          </a:p>
          <a:p>
            <a:r>
              <a:rPr lang="zh-CN" altLang="en-US" dirty="0" smtClean="0"/>
              <a:t>模型</a:t>
            </a:r>
            <a:endParaRPr lang="en-US" altLang="zh-CN" dirty="0" smtClean="0"/>
          </a:p>
          <a:p>
            <a:r>
              <a:rPr lang="zh-CN" altLang="en-US" dirty="0" smtClean="0"/>
              <a:t>国资委、上级要求</a:t>
            </a:r>
            <a:r>
              <a:rPr lang="en-US" altLang="zh-CN" dirty="0" smtClean="0"/>
              <a:t>-</a:t>
            </a:r>
            <a:r>
              <a:rPr lang="zh-CN" altLang="en-US" dirty="0" smtClean="0"/>
              <a:t>信息穿透</a:t>
            </a:r>
            <a:r>
              <a:rPr lang="en-US" altLang="zh-CN" dirty="0" smtClean="0"/>
              <a:t>-</a:t>
            </a:r>
            <a:r>
              <a:rPr lang="zh-CN" altLang="en-US" dirty="0" smtClean="0"/>
              <a:t>对董事培训、学习的导入；临时要求；</a:t>
            </a:r>
            <a:endParaRPr lang="en-US" altLang="zh-CN" dirty="0" smtClean="0"/>
          </a:p>
          <a:p>
            <a:r>
              <a:rPr lang="zh-CN" altLang="en-US" dirty="0" smtClean="0"/>
              <a:t>日常信息、任务传递的智能体；常规问答（红旗云妹儿）</a:t>
            </a:r>
            <a:r>
              <a:rPr lang="en-US" altLang="zh-CN" dirty="0" smtClean="0"/>
              <a:t>-</a:t>
            </a:r>
            <a:r>
              <a:rPr lang="zh-CN" altLang="en-US" dirty="0" smtClean="0"/>
              <a:t>集团董办？</a:t>
            </a:r>
            <a:endParaRPr lang="en-US" altLang="zh-CN" dirty="0" smtClean="0"/>
          </a:p>
          <a:p>
            <a:r>
              <a:rPr lang="zh-CN" altLang="en-US" dirty="0" smtClean="0"/>
              <a:t>初始培训清单管理（资料名称、责任部门、责任人）</a:t>
            </a:r>
            <a:r>
              <a:rPr lang="en-US" altLang="zh-CN" dirty="0" smtClean="0"/>
              <a:t>【</a:t>
            </a:r>
            <a:r>
              <a:rPr lang="zh-CN" altLang="en-US" dirty="0" smtClean="0"/>
              <a:t>编制、</a:t>
            </a:r>
            <a:r>
              <a:rPr lang="en-US" altLang="zh-CN" dirty="0" smtClean="0"/>
              <a:t>】-</a:t>
            </a:r>
          </a:p>
          <a:p>
            <a:r>
              <a:rPr lang="zh-CN" altLang="en-US" dirty="0" smtClean="0"/>
              <a:t>综合管理部（董办、人力）</a:t>
            </a:r>
            <a:endParaRPr lang="en-US" altLang="zh-CN" dirty="0" smtClean="0"/>
          </a:p>
          <a:p>
            <a:r>
              <a:rPr lang="zh-CN" altLang="en-US" dirty="0" smtClean="0"/>
              <a:t>任前导入培训</a:t>
            </a:r>
            <a:r>
              <a:rPr lang="en-US" altLang="zh-CN" dirty="0" smtClean="0"/>
              <a:t>-</a:t>
            </a:r>
            <a:r>
              <a:rPr lang="zh-CN" altLang="en-US" dirty="0" smtClean="0"/>
              <a:t>线上工作台</a:t>
            </a:r>
            <a:r>
              <a:rPr lang="en-US" altLang="zh-CN" dirty="0" smtClean="0"/>
              <a:t>e</a:t>
            </a:r>
            <a:r>
              <a:rPr lang="zh-CN" altLang="en-US" dirty="0" smtClean="0"/>
              <a:t>汽学（集团）</a:t>
            </a:r>
            <a:r>
              <a:rPr lang="en-US" altLang="zh-CN" dirty="0" smtClean="0"/>
              <a:t>+</a:t>
            </a:r>
            <a:r>
              <a:rPr lang="zh-CN" altLang="en-US" dirty="0" smtClean="0"/>
              <a:t>线下文档（履职工具包、政策法规、子企业、董事、董事会的要求）</a:t>
            </a:r>
            <a:r>
              <a:rPr lang="en-US" altLang="zh-CN" dirty="0" smtClean="0"/>
              <a:t>-</a:t>
            </a:r>
            <a:r>
              <a:rPr lang="zh-CN" altLang="en-US" dirty="0" smtClean="0"/>
              <a:t>有一个周期表</a:t>
            </a:r>
            <a:r>
              <a:rPr lang="en-US" altLang="zh-CN" dirty="0" smtClean="0"/>
              <a:t>-</a:t>
            </a:r>
            <a:r>
              <a:rPr lang="zh-CN" altLang="en-US" dirty="0" smtClean="0"/>
              <a:t>需要通过考试</a:t>
            </a:r>
            <a:r>
              <a:rPr lang="en-US" altLang="zh-CN" dirty="0" smtClean="0"/>
              <a:t>-</a:t>
            </a:r>
            <a:r>
              <a:rPr lang="zh-CN" altLang="en-US" dirty="0" smtClean="0"/>
              <a:t>颁发证书通过（同步）</a:t>
            </a:r>
            <a:endParaRPr lang="en-US" altLang="zh-CN" dirty="0" smtClean="0"/>
          </a:p>
          <a:p>
            <a:r>
              <a:rPr lang="zh-CN" altLang="en-US" dirty="0" smtClean="0"/>
              <a:t>履职工具包</a:t>
            </a:r>
            <a:r>
              <a:rPr lang="en-US" altLang="zh-CN" dirty="0" smtClean="0"/>
              <a:t>-</a:t>
            </a:r>
            <a:r>
              <a:rPr lang="zh-CN" altLang="en-US" dirty="0" smtClean="0"/>
              <a:t>频次</a:t>
            </a:r>
            <a:r>
              <a:rPr lang="en-US" altLang="zh-CN" dirty="0" smtClean="0"/>
              <a:t>-</a:t>
            </a:r>
            <a:r>
              <a:rPr lang="zh-CN" altLang="en-US" dirty="0" smtClean="0"/>
              <a:t>国资委发文</a:t>
            </a:r>
            <a:r>
              <a:rPr lang="en-US" altLang="zh-CN" dirty="0" smtClean="0"/>
              <a:t>-</a:t>
            </a:r>
            <a:r>
              <a:rPr lang="zh-CN" altLang="en-US" dirty="0" smtClean="0"/>
              <a:t>（收取方式：通过公文</a:t>
            </a:r>
            <a:r>
              <a:rPr lang="en-US" altLang="zh-CN" dirty="0" smtClean="0"/>
              <a:t>-</a:t>
            </a:r>
            <a:r>
              <a:rPr lang="zh-CN" altLang="en-US" dirty="0" smtClean="0"/>
              <a:t>从公文系统抓取到）标签：发文单位、关键词，增加人工判断；也会有线下邮寄的，董办转化上传</a:t>
            </a:r>
            <a:r>
              <a:rPr lang="en-US" altLang="zh-CN" dirty="0" smtClean="0"/>
              <a:t>-M</a:t>
            </a:r>
            <a:r>
              <a:rPr lang="zh-CN" altLang="en-US" dirty="0" smtClean="0"/>
              <a:t>文</a:t>
            </a:r>
            <a:endParaRPr lang="en-US" altLang="zh-CN" dirty="0" smtClean="0"/>
          </a:p>
          <a:p>
            <a:r>
              <a:rPr lang="zh-CN" altLang="en-US" dirty="0" smtClean="0"/>
              <a:t>看板</a:t>
            </a:r>
            <a:r>
              <a:rPr lang="en-US" altLang="zh-CN" dirty="0" smtClean="0"/>
              <a:t>-</a:t>
            </a:r>
            <a:r>
              <a:rPr lang="zh-CN" altLang="en-US" dirty="0" smtClean="0"/>
              <a:t>（集团）董事维度、企业维度；董事任职数据看板、信息库的维度</a:t>
            </a:r>
            <a:r>
              <a:rPr lang="en-US" altLang="zh-CN" dirty="0" smtClean="0"/>
              <a:t>-</a:t>
            </a:r>
            <a:r>
              <a:rPr lang="zh-CN" altLang="en-US" dirty="0" smtClean="0"/>
              <a:t>（公司董事履职信息）；履职档案看板</a:t>
            </a:r>
            <a:endParaRPr lang="en-US" altLang="zh-CN" dirty="0" smtClean="0"/>
          </a:p>
          <a:p>
            <a:r>
              <a:rPr lang="en-US" altLang="zh-CN" dirty="0" smtClean="0"/>
              <a:t>Ai</a:t>
            </a:r>
            <a:r>
              <a:rPr lang="zh-CN" altLang="en-US" dirty="0" smtClean="0"/>
              <a:t>需求</a:t>
            </a:r>
            <a:r>
              <a:rPr lang="en-US" altLang="zh-CN" dirty="0" smtClean="0"/>
              <a:t>-</a:t>
            </a:r>
            <a:r>
              <a:rPr lang="zh-CN" altLang="en-US" dirty="0" smtClean="0"/>
              <a:t>（董事履职）履职质量分析，</a:t>
            </a:r>
            <a:r>
              <a:rPr lang="en-US" altLang="zh-CN" dirty="0" err="1" smtClean="0"/>
              <a:t>ai</a:t>
            </a:r>
            <a:r>
              <a:rPr lang="zh-CN" altLang="en-US" dirty="0" smtClean="0"/>
              <a:t>标签，发言状态，生成履职画像，比如有的董事关注风险，分析能力短板；集团董办最主要的对派出董事是赋能，识别痛点，组织体系培训；（会议）效率提升；例如智能生成记录、智能检查档案、列席数据的内容、子企业的问题识别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78E8CC-94B3-4709-84CB-68D13476C5B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231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董事人员信息库（董事标签，打通集团组织机构，集团人力？）</a:t>
            </a:r>
            <a:endParaRPr lang="en-US" altLang="zh-CN" dirty="0" smtClean="0"/>
          </a:p>
          <a:p>
            <a:r>
              <a:rPr lang="zh-CN" altLang="en-US" dirty="0" smtClean="0"/>
              <a:t>模型</a:t>
            </a:r>
            <a:endParaRPr lang="en-US" altLang="zh-CN" dirty="0" smtClean="0"/>
          </a:p>
          <a:p>
            <a:r>
              <a:rPr lang="zh-CN" altLang="en-US" dirty="0" smtClean="0"/>
              <a:t>国资委、上级要求</a:t>
            </a:r>
            <a:r>
              <a:rPr lang="en-US" altLang="zh-CN" dirty="0" smtClean="0"/>
              <a:t>-</a:t>
            </a:r>
            <a:r>
              <a:rPr lang="zh-CN" altLang="en-US" dirty="0" smtClean="0"/>
              <a:t>信息穿透</a:t>
            </a:r>
            <a:r>
              <a:rPr lang="en-US" altLang="zh-CN" dirty="0" smtClean="0"/>
              <a:t>-</a:t>
            </a:r>
            <a:r>
              <a:rPr lang="zh-CN" altLang="en-US" dirty="0" smtClean="0"/>
              <a:t>对董事培训、学习的导入；临时要求；</a:t>
            </a:r>
            <a:endParaRPr lang="en-US" altLang="zh-CN" dirty="0" smtClean="0"/>
          </a:p>
          <a:p>
            <a:r>
              <a:rPr lang="zh-CN" altLang="en-US" dirty="0" smtClean="0"/>
              <a:t>日常信息、任务传递的智能体；常规问答（红旗云妹儿）</a:t>
            </a:r>
            <a:r>
              <a:rPr lang="en-US" altLang="zh-CN" dirty="0" smtClean="0"/>
              <a:t>-</a:t>
            </a:r>
            <a:r>
              <a:rPr lang="zh-CN" altLang="en-US" dirty="0" smtClean="0"/>
              <a:t>集团董办？</a:t>
            </a:r>
            <a:endParaRPr lang="en-US" altLang="zh-CN" dirty="0" smtClean="0"/>
          </a:p>
          <a:p>
            <a:r>
              <a:rPr lang="zh-CN" altLang="en-US" dirty="0" smtClean="0"/>
              <a:t>初始培训清单管理（资料名称、责任部门、责任人）</a:t>
            </a:r>
            <a:r>
              <a:rPr lang="en-US" altLang="zh-CN" dirty="0" smtClean="0"/>
              <a:t>【</a:t>
            </a:r>
            <a:r>
              <a:rPr lang="zh-CN" altLang="en-US" dirty="0" smtClean="0"/>
              <a:t>编制、</a:t>
            </a:r>
            <a:r>
              <a:rPr lang="en-US" altLang="zh-CN" dirty="0" smtClean="0"/>
              <a:t>】-</a:t>
            </a:r>
          </a:p>
          <a:p>
            <a:r>
              <a:rPr lang="zh-CN" altLang="en-US" dirty="0" smtClean="0"/>
              <a:t>综合管理部（董办、人力）</a:t>
            </a:r>
            <a:endParaRPr lang="en-US" altLang="zh-CN" dirty="0" smtClean="0"/>
          </a:p>
          <a:p>
            <a:r>
              <a:rPr lang="zh-CN" altLang="en-US" dirty="0" smtClean="0"/>
              <a:t>任前导入培训</a:t>
            </a:r>
            <a:r>
              <a:rPr lang="en-US" altLang="zh-CN" dirty="0" smtClean="0"/>
              <a:t>-</a:t>
            </a:r>
            <a:r>
              <a:rPr lang="zh-CN" altLang="en-US" dirty="0" smtClean="0"/>
              <a:t>线上工作台</a:t>
            </a:r>
            <a:r>
              <a:rPr lang="en-US" altLang="zh-CN" dirty="0" smtClean="0"/>
              <a:t>e</a:t>
            </a:r>
            <a:r>
              <a:rPr lang="zh-CN" altLang="en-US" dirty="0" smtClean="0"/>
              <a:t>汽学（集团）</a:t>
            </a:r>
            <a:r>
              <a:rPr lang="en-US" altLang="zh-CN" dirty="0" smtClean="0"/>
              <a:t>+</a:t>
            </a:r>
            <a:r>
              <a:rPr lang="zh-CN" altLang="en-US" dirty="0" smtClean="0"/>
              <a:t>线下文档（履职工具包、政策法规、子企业、董事、董事会的要求）</a:t>
            </a:r>
            <a:r>
              <a:rPr lang="en-US" altLang="zh-CN" dirty="0" smtClean="0"/>
              <a:t>-</a:t>
            </a:r>
            <a:r>
              <a:rPr lang="zh-CN" altLang="en-US" dirty="0" smtClean="0"/>
              <a:t>有一个周期表</a:t>
            </a:r>
            <a:r>
              <a:rPr lang="en-US" altLang="zh-CN" dirty="0" smtClean="0"/>
              <a:t>-</a:t>
            </a:r>
            <a:r>
              <a:rPr lang="zh-CN" altLang="en-US" dirty="0" smtClean="0"/>
              <a:t>需要通过考试</a:t>
            </a:r>
            <a:r>
              <a:rPr lang="en-US" altLang="zh-CN" dirty="0" smtClean="0"/>
              <a:t>-</a:t>
            </a:r>
            <a:r>
              <a:rPr lang="zh-CN" altLang="en-US" dirty="0" smtClean="0"/>
              <a:t>颁发证书通过（同步）</a:t>
            </a:r>
            <a:endParaRPr lang="en-US" altLang="zh-CN" dirty="0" smtClean="0"/>
          </a:p>
          <a:p>
            <a:r>
              <a:rPr lang="zh-CN" altLang="en-US" dirty="0" smtClean="0"/>
              <a:t>履职工具包</a:t>
            </a:r>
            <a:r>
              <a:rPr lang="en-US" altLang="zh-CN" dirty="0" smtClean="0"/>
              <a:t>-</a:t>
            </a:r>
            <a:r>
              <a:rPr lang="zh-CN" altLang="en-US" dirty="0" smtClean="0"/>
              <a:t>频次</a:t>
            </a:r>
            <a:r>
              <a:rPr lang="en-US" altLang="zh-CN" dirty="0" smtClean="0"/>
              <a:t>-</a:t>
            </a:r>
            <a:r>
              <a:rPr lang="zh-CN" altLang="en-US" dirty="0" smtClean="0"/>
              <a:t>国资委发文</a:t>
            </a:r>
            <a:r>
              <a:rPr lang="en-US" altLang="zh-CN" dirty="0" smtClean="0"/>
              <a:t>-</a:t>
            </a:r>
            <a:r>
              <a:rPr lang="zh-CN" altLang="en-US" dirty="0" smtClean="0"/>
              <a:t>（收取方式：通过公文</a:t>
            </a:r>
            <a:r>
              <a:rPr lang="en-US" altLang="zh-CN" dirty="0" smtClean="0"/>
              <a:t>-</a:t>
            </a:r>
            <a:r>
              <a:rPr lang="zh-CN" altLang="en-US" dirty="0" smtClean="0"/>
              <a:t>从公文系统抓取到）标签：发文单位、关键词，增加人工判断；也会有线下邮寄的，董办转化上传</a:t>
            </a:r>
            <a:r>
              <a:rPr lang="en-US" altLang="zh-CN" dirty="0" smtClean="0"/>
              <a:t>-M</a:t>
            </a:r>
            <a:r>
              <a:rPr lang="zh-CN" altLang="en-US" dirty="0" smtClean="0"/>
              <a:t>文</a:t>
            </a:r>
            <a:endParaRPr lang="en-US" altLang="zh-CN" dirty="0" smtClean="0"/>
          </a:p>
          <a:p>
            <a:r>
              <a:rPr lang="zh-CN" altLang="en-US" dirty="0" smtClean="0"/>
              <a:t>看板</a:t>
            </a:r>
            <a:r>
              <a:rPr lang="en-US" altLang="zh-CN" dirty="0" smtClean="0"/>
              <a:t>-</a:t>
            </a:r>
            <a:r>
              <a:rPr lang="zh-CN" altLang="en-US" dirty="0" smtClean="0"/>
              <a:t>（集团）董事维度、企业维度；董事任职数据看板、信息库的维度</a:t>
            </a:r>
            <a:r>
              <a:rPr lang="en-US" altLang="zh-CN" dirty="0" smtClean="0"/>
              <a:t>-</a:t>
            </a:r>
            <a:r>
              <a:rPr lang="zh-CN" altLang="en-US" dirty="0" smtClean="0"/>
              <a:t>（公司董事履职信息）；履职档案看板</a:t>
            </a:r>
            <a:endParaRPr lang="en-US" altLang="zh-CN" dirty="0" smtClean="0"/>
          </a:p>
          <a:p>
            <a:r>
              <a:rPr lang="en-US" altLang="zh-CN" dirty="0" smtClean="0"/>
              <a:t>Ai</a:t>
            </a:r>
            <a:r>
              <a:rPr lang="zh-CN" altLang="en-US" dirty="0" smtClean="0"/>
              <a:t>需求</a:t>
            </a:r>
            <a:r>
              <a:rPr lang="en-US" altLang="zh-CN" dirty="0" smtClean="0"/>
              <a:t>-</a:t>
            </a:r>
            <a:r>
              <a:rPr lang="zh-CN" altLang="en-US" dirty="0" smtClean="0"/>
              <a:t>（董事履职）履职质量分析，</a:t>
            </a:r>
            <a:r>
              <a:rPr lang="en-US" altLang="zh-CN" dirty="0" err="1" smtClean="0"/>
              <a:t>ai</a:t>
            </a:r>
            <a:r>
              <a:rPr lang="zh-CN" altLang="en-US" dirty="0" smtClean="0"/>
              <a:t>标签，发言状态，生成履职画像，比如有的董事关注风险，分析能力短板；集团董办最主要的对派出董事是赋能，识别痛点，组织体系培训；（会议）效率提升；例如智能生成记录、智能检查档案、列席数据的内容、子企业的问题识别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78E8CC-94B3-4709-84CB-68D13476C5B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453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初始培训清单管理（资料名称、责任部门、责任人）</a:t>
            </a:r>
            <a:r>
              <a:rPr lang="en-US" altLang="zh-CN" dirty="0" smtClean="0"/>
              <a:t>【</a:t>
            </a:r>
            <a:r>
              <a:rPr lang="zh-CN" altLang="en-US" dirty="0" smtClean="0"/>
              <a:t>编制、</a:t>
            </a:r>
            <a:r>
              <a:rPr lang="en-US" altLang="zh-CN" dirty="0" smtClean="0"/>
              <a:t>】-</a:t>
            </a:r>
          </a:p>
          <a:p>
            <a:r>
              <a:rPr lang="zh-CN" altLang="en-US" dirty="0" smtClean="0"/>
              <a:t>综合管理部（董办、人力）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78E8CC-94B3-4709-84CB-68D13476C5B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971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初始培训清单管理（资料名称、责任部门、责任人）</a:t>
            </a:r>
            <a:r>
              <a:rPr lang="en-US" altLang="zh-CN" dirty="0" smtClean="0"/>
              <a:t>【</a:t>
            </a:r>
            <a:r>
              <a:rPr lang="zh-CN" altLang="en-US" dirty="0" smtClean="0"/>
              <a:t>编制、</a:t>
            </a:r>
            <a:r>
              <a:rPr lang="en-US" altLang="zh-CN" dirty="0" smtClean="0"/>
              <a:t>】-</a:t>
            </a:r>
          </a:p>
          <a:p>
            <a:r>
              <a:rPr lang="zh-CN" altLang="en-US" dirty="0" smtClean="0"/>
              <a:t>综合管理部（董办、人力）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78E8CC-94B3-4709-84CB-68D13476C5B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648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GI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382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378785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02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250643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176095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80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759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9366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104021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129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2686020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134091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438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7250" y="242586"/>
            <a:ext cx="3714750" cy="828675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9442383" y="426090"/>
            <a:ext cx="2999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一汽股权投资公司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75784" y="134911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核心商密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" y="1423949"/>
            <a:ext cx="402545" cy="25200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1445610" y="1349118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</a:p>
        </p:txBody>
      </p:sp>
    </p:spTree>
    <p:extLst>
      <p:ext uri="{BB962C8B-B14F-4D97-AF65-F5344CB8AC3E}">
        <p14:creationId xmlns:p14="http://schemas.microsoft.com/office/powerpoint/2010/main" val="408255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theme" Target="../theme/theme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theme" Target="../theme/theme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944" y="223755"/>
            <a:ext cx="1739561" cy="4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3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  <p:extLst>
      <p:ext uri="{BB962C8B-B14F-4D97-AF65-F5344CB8AC3E}">
        <p14:creationId xmlns:p14="http://schemas.microsoft.com/office/powerpoint/2010/main" val="33567706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>
            <a:fillRect/>
          </a:stretch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一汽股权</a:t>
            </a:r>
            <a:endParaRPr lang="en-US" altLang="zh-CN" sz="20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FAW EQUITY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  <p:extLst>
      <p:ext uri="{BB962C8B-B14F-4D97-AF65-F5344CB8AC3E}">
        <p14:creationId xmlns:p14="http://schemas.microsoft.com/office/powerpoint/2010/main" val="380497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  <p:extLst>
      <p:ext uri="{BB962C8B-B14F-4D97-AF65-F5344CB8AC3E}">
        <p14:creationId xmlns:p14="http://schemas.microsoft.com/office/powerpoint/2010/main" val="26811567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  <p:extLst>
      <p:ext uri="{BB962C8B-B14F-4D97-AF65-F5344CB8AC3E}">
        <p14:creationId xmlns:p14="http://schemas.microsoft.com/office/powerpoint/2010/main" val="297322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 txBox="1"/>
          <p:nvPr/>
        </p:nvSpPr>
        <p:spPr>
          <a:xfrm>
            <a:off x="1828800" y="5102633"/>
            <a:ext cx="8534400" cy="1752600"/>
          </a:xfrm>
          <a:prstGeom prst="rect">
            <a:avLst/>
          </a:prstGeom>
        </p:spPr>
        <p:txBody>
          <a:bodyPr lIns="81750" tIns="40874" rIns="81750" bIns="40874" anchor="ctr"/>
          <a:lstStyle>
            <a:lvl1pPr marL="316865" indent="-31686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3"/>
              </a:buBlip>
              <a:defRPr sz="2200">
                <a:solidFill>
                  <a:srgbClr val="102A8D"/>
                </a:solidFill>
                <a:latin typeface="+mn-lt"/>
                <a:ea typeface="+mn-ea"/>
                <a:cs typeface="+mn-cs"/>
              </a:defRPr>
            </a:lvl1pPr>
            <a:lvl2pPr marL="686435" indent="-26289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4"/>
              </a:buBlip>
              <a:defRPr sz="2800">
                <a:solidFill>
                  <a:srgbClr val="102A8D"/>
                </a:solidFill>
                <a:latin typeface="+mn-lt"/>
                <a:ea typeface="+mn-ea"/>
              </a:defRPr>
            </a:lvl2pPr>
            <a:lvl3pPr marL="1057275" indent="-21272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sz="2200">
                <a:solidFill>
                  <a:srgbClr val="102A8D"/>
                </a:solidFill>
                <a:latin typeface="+mn-lt"/>
                <a:ea typeface="+mn-ea"/>
              </a:defRPr>
            </a:lvl3pPr>
            <a:lvl4pPr marL="147891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6"/>
              </a:buBlip>
              <a:defRPr sz="1400">
                <a:solidFill>
                  <a:srgbClr val="102A8D"/>
                </a:solidFill>
                <a:latin typeface="+mn-lt"/>
                <a:ea typeface="+mn-ea"/>
              </a:defRPr>
            </a:lvl4pPr>
            <a:lvl5pPr marL="190246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102A8D"/>
                </a:solidFill>
                <a:latin typeface="+mn-lt"/>
                <a:ea typeface="+mn-ea"/>
              </a:defRPr>
            </a:lvl5pPr>
            <a:lvl6pPr marL="235902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559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845185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2026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</a:t>
            </a:r>
            <a:r>
              <a:rPr lang="en-US" altLang="zh-CN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月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914400" y="2693987"/>
            <a:ext cx="10363200" cy="1470025"/>
          </a:xfrm>
          <a:prstGeom prst="rect">
            <a:avLst/>
          </a:prstGeom>
        </p:spPr>
        <p:txBody>
          <a:bodyPr lIns="81750" tIns="40874" rIns="81750" bIns="40874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45185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一汽股权董事会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建设工作台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030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5"/>
          <p:cNvSpPr txBox="1"/>
          <p:nvPr/>
        </p:nvSpPr>
        <p:spPr>
          <a:xfrm>
            <a:off x="536077" y="380846"/>
            <a:ext cx="10367010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lang="zh-CN" altLang="en-US" sz="2400" b="1" kern="120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目  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3312133" y="2482053"/>
            <a:ext cx="6205855" cy="53975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用户价值图</a:t>
            </a: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2663163" y="2482688"/>
            <a:ext cx="600075" cy="54610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一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41"/>
          <p:cNvSpPr>
            <a:spLocks noChangeArrowheads="1"/>
          </p:cNvSpPr>
          <p:nvPr/>
        </p:nvSpPr>
        <p:spPr bwMode="auto">
          <a:xfrm>
            <a:off x="2663163" y="3225638"/>
            <a:ext cx="600075" cy="54356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txBody>
          <a:bodyPr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二</a:t>
            </a:r>
          </a:p>
        </p:txBody>
      </p:sp>
      <p:sp>
        <p:nvSpPr>
          <p:cNvPr id="13" name="矩形 8"/>
          <p:cNvSpPr>
            <a:spLocks noChangeArrowheads="1"/>
          </p:cNvSpPr>
          <p:nvPr/>
        </p:nvSpPr>
        <p:spPr bwMode="auto">
          <a:xfrm>
            <a:off x="3312133" y="3935568"/>
            <a:ext cx="6205855" cy="54864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产品架构</a:t>
            </a:r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3312133" y="3225638"/>
            <a:ext cx="6205855" cy="54864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业务逻辑图</a:t>
            </a:r>
          </a:p>
        </p:txBody>
      </p:sp>
      <p:sp>
        <p:nvSpPr>
          <p:cNvPr id="11" name="矩形 41"/>
          <p:cNvSpPr>
            <a:spLocks noChangeArrowheads="1"/>
          </p:cNvSpPr>
          <p:nvPr/>
        </p:nvSpPr>
        <p:spPr bwMode="auto">
          <a:xfrm>
            <a:off x="2663163" y="3978113"/>
            <a:ext cx="600075" cy="54356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txBody>
          <a:bodyPr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55994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9850755" cy="497840"/>
          </a:xfrm>
        </p:spPr>
        <p:txBody>
          <a:bodyPr anchor="ctr" anchorCtr="0"/>
          <a:lstStyle/>
          <a:p>
            <a:r>
              <a:rPr lang="zh-CN" altLang="en-US" dirty="0" smtClean="0"/>
              <a:t>一、用户价值图</a:t>
            </a:r>
            <a:endParaRPr lang="zh-CN" altLang="en-US" dirty="0">
              <a:sym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5152" y="5657279"/>
            <a:ext cx="864235" cy="929005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灯塔指标</a:t>
            </a:r>
          </a:p>
        </p:txBody>
      </p:sp>
      <p:sp>
        <p:nvSpPr>
          <p:cNvPr id="7" name="等腰三角形 6"/>
          <p:cNvSpPr/>
          <p:nvPr/>
        </p:nvSpPr>
        <p:spPr>
          <a:xfrm>
            <a:off x="1234076" y="1474600"/>
            <a:ext cx="10292715" cy="652128"/>
          </a:xfrm>
          <a:prstGeom prst="triangle">
            <a:avLst>
              <a:gd name="adj" fmla="val 50178"/>
            </a:avLst>
          </a:prstGeom>
          <a:solidFill>
            <a:srgbClr val="112D9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8822" y="4770648"/>
            <a:ext cx="864235" cy="764319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业务对象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55152" y="1652768"/>
            <a:ext cx="864235" cy="485140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愿景</a:t>
            </a:r>
          </a:p>
        </p:txBody>
      </p:sp>
      <p:sp>
        <p:nvSpPr>
          <p:cNvPr id="47" name="内容占位符 3"/>
          <p:cNvSpPr txBox="1"/>
          <p:nvPr/>
        </p:nvSpPr>
        <p:spPr>
          <a:xfrm>
            <a:off x="434197" y="827065"/>
            <a:ext cx="11263598" cy="951079"/>
          </a:xfrm>
          <a:prstGeom prst="rect">
            <a:avLst/>
          </a:prstGeom>
          <a:noFill/>
        </p:spPr>
        <p:txBody>
          <a:bodyPr wrap="square" lIns="81750" tIns="40874" rIns="81750" bIns="40874" rtlCol="0" anchor="t" anchorCtr="0">
            <a:noAutofit/>
          </a:bodyPr>
          <a:lstStyle>
            <a:lvl1pPr marL="316865" indent="-316865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2"/>
              </a:buBlip>
              <a:defRPr sz="2200">
                <a:solidFill>
                  <a:srgbClr val="102A8D"/>
                </a:solidFill>
                <a:latin typeface="+mn-lt"/>
                <a:ea typeface="+mn-ea"/>
                <a:cs typeface="+mn-cs"/>
              </a:defRPr>
            </a:lvl1pPr>
            <a:lvl2pPr marL="686435" indent="-26289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3"/>
              </a:buBlip>
              <a:defRPr sz="2800">
                <a:solidFill>
                  <a:srgbClr val="102A8D"/>
                </a:solidFill>
                <a:latin typeface="+mn-lt"/>
                <a:ea typeface="+mn-ea"/>
              </a:defRPr>
            </a:lvl2pPr>
            <a:lvl3pPr marL="1057275" indent="-21209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4"/>
              </a:buBlip>
              <a:defRPr sz="2200">
                <a:solidFill>
                  <a:srgbClr val="102A8D"/>
                </a:solidFill>
                <a:latin typeface="+mn-lt"/>
                <a:ea typeface="+mn-ea"/>
              </a:defRPr>
            </a:lvl3pPr>
            <a:lvl4pPr marL="147891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sz="1400">
                <a:solidFill>
                  <a:srgbClr val="102A8D"/>
                </a:solidFill>
                <a:latin typeface="+mn-lt"/>
                <a:ea typeface="+mn-ea"/>
              </a:defRPr>
            </a:lvl4pPr>
            <a:lvl5pPr marL="190182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102A8D"/>
                </a:solidFill>
                <a:latin typeface="+mn-lt"/>
                <a:ea typeface="+mn-ea"/>
              </a:defRPr>
            </a:lvl5pPr>
            <a:lvl6pPr marL="235839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495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0" marR="0" lvl="2" indent="-342900" algn="l" defTabSz="944880" rtl="0" eaLnBrk="0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构建上下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贯通、数据穿透、闭环管控的全级次董事会治理体系，打造 “会议高效运行、董事履职闭环、子企业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治理一体、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决策效能可视” 的董事会建设工作台，支撑公司落实国资委治理要求、强化战略牵引、提升治理效能，助力一汽股权向行业一流、央企领先的股权投资运营主体迈进。</a:t>
            </a:r>
          </a:p>
        </p:txBody>
      </p:sp>
      <p:sp>
        <p:nvSpPr>
          <p:cNvPr id="74" name="矩形 73"/>
          <p:cNvSpPr/>
          <p:nvPr/>
        </p:nvSpPr>
        <p:spPr>
          <a:xfrm>
            <a:off x="1459501" y="5679504"/>
            <a:ext cx="10067290" cy="90678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75480" y="1629619"/>
            <a:ext cx="5750292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建设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“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上下贯通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”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</a:t>
            </a: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董事会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工作台，高效</a:t>
            </a: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支撑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公司向行业一流、央企领先的股权投资运营主体</a:t>
            </a:r>
          </a:p>
        </p:txBody>
      </p:sp>
      <p:sp>
        <p:nvSpPr>
          <p:cNvPr id="25" name="矩形 24"/>
          <p:cNvSpPr/>
          <p:nvPr/>
        </p:nvSpPr>
        <p:spPr>
          <a:xfrm>
            <a:off x="5582467" y="6200521"/>
            <a:ext cx="1958975" cy="33655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85000"/>
                  </a:srgbClr>
                </a:solidFill>
              </a14:hiddenFill>
            </a:ext>
          </a:extLst>
        </p:spPr>
        <p:txBody>
          <a:bodyPr lIns="36195" tIns="36195" rIns="36195" bIns="36195" rtlCol="0" anchor="ctr"/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52782" y="6237773"/>
            <a:ext cx="2265680" cy="33655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85000"/>
                  </a:srgbClr>
                </a:solidFill>
              </a14:hiddenFill>
            </a:ext>
          </a:extLst>
        </p:spPr>
        <p:txBody>
          <a:bodyPr lIns="36195" tIns="36195" rIns="36195" bIns="36195" rtlCol="0" anchor="ctr"/>
          <a:lstStyle/>
          <a:p>
            <a:pPr marL="107950" lvl="0" indent="-107950" algn="just"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</a:rPr>
              <a:t>会议计划</a:t>
            </a:r>
            <a:r>
              <a:rPr lang="zh-CN" altLang="en-US" sz="1200" dirty="0" smtClean="0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</a:rPr>
              <a:t>执行率</a:t>
            </a:r>
            <a:r>
              <a:rPr lang="en-US" altLang="zh-CN" sz="1200" dirty="0" smtClean="0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05666" y="6225217"/>
            <a:ext cx="2011045" cy="33655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85000"/>
                  </a:srgbClr>
                </a:solidFill>
              </a14:hiddenFill>
            </a:ext>
          </a:extLst>
        </p:spPr>
        <p:txBody>
          <a:bodyPr lIns="36195" tIns="36195" rIns="36195" bIns="36195" rtlCol="0" anchor="ctr"/>
          <a:lstStyle/>
          <a:p>
            <a:pPr marL="107950" marR="0" lvl="0" indent="-1079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政策洞察更新及时率≥</a:t>
            </a: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90%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1409557" y="6143689"/>
            <a:ext cx="10086975" cy="698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57" name="直接连接符 56"/>
          <p:cNvCxnSpPr/>
          <p:nvPr/>
        </p:nvCxnSpPr>
        <p:spPr>
          <a:xfrm>
            <a:off x="1400032" y="6558979"/>
            <a:ext cx="10086975" cy="698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55" name="矩形 54"/>
          <p:cNvSpPr/>
          <p:nvPr/>
        </p:nvSpPr>
        <p:spPr>
          <a:xfrm>
            <a:off x="434197" y="2646331"/>
            <a:ext cx="889635" cy="617008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价值主张</a:t>
            </a:r>
          </a:p>
        </p:txBody>
      </p:sp>
      <p:sp>
        <p:nvSpPr>
          <p:cNvPr id="58" name="矩形 57"/>
          <p:cNvSpPr/>
          <p:nvPr/>
        </p:nvSpPr>
        <p:spPr>
          <a:xfrm>
            <a:off x="455787" y="2197598"/>
            <a:ext cx="864235" cy="306070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用户</a:t>
            </a:r>
          </a:p>
        </p:txBody>
      </p:sp>
      <p:sp>
        <p:nvSpPr>
          <p:cNvPr id="59" name="矩形 58"/>
          <p:cNvSpPr/>
          <p:nvPr/>
        </p:nvSpPr>
        <p:spPr>
          <a:xfrm>
            <a:off x="1429242" y="2185533"/>
            <a:ext cx="1870710" cy="313698"/>
          </a:xfrm>
          <a:prstGeom prst="rect">
            <a:avLst/>
          </a:prstGeom>
          <a:solidFill>
            <a:srgbClr val="112D98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096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全体董事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429242" y="2645908"/>
            <a:ext cx="1870710" cy="5869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just" defTabSz="1209675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履职规范、会议高效、决策合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规</a:t>
            </a:r>
          </a:p>
        </p:txBody>
      </p:sp>
      <p:sp>
        <p:nvSpPr>
          <p:cNvPr id="61" name="矩形 60"/>
          <p:cNvSpPr/>
          <p:nvPr/>
        </p:nvSpPr>
        <p:spPr>
          <a:xfrm>
            <a:off x="3405362" y="2186121"/>
            <a:ext cx="1894840" cy="326398"/>
          </a:xfrm>
          <a:prstGeom prst="rect">
            <a:avLst/>
          </a:prstGeom>
          <a:solidFill>
            <a:srgbClr val="112D98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096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公司经营层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422598" y="2198186"/>
            <a:ext cx="1941270" cy="301633"/>
          </a:xfrm>
          <a:prstGeom prst="rect">
            <a:avLst/>
          </a:prstGeom>
          <a:solidFill>
            <a:srgbClr val="112D98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096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子企业</a:t>
            </a:r>
          </a:p>
        </p:txBody>
      </p:sp>
      <p:sp>
        <p:nvSpPr>
          <p:cNvPr id="64" name="矩形 63"/>
          <p:cNvSpPr/>
          <p:nvPr/>
        </p:nvSpPr>
        <p:spPr>
          <a:xfrm>
            <a:off x="7486264" y="2186121"/>
            <a:ext cx="1869547" cy="298403"/>
          </a:xfrm>
          <a:prstGeom prst="rect">
            <a:avLst/>
          </a:prstGeom>
          <a:solidFill>
            <a:srgbClr val="112D98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096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公司董事会办公室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420284" y="2630765"/>
            <a:ext cx="1879918" cy="60272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just" defTabSz="1209675" rtl="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前瞻洞察、决策支撑、高效落地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438315" y="2641416"/>
            <a:ext cx="1925554" cy="61818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just" defTabSz="1209675" rtl="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标准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落地、运行规范</a:t>
            </a:r>
            <a:r>
              <a:rPr kumimoji="0" lang="zh-CN" altLang="en-US" sz="105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、治理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提升</a:t>
            </a:r>
          </a:p>
        </p:txBody>
      </p:sp>
      <p:sp>
        <p:nvSpPr>
          <p:cNvPr id="67" name="矩形 66"/>
          <p:cNvSpPr/>
          <p:nvPr/>
        </p:nvSpPr>
        <p:spPr>
          <a:xfrm>
            <a:off x="7518092" y="2629304"/>
            <a:ext cx="1837719" cy="59333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lvl="0" algn="just" defTabSz="1209675">
              <a:lnSpc>
                <a:spcPct val="110000"/>
              </a:lnSpc>
              <a:spcBef>
                <a:spcPts val="200"/>
              </a:spcBef>
              <a:defRPr/>
            </a:pPr>
            <a:r>
              <a:rPr lang="zh-CN" altLang="en-US" sz="105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会议保障、履职支撑、评价赋能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805150" y="6228506"/>
            <a:ext cx="2265680" cy="33655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85000"/>
                  </a:srgbClr>
                </a:solidFill>
              </a14:hiddenFill>
            </a:ext>
          </a:extLst>
        </p:spPr>
        <p:txBody>
          <a:bodyPr lIns="36195" tIns="36195" rIns="36195" bIns="36195" rtlCol="0" anchor="ctr"/>
          <a:lstStyle/>
          <a:p>
            <a:pPr marL="107950" marR="0" lvl="0" indent="-1079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治理偏差闭环率</a:t>
            </a: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100%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9478207" y="2197598"/>
            <a:ext cx="1869547" cy="298403"/>
          </a:xfrm>
          <a:prstGeom prst="rect">
            <a:avLst/>
          </a:prstGeom>
          <a:solidFill>
            <a:srgbClr val="112D98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096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集团董办归口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510035" y="2640781"/>
            <a:ext cx="1837719" cy="59333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lvl="0" algn="just" defTabSz="1209675">
              <a:lnSpc>
                <a:spcPct val="110000"/>
              </a:lnSpc>
              <a:spcBef>
                <a:spcPts val="200"/>
              </a:spcBef>
              <a:defRPr/>
            </a:pPr>
            <a:r>
              <a:rPr lang="zh-CN" altLang="en-US" sz="105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穿透管控、规范引领、合规督导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29751" y="3941785"/>
            <a:ext cx="889635" cy="617008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价值阶段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464435" y="3996938"/>
            <a:ext cx="9918512" cy="5869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1209675">
              <a:lnSpc>
                <a:spcPct val="150000"/>
              </a:lnSpc>
              <a:spcBef>
                <a:spcPts val="200"/>
              </a:spcBef>
              <a:defRPr/>
            </a:pP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sym typeface="+mn-ea"/>
              </a:rPr>
              <a:t>  ①  </a:t>
            </a: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治理规划          →      </a:t>
            </a: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sym typeface="+mn-ea"/>
              </a:rPr>
              <a:t> </a:t>
            </a:r>
            <a:r>
              <a:rPr lang="zh-CN" altLang="en-US" sz="1600" kern="0" dirty="0">
                <a:solidFill>
                  <a:srgbClr val="000000"/>
                </a:solidFill>
                <a:latin typeface="+mj-ea"/>
                <a:sym typeface="+mn-ea"/>
              </a:rPr>
              <a:t>② </a:t>
            </a: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sz="1600" kern="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治理</a:t>
            </a: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执行         → </a:t>
            </a:r>
            <a:r>
              <a:rPr lang="zh-CN" altLang="zh-CN" dirty="0" smtClean="0"/>
              <a:t>③</a:t>
            </a:r>
            <a:r>
              <a:rPr lang="en-US" altLang="zh-CN" dirty="0" smtClean="0"/>
              <a:t>  </a:t>
            </a: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sz="1600" kern="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治理监控 </a:t>
            </a: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    </a:t>
            </a:r>
            <a:r>
              <a:rPr lang="zh-CN" altLang="zh-CN" sz="1600" kern="0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zh-CN" sz="1600" kern="0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ea typeface="+mj-ea"/>
              </a:rPr>
              <a:t>→            </a:t>
            </a:r>
            <a:r>
              <a:rPr lang="en-US" altLang="zh-CN" sz="1600" kern="0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zh-CN" altLang="en-US" sz="1600" kern="0" dirty="0">
                <a:solidFill>
                  <a:srgbClr val="000000"/>
                </a:solidFill>
                <a:latin typeface="+mj-ea"/>
                <a:sym typeface="+mn-ea"/>
              </a:rPr>
              <a:t>④</a:t>
            </a: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 评价与复盘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497773" y="4844325"/>
            <a:ext cx="9918512" cy="5869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1209675">
              <a:lnSpc>
                <a:spcPct val="150000"/>
              </a:lnSpc>
              <a:spcBef>
                <a:spcPts val="200"/>
              </a:spcBef>
              <a:defRPr/>
            </a:pPr>
            <a:r>
              <a:rPr lang="zh-CN" altLang="en-US" sz="1600" kern="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治理</a:t>
            </a:r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要求与计划                          治理轨迹                        治理偏差                        治理改进点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29752" y="3343934"/>
            <a:ext cx="889635" cy="479101"/>
          </a:xfrm>
          <a:prstGeom prst="rect">
            <a:avLst/>
          </a:prstGeom>
          <a:solidFill>
            <a:srgbClr val="FFFFFF">
              <a:lumMod val="85000"/>
            </a:srgbClr>
          </a:solidFill>
          <a:ln w="1270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价值流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441836" y="3323875"/>
            <a:ext cx="9918512" cy="5869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1209675">
              <a:lnSpc>
                <a:spcPct val="150000"/>
              </a:lnSpc>
              <a:spcBef>
                <a:spcPts val="200"/>
              </a:spcBef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sym typeface="+mn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561955" y="3464717"/>
            <a:ext cx="4680000" cy="320400"/>
          </a:xfrm>
          <a:prstGeom prst="rect">
            <a:avLst/>
          </a:prstGeom>
          <a:solidFill>
            <a:srgbClr val="112D98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1209675"/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治理运行：推进端到端闭环，在运行中敏捷纠偏</a:t>
            </a:r>
          </a:p>
        </p:txBody>
      </p:sp>
      <p:sp>
        <p:nvSpPr>
          <p:cNvPr id="77" name="矩形 76"/>
          <p:cNvSpPr/>
          <p:nvPr/>
        </p:nvSpPr>
        <p:spPr>
          <a:xfrm>
            <a:off x="1502877" y="3454446"/>
            <a:ext cx="4680000" cy="320400"/>
          </a:xfrm>
          <a:prstGeom prst="rect">
            <a:avLst/>
          </a:prstGeom>
          <a:solidFill>
            <a:srgbClr val="112D98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1209675"/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治理设计：解构治理要求，在设计中有据可依</a:t>
            </a:r>
          </a:p>
        </p:txBody>
      </p:sp>
      <p:sp>
        <p:nvSpPr>
          <p:cNvPr id="3" name="矩形 2"/>
          <p:cNvSpPr/>
          <p:nvPr/>
        </p:nvSpPr>
        <p:spPr>
          <a:xfrm>
            <a:off x="2499733" y="5754275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kern="0" dirty="0" smtClean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前瞻性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980323" y="5761787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kern="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可控性</a:t>
            </a:r>
            <a:endParaRPr lang="zh-CN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782522" y="5747624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kern="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有效性</a:t>
            </a:r>
            <a:endParaRPr lang="zh-CN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065996" y="6228506"/>
            <a:ext cx="2265680" cy="33655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85000"/>
                  </a:srgbClr>
                </a:solidFill>
              </a14:hiddenFill>
            </a:ext>
          </a:extLst>
        </p:spPr>
        <p:txBody>
          <a:bodyPr lIns="36195" tIns="36195" rIns="36195" bIns="36195" rtlCol="0" anchor="ctr"/>
          <a:lstStyle/>
          <a:p>
            <a:pPr marL="107950" lvl="0" indent="-107950" algn="just"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</a:rPr>
              <a:t>履职计划达成率</a:t>
            </a:r>
            <a:r>
              <a:rPr lang="en-US" altLang="zh-CN" sz="1200" dirty="0" smtClean="0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182461" y="6237773"/>
            <a:ext cx="2265680" cy="33655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85000"/>
                  </a:srgbClr>
                </a:solidFill>
              </a14:hiddenFill>
            </a:ext>
          </a:extLst>
        </p:spPr>
        <p:txBody>
          <a:bodyPr lIns="36195" tIns="36195" rIns="36195" bIns="36195" rtlCol="0" anchor="ctr"/>
          <a:lstStyle/>
          <a:p>
            <a:pPr marL="107950" lvl="0" indent="-107950" algn="just">
              <a:buFont typeface="Arial" panose="020B0604020202020204" pitchFamily="34" charset="0"/>
              <a:buChar char="•"/>
              <a:defRPr/>
            </a:pPr>
            <a:r>
              <a:rPr lang="zh-CN" altLang="en-US" sz="1200" dirty="0" smtClean="0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</a:rPr>
              <a:t>决议执行闭环率</a:t>
            </a:r>
            <a:r>
              <a:rPr lang="en-US" altLang="zh-CN" sz="1200" dirty="0" smtClean="0">
                <a:solidFill>
                  <a:srgbClr val="323232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09020" y="5227215"/>
            <a:ext cx="23839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kern="0" dirty="0">
                <a:solidFill>
                  <a:srgbClr val="000000"/>
                </a:solidFill>
                <a:latin typeface="+mj-ea"/>
                <a:sym typeface="+mn-ea"/>
              </a:rPr>
              <a:t>（会议管理 履职管理 子企业管理）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65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9850755" cy="497840"/>
          </a:xfrm>
        </p:spPr>
        <p:txBody>
          <a:bodyPr anchor="ctr" anchorCtr="0"/>
          <a:lstStyle/>
          <a:p>
            <a:r>
              <a:rPr lang="zh-CN" altLang="en-US" dirty="0" smtClean="0"/>
              <a:t>二、业务逻辑图</a:t>
            </a:r>
            <a:endParaRPr lang="zh-CN" altLang="en-US" dirty="0">
              <a:sym typeface="微软雅黑" panose="020B0503020204020204" charset="-122"/>
            </a:endParaRPr>
          </a:p>
        </p:txBody>
      </p:sp>
      <p:sp>
        <p:nvSpPr>
          <p:cNvPr id="47" name="内容占位符 3"/>
          <p:cNvSpPr txBox="1"/>
          <p:nvPr/>
        </p:nvSpPr>
        <p:spPr>
          <a:xfrm>
            <a:off x="434197" y="827065"/>
            <a:ext cx="11263598" cy="951079"/>
          </a:xfrm>
          <a:prstGeom prst="rect">
            <a:avLst/>
          </a:prstGeom>
          <a:noFill/>
        </p:spPr>
        <p:txBody>
          <a:bodyPr wrap="square" lIns="81750" tIns="40874" rIns="81750" bIns="40874" rtlCol="0" anchor="t" anchorCtr="0">
            <a:noAutofit/>
          </a:bodyPr>
          <a:lstStyle>
            <a:lvl1pPr marL="316865" indent="-316865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3"/>
              </a:buBlip>
              <a:defRPr sz="2200">
                <a:solidFill>
                  <a:srgbClr val="102A8D"/>
                </a:solidFill>
                <a:latin typeface="+mn-lt"/>
                <a:ea typeface="+mn-ea"/>
                <a:cs typeface="+mn-cs"/>
              </a:defRPr>
            </a:lvl1pPr>
            <a:lvl2pPr marL="686435" indent="-26289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4"/>
              </a:buBlip>
              <a:defRPr sz="2800">
                <a:solidFill>
                  <a:srgbClr val="102A8D"/>
                </a:solidFill>
                <a:latin typeface="+mn-lt"/>
                <a:ea typeface="+mn-ea"/>
              </a:defRPr>
            </a:lvl2pPr>
            <a:lvl3pPr marL="1057275" indent="-21209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sz="2200">
                <a:solidFill>
                  <a:srgbClr val="102A8D"/>
                </a:solidFill>
                <a:latin typeface="+mn-lt"/>
                <a:ea typeface="+mn-ea"/>
              </a:defRPr>
            </a:lvl3pPr>
            <a:lvl4pPr marL="147891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6"/>
              </a:buBlip>
              <a:defRPr sz="1400">
                <a:solidFill>
                  <a:srgbClr val="102A8D"/>
                </a:solidFill>
                <a:latin typeface="+mn-lt"/>
                <a:ea typeface="+mn-ea"/>
              </a:defRPr>
            </a:lvl4pPr>
            <a:lvl5pPr marL="190182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102A8D"/>
                </a:solidFill>
                <a:latin typeface="+mn-lt"/>
                <a:ea typeface="+mn-ea"/>
              </a:defRPr>
            </a:lvl5pPr>
            <a:lvl6pPr marL="235839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495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0" lvl="2" indent="-342900" defTabSz="944880" ea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基于治理业务全景开展逻辑梳理，</a:t>
            </a:r>
            <a:r>
              <a:rPr lang="zh-CN" altLang="en-US" sz="1600" b="1" kern="0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围绕</a:t>
            </a:r>
            <a:r>
              <a:rPr lang="zh-CN" altLang="en-US" sz="1600" b="1" kern="0" dirty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治理规划 、治理执行 、治理监控 、评价与复盘主价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值流阶段，厘清董事会管理全链路业务逻辑与流转关系。</a:t>
            </a:r>
          </a:p>
        </p:txBody>
      </p:sp>
      <p:sp>
        <p:nvSpPr>
          <p:cNvPr id="75" name="矩形 74"/>
          <p:cNvSpPr/>
          <p:nvPr/>
        </p:nvSpPr>
        <p:spPr bwMode="auto">
          <a:xfrm>
            <a:off x="605235" y="1697705"/>
            <a:ext cx="2151086" cy="296255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987817" y="4142978"/>
            <a:ext cx="1298563" cy="38666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治理任务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993762" y="1690090"/>
            <a:ext cx="1325310" cy="324000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4853" tIns="77427" rIns="154853" bIns="77427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7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治理</a:t>
            </a:r>
            <a:r>
              <a:rPr lang="zh-CN" altLang="en-US" sz="1400" b="1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ea"/>
              </a:rPr>
              <a:t>规划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864539" y="12010389"/>
            <a:ext cx="1225084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执行情况监控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9832423" y="12805408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年度计划监控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5" name="矩形 104"/>
          <p:cNvSpPr/>
          <p:nvPr/>
        </p:nvSpPr>
        <p:spPr bwMode="auto">
          <a:xfrm>
            <a:off x="2777874" y="12636034"/>
            <a:ext cx="6563072" cy="475374"/>
          </a:xfrm>
          <a:prstGeom prst="rect">
            <a:avLst/>
          </a:prstGeom>
          <a:solidFill>
            <a:srgbClr val="C6D9F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985077" y="12733787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任务</a:t>
            </a: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拆解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7" name="矩形 106"/>
          <p:cNvSpPr/>
          <p:nvPr/>
        </p:nvSpPr>
        <p:spPr bwMode="auto">
          <a:xfrm>
            <a:off x="6087723" y="12702407"/>
            <a:ext cx="970669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董事履职</a:t>
            </a: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计划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8" name="矩形 107"/>
          <p:cNvSpPr/>
          <p:nvPr/>
        </p:nvSpPr>
        <p:spPr bwMode="auto">
          <a:xfrm>
            <a:off x="4451175" y="12727307"/>
            <a:ext cx="970669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年度董事会会议计划</a:t>
            </a:r>
          </a:p>
        </p:txBody>
      </p:sp>
      <p:sp>
        <p:nvSpPr>
          <p:cNvPr id="109" name="矩形 108"/>
          <p:cNvSpPr/>
          <p:nvPr/>
        </p:nvSpPr>
        <p:spPr bwMode="auto">
          <a:xfrm>
            <a:off x="7776149" y="12727307"/>
            <a:ext cx="970669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子企业董事会运行计划拆解</a:t>
            </a:r>
          </a:p>
        </p:txBody>
      </p:sp>
      <p:sp>
        <p:nvSpPr>
          <p:cNvPr id="129" name="矩形 128"/>
          <p:cNvSpPr/>
          <p:nvPr/>
        </p:nvSpPr>
        <p:spPr>
          <a:xfrm>
            <a:off x="9858368" y="13695917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决议执行监控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7" name="矩形 156"/>
          <p:cNvSpPr/>
          <p:nvPr/>
        </p:nvSpPr>
        <p:spPr bwMode="auto">
          <a:xfrm>
            <a:off x="2767317" y="11979669"/>
            <a:ext cx="6563072" cy="475374"/>
          </a:xfrm>
          <a:prstGeom prst="rect">
            <a:avLst/>
          </a:prstGeom>
          <a:solidFill>
            <a:srgbClr val="C6D9F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8" name="矩形 157"/>
          <p:cNvSpPr/>
          <p:nvPr/>
        </p:nvSpPr>
        <p:spPr bwMode="auto">
          <a:xfrm>
            <a:off x="2969544" y="12080544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组织架构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59" name="矩形 158"/>
          <p:cNvSpPr/>
          <p:nvPr/>
        </p:nvSpPr>
        <p:spPr bwMode="auto">
          <a:xfrm>
            <a:off x="6146427" y="12054383"/>
            <a:ext cx="1336534" cy="311422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董事配置情况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0" name="矩形 159"/>
          <p:cNvSpPr/>
          <p:nvPr/>
        </p:nvSpPr>
        <p:spPr bwMode="auto">
          <a:xfrm>
            <a:off x="4073845" y="12029047"/>
            <a:ext cx="1661916" cy="363722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董事会及专委会架构设置</a:t>
            </a:r>
            <a:endParaRPr kumimoji="0" lang="zh-CN" altLang="en-US" sz="6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4" name="矩形 163"/>
          <p:cNvSpPr/>
          <p:nvPr/>
        </p:nvSpPr>
        <p:spPr bwMode="auto">
          <a:xfrm>
            <a:off x="7882914" y="12062466"/>
            <a:ext cx="1336534" cy="311422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子企业董事会</a:t>
            </a:r>
            <a:endParaRPr kumimoji="0" lang="en-US" altLang="zh-CN" sz="1000" b="0" i="0" u="none" strike="noStrike" kern="1200" cap="none" spc="0" normalizeH="0" baseline="0" noProof="0" dirty="0" smtClean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管控范围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73" name="直接箭头连接符 172"/>
          <p:cNvCxnSpPr>
            <a:stCxn id="157" idx="2"/>
          </p:cNvCxnSpPr>
          <p:nvPr/>
        </p:nvCxnSpPr>
        <p:spPr bwMode="auto">
          <a:xfrm>
            <a:off x="6048853" y="12455043"/>
            <a:ext cx="0" cy="1641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77" name="直接箭头连接符 176"/>
          <p:cNvCxnSpPr/>
          <p:nvPr/>
        </p:nvCxnSpPr>
        <p:spPr bwMode="auto">
          <a:xfrm>
            <a:off x="6048853" y="13111408"/>
            <a:ext cx="0" cy="2272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triangle"/>
            <a:tailEnd type="triangle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179" name="矩形 178"/>
          <p:cNvSpPr/>
          <p:nvPr/>
        </p:nvSpPr>
        <p:spPr bwMode="auto">
          <a:xfrm>
            <a:off x="3080290" y="4830942"/>
            <a:ext cx="8166380" cy="756137"/>
          </a:xfrm>
          <a:prstGeom prst="rect">
            <a:avLst/>
          </a:prstGeom>
          <a:solidFill>
            <a:srgbClr val="C6D9F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0" name="矩形 179"/>
          <p:cNvSpPr/>
          <p:nvPr/>
        </p:nvSpPr>
        <p:spPr bwMode="auto">
          <a:xfrm>
            <a:off x="1356582" y="10967755"/>
            <a:ext cx="959834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效能评价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2712597" y="10962024"/>
            <a:ext cx="2238705" cy="282813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建立董事会建设考评指标体系</a:t>
            </a:r>
          </a:p>
        </p:txBody>
      </p:sp>
      <p:sp>
        <p:nvSpPr>
          <p:cNvPr id="183" name="矩形 182"/>
          <p:cNvSpPr/>
          <p:nvPr/>
        </p:nvSpPr>
        <p:spPr bwMode="auto">
          <a:xfrm>
            <a:off x="5448550" y="10980382"/>
            <a:ext cx="2278542" cy="300959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日常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过程考评、年度综合考评</a:t>
            </a:r>
          </a:p>
        </p:txBody>
      </p:sp>
      <p:sp>
        <p:nvSpPr>
          <p:cNvPr id="184" name="矩形 183"/>
          <p:cNvSpPr/>
          <p:nvPr/>
        </p:nvSpPr>
        <p:spPr bwMode="auto">
          <a:xfrm>
            <a:off x="8124805" y="10969072"/>
            <a:ext cx="2383363" cy="23331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考评结果应用：治理复盘与优化</a:t>
            </a:r>
          </a:p>
        </p:txBody>
      </p:sp>
      <p:cxnSp>
        <p:nvCxnSpPr>
          <p:cNvPr id="188" name="直接箭头连接符 187"/>
          <p:cNvCxnSpPr/>
          <p:nvPr/>
        </p:nvCxnSpPr>
        <p:spPr bwMode="auto">
          <a:xfrm>
            <a:off x="6112353" y="10588060"/>
            <a:ext cx="0" cy="1641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24" name="Straight Arrow Connector 149"/>
          <p:cNvCxnSpPr/>
          <p:nvPr/>
        </p:nvCxnSpPr>
        <p:spPr bwMode="auto">
          <a:xfrm>
            <a:off x="3732310" y="3415341"/>
            <a:ext cx="206799" cy="1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89" name="矩形 88"/>
          <p:cNvSpPr/>
          <p:nvPr/>
        </p:nvSpPr>
        <p:spPr bwMode="auto">
          <a:xfrm>
            <a:off x="3080290" y="1722751"/>
            <a:ext cx="8166379" cy="293751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3080290" y="2544563"/>
            <a:ext cx="535609" cy="987293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4853" tIns="77427" rIns="154853" bIns="77427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7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治理执行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676755" y="1714859"/>
            <a:ext cx="723275" cy="253916"/>
          </a:xfrm>
          <a:prstGeom prst="rect">
            <a:avLst/>
          </a:prstGeom>
          <a:solidFill>
            <a:srgbClr val="C6D9F1"/>
          </a:solidFill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会议管理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7282769" y="1793392"/>
            <a:ext cx="992579" cy="253916"/>
          </a:xfrm>
          <a:prstGeom prst="rect">
            <a:avLst/>
          </a:prstGeom>
          <a:solidFill>
            <a:srgbClr val="C6D9F1"/>
          </a:solidFill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董事履职管理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703534" y="2342369"/>
            <a:ext cx="2349462" cy="247037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履职培训导入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158336" y="2922564"/>
            <a:ext cx="1090857" cy="255889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参与调研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9644490" y="1790804"/>
            <a:ext cx="1437983" cy="253916"/>
          </a:xfrm>
          <a:prstGeom prst="rect">
            <a:avLst/>
          </a:prstGeom>
          <a:solidFill>
            <a:srgbClr val="C6D9F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子企业董事会</a:t>
            </a:r>
            <a:r>
              <a:rPr lang="zh-CN" altLang="en-US" sz="1050" b="1" dirty="0">
                <a:solidFill>
                  <a:srgbClr val="152A8C"/>
                </a:solidFill>
                <a:latin typeface="Arial" panose="020B0604020202020204"/>
                <a:ea typeface="微软雅黑" panose="020B0503020204020204" charset="-122"/>
              </a:rPr>
              <a:t>管理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9697654" y="2062401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运行标准传导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707459" y="3979681"/>
            <a:ext cx="1279989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评价及应用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493832" y="2932711"/>
            <a:ext cx="1084394" cy="25685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参加会议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405271" y="2001987"/>
            <a:ext cx="2919231" cy="2436855"/>
          </a:xfrm>
          <a:prstGeom prst="rect">
            <a:avLst/>
          </a:prstGeom>
          <a:noFill/>
          <a:ln w="3175" cap="flat" cmpd="sng" algn="ctr">
            <a:solidFill>
              <a:srgbClr val="152A8C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732310" y="1950945"/>
            <a:ext cx="2359999" cy="2487897"/>
          </a:xfrm>
          <a:prstGeom prst="rect">
            <a:avLst/>
          </a:prstGeom>
          <a:noFill/>
          <a:ln w="3175" cap="flat" cmpd="sng" algn="ctr">
            <a:solidFill>
              <a:srgbClr val="152A8C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9602741" y="2027037"/>
            <a:ext cx="1521482" cy="2411805"/>
          </a:xfrm>
          <a:prstGeom prst="rect">
            <a:avLst/>
          </a:prstGeom>
          <a:noFill/>
          <a:ln w="3175" cap="flat" cmpd="sng" algn="ctr">
            <a:solidFill>
              <a:srgbClr val="152A8C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16" name="Straight Arrow Connector 336"/>
          <p:cNvCxnSpPr/>
          <p:nvPr/>
        </p:nvCxnSpPr>
        <p:spPr bwMode="auto">
          <a:xfrm>
            <a:off x="6177036" y="2948217"/>
            <a:ext cx="117416" cy="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17" name="Straight Arrow Connector 338"/>
          <p:cNvCxnSpPr/>
          <p:nvPr/>
        </p:nvCxnSpPr>
        <p:spPr bwMode="auto">
          <a:xfrm>
            <a:off x="9403273" y="3029242"/>
            <a:ext cx="117416" cy="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25" name="矩形 124"/>
          <p:cNvSpPr/>
          <p:nvPr/>
        </p:nvSpPr>
        <p:spPr>
          <a:xfrm>
            <a:off x="9709208" y="2986122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运行督导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970741" y="3124720"/>
            <a:ext cx="936659" cy="27337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议题审议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3849173" y="3430957"/>
            <a:ext cx="853222" cy="251425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表决管理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3910763" y="4088554"/>
            <a:ext cx="836405" cy="261369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文件签署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4926642" y="4085650"/>
            <a:ext cx="908687" cy="26427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档案归档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1031708" y="2086767"/>
            <a:ext cx="1294818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国资委政策文件、法律法规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991562" y="3067514"/>
            <a:ext cx="1294818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优秀治理实践</a:t>
            </a:r>
            <a:endParaRPr kumimoji="0" lang="en-US" altLang="zh-CN" sz="1000" b="0" i="0" u="none" strike="noStrike" kern="1200" cap="none" spc="0" normalizeH="0" baseline="0" noProof="0" dirty="0" smtClean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（行业、参股）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1011882" y="2551805"/>
            <a:ext cx="1294818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集团治理要求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987817" y="3657521"/>
            <a:ext cx="1298563" cy="38666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治理要求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97" name="直接箭头连接符 96"/>
          <p:cNvCxnSpPr/>
          <p:nvPr/>
        </p:nvCxnSpPr>
        <p:spPr bwMode="auto">
          <a:xfrm>
            <a:off x="1653024" y="3436846"/>
            <a:ext cx="0" cy="1641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98" name="Straight Arrow Connector 149"/>
          <p:cNvCxnSpPr/>
          <p:nvPr/>
        </p:nvCxnSpPr>
        <p:spPr bwMode="auto">
          <a:xfrm>
            <a:off x="2828876" y="2980390"/>
            <a:ext cx="206799" cy="1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00" name="矩形 99"/>
          <p:cNvSpPr/>
          <p:nvPr/>
        </p:nvSpPr>
        <p:spPr>
          <a:xfrm>
            <a:off x="8164886" y="3215338"/>
            <a:ext cx="1084307" cy="265618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履职写实管理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3752012" y="1974973"/>
            <a:ext cx="2333271" cy="221996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阶段①：会前准备 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3833934" y="2245716"/>
            <a:ext cx="844188" cy="25447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议题征集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5016977" y="2245716"/>
            <a:ext cx="844188" cy="25447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议题审核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3834475" y="2567368"/>
            <a:ext cx="844188" cy="25447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发布通知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4994470" y="2556345"/>
            <a:ext cx="844188" cy="25447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会前沟通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8" name="矩形 117"/>
          <p:cNvSpPr/>
          <p:nvPr/>
        </p:nvSpPr>
        <p:spPr bwMode="auto">
          <a:xfrm>
            <a:off x="3754322" y="2858334"/>
            <a:ext cx="2309017" cy="20386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阶段②：会议召开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3849173" y="3150719"/>
            <a:ext cx="827582" cy="21154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出席确认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4973419" y="3443059"/>
            <a:ext cx="853222" cy="251425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决议生成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1" name="矩形 120"/>
          <p:cNvSpPr/>
          <p:nvPr/>
        </p:nvSpPr>
        <p:spPr bwMode="auto">
          <a:xfrm>
            <a:off x="3754321" y="3772322"/>
            <a:ext cx="2309017" cy="22409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阶段③：会后归档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矩形 121"/>
          <p:cNvSpPr/>
          <p:nvPr/>
        </p:nvSpPr>
        <p:spPr bwMode="auto">
          <a:xfrm>
            <a:off x="6493351" y="2024063"/>
            <a:ext cx="2788044" cy="23859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阶段①</a:t>
            </a: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：履职准备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矩形 122"/>
          <p:cNvSpPr/>
          <p:nvPr/>
        </p:nvSpPr>
        <p:spPr bwMode="auto">
          <a:xfrm>
            <a:off x="6493832" y="2636124"/>
            <a:ext cx="2787563" cy="227006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阶段②：会议</a:t>
            </a:r>
            <a:r>
              <a:rPr lang="en-US" altLang="zh-CN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日常履职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6480819" y="3227299"/>
            <a:ext cx="1090857" cy="255889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参加培训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8" name="矩形 127"/>
          <p:cNvSpPr/>
          <p:nvPr/>
        </p:nvSpPr>
        <p:spPr bwMode="auto">
          <a:xfrm>
            <a:off x="6461630" y="3784375"/>
            <a:ext cx="2787563" cy="227006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阶段③：</a:t>
            </a:r>
            <a:r>
              <a:rPr lang="zh-CN" altLang="en-US" sz="1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履职评价</a:t>
            </a:r>
          </a:p>
        </p:txBody>
      </p:sp>
      <p:sp>
        <p:nvSpPr>
          <p:cNvPr id="130" name="矩形 129"/>
          <p:cNvSpPr/>
          <p:nvPr/>
        </p:nvSpPr>
        <p:spPr>
          <a:xfrm>
            <a:off x="6480819" y="4079454"/>
            <a:ext cx="1084394" cy="25685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日常评价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8136427" y="4081350"/>
            <a:ext cx="1084394" cy="25685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年度评价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7311970" y="3507531"/>
            <a:ext cx="1090857" cy="255889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专项任务管理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3" name="矩形 132"/>
          <p:cNvSpPr/>
          <p:nvPr/>
        </p:nvSpPr>
        <p:spPr bwMode="auto">
          <a:xfrm>
            <a:off x="605235" y="4839421"/>
            <a:ext cx="2107362" cy="71710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154853" tIns="77427" rIns="154853" bIns="77427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7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治理监控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9138565" y="5044312"/>
            <a:ext cx="1504246" cy="31351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任务落实监控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5416196" y="5058919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授权执行监控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605203" y="5046063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决议执行监控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2" name="矩形 151"/>
          <p:cNvSpPr/>
          <p:nvPr/>
        </p:nvSpPr>
        <p:spPr bwMode="auto">
          <a:xfrm>
            <a:off x="599343" y="5820935"/>
            <a:ext cx="2107362" cy="71710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154853" tIns="77427" rIns="154853" bIns="77427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7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评价与应用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cxnSp>
        <p:nvCxnSpPr>
          <p:cNvPr id="153" name="直接箭头连接符 152"/>
          <p:cNvCxnSpPr/>
          <p:nvPr/>
        </p:nvCxnSpPr>
        <p:spPr bwMode="auto">
          <a:xfrm>
            <a:off x="6835058" y="4648508"/>
            <a:ext cx="0" cy="164128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54" name="直接箭头连接符 153"/>
          <p:cNvCxnSpPr/>
          <p:nvPr/>
        </p:nvCxnSpPr>
        <p:spPr bwMode="auto">
          <a:xfrm>
            <a:off x="6836985" y="5576412"/>
            <a:ext cx="0" cy="164128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55" name="矩形 154"/>
          <p:cNvSpPr/>
          <p:nvPr/>
        </p:nvSpPr>
        <p:spPr bwMode="auto">
          <a:xfrm>
            <a:off x="3085182" y="5780895"/>
            <a:ext cx="8166380" cy="756137"/>
          </a:xfrm>
          <a:prstGeom prst="rect">
            <a:avLst/>
          </a:prstGeom>
          <a:solidFill>
            <a:srgbClr val="C6D9F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9502027" y="5990331"/>
            <a:ext cx="1504246" cy="31351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改进跟踪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6380220" y="5959404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改善识别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3303467" y="5961996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效能评价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肘形连接符 6"/>
          <p:cNvCxnSpPr>
            <a:stCxn id="155" idx="3"/>
          </p:cNvCxnSpPr>
          <p:nvPr/>
        </p:nvCxnSpPr>
        <p:spPr bwMode="auto">
          <a:xfrm flipH="1" flipV="1">
            <a:off x="7058392" y="1690090"/>
            <a:ext cx="4193170" cy="4468874"/>
          </a:xfrm>
          <a:prstGeom prst="bentConnector4">
            <a:avLst>
              <a:gd name="adj1" fmla="val -2692"/>
              <a:gd name="adj2" fmla="val 102923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66" name="矩形 165"/>
          <p:cNvSpPr/>
          <p:nvPr/>
        </p:nvSpPr>
        <p:spPr>
          <a:xfrm>
            <a:off x="7237573" y="5058919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董事建议落实监控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17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9850755" cy="497840"/>
          </a:xfrm>
        </p:spPr>
        <p:txBody>
          <a:bodyPr anchor="ctr" anchorCtr="0"/>
          <a:lstStyle/>
          <a:p>
            <a:r>
              <a:rPr lang="zh-CN" altLang="en-US" dirty="0" smtClean="0"/>
              <a:t>三</a:t>
            </a:r>
            <a:r>
              <a:rPr lang="zh-CN" altLang="en-US" dirty="0"/>
              <a:t>、产品</a:t>
            </a:r>
            <a:r>
              <a:rPr lang="zh-CN" altLang="en-US" dirty="0" smtClean="0"/>
              <a:t>架构</a:t>
            </a:r>
            <a:r>
              <a:rPr lang="en-US" altLang="zh-CN" dirty="0" smtClean="0"/>
              <a:t>-</a:t>
            </a:r>
            <a:r>
              <a:rPr lang="zh-CN" altLang="en-US" dirty="0" smtClean="0"/>
              <a:t>总体</a:t>
            </a:r>
            <a:endParaRPr lang="zh-CN" altLang="en-US" dirty="0">
              <a:sym typeface="微软雅黑" panose="020B0503020204020204" charset="-122"/>
            </a:endParaRPr>
          </a:p>
        </p:txBody>
      </p:sp>
      <p:sp>
        <p:nvSpPr>
          <p:cNvPr id="47" name="内容占位符 3"/>
          <p:cNvSpPr txBox="1"/>
          <p:nvPr/>
        </p:nvSpPr>
        <p:spPr>
          <a:xfrm>
            <a:off x="434197" y="827065"/>
            <a:ext cx="11263598" cy="951079"/>
          </a:xfrm>
          <a:prstGeom prst="rect">
            <a:avLst/>
          </a:prstGeom>
          <a:noFill/>
        </p:spPr>
        <p:txBody>
          <a:bodyPr wrap="square" lIns="81750" tIns="40874" rIns="81750" bIns="40874" rtlCol="0" anchor="t" anchorCtr="0">
            <a:noAutofit/>
          </a:bodyPr>
          <a:lstStyle>
            <a:lvl1pPr marL="316865" indent="-316865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3"/>
              </a:buBlip>
              <a:defRPr sz="2200">
                <a:solidFill>
                  <a:srgbClr val="102A8D"/>
                </a:solidFill>
                <a:latin typeface="+mn-lt"/>
                <a:ea typeface="+mn-ea"/>
                <a:cs typeface="+mn-cs"/>
              </a:defRPr>
            </a:lvl1pPr>
            <a:lvl2pPr marL="686435" indent="-26289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4"/>
              </a:buBlip>
              <a:defRPr sz="2800">
                <a:solidFill>
                  <a:srgbClr val="102A8D"/>
                </a:solidFill>
                <a:latin typeface="+mn-lt"/>
                <a:ea typeface="+mn-ea"/>
              </a:defRPr>
            </a:lvl2pPr>
            <a:lvl3pPr marL="1057275" indent="-21209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sz="2200">
                <a:solidFill>
                  <a:srgbClr val="102A8D"/>
                </a:solidFill>
                <a:latin typeface="+mn-lt"/>
                <a:ea typeface="+mn-ea"/>
              </a:defRPr>
            </a:lvl3pPr>
            <a:lvl4pPr marL="147891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6"/>
              </a:buBlip>
              <a:defRPr sz="1400">
                <a:solidFill>
                  <a:srgbClr val="102A8D"/>
                </a:solidFill>
                <a:latin typeface="+mn-lt"/>
                <a:ea typeface="+mn-ea"/>
              </a:defRPr>
            </a:lvl4pPr>
            <a:lvl5pPr marL="190182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102A8D"/>
                </a:solidFill>
                <a:latin typeface="+mn-lt"/>
                <a:ea typeface="+mn-ea"/>
              </a:defRPr>
            </a:lvl5pPr>
            <a:lvl6pPr marL="235839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495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0" lvl="2" indent="-342900" defTabSz="944880" ea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基于治理业务全景开展逻辑梳理，</a:t>
            </a:r>
            <a:r>
              <a:rPr lang="zh-CN" altLang="en-US" sz="1600" b="1" kern="0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围绕</a:t>
            </a:r>
            <a:r>
              <a:rPr lang="zh-CN" altLang="en-US" sz="1600" b="1" kern="0" dirty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治理规划 、治理执行 、治理监控 、评价与复盘主价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值流阶段，厘清董事会管理全链路业务逻辑与流转关系。</a:t>
            </a:r>
          </a:p>
        </p:txBody>
      </p:sp>
      <p:sp>
        <p:nvSpPr>
          <p:cNvPr id="75" name="矩形 74"/>
          <p:cNvSpPr/>
          <p:nvPr/>
        </p:nvSpPr>
        <p:spPr bwMode="auto">
          <a:xfrm>
            <a:off x="605235" y="1697705"/>
            <a:ext cx="2151086" cy="296255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987817" y="4142978"/>
            <a:ext cx="1298563" cy="38666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治理任务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993762" y="1690090"/>
            <a:ext cx="1325310" cy="324000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4853" tIns="77427" rIns="154853" bIns="77427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7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治理</a:t>
            </a:r>
            <a:r>
              <a:rPr lang="zh-CN" altLang="en-US" sz="1400" b="1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ea"/>
              </a:rPr>
              <a:t>规划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179" name="矩形 178"/>
          <p:cNvSpPr/>
          <p:nvPr/>
        </p:nvSpPr>
        <p:spPr bwMode="auto">
          <a:xfrm>
            <a:off x="3080290" y="4830942"/>
            <a:ext cx="8166380" cy="756137"/>
          </a:xfrm>
          <a:prstGeom prst="rect">
            <a:avLst/>
          </a:prstGeom>
          <a:solidFill>
            <a:srgbClr val="C6D9F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24" name="Straight Arrow Connector 149"/>
          <p:cNvCxnSpPr/>
          <p:nvPr/>
        </p:nvCxnSpPr>
        <p:spPr bwMode="auto">
          <a:xfrm>
            <a:off x="3732310" y="3415341"/>
            <a:ext cx="206799" cy="1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89" name="矩形 88"/>
          <p:cNvSpPr/>
          <p:nvPr/>
        </p:nvSpPr>
        <p:spPr bwMode="auto">
          <a:xfrm>
            <a:off x="3080290" y="1722751"/>
            <a:ext cx="8166379" cy="293751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3080290" y="2544563"/>
            <a:ext cx="535609" cy="987293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4853" tIns="77427" rIns="154853" bIns="77427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7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治理执行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676755" y="1714859"/>
            <a:ext cx="723275" cy="253916"/>
          </a:xfrm>
          <a:prstGeom prst="rect">
            <a:avLst/>
          </a:prstGeom>
          <a:solidFill>
            <a:srgbClr val="C6D9F1"/>
          </a:solidFill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会议管理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7282769" y="1793392"/>
            <a:ext cx="992579" cy="253916"/>
          </a:xfrm>
          <a:prstGeom prst="rect">
            <a:avLst/>
          </a:prstGeom>
          <a:solidFill>
            <a:srgbClr val="C6D9F1"/>
          </a:solidFill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董事履职管理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703534" y="2342369"/>
            <a:ext cx="2349462" cy="247037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履职培训导入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158336" y="2922564"/>
            <a:ext cx="1090857" cy="255889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参与调研管理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9644490" y="1790804"/>
            <a:ext cx="1437983" cy="253916"/>
          </a:xfrm>
          <a:prstGeom prst="rect">
            <a:avLst/>
          </a:prstGeom>
          <a:solidFill>
            <a:srgbClr val="C6D9F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子企业董事会</a:t>
            </a:r>
            <a:r>
              <a:rPr lang="zh-CN" altLang="en-US" sz="1050" b="1" dirty="0">
                <a:solidFill>
                  <a:srgbClr val="152A8C"/>
                </a:solidFill>
                <a:latin typeface="Arial" panose="020B0604020202020204"/>
                <a:ea typeface="微软雅黑" panose="020B0503020204020204" charset="-122"/>
              </a:rPr>
              <a:t>管理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9697654" y="2062401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运行标准传导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707459" y="3979681"/>
            <a:ext cx="1279989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评价及应用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493832" y="2932711"/>
            <a:ext cx="1084394" cy="25685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参会</a:t>
            </a:r>
            <a:r>
              <a:rPr lang="zh-CN" altLang="en-US" sz="1000" noProof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405271" y="2001987"/>
            <a:ext cx="2919231" cy="2436855"/>
          </a:xfrm>
          <a:prstGeom prst="rect">
            <a:avLst/>
          </a:prstGeom>
          <a:noFill/>
          <a:ln w="3175" cap="flat" cmpd="sng" algn="ctr">
            <a:solidFill>
              <a:srgbClr val="152A8C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732310" y="1950945"/>
            <a:ext cx="2359999" cy="2487897"/>
          </a:xfrm>
          <a:prstGeom prst="rect">
            <a:avLst/>
          </a:prstGeom>
          <a:noFill/>
          <a:ln w="3175" cap="flat" cmpd="sng" algn="ctr">
            <a:solidFill>
              <a:srgbClr val="152A8C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9602741" y="2027037"/>
            <a:ext cx="1521482" cy="2411805"/>
          </a:xfrm>
          <a:prstGeom prst="rect">
            <a:avLst/>
          </a:prstGeom>
          <a:noFill/>
          <a:ln w="3175" cap="flat" cmpd="sng" algn="ctr">
            <a:solidFill>
              <a:srgbClr val="152A8C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16" name="Straight Arrow Connector 336"/>
          <p:cNvCxnSpPr/>
          <p:nvPr/>
        </p:nvCxnSpPr>
        <p:spPr bwMode="auto">
          <a:xfrm>
            <a:off x="6177036" y="2948217"/>
            <a:ext cx="117416" cy="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17" name="Straight Arrow Connector 338"/>
          <p:cNvCxnSpPr/>
          <p:nvPr/>
        </p:nvCxnSpPr>
        <p:spPr bwMode="auto">
          <a:xfrm>
            <a:off x="9403273" y="3029242"/>
            <a:ext cx="117416" cy="0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25" name="矩形 124"/>
          <p:cNvSpPr/>
          <p:nvPr/>
        </p:nvSpPr>
        <p:spPr>
          <a:xfrm>
            <a:off x="9709208" y="2986122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运行督导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970741" y="3124720"/>
            <a:ext cx="936659" cy="27337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议题审议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3849173" y="3430957"/>
            <a:ext cx="853222" cy="251425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表决管理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3910763" y="4088554"/>
            <a:ext cx="836405" cy="261369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文件签署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4926642" y="4085650"/>
            <a:ext cx="908687" cy="26427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档案归档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1031708" y="2086767"/>
            <a:ext cx="1294818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国资委政策文件、法律法规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991562" y="3067514"/>
            <a:ext cx="1294818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优秀治理实践</a:t>
            </a:r>
            <a:endParaRPr kumimoji="0" lang="en-US" altLang="zh-CN" sz="1000" b="0" i="0" u="none" strike="noStrike" kern="1200" cap="none" spc="0" normalizeH="0" baseline="0" noProof="0" dirty="0" smtClean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（行业、参股）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1011882" y="2551805"/>
            <a:ext cx="1294818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集团治理要求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987817" y="3657521"/>
            <a:ext cx="1298563" cy="38666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治理要求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97" name="直接箭头连接符 96"/>
          <p:cNvCxnSpPr/>
          <p:nvPr/>
        </p:nvCxnSpPr>
        <p:spPr bwMode="auto">
          <a:xfrm>
            <a:off x="1653024" y="3436846"/>
            <a:ext cx="0" cy="1641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98" name="Straight Arrow Connector 149"/>
          <p:cNvCxnSpPr/>
          <p:nvPr/>
        </p:nvCxnSpPr>
        <p:spPr bwMode="auto">
          <a:xfrm>
            <a:off x="2828876" y="2980390"/>
            <a:ext cx="206799" cy="1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00" name="矩形 99"/>
          <p:cNvSpPr/>
          <p:nvPr/>
        </p:nvSpPr>
        <p:spPr>
          <a:xfrm>
            <a:off x="8164886" y="3215338"/>
            <a:ext cx="1084307" cy="265618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履职写实管理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3752012" y="1974973"/>
            <a:ext cx="2333271" cy="221996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阶段①：会前准备 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3833934" y="2245716"/>
            <a:ext cx="844188" cy="25447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议题征集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5016977" y="2245716"/>
            <a:ext cx="844188" cy="25447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议题审核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3834475" y="2567368"/>
            <a:ext cx="844188" cy="25447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发布通知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4994470" y="2556345"/>
            <a:ext cx="844188" cy="25447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会前沟通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8" name="矩形 117"/>
          <p:cNvSpPr/>
          <p:nvPr/>
        </p:nvSpPr>
        <p:spPr bwMode="auto">
          <a:xfrm>
            <a:off x="3754322" y="2858334"/>
            <a:ext cx="2309017" cy="20386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阶段②：会议召开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3849173" y="3150719"/>
            <a:ext cx="827582" cy="21154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出席确认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4973419" y="3443059"/>
            <a:ext cx="853222" cy="251425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决议生成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1" name="矩形 120"/>
          <p:cNvSpPr/>
          <p:nvPr/>
        </p:nvSpPr>
        <p:spPr bwMode="auto">
          <a:xfrm>
            <a:off x="3754321" y="3772322"/>
            <a:ext cx="2309017" cy="22409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阶段③：会后归档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矩形 121"/>
          <p:cNvSpPr/>
          <p:nvPr/>
        </p:nvSpPr>
        <p:spPr bwMode="auto">
          <a:xfrm>
            <a:off x="6493351" y="2024063"/>
            <a:ext cx="2788044" cy="23859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阶段①</a:t>
            </a: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：履职准备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矩形 122"/>
          <p:cNvSpPr/>
          <p:nvPr/>
        </p:nvSpPr>
        <p:spPr bwMode="auto">
          <a:xfrm>
            <a:off x="6493832" y="2636124"/>
            <a:ext cx="2787563" cy="227006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阶段②：会议</a:t>
            </a:r>
            <a:r>
              <a:rPr lang="en-US" altLang="zh-CN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日常履职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6480819" y="3227299"/>
            <a:ext cx="1090857" cy="255889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日常沟通管理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8" name="矩形 127"/>
          <p:cNvSpPr/>
          <p:nvPr/>
        </p:nvSpPr>
        <p:spPr bwMode="auto">
          <a:xfrm>
            <a:off x="6461630" y="3784375"/>
            <a:ext cx="2787563" cy="227006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b="1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阶段③：</a:t>
            </a:r>
            <a:r>
              <a:rPr lang="zh-CN" altLang="en-US" sz="1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履职评价</a:t>
            </a:r>
          </a:p>
        </p:txBody>
      </p:sp>
      <p:sp>
        <p:nvSpPr>
          <p:cNvPr id="130" name="矩形 129"/>
          <p:cNvSpPr/>
          <p:nvPr/>
        </p:nvSpPr>
        <p:spPr>
          <a:xfrm>
            <a:off x="6480819" y="4079454"/>
            <a:ext cx="1084394" cy="25685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日常评价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8136427" y="4081350"/>
            <a:ext cx="1084394" cy="256854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年度评价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7311970" y="3507531"/>
            <a:ext cx="1090857" cy="255889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专项任务管理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3" name="矩形 132"/>
          <p:cNvSpPr/>
          <p:nvPr/>
        </p:nvSpPr>
        <p:spPr bwMode="auto">
          <a:xfrm>
            <a:off x="605235" y="4839421"/>
            <a:ext cx="2107362" cy="71710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154853" tIns="77427" rIns="154853" bIns="77427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7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治理监控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9138565" y="5044312"/>
            <a:ext cx="1504246" cy="31351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改进落实监控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5416196" y="5058919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授权执行监控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605203" y="5046063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决议执行监控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2" name="矩形 151"/>
          <p:cNvSpPr/>
          <p:nvPr/>
        </p:nvSpPr>
        <p:spPr bwMode="auto">
          <a:xfrm>
            <a:off x="599343" y="5820935"/>
            <a:ext cx="2107362" cy="71710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154853" tIns="77427" rIns="154853" bIns="77427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7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评价与应用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cxnSp>
        <p:nvCxnSpPr>
          <p:cNvPr id="153" name="直接箭头连接符 152"/>
          <p:cNvCxnSpPr/>
          <p:nvPr/>
        </p:nvCxnSpPr>
        <p:spPr bwMode="auto">
          <a:xfrm>
            <a:off x="6835058" y="4648508"/>
            <a:ext cx="0" cy="164128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54" name="直接箭头连接符 153"/>
          <p:cNvCxnSpPr/>
          <p:nvPr/>
        </p:nvCxnSpPr>
        <p:spPr bwMode="auto">
          <a:xfrm>
            <a:off x="6836985" y="5611137"/>
            <a:ext cx="0" cy="164128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55" name="矩形 154"/>
          <p:cNvSpPr/>
          <p:nvPr/>
        </p:nvSpPr>
        <p:spPr bwMode="auto">
          <a:xfrm>
            <a:off x="3085182" y="5780895"/>
            <a:ext cx="8166380" cy="756137"/>
          </a:xfrm>
          <a:prstGeom prst="rect">
            <a:avLst/>
          </a:prstGeom>
          <a:solidFill>
            <a:srgbClr val="C6D9F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45720" rIns="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9502027" y="5990331"/>
            <a:ext cx="1504246" cy="313511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改进跟踪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6380220" y="5959404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改善识别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3303467" y="5961996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效能评价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肘形连接符 6"/>
          <p:cNvCxnSpPr>
            <a:stCxn id="155" idx="3"/>
          </p:cNvCxnSpPr>
          <p:nvPr/>
        </p:nvCxnSpPr>
        <p:spPr bwMode="auto">
          <a:xfrm flipH="1" flipV="1">
            <a:off x="7058392" y="1690090"/>
            <a:ext cx="4193170" cy="4468874"/>
          </a:xfrm>
          <a:prstGeom prst="bentConnector4">
            <a:avLst>
              <a:gd name="adj1" fmla="val -2692"/>
              <a:gd name="adj2" fmla="val 102923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66" name="矩形 165"/>
          <p:cNvSpPr/>
          <p:nvPr/>
        </p:nvSpPr>
        <p:spPr>
          <a:xfrm>
            <a:off x="7237573" y="5058919"/>
            <a:ext cx="1299600" cy="306000"/>
          </a:xfrm>
          <a:prstGeom prst="rect">
            <a:avLst/>
          </a:prstGeom>
          <a:solidFill>
            <a:srgbClr val="E6F7F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董事建议落实监控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7" name="Rectangle 98"/>
          <p:cNvSpPr/>
          <p:nvPr/>
        </p:nvSpPr>
        <p:spPr bwMode="auto">
          <a:xfrm>
            <a:off x="598209" y="1697704"/>
            <a:ext cx="2158112" cy="2950803"/>
          </a:xfrm>
          <a:prstGeom prst="rect">
            <a:avLst/>
          </a:prstGeom>
          <a:solidFill>
            <a:srgbClr val="5454D4">
              <a:alpha val="6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953473" y="2728862"/>
            <a:ext cx="1551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812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本年度完成</a:t>
            </a:r>
          </a:p>
          <a:p>
            <a:pPr marL="0" marR="0" lvl="0" indent="0" algn="ctr" defTabSz="812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数字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员工上线</a:t>
            </a:r>
          </a:p>
        </p:txBody>
      </p:sp>
      <p:sp>
        <p:nvSpPr>
          <p:cNvPr id="169" name="Rectangle 98"/>
          <p:cNvSpPr/>
          <p:nvPr/>
        </p:nvSpPr>
        <p:spPr bwMode="auto">
          <a:xfrm>
            <a:off x="3082884" y="1714859"/>
            <a:ext cx="3158192" cy="2933648"/>
          </a:xfrm>
          <a:prstGeom prst="rect">
            <a:avLst/>
          </a:prstGeom>
          <a:solidFill>
            <a:srgbClr val="5454D4">
              <a:alpha val="6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12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引用集团顶层会议管理工作台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0" name="Rectangle 98"/>
          <p:cNvSpPr/>
          <p:nvPr/>
        </p:nvSpPr>
        <p:spPr bwMode="auto">
          <a:xfrm>
            <a:off x="9591603" y="3702042"/>
            <a:ext cx="1655066" cy="970879"/>
          </a:xfrm>
          <a:prstGeom prst="rect">
            <a:avLst/>
          </a:prstGeom>
          <a:solidFill>
            <a:srgbClr val="5454D4">
              <a:alpha val="6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12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复用评价与应用工作流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1" name="Rectangle 98"/>
          <p:cNvSpPr/>
          <p:nvPr/>
        </p:nvSpPr>
        <p:spPr bwMode="auto">
          <a:xfrm>
            <a:off x="593213" y="4804494"/>
            <a:ext cx="10656662" cy="842710"/>
          </a:xfrm>
          <a:prstGeom prst="rect">
            <a:avLst/>
          </a:prstGeom>
          <a:solidFill>
            <a:srgbClr val="5454D4">
              <a:alpha val="6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zh-CN" altLang="zh-CN" sz="1400" b="1" dirty="0"/>
              <a:t>本年度开发</a:t>
            </a:r>
            <a:r>
              <a:rPr lang="zh-CN" altLang="zh-CN" sz="1400" b="1" dirty="0" smtClean="0"/>
              <a:t>完成</a:t>
            </a:r>
            <a:r>
              <a:rPr lang="zh-CN" altLang="en-US" sz="1200" b="1" dirty="0"/>
              <a:t>（</a:t>
            </a:r>
            <a:r>
              <a:rPr lang="en-US" altLang="zh-CN" sz="1200" b="1" dirty="0" smtClean="0"/>
              <a:t>TOP2</a:t>
            </a:r>
            <a:r>
              <a:rPr lang="zh-CN" altLang="en-US" sz="1200" b="1" dirty="0" smtClean="0"/>
              <a:t>）</a:t>
            </a:r>
            <a:endParaRPr lang="zh-CN" altLang="zh-CN" sz="1100" dirty="0"/>
          </a:p>
        </p:txBody>
      </p:sp>
      <p:sp>
        <p:nvSpPr>
          <p:cNvPr id="172" name="Rectangle 98"/>
          <p:cNvSpPr/>
          <p:nvPr/>
        </p:nvSpPr>
        <p:spPr bwMode="auto">
          <a:xfrm>
            <a:off x="6399170" y="1715974"/>
            <a:ext cx="2964575" cy="2907451"/>
          </a:xfrm>
          <a:prstGeom prst="rect">
            <a:avLst/>
          </a:prstGeom>
          <a:solidFill>
            <a:srgbClr val="5454D4">
              <a:alpha val="6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zh-CN" altLang="en-US" sz="1400" b="1" dirty="0" smtClean="0"/>
              <a:t>本年度开发完成</a:t>
            </a:r>
            <a:endParaRPr lang="en-US" altLang="zh-CN" sz="1400" b="1" dirty="0" smtClean="0"/>
          </a:p>
          <a:p>
            <a:pPr algn="ctr" fontAlgn="base"/>
            <a:r>
              <a:rPr lang="zh-CN" altLang="en-US" sz="1400" b="1" dirty="0" smtClean="0">
                <a:effectLst/>
              </a:rPr>
              <a:t>（</a:t>
            </a:r>
            <a:r>
              <a:rPr lang="en-US" altLang="zh-CN" sz="1400" b="1" dirty="0" smtClean="0">
                <a:effectLst/>
              </a:rPr>
              <a:t>TOP1</a:t>
            </a:r>
            <a:r>
              <a:rPr lang="zh-CN" altLang="en-US" sz="1400" b="1" dirty="0" smtClean="0">
                <a:effectLst/>
              </a:rPr>
              <a:t>）</a:t>
            </a:r>
            <a:endParaRPr lang="zh-CN" altLang="zh-CN" sz="1200" dirty="0">
              <a:effectLst/>
            </a:endParaRPr>
          </a:p>
        </p:txBody>
      </p:sp>
      <p:sp>
        <p:nvSpPr>
          <p:cNvPr id="174" name="Rectangle 98"/>
          <p:cNvSpPr/>
          <p:nvPr/>
        </p:nvSpPr>
        <p:spPr bwMode="auto">
          <a:xfrm>
            <a:off x="9616669" y="1722751"/>
            <a:ext cx="1646031" cy="1887913"/>
          </a:xfrm>
          <a:prstGeom prst="rect">
            <a:avLst/>
          </a:prstGeom>
          <a:solidFill>
            <a:srgbClr val="5454D4">
              <a:alpha val="6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zh-CN" altLang="zh-CN" sz="1400" b="1" dirty="0"/>
              <a:t>本年度开发</a:t>
            </a:r>
            <a:r>
              <a:rPr lang="zh-CN" altLang="zh-CN" sz="1400" b="1" dirty="0" smtClean="0"/>
              <a:t>完成</a:t>
            </a:r>
            <a:endParaRPr lang="en-US" altLang="zh-CN" sz="1400" b="1" dirty="0" smtClean="0"/>
          </a:p>
          <a:p>
            <a:pPr algn="ctr" fontAlgn="base"/>
            <a:r>
              <a:rPr lang="zh-CN" altLang="en-US" sz="1400" b="1" dirty="0" smtClean="0">
                <a:effectLst/>
              </a:rPr>
              <a:t>（</a:t>
            </a:r>
            <a:r>
              <a:rPr lang="en-US" altLang="zh-CN" sz="1400" b="1" dirty="0" smtClean="0">
                <a:effectLst/>
              </a:rPr>
              <a:t>TOP3</a:t>
            </a:r>
            <a:r>
              <a:rPr lang="zh-CN" altLang="en-US" sz="1400" b="1" dirty="0" smtClean="0">
                <a:effectLst/>
              </a:rPr>
              <a:t>）</a:t>
            </a:r>
            <a:endParaRPr lang="zh-CN" altLang="zh-CN" sz="1200" dirty="0">
              <a:effectLst/>
            </a:endParaRPr>
          </a:p>
        </p:txBody>
      </p:sp>
      <p:sp>
        <p:nvSpPr>
          <p:cNvPr id="176" name="Rectangle 98"/>
          <p:cNvSpPr/>
          <p:nvPr/>
        </p:nvSpPr>
        <p:spPr bwMode="auto">
          <a:xfrm>
            <a:off x="579069" y="5823337"/>
            <a:ext cx="10656662" cy="692607"/>
          </a:xfrm>
          <a:prstGeom prst="rect">
            <a:avLst/>
          </a:prstGeom>
          <a:solidFill>
            <a:srgbClr val="5454D4">
              <a:alpha val="6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zh-CN" altLang="zh-CN" sz="1400" b="1" dirty="0"/>
              <a:t>本年度开发</a:t>
            </a:r>
            <a:r>
              <a:rPr lang="zh-CN" altLang="zh-CN" sz="1400" b="1" dirty="0" smtClean="0"/>
              <a:t>完成</a:t>
            </a:r>
            <a:r>
              <a:rPr lang="zh-CN" altLang="en-US" sz="1400" b="1" dirty="0" smtClean="0"/>
              <a:t>（</a:t>
            </a:r>
            <a:r>
              <a:rPr lang="en-US" altLang="zh-CN" sz="1400" b="1" dirty="0" smtClean="0"/>
              <a:t>TOP4</a:t>
            </a:r>
            <a:r>
              <a:rPr lang="zh-CN" altLang="en-US" sz="1400" b="1" dirty="0" smtClean="0"/>
              <a:t>）</a:t>
            </a:r>
            <a:endParaRPr lang="zh-CN" altLang="zh-CN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36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矩形 93"/>
          <p:cNvSpPr/>
          <p:nvPr/>
        </p:nvSpPr>
        <p:spPr>
          <a:xfrm>
            <a:off x="1030255" y="3034852"/>
            <a:ext cx="995429" cy="372284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关联公文工作台</a:t>
            </a:r>
            <a:endParaRPr lang="en-US" altLang="zh-CN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识别董事履职开始时间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5416969" cy="497840"/>
          </a:xfrm>
        </p:spPr>
        <p:txBody>
          <a:bodyPr anchor="ctr" anchorCtr="0"/>
          <a:lstStyle/>
          <a:p>
            <a:r>
              <a:rPr lang="zh-CN" altLang="en-US" dirty="0" smtClean="0"/>
              <a:t>三、产品架构</a:t>
            </a:r>
            <a:endParaRPr lang="zh-CN" altLang="en-US" dirty="0">
              <a:sym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297788" y="392927"/>
            <a:ext cx="43066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核心流程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治理执行 </a:t>
            </a:r>
            <a:r>
              <a:rPr lang="en-US" altLang="zh-CN" sz="1600" b="1" kern="0" noProof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| 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董事履职管理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2573316" y="916478"/>
            <a:ext cx="1958338" cy="245586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履</a:t>
            </a:r>
            <a:r>
              <a:rPr lang="zh-CN" altLang="en-US" sz="14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职准备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燕尾形 12"/>
          <p:cNvSpPr/>
          <p:nvPr/>
        </p:nvSpPr>
        <p:spPr bwMode="auto">
          <a:xfrm>
            <a:off x="4526610" y="927405"/>
            <a:ext cx="7128610" cy="248885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履职管理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Rectangle 102"/>
          <p:cNvSpPr/>
          <p:nvPr/>
        </p:nvSpPr>
        <p:spPr bwMode="auto">
          <a:xfrm>
            <a:off x="81963" y="4859280"/>
            <a:ext cx="550514" cy="960310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1" name="Rectangle 102"/>
          <p:cNvSpPr/>
          <p:nvPr/>
        </p:nvSpPr>
        <p:spPr bwMode="auto">
          <a:xfrm>
            <a:off x="77780" y="3318052"/>
            <a:ext cx="255245" cy="1468434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综合管理部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8192334" y="397247"/>
            <a:ext cx="796112" cy="28800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线上作业</a:t>
            </a:r>
          </a:p>
        </p:txBody>
      </p:sp>
      <p:sp>
        <p:nvSpPr>
          <p:cNvPr id="147" name="矩形 146"/>
          <p:cNvSpPr/>
          <p:nvPr/>
        </p:nvSpPr>
        <p:spPr>
          <a:xfrm>
            <a:off x="7391202" y="388124"/>
            <a:ext cx="684327" cy="288000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直取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7" name="Rectangle 102"/>
          <p:cNvSpPr/>
          <p:nvPr/>
        </p:nvSpPr>
        <p:spPr bwMode="auto">
          <a:xfrm>
            <a:off x="79137" y="6321535"/>
            <a:ext cx="537792" cy="407942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班子成员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9127486" y="393062"/>
            <a:ext cx="721897" cy="260851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调用其他工作台</a:t>
            </a:r>
          </a:p>
        </p:txBody>
      </p:sp>
      <p:sp>
        <p:nvSpPr>
          <p:cNvPr id="64" name="Rectangle 102"/>
          <p:cNvSpPr/>
          <p:nvPr/>
        </p:nvSpPr>
        <p:spPr bwMode="auto">
          <a:xfrm>
            <a:off x="419146" y="4480144"/>
            <a:ext cx="213775" cy="306857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董办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Rectangle 102"/>
          <p:cNvSpPr/>
          <p:nvPr/>
        </p:nvSpPr>
        <p:spPr bwMode="auto">
          <a:xfrm>
            <a:off x="429473" y="3680053"/>
            <a:ext cx="231919" cy="338949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人力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9" name="Rectangle 102"/>
          <p:cNvSpPr/>
          <p:nvPr/>
        </p:nvSpPr>
        <p:spPr bwMode="auto">
          <a:xfrm>
            <a:off x="96894" y="2849095"/>
            <a:ext cx="580555" cy="421955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业务</a:t>
            </a:r>
            <a:endParaRPr kumimoji="0" lang="en-US" altLang="zh-CN" sz="10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部门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3639441" y="4526643"/>
            <a:ext cx="887169" cy="306493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资料内容确认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更新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42955" y="5402560"/>
            <a:ext cx="887169" cy="319913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董事履职手册推送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92" name="肘形连接符 91"/>
          <p:cNvCxnSpPr>
            <a:stCxn id="80" idx="2"/>
            <a:endCxn id="91" idx="0"/>
          </p:cNvCxnSpPr>
          <p:nvPr/>
        </p:nvCxnSpPr>
        <p:spPr bwMode="auto">
          <a:xfrm rot="16200000" flipH="1">
            <a:off x="3800071" y="5116091"/>
            <a:ext cx="569424" cy="351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206" name="Rectangle 102"/>
          <p:cNvSpPr/>
          <p:nvPr/>
        </p:nvSpPr>
        <p:spPr bwMode="auto">
          <a:xfrm>
            <a:off x="77779" y="5866591"/>
            <a:ext cx="572157" cy="407942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审计风控与法务部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7" name="燕尾形 86"/>
          <p:cNvSpPr/>
          <p:nvPr/>
        </p:nvSpPr>
        <p:spPr bwMode="auto">
          <a:xfrm>
            <a:off x="765198" y="916479"/>
            <a:ext cx="1839922" cy="241714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董事聘任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44142" y="3423146"/>
            <a:ext cx="977494" cy="219732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接收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董事推荐</a:t>
            </a:r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</a:t>
            </a:r>
          </a:p>
        </p:txBody>
      </p:sp>
      <p:sp>
        <p:nvSpPr>
          <p:cNvPr id="89" name="Rectangle 102"/>
          <p:cNvSpPr/>
          <p:nvPr/>
        </p:nvSpPr>
        <p:spPr bwMode="auto">
          <a:xfrm>
            <a:off x="442106" y="3316905"/>
            <a:ext cx="213775" cy="306857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办公室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1035749" y="4526643"/>
            <a:ext cx="984442" cy="265609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人员选举</a:t>
            </a:r>
            <a:r>
              <a:rPr lang="en-US" altLang="zh-CN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专委会委员变更</a:t>
            </a:r>
          </a:p>
        </p:txBody>
      </p:sp>
      <p:sp>
        <p:nvSpPr>
          <p:cNvPr id="95" name="矩形 94"/>
          <p:cNvSpPr/>
          <p:nvPr/>
        </p:nvSpPr>
        <p:spPr>
          <a:xfrm>
            <a:off x="1029388" y="4135933"/>
            <a:ext cx="1007838" cy="260792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algn="ctr" defTabSz="514350"/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配置系统权限、纳入组织架构</a:t>
            </a:r>
            <a:endParaRPr lang="zh-CN" altLang="en-US" sz="9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Rectangle 102"/>
          <p:cNvSpPr/>
          <p:nvPr/>
        </p:nvSpPr>
        <p:spPr bwMode="auto">
          <a:xfrm>
            <a:off x="427458" y="4109202"/>
            <a:ext cx="213775" cy="306857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数字化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04" name="肘形连接符 103"/>
          <p:cNvCxnSpPr>
            <a:stCxn id="110" idx="2"/>
            <a:endCxn id="95" idx="0"/>
          </p:cNvCxnSpPr>
          <p:nvPr/>
        </p:nvCxnSpPr>
        <p:spPr bwMode="auto">
          <a:xfrm rot="16200000" flipH="1">
            <a:off x="1447313" y="4049939"/>
            <a:ext cx="171570" cy="41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06" name="矩形 105"/>
          <p:cNvSpPr/>
          <p:nvPr/>
        </p:nvSpPr>
        <p:spPr>
          <a:xfrm>
            <a:off x="1073628" y="5965246"/>
            <a:ext cx="984442" cy="265609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工商变更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07" name="肘形连接符 106"/>
          <p:cNvCxnSpPr>
            <a:stCxn id="130" idx="0"/>
            <a:endCxn id="106" idx="0"/>
          </p:cNvCxnSpPr>
          <p:nvPr/>
        </p:nvCxnSpPr>
        <p:spPr bwMode="auto">
          <a:xfrm flipH="1">
            <a:off x="1565849" y="4833136"/>
            <a:ext cx="14190" cy="1132110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08" name="直接箭头连接符 107"/>
          <p:cNvCxnSpPr>
            <a:stCxn id="88" idx="2"/>
            <a:endCxn id="110" idx="0"/>
          </p:cNvCxnSpPr>
          <p:nvPr/>
        </p:nvCxnSpPr>
        <p:spPr bwMode="auto">
          <a:xfrm>
            <a:off x="1532889" y="3642878"/>
            <a:ext cx="0" cy="106787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10" name="矩形 109"/>
          <p:cNvSpPr/>
          <p:nvPr/>
        </p:nvSpPr>
        <p:spPr>
          <a:xfrm>
            <a:off x="1041749" y="3749665"/>
            <a:ext cx="982279" cy="214698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algn="ctr" defTabSz="514350"/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董事</a:t>
            </a: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简历</a:t>
            </a:r>
          </a:p>
        </p:txBody>
      </p:sp>
      <p:sp>
        <p:nvSpPr>
          <p:cNvPr id="117" name="矩形 116"/>
          <p:cNvSpPr/>
          <p:nvPr/>
        </p:nvSpPr>
        <p:spPr>
          <a:xfrm>
            <a:off x="1061504" y="6418157"/>
            <a:ext cx="982279" cy="214698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algn="ctr" defTabSz="514350"/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接收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董事简历</a:t>
            </a:r>
            <a:endParaRPr lang="zh-CN" altLang="en-US" sz="9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27" name="肘形连接符 126"/>
          <p:cNvCxnSpPr>
            <a:endCxn id="90" idx="0"/>
          </p:cNvCxnSpPr>
          <p:nvPr/>
        </p:nvCxnSpPr>
        <p:spPr bwMode="auto">
          <a:xfrm rot="5400000">
            <a:off x="1461324" y="4453751"/>
            <a:ext cx="139538" cy="624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30" name="矩形 129"/>
          <p:cNvSpPr/>
          <p:nvPr/>
        </p:nvSpPr>
        <p:spPr>
          <a:xfrm>
            <a:off x="973707" y="4833136"/>
            <a:ext cx="1212663" cy="216718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关联会议系统，推送董事会待办任务</a:t>
            </a:r>
          </a:p>
        </p:txBody>
      </p:sp>
      <p:cxnSp>
        <p:nvCxnSpPr>
          <p:cNvPr id="131" name="肘形连接符 130"/>
          <p:cNvCxnSpPr>
            <a:stCxn id="110" idx="1"/>
            <a:endCxn id="117" idx="1"/>
          </p:cNvCxnSpPr>
          <p:nvPr/>
        </p:nvCxnSpPr>
        <p:spPr bwMode="auto">
          <a:xfrm rot="10800000" flipH="1" flipV="1">
            <a:off x="1041748" y="3857014"/>
            <a:ext cx="19755" cy="2668492"/>
          </a:xfrm>
          <a:prstGeom prst="bentConnector3">
            <a:avLst>
              <a:gd name="adj1" fmla="val -1157175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48" name="矩形 147"/>
          <p:cNvSpPr/>
          <p:nvPr/>
        </p:nvSpPr>
        <p:spPr>
          <a:xfrm>
            <a:off x="2466039" y="4526643"/>
            <a:ext cx="1085568" cy="252413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  <a:hlinkClick r:id="rId3" action="ppaction://hlinksldjump"/>
              </a:rPr>
              <a:t>定期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  <a:hlinkClick r:id="rId3" action="ppaction://hlinksldjump"/>
              </a:rPr>
              <a:t>发起董事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  <a:hlinkClick r:id="rId3" action="ppaction://hlinksldjump"/>
              </a:rPr>
              <a:t>履职手册编制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2459308" y="4792802"/>
            <a:ext cx="1092299" cy="336828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kumimoji="0" 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. </a:t>
            </a:r>
            <a:r>
              <a:rPr kumimoji="0" lang="zh-CN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资料清单</a:t>
            </a:r>
            <a:endParaRPr kumimoji="0" lang="en-US" altLang="zh-CN" sz="800" b="1" i="0" u="none" strike="noStrike" kern="0" cap="none" spc="0" normalizeH="0" baseline="0" noProof="0" dirty="0" smtClean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kumimoji="0" lang="zh-CN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责任部门</a:t>
            </a:r>
            <a:r>
              <a:rPr kumimoji="0" lang="en-US" altLang="zh-CN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kumimoji="0" lang="zh-CN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责任人</a:t>
            </a:r>
            <a:endParaRPr kumimoji="0" lang="en-US" altLang="zh-CN" sz="800" b="1" i="0" u="none" strike="noStrike" kern="0" cap="none" spc="0" normalizeH="0" baseline="0" noProof="0" dirty="0" smtClean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更新频次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2406405" y="4135933"/>
            <a:ext cx="1194691" cy="216246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提报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更新资料内容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2400014" y="3724332"/>
            <a:ext cx="1194691" cy="216246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提报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更新资料内容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2399674" y="3382955"/>
            <a:ext cx="1194691" cy="216246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提报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更新资料内容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2401402" y="2988630"/>
            <a:ext cx="1194691" cy="216246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提报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更新资料内容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24" name="直接箭头连接符 123"/>
          <p:cNvCxnSpPr>
            <a:stCxn id="148" idx="0"/>
            <a:endCxn id="112" idx="2"/>
          </p:cNvCxnSpPr>
          <p:nvPr/>
        </p:nvCxnSpPr>
        <p:spPr bwMode="auto">
          <a:xfrm flipH="1" flipV="1">
            <a:off x="3003751" y="4352179"/>
            <a:ext cx="5072" cy="174464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25" name="直接箭头连接符 124"/>
          <p:cNvCxnSpPr>
            <a:stCxn id="112" idx="0"/>
            <a:endCxn id="115" idx="2"/>
          </p:cNvCxnSpPr>
          <p:nvPr/>
        </p:nvCxnSpPr>
        <p:spPr bwMode="auto">
          <a:xfrm flipH="1" flipV="1">
            <a:off x="2997360" y="3940578"/>
            <a:ext cx="6391" cy="195355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28" name="直接箭头连接符 127"/>
          <p:cNvCxnSpPr>
            <a:stCxn id="115" idx="0"/>
            <a:endCxn id="118" idx="2"/>
          </p:cNvCxnSpPr>
          <p:nvPr/>
        </p:nvCxnSpPr>
        <p:spPr bwMode="auto">
          <a:xfrm flipH="1" flipV="1">
            <a:off x="2997020" y="3599201"/>
            <a:ext cx="340" cy="125131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33" name="直接箭头连接符 132"/>
          <p:cNvCxnSpPr>
            <a:stCxn id="118" idx="0"/>
            <a:endCxn id="122" idx="2"/>
          </p:cNvCxnSpPr>
          <p:nvPr/>
        </p:nvCxnSpPr>
        <p:spPr bwMode="auto">
          <a:xfrm flipV="1">
            <a:off x="2997020" y="3204876"/>
            <a:ext cx="1728" cy="178079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34" name="肘形连接符 133"/>
          <p:cNvCxnSpPr>
            <a:stCxn id="122" idx="0"/>
            <a:endCxn id="80" idx="0"/>
          </p:cNvCxnSpPr>
          <p:nvPr/>
        </p:nvCxnSpPr>
        <p:spPr bwMode="auto">
          <a:xfrm rot="16200000" flipH="1">
            <a:off x="2771880" y="3215497"/>
            <a:ext cx="1538013" cy="1084278"/>
          </a:xfrm>
          <a:prstGeom prst="bentConnector3">
            <a:avLst>
              <a:gd name="adj1" fmla="val -14863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35" name="肘形连接符 134"/>
          <p:cNvCxnSpPr>
            <a:stCxn id="90" idx="3"/>
            <a:endCxn id="148" idx="1"/>
          </p:cNvCxnSpPr>
          <p:nvPr/>
        </p:nvCxnSpPr>
        <p:spPr bwMode="auto">
          <a:xfrm flipV="1">
            <a:off x="2020191" y="4652850"/>
            <a:ext cx="445848" cy="659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40" name="矩形 139"/>
          <p:cNvSpPr/>
          <p:nvPr/>
        </p:nvSpPr>
        <p:spPr>
          <a:xfrm>
            <a:off x="4748449" y="4523835"/>
            <a:ext cx="742814" cy="314849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定期发起履职计划制定</a:t>
            </a:r>
            <a:endParaRPr lang="zh-CN" altLang="en-US" sz="9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4691915" y="4864606"/>
            <a:ext cx="890993" cy="808037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制定会议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重要活动计划</a:t>
            </a:r>
            <a:endParaRPr lang="en-US" altLang="zh-CN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制定培训计划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hlinkClick r:id="rId4" action="ppaction://hlinksldjump"/>
              </a:rPr>
              <a:t>调研计划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hlinkClick r:id="rId4" action="ppaction://hlinksldjump"/>
              </a:rPr>
              <a:t>-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hlinkClick r:id="rId4" action="ppaction://hlinksldjump"/>
              </a:rPr>
              <a:t>调用调研模型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6000049" y="4513960"/>
            <a:ext cx="742814" cy="332642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lvl="0" algn="ctr" defTabSz="514350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填报</a:t>
            </a:r>
            <a:r>
              <a:rPr lang="en-US" altLang="zh-CN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确认会议</a:t>
            </a:r>
            <a:r>
              <a:rPr lang="zh-CN" altLang="en-US" sz="900" b="1" kern="0" noProof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5970514" y="3789681"/>
            <a:ext cx="748164" cy="332642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填报</a:t>
            </a:r>
            <a:r>
              <a:rPr lang="en-US" altLang="zh-CN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确认培训</a:t>
            </a:r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</a:t>
            </a:r>
          </a:p>
        </p:txBody>
      </p:sp>
      <p:sp>
        <p:nvSpPr>
          <p:cNvPr id="154" name="矩形 153"/>
          <p:cNvSpPr/>
          <p:nvPr/>
        </p:nvSpPr>
        <p:spPr>
          <a:xfrm>
            <a:off x="5948000" y="2906755"/>
            <a:ext cx="765327" cy="332642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lvl="0" algn="ctr" defTabSz="514350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填报</a:t>
            </a:r>
            <a:r>
              <a:rPr lang="en-US" altLang="zh-CN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调研</a:t>
            </a: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对象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55" name="肘形连接符 154"/>
          <p:cNvCxnSpPr>
            <a:stCxn id="140" idx="3"/>
            <a:endCxn id="150" idx="1"/>
          </p:cNvCxnSpPr>
          <p:nvPr/>
        </p:nvCxnSpPr>
        <p:spPr bwMode="auto">
          <a:xfrm flipV="1">
            <a:off x="5491263" y="4680281"/>
            <a:ext cx="508786" cy="97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60" name="肘形连接符 159"/>
          <p:cNvCxnSpPr>
            <a:stCxn id="140" idx="3"/>
            <a:endCxn id="151" idx="1"/>
          </p:cNvCxnSpPr>
          <p:nvPr/>
        </p:nvCxnSpPr>
        <p:spPr bwMode="auto">
          <a:xfrm flipV="1">
            <a:off x="5491263" y="3956002"/>
            <a:ext cx="479251" cy="72525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62" name="肘形连接符 161"/>
          <p:cNvCxnSpPr>
            <a:stCxn id="140" idx="3"/>
            <a:endCxn id="154" idx="1"/>
          </p:cNvCxnSpPr>
          <p:nvPr/>
        </p:nvCxnSpPr>
        <p:spPr bwMode="auto">
          <a:xfrm flipV="1">
            <a:off x="5491263" y="3073076"/>
            <a:ext cx="456737" cy="160818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63" name="矩形 162"/>
          <p:cNvSpPr/>
          <p:nvPr/>
        </p:nvSpPr>
        <p:spPr>
          <a:xfrm>
            <a:off x="5785848" y="4133284"/>
            <a:ext cx="1184055" cy="263441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关联人事培训工作台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董事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关注领域初筛</a:t>
            </a:r>
            <a:endParaRPr lang="en-US" altLang="zh-CN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6621075" y="5365935"/>
            <a:ext cx="797486" cy="332642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lvl="0" algn="ctr" defTabSz="514350"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年度履职计划确认</a:t>
            </a:r>
            <a:r>
              <a:rPr lang="en-US" altLang="zh-CN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调整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70" name="肘形连接符 169"/>
          <p:cNvCxnSpPr>
            <a:stCxn id="154" idx="3"/>
            <a:endCxn id="167" idx="0"/>
          </p:cNvCxnSpPr>
          <p:nvPr/>
        </p:nvCxnSpPr>
        <p:spPr bwMode="auto">
          <a:xfrm>
            <a:off x="6713327" y="3073076"/>
            <a:ext cx="306491" cy="2292859"/>
          </a:xfrm>
          <a:prstGeom prst="bentConnector2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76" name="肘形连接符 175"/>
          <p:cNvCxnSpPr>
            <a:stCxn id="151" idx="3"/>
            <a:endCxn id="167" idx="0"/>
          </p:cNvCxnSpPr>
          <p:nvPr/>
        </p:nvCxnSpPr>
        <p:spPr bwMode="auto">
          <a:xfrm>
            <a:off x="6718678" y="3956002"/>
            <a:ext cx="301140" cy="1409933"/>
          </a:xfrm>
          <a:prstGeom prst="bentConnector2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78" name="肘形连接符 177"/>
          <p:cNvCxnSpPr>
            <a:stCxn id="151" idx="3"/>
            <a:endCxn id="167" idx="0"/>
          </p:cNvCxnSpPr>
          <p:nvPr/>
        </p:nvCxnSpPr>
        <p:spPr bwMode="auto">
          <a:xfrm>
            <a:off x="6718678" y="3956002"/>
            <a:ext cx="301140" cy="1409933"/>
          </a:xfrm>
          <a:prstGeom prst="bentConnector2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80" name="矩形 179"/>
          <p:cNvSpPr/>
          <p:nvPr/>
        </p:nvSpPr>
        <p:spPr>
          <a:xfrm>
            <a:off x="7560681" y="5355775"/>
            <a:ext cx="797486" cy="332642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年度履职计划生成</a:t>
            </a:r>
          </a:p>
        </p:txBody>
      </p:sp>
      <p:cxnSp>
        <p:nvCxnSpPr>
          <p:cNvPr id="184" name="肘形连接符 183"/>
          <p:cNvCxnSpPr>
            <a:stCxn id="167" idx="3"/>
            <a:endCxn id="180" idx="1"/>
          </p:cNvCxnSpPr>
          <p:nvPr/>
        </p:nvCxnSpPr>
        <p:spPr bwMode="auto">
          <a:xfrm flipV="1">
            <a:off x="7418561" y="5522096"/>
            <a:ext cx="142120" cy="1016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85" name="矩形 184"/>
          <p:cNvSpPr/>
          <p:nvPr/>
        </p:nvSpPr>
        <p:spPr>
          <a:xfrm>
            <a:off x="8493872" y="5355775"/>
            <a:ext cx="797486" cy="332642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自动创建履职任务</a:t>
            </a:r>
            <a:endParaRPr lang="zh-CN" altLang="en-US" sz="9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86" name="肘形连接符 185"/>
          <p:cNvCxnSpPr>
            <a:stCxn id="180" idx="3"/>
            <a:endCxn id="185" idx="1"/>
          </p:cNvCxnSpPr>
          <p:nvPr/>
        </p:nvCxnSpPr>
        <p:spPr bwMode="auto">
          <a:xfrm>
            <a:off x="8358167" y="5522096"/>
            <a:ext cx="135705" cy="1270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87" name="矩形 186"/>
          <p:cNvSpPr/>
          <p:nvPr/>
        </p:nvSpPr>
        <p:spPr>
          <a:xfrm>
            <a:off x="8547167" y="4854428"/>
            <a:ext cx="732097" cy="508102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会议任务</a:t>
            </a:r>
            <a:endParaRPr lang="en-US" altLang="zh-CN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培训任务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调研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专项任务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9744689" y="2863765"/>
            <a:ext cx="1122737" cy="183910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组织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调研</a:t>
            </a:r>
            <a:endParaRPr lang="zh-CN" altLang="en-US" sz="900" b="1" kern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9518023" y="3057281"/>
            <a:ext cx="1833009" cy="226034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关联日程、差旅系统</a:t>
            </a:r>
            <a:endParaRPr lang="en-US" altLang="zh-CN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日完成调研企业参考材料准备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9756783" y="3573453"/>
            <a:ext cx="1122737" cy="232384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组织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培训</a:t>
            </a:r>
            <a:endParaRPr lang="zh-CN" altLang="en-US" sz="900" b="1" kern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1" name="矩形 190"/>
          <p:cNvSpPr/>
          <p:nvPr/>
        </p:nvSpPr>
        <p:spPr>
          <a:xfrm>
            <a:off x="9698591" y="3816074"/>
            <a:ext cx="1269527" cy="372284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关联日程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培训材料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9813040" y="4526643"/>
            <a:ext cx="1122737" cy="270901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召开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会议</a:t>
            </a:r>
            <a:r>
              <a:rPr lang="en-US" altLang="zh-CN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组织专项任务落实</a:t>
            </a:r>
            <a:endParaRPr lang="zh-CN" altLang="en-US" sz="900" b="1" kern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9718674" y="4788363"/>
            <a:ext cx="1269527" cy="900054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关联日程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董事会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/10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天发出会议通知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材料；其余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会议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/3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天发出会议通知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材料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专项任务内容、责任人、办结时间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5" name="肘形连接符 194"/>
          <p:cNvCxnSpPr>
            <a:stCxn id="185" idx="3"/>
            <a:endCxn id="192" idx="1"/>
          </p:cNvCxnSpPr>
          <p:nvPr/>
        </p:nvCxnSpPr>
        <p:spPr bwMode="auto">
          <a:xfrm flipV="1">
            <a:off x="9291358" y="4662094"/>
            <a:ext cx="521682" cy="860002"/>
          </a:xfrm>
          <a:prstGeom prst="bentConnector3">
            <a:avLst>
              <a:gd name="adj1" fmla="val 45563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97" name="肘形连接符 196"/>
          <p:cNvCxnSpPr>
            <a:stCxn id="185" idx="3"/>
            <a:endCxn id="190" idx="1"/>
          </p:cNvCxnSpPr>
          <p:nvPr/>
        </p:nvCxnSpPr>
        <p:spPr bwMode="auto">
          <a:xfrm flipV="1">
            <a:off x="9291358" y="3689645"/>
            <a:ext cx="465425" cy="183245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99" name="肘形连接符 198"/>
          <p:cNvCxnSpPr>
            <a:stCxn id="185" idx="3"/>
            <a:endCxn id="188" idx="1"/>
          </p:cNvCxnSpPr>
          <p:nvPr/>
        </p:nvCxnSpPr>
        <p:spPr bwMode="auto">
          <a:xfrm flipV="1">
            <a:off x="9291358" y="2955720"/>
            <a:ext cx="453331" cy="256637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79" name="Rectangle 102"/>
          <p:cNvSpPr/>
          <p:nvPr/>
        </p:nvSpPr>
        <p:spPr bwMode="auto">
          <a:xfrm>
            <a:off x="96894" y="1229030"/>
            <a:ext cx="580555" cy="421955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集团</a:t>
            </a:r>
            <a:endParaRPr kumimoji="0" lang="en-US" altLang="zh-CN" sz="10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体系数字化部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2" name="Rectangle 102"/>
          <p:cNvSpPr/>
          <p:nvPr/>
        </p:nvSpPr>
        <p:spPr bwMode="auto">
          <a:xfrm>
            <a:off x="95095" y="1745045"/>
            <a:ext cx="580555" cy="421955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集团</a:t>
            </a:r>
            <a:endParaRPr kumimoji="0" lang="en-US" altLang="zh-CN" sz="10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人力部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3" name="Rectangle 102"/>
          <p:cNvSpPr/>
          <p:nvPr/>
        </p:nvSpPr>
        <p:spPr bwMode="auto">
          <a:xfrm>
            <a:off x="83247" y="2288222"/>
            <a:ext cx="580555" cy="421955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集团</a:t>
            </a:r>
            <a:endParaRPr kumimoji="0" lang="en-US" altLang="zh-CN" sz="10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董办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44386" y="1291520"/>
            <a:ext cx="1367165" cy="241822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子企业董事会职数核定</a:t>
            </a:r>
          </a:p>
        </p:txBody>
      </p:sp>
      <p:sp>
        <p:nvSpPr>
          <p:cNvPr id="85" name="矩形 84"/>
          <p:cNvSpPr/>
          <p:nvPr/>
        </p:nvSpPr>
        <p:spPr>
          <a:xfrm>
            <a:off x="844386" y="1714848"/>
            <a:ext cx="1367165" cy="241822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人选选聘、资格遴选</a:t>
            </a:r>
          </a:p>
        </p:txBody>
      </p:sp>
      <p:sp>
        <p:nvSpPr>
          <p:cNvPr id="86" name="矩形 85"/>
          <p:cNvSpPr/>
          <p:nvPr/>
        </p:nvSpPr>
        <p:spPr>
          <a:xfrm>
            <a:off x="844386" y="2069043"/>
            <a:ext cx="1367165" cy="241822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形成董事推荐函</a:t>
            </a:r>
          </a:p>
        </p:txBody>
      </p:sp>
      <p:sp>
        <p:nvSpPr>
          <p:cNvPr id="93" name="矩形 92"/>
          <p:cNvSpPr/>
          <p:nvPr/>
        </p:nvSpPr>
        <p:spPr>
          <a:xfrm>
            <a:off x="844386" y="2453510"/>
            <a:ext cx="1367165" cy="241822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lvl="0" algn="ctr" defTabSz="514350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下发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董事</a:t>
            </a: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推荐函</a:t>
            </a:r>
          </a:p>
        </p:txBody>
      </p:sp>
      <p:cxnSp>
        <p:nvCxnSpPr>
          <p:cNvPr id="97" name="肘形连接符 106"/>
          <p:cNvCxnSpPr>
            <a:stCxn id="84" idx="2"/>
            <a:endCxn id="85" idx="0"/>
          </p:cNvCxnSpPr>
          <p:nvPr/>
        </p:nvCxnSpPr>
        <p:spPr bwMode="auto">
          <a:xfrm>
            <a:off x="1527969" y="1533342"/>
            <a:ext cx="0" cy="181506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98" name="肘形连接符 106"/>
          <p:cNvCxnSpPr>
            <a:stCxn id="85" idx="2"/>
            <a:endCxn id="86" idx="0"/>
          </p:cNvCxnSpPr>
          <p:nvPr/>
        </p:nvCxnSpPr>
        <p:spPr bwMode="auto">
          <a:xfrm>
            <a:off x="1527969" y="1956670"/>
            <a:ext cx="0" cy="112373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99" name="肘形连接符 106"/>
          <p:cNvCxnSpPr>
            <a:stCxn id="86" idx="2"/>
            <a:endCxn id="93" idx="0"/>
          </p:cNvCxnSpPr>
          <p:nvPr/>
        </p:nvCxnSpPr>
        <p:spPr bwMode="auto">
          <a:xfrm>
            <a:off x="1527969" y="2310865"/>
            <a:ext cx="0" cy="142645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00" name="肘形连接符 106"/>
          <p:cNvCxnSpPr>
            <a:stCxn id="93" idx="2"/>
            <a:endCxn id="88" idx="0"/>
          </p:cNvCxnSpPr>
          <p:nvPr/>
        </p:nvCxnSpPr>
        <p:spPr bwMode="auto">
          <a:xfrm>
            <a:off x="1527969" y="2695332"/>
            <a:ext cx="4920" cy="727814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01" name="矩形 100"/>
          <p:cNvSpPr/>
          <p:nvPr/>
        </p:nvSpPr>
        <p:spPr>
          <a:xfrm>
            <a:off x="6595115" y="384777"/>
            <a:ext cx="684327" cy="288000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线下作业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02" name="肘形连接符 101"/>
          <p:cNvCxnSpPr>
            <a:stCxn id="91" idx="3"/>
            <a:endCxn id="140" idx="1"/>
          </p:cNvCxnSpPr>
          <p:nvPr/>
        </p:nvCxnSpPr>
        <p:spPr bwMode="auto">
          <a:xfrm flipV="1">
            <a:off x="4530124" y="4681260"/>
            <a:ext cx="218325" cy="88125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03" name="Straight Connector 170"/>
          <p:cNvCxnSpPr/>
          <p:nvPr/>
        </p:nvCxnSpPr>
        <p:spPr>
          <a:xfrm>
            <a:off x="765198" y="1650985"/>
            <a:ext cx="10766402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cxnSp>
        <p:nvCxnSpPr>
          <p:cNvPr id="105" name="Straight Connector 170"/>
          <p:cNvCxnSpPr/>
          <p:nvPr/>
        </p:nvCxnSpPr>
        <p:spPr>
          <a:xfrm>
            <a:off x="765198" y="2310865"/>
            <a:ext cx="10766402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cxnSp>
        <p:nvCxnSpPr>
          <p:cNvPr id="109" name="Straight Connector 170"/>
          <p:cNvCxnSpPr/>
          <p:nvPr/>
        </p:nvCxnSpPr>
        <p:spPr>
          <a:xfrm>
            <a:off x="765198" y="2740657"/>
            <a:ext cx="10766402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cxnSp>
        <p:nvCxnSpPr>
          <p:cNvPr id="113" name="Straight Connector 170"/>
          <p:cNvCxnSpPr/>
          <p:nvPr/>
        </p:nvCxnSpPr>
        <p:spPr>
          <a:xfrm>
            <a:off x="765198" y="3283412"/>
            <a:ext cx="10766402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cxnSp>
        <p:nvCxnSpPr>
          <p:cNvPr id="114" name="Straight Connector 170"/>
          <p:cNvCxnSpPr/>
          <p:nvPr/>
        </p:nvCxnSpPr>
        <p:spPr>
          <a:xfrm>
            <a:off x="765198" y="4876332"/>
            <a:ext cx="10766402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cxnSp>
        <p:nvCxnSpPr>
          <p:cNvPr id="116" name="Straight Connector 170"/>
          <p:cNvCxnSpPr/>
          <p:nvPr/>
        </p:nvCxnSpPr>
        <p:spPr>
          <a:xfrm>
            <a:off x="765198" y="5835643"/>
            <a:ext cx="10766402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cxnSp>
        <p:nvCxnSpPr>
          <p:cNvPr id="119" name="Straight Connector 170"/>
          <p:cNvCxnSpPr/>
          <p:nvPr/>
        </p:nvCxnSpPr>
        <p:spPr>
          <a:xfrm>
            <a:off x="792112" y="6335498"/>
            <a:ext cx="10766402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293223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9850755" cy="497840"/>
          </a:xfrm>
        </p:spPr>
        <p:txBody>
          <a:bodyPr anchor="ctr" anchorCtr="0"/>
          <a:lstStyle/>
          <a:p>
            <a:r>
              <a:rPr lang="zh-CN" altLang="en-US" dirty="0" smtClean="0"/>
              <a:t>三、产品架构</a:t>
            </a:r>
            <a:endParaRPr lang="zh-CN" altLang="en-US" dirty="0">
              <a:sym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297788" y="392927"/>
            <a:ext cx="43066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核心流程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治理执行 </a:t>
            </a:r>
            <a:r>
              <a:rPr lang="en-US" altLang="zh-CN" sz="1600" b="1" kern="0" noProof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| 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董事履职管理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燕尾形 12"/>
          <p:cNvSpPr/>
          <p:nvPr/>
        </p:nvSpPr>
        <p:spPr bwMode="auto">
          <a:xfrm>
            <a:off x="869539" y="884836"/>
            <a:ext cx="8000142" cy="324943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履职管理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Rectangle 102"/>
          <p:cNvSpPr/>
          <p:nvPr/>
        </p:nvSpPr>
        <p:spPr bwMode="auto">
          <a:xfrm>
            <a:off x="132402" y="4179150"/>
            <a:ext cx="550514" cy="1301180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1" name="Rectangle 102"/>
          <p:cNvSpPr/>
          <p:nvPr/>
        </p:nvSpPr>
        <p:spPr bwMode="auto">
          <a:xfrm>
            <a:off x="128219" y="2267530"/>
            <a:ext cx="278947" cy="1835096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综合管理部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7" name="Rectangle 102"/>
          <p:cNvSpPr/>
          <p:nvPr/>
        </p:nvSpPr>
        <p:spPr bwMode="auto">
          <a:xfrm>
            <a:off x="129575" y="6173840"/>
            <a:ext cx="570799" cy="407942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班子</a:t>
            </a:r>
            <a:endParaRPr kumimoji="0" lang="en-US" altLang="zh-CN" sz="10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成员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Rectangle 102"/>
          <p:cNvSpPr/>
          <p:nvPr/>
        </p:nvSpPr>
        <p:spPr bwMode="auto">
          <a:xfrm>
            <a:off x="469585" y="3045004"/>
            <a:ext cx="227368" cy="1057622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董办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Rectangle 102"/>
          <p:cNvSpPr/>
          <p:nvPr/>
        </p:nvSpPr>
        <p:spPr bwMode="auto">
          <a:xfrm>
            <a:off x="479913" y="2297053"/>
            <a:ext cx="212722" cy="671428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人力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9" name="Rectangle 102"/>
          <p:cNvSpPr/>
          <p:nvPr/>
        </p:nvSpPr>
        <p:spPr bwMode="auto">
          <a:xfrm>
            <a:off x="147333" y="1798573"/>
            <a:ext cx="580555" cy="421955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业务</a:t>
            </a:r>
            <a:endParaRPr kumimoji="0" lang="en-US" altLang="zh-CN" sz="10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部门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6" name="Rectangle 102"/>
          <p:cNvSpPr/>
          <p:nvPr/>
        </p:nvSpPr>
        <p:spPr bwMode="auto">
          <a:xfrm>
            <a:off x="128218" y="5556854"/>
            <a:ext cx="572157" cy="407942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审计风控与法务部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857075" y="1873127"/>
            <a:ext cx="1122737" cy="232384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组织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调研</a:t>
            </a:r>
            <a:endParaRPr lang="zh-CN" altLang="en-US" sz="900" b="1" kern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1988124" y="1812196"/>
            <a:ext cx="1269527" cy="372284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关联日程、差旅系统</a:t>
            </a:r>
            <a:endParaRPr lang="en-US" altLang="zh-CN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日完成调研企业参考材料准备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869538" y="2492917"/>
            <a:ext cx="1122737" cy="232384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组织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培训</a:t>
            </a:r>
            <a:endParaRPr lang="zh-CN" altLang="en-US" sz="900" b="1" kern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1" name="矩形 190"/>
          <p:cNvSpPr/>
          <p:nvPr/>
        </p:nvSpPr>
        <p:spPr>
          <a:xfrm>
            <a:off x="857075" y="2735537"/>
            <a:ext cx="1131049" cy="328923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关联日程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培训材料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865387" y="3207886"/>
            <a:ext cx="1122737" cy="232384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召开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会议</a:t>
            </a:r>
            <a:r>
              <a:rPr lang="en-US" altLang="zh-CN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组织专项任务</a:t>
            </a:r>
            <a:r>
              <a:rPr lang="zh-CN" altLang="en-US" sz="900" b="1" kern="0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落实</a:t>
            </a:r>
            <a:endParaRPr lang="zh-CN" altLang="en-US" sz="900" b="1" kern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822096" y="3444570"/>
            <a:ext cx="1269527" cy="904252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关联日程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董事会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/10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天发出会议通知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材料；其余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会议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/3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天发出会议通知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材料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defTabSz="514350"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专项任务内容、责任人、办结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2470991" y="4200088"/>
            <a:ext cx="1287178" cy="617035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R="0" lvl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参与培训</a:t>
            </a:r>
            <a:endParaRPr lang="en-US" altLang="zh-CN" sz="900" b="1" kern="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R="0" lvl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参加会议</a:t>
            </a:r>
            <a:endParaRPr lang="en-US" altLang="zh-CN" sz="900" b="1" kern="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R="0" lvl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参加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调研，形成报告</a:t>
            </a:r>
            <a:endParaRPr lang="en-US" altLang="zh-CN" sz="900" b="1" kern="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R="0" lvl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落实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专项任务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2470992" y="4811315"/>
            <a:ext cx="1287178" cy="669015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R="0" lvl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嵌入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调研报告模版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defTabSz="514350">
              <a:buFont typeface="Arial" panose="020B0604020202020204" pitchFamily="34" charset="0"/>
              <a:buChar char="•"/>
              <a:defRPr/>
            </a:pP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支撑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抓取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调研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会议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培训建议，形成待办事项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defTabSz="514350">
              <a:buFont typeface="Arial" panose="020B0604020202020204" pitchFamily="34" charset="0"/>
              <a:buChar char="•"/>
              <a:defRPr/>
            </a:pPr>
            <a:r>
              <a:rPr lang="zh-CN" altLang="en-US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匹配助理角色，给予信息补充权限</a:t>
            </a:r>
          </a:p>
        </p:txBody>
      </p:sp>
      <p:sp>
        <p:nvSpPr>
          <p:cNvPr id="208" name="矩形 207"/>
          <p:cNvSpPr/>
          <p:nvPr/>
        </p:nvSpPr>
        <p:spPr>
          <a:xfrm>
            <a:off x="5127957" y="1792100"/>
            <a:ext cx="899818" cy="243305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待办</a:t>
            </a: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事项跟踪</a:t>
            </a:r>
          </a:p>
        </p:txBody>
      </p:sp>
      <p:sp>
        <p:nvSpPr>
          <p:cNvPr id="212" name="矩形 211"/>
          <p:cNvSpPr/>
          <p:nvPr/>
        </p:nvSpPr>
        <p:spPr>
          <a:xfrm>
            <a:off x="2552694" y="6279971"/>
            <a:ext cx="1122737" cy="232384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接收调研报告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216" name="肘形连接符 215"/>
          <p:cNvCxnSpPr>
            <a:stCxn id="188" idx="3"/>
            <a:endCxn id="169" idx="1"/>
          </p:cNvCxnSpPr>
          <p:nvPr/>
        </p:nvCxnSpPr>
        <p:spPr bwMode="auto">
          <a:xfrm>
            <a:off x="1979812" y="1989319"/>
            <a:ext cx="491179" cy="251928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223" name="肘形连接符 222"/>
          <p:cNvCxnSpPr>
            <a:stCxn id="208" idx="2"/>
            <a:endCxn id="138" idx="0"/>
          </p:cNvCxnSpPr>
          <p:nvPr/>
        </p:nvCxnSpPr>
        <p:spPr bwMode="auto">
          <a:xfrm rot="16200000" flipH="1">
            <a:off x="4892197" y="2721073"/>
            <a:ext cx="1372189" cy="85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225" name="矩形 224"/>
          <p:cNvSpPr/>
          <p:nvPr/>
        </p:nvSpPr>
        <p:spPr>
          <a:xfrm>
            <a:off x="3861706" y="3410679"/>
            <a:ext cx="1122737" cy="232384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会议</a:t>
            </a:r>
            <a:r>
              <a:rPr lang="en-US" altLang="zh-CN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专项待办事项确认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3870891" y="3645666"/>
            <a:ext cx="1127257" cy="361313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事项内容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责任部门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责任人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完成期限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3850732" y="1792100"/>
            <a:ext cx="1122737" cy="232384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调研待办事项确认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6386586" y="4430306"/>
            <a:ext cx="1087026" cy="264090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生成履职报告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7474224" y="4252081"/>
            <a:ext cx="1088831" cy="501973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嵌入月度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季度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年度模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版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匹配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助理角色，给予信息补充权限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2" name="肘形连接符 241"/>
          <p:cNvCxnSpPr>
            <a:stCxn id="155" idx="3"/>
            <a:endCxn id="239" idx="1"/>
          </p:cNvCxnSpPr>
          <p:nvPr/>
        </p:nvCxnSpPr>
        <p:spPr bwMode="auto">
          <a:xfrm>
            <a:off x="6141307" y="4558319"/>
            <a:ext cx="245279" cy="403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260" name="矩形 259"/>
          <p:cNvSpPr/>
          <p:nvPr/>
        </p:nvSpPr>
        <p:spPr>
          <a:xfrm>
            <a:off x="9883417" y="1294875"/>
            <a:ext cx="760086" cy="377357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人员范围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评价内容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时间要求</a:t>
            </a:r>
          </a:p>
        </p:txBody>
      </p:sp>
      <p:sp>
        <p:nvSpPr>
          <p:cNvPr id="277" name="矩形 276"/>
          <p:cNvSpPr/>
          <p:nvPr/>
        </p:nvSpPr>
        <p:spPr>
          <a:xfrm>
            <a:off x="9982783" y="3429622"/>
            <a:ext cx="748695" cy="315216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分角色线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评价</a:t>
            </a:r>
            <a:endParaRPr lang="en-US" altLang="zh-CN" sz="900" b="1" kern="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（董事</a:t>
            </a:r>
            <a:r>
              <a:rPr lang="en-US" altLang="zh-CN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班子成员</a:t>
            </a:r>
            <a:r>
              <a:rPr lang="en-US" altLang="zh-CN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公司董办</a:t>
            </a:r>
            <a:r>
              <a:rPr lang="en-US" altLang="zh-CN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其他支撑机构）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87" name="矩形 286"/>
          <p:cNvSpPr/>
          <p:nvPr/>
        </p:nvSpPr>
        <p:spPr>
          <a:xfrm>
            <a:off x="10996398" y="3516538"/>
            <a:ext cx="705013" cy="24142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评价结果反馈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8" name="Rectangle 102"/>
          <p:cNvSpPr/>
          <p:nvPr/>
        </p:nvSpPr>
        <p:spPr bwMode="auto">
          <a:xfrm>
            <a:off x="133342" y="1312532"/>
            <a:ext cx="580555" cy="421955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集团</a:t>
            </a:r>
            <a:endParaRPr kumimoji="0" lang="en-US" altLang="zh-CN" sz="10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董办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9959633" y="3032661"/>
            <a:ext cx="780256" cy="396961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自动抓取履职相关信息作为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评价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信息参考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9044541" y="3533930"/>
            <a:ext cx="804842" cy="250734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确认本单位评价人员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21" name="肘形连接符 120"/>
          <p:cNvCxnSpPr>
            <a:stCxn id="116" idx="3"/>
            <a:endCxn id="277" idx="1"/>
          </p:cNvCxnSpPr>
          <p:nvPr/>
        </p:nvCxnSpPr>
        <p:spPr bwMode="auto">
          <a:xfrm>
            <a:off x="9849383" y="3659297"/>
            <a:ext cx="133400" cy="134640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53" name="直接箭头连接符 52"/>
          <p:cNvCxnSpPr>
            <a:stCxn id="175" idx="2"/>
            <a:endCxn id="116" idx="0"/>
          </p:cNvCxnSpPr>
          <p:nvPr/>
        </p:nvCxnSpPr>
        <p:spPr bwMode="auto">
          <a:xfrm flipH="1">
            <a:off x="9446962" y="1601052"/>
            <a:ext cx="21277" cy="1932878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49" name="矩形 148"/>
          <p:cNvSpPr/>
          <p:nvPr/>
        </p:nvSpPr>
        <p:spPr>
          <a:xfrm>
            <a:off x="10986574" y="1312532"/>
            <a:ext cx="701516" cy="421955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补充评价</a:t>
            </a:r>
            <a:endParaRPr kumimoji="0" lang="en-US" altLang="zh-CN" sz="9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信息，形成结果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4" name="肘形连接符 153"/>
          <p:cNvCxnSpPr>
            <a:stCxn id="277" idx="3"/>
            <a:endCxn id="149" idx="1"/>
          </p:cNvCxnSpPr>
          <p:nvPr/>
        </p:nvCxnSpPr>
        <p:spPr bwMode="auto">
          <a:xfrm flipV="1">
            <a:off x="10731478" y="1523510"/>
            <a:ext cx="255096" cy="348219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63" name="直接箭头连接符 162"/>
          <p:cNvCxnSpPr>
            <a:stCxn id="149" idx="2"/>
            <a:endCxn id="287" idx="0"/>
          </p:cNvCxnSpPr>
          <p:nvPr/>
        </p:nvCxnSpPr>
        <p:spPr bwMode="auto">
          <a:xfrm>
            <a:off x="11337332" y="1734487"/>
            <a:ext cx="11573" cy="1782051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66" name="矩形 165"/>
          <p:cNvSpPr/>
          <p:nvPr/>
        </p:nvSpPr>
        <p:spPr>
          <a:xfrm>
            <a:off x="8192334" y="397247"/>
            <a:ext cx="796112" cy="28800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线上作业</a:t>
            </a:r>
          </a:p>
        </p:txBody>
      </p:sp>
      <p:sp>
        <p:nvSpPr>
          <p:cNvPr id="167" name="矩形 166"/>
          <p:cNvSpPr/>
          <p:nvPr/>
        </p:nvSpPr>
        <p:spPr>
          <a:xfrm>
            <a:off x="7391202" y="388124"/>
            <a:ext cx="684327" cy="288000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直取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9127486" y="393062"/>
            <a:ext cx="721897" cy="260851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调用其他工作台</a:t>
            </a:r>
          </a:p>
        </p:txBody>
      </p:sp>
      <p:sp>
        <p:nvSpPr>
          <p:cNvPr id="170" name="矩形 169"/>
          <p:cNvSpPr/>
          <p:nvPr/>
        </p:nvSpPr>
        <p:spPr>
          <a:xfrm>
            <a:off x="6595115" y="384777"/>
            <a:ext cx="684327" cy="288000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线下作业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9065818" y="1368838"/>
            <a:ext cx="804842" cy="232214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发起评价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10984826" y="4494028"/>
            <a:ext cx="705013" cy="344433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评价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结果接收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84" name="直接箭头连接符 183"/>
          <p:cNvCxnSpPr>
            <a:endCxn id="183" idx="0"/>
          </p:cNvCxnSpPr>
          <p:nvPr/>
        </p:nvCxnSpPr>
        <p:spPr bwMode="auto">
          <a:xfrm flipH="1">
            <a:off x="11337333" y="4128350"/>
            <a:ext cx="11572" cy="365678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94" name="燕尾形 93"/>
          <p:cNvSpPr/>
          <p:nvPr/>
        </p:nvSpPr>
        <p:spPr bwMode="auto">
          <a:xfrm>
            <a:off x="8869681" y="890084"/>
            <a:ext cx="2966719" cy="352155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履职评价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08" name="肘形连接符 107"/>
          <p:cNvCxnSpPr>
            <a:stCxn id="190" idx="3"/>
            <a:endCxn id="169" idx="1"/>
          </p:cNvCxnSpPr>
          <p:nvPr/>
        </p:nvCxnSpPr>
        <p:spPr bwMode="auto">
          <a:xfrm>
            <a:off x="1992275" y="2609109"/>
            <a:ext cx="478716" cy="189949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11" name="肘形连接符 110"/>
          <p:cNvCxnSpPr>
            <a:stCxn id="192" idx="3"/>
            <a:endCxn id="169" idx="1"/>
          </p:cNvCxnSpPr>
          <p:nvPr/>
        </p:nvCxnSpPr>
        <p:spPr bwMode="auto">
          <a:xfrm>
            <a:off x="1988124" y="3324078"/>
            <a:ext cx="482867" cy="118452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17" name="直接箭头连接符 116"/>
          <p:cNvCxnSpPr>
            <a:stCxn id="201" idx="2"/>
            <a:endCxn id="212" idx="0"/>
          </p:cNvCxnSpPr>
          <p:nvPr/>
        </p:nvCxnSpPr>
        <p:spPr bwMode="auto">
          <a:xfrm flipH="1">
            <a:off x="3114063" y="5480330"/>
            <a:ext cx="518" cy="799641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20" name="矩形 119"/>
          <p:cNvSpPr/>
          <p:nvPr/>
        </p:nvSpPr>
        <p:spPr>
          <a:xfrm>
            <a:off x="3870748" y="4439640"/>
            <a:ext cx="1092711" cy="24692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R="0" lvl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形成建议落实待办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22" name="肘形连接符 121"/>
          <p:cNvCxnSpPr>
            <a:stCxn id="169" idx="3"/>
            <a:endCxn id="120" idx="1"/>
          </p:cNvCxnSpPr>
          <p:nvPr/>
        </p:nvCxnSpPr>
        <p:spPr bwMode="auto">
          <a:xfrm>
            <a:off x="3758169" y="4508606"/>
            <a:ext cx="112579" cy="5449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26" name="直接箭头连接符 125"/>
          <p:cNvCxnSpPr>
            <a:stCxn id="120" idx="0"/>
            <a:endCxn id="225" idx="2"/>
          </p:cNvCxnSpPr>
          <p:nvPr/>
        </p:nvCxnSpPr>
        <p:spPr bwMode="auto">
          <a:xfrm flipV="1">
            <a:off x="4417104" y="3643063"/>
            <a:ext cx="5971" cy="796577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30" name="直接箭头连接符 129"/>
          <p:cNvCxnSpPr>
            <a:stCxn id="225" idx="0"/>
            <a:endCxn id="228" idx="2"/>
          </p:cNvCxnSpPr>
          <p:nvPr/>
        </p:nvCxnSpPr>
        <p:spPr bwMode="auto">
          <a:xfrm flipH="1" flipV="1">
            <a:off x="4412101" y="2024484"/>
            <a:ext cx="10974" cy="1386195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38" name="矩形 137"/>
          <p:cNvSpPr/>
          <p:nvPr/>
        </p:nvSpPr>
        <p:spPr>
          <a:xfrm>
            <a:off x="5128808" y="3407594"/>
            <a:ext cx="899818" cy="243305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algn="ctr" defTabSz="514350"/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待办</a:t>
            </a: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事项跟踪</a:t>
            </a:r>
          </a:p>
        </p:txBody>
      </p:sp>
      <p:cxnSp>
        <p:nvCxnSpPr>
          <p:cNvPr id="139" name="肘形连接符 138"/>
          <p:cNvCxnSpPr>
            <a:stCxn id="228" idx="3"/>
            <a:endCxn id="208" idx="1"/>
          </p:cNvCxnSpPr>
          <p:nvPr/>
        </p:nvCxnSpPr>
        <p:spPr bwMode="auto">
          <a:xfrm>
            <a:off x="4973469" y="1908292"/>
            <a:ext cx="154488" cy="546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42" name="肘形连接符 141"/>
          <p:cNvCxnSpPr>
            <a:stCxn id="225" idx="3"/>
            <a:endCxn id="138" idx="1"/>
          </p:cNvCxnSpPr>
          <p:nvPr/>
        </p:nvCxnSpPr>
        <p:spPr bwMode="auto">
          <a:xfrm>
            <a:off x="4984443" y="3526871"/>
            <a:ext cx="144365" cy="237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55" name="矩形 154"/>
          <p:cNvSpPr/>
          <p:nvPr/>
        </p:nvSpPr>
        <p:spPr>
          <a:xfrm>
            <a:off x="5018570" y="4442127"/>
            <a:ext cx="1122737" cy="232384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待办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事项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结果确认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4963460" y="4674510"/>
            <a:ext cx="1269527" cy="196932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完成情况；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备证材料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4" name="肘形连接符 163"/>
          <p:cNvCxnSpPr>
            <a:stCxn id="138" idx="2"/>
            <a:endCxn id="155" idx="0"/>
          </p:cNvCxnSpPr>
          <p:nvPr/>
        </p:nvCxnSpPr>
        <p:spPr bwMode="auto">
          <a:xfrm rot="16200000" flipH="1">
            <a:off x="5183714" y="4045902"/>
            <a:ext cx="791228" cy="122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77" name="矩形 176"/>
          <p:cNvSpPr/>
          <p:nvPr/>
        </p:nvSpPr>
        <p:spPr>
          <a:xfrm>
            <a:off x="3850732" y="1423519"/>
            <a:ext cx="1127257" cy="361313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事项内容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责任部门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责任人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完成期限</a:t>
            </a:r>
            <a:endParaRPr lang="zh-CN" altLang="en-US" sz="8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6386586" y="4846601"/>
            <a:ext cx="1122737" cy="232384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完善履职报告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86" name="肘形连接符 185"/>
          <p:cNvCxnSpPr/>
          <p:nvPr/>
        </p:nvCxnSpPr>
        <p:spPr bwMode="auto">
          <a:xfrm rot="16200000" flipH="1">
            <a:off x="6897462" y="4757514"/>
            <a:ext cx="144608" cy="1837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95" name="矩形 194"/>
          <p:cNvSpPr/>
          <p:nvPr/>
        </p:nvSpPr>
        <p:spPr>
          <a:xfrm>
            <a:off x="7772400" y="6196714"/>
            <a:ext cx="997285" cy="258269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接收履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职报告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7761682" y="1373161"/>
            <a:ext cx="911336" cy="22430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接收履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职报告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97" name="肘形连接符 196"/>
          <p:cNvCxnSpPr>
            <a:stCxn id="185" idx="3"/>
            <a:endCxn id="195" idx="1"/>
          </p:cNvCxnSpPr>
          <p:nvPr/>
        </p:nvCxnSpPr>
        <p:spPr bwMode="auto">
          <a:xfrm>
            <a:off x="7509323" y="4962793"/>
            <a:ext cx="263077" cy="136305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98" name="肘形连接符 197"/>
          <p:cNvCxnSpPr>
            <a:stCxn id="185" idx="3"/>
            <a:endCxn id="196" idx="1"/>
          </p:cNvCxnSpPr>
          <p:nvPr/>
        </p:nvCxnSpPr>
        <p:spPr bwMode="auto">
          <a:xfrm flipV="1">
            <a:off x="7509323" y="1485311"/>
            <a:ext cx="252359" cy="347748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99" name="矩形 198"/>
          <p:cNvSpPr/>
          <p:nvPr/>
        </p:nvSpPr>
        <p:spPr>
          <a:xfrm>
            <a:off x="7785161" y="1583251"/>
            <a:ext cx="887857" cy="171927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月度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季度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年度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7785161" y="5942124"/>
            <a:ext cx="984524" cy="254590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季度</a:t>
            </a:r>
            <a:r>
              <a:rPr lang="en-US" altLang="zh-CN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8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年度</a:t>
            </a:r>
            <a:endParaRPr lang="en-US" altLang="zh-CN" sz="8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2" name="肘形连接符 201"/>
          <p:cNvCxnSpPr>
            <a:stCxn id="196" idx="3"/>
            <a:endCxn id="175" idx="1"/>
          </p:cNvCxnSpPr>
          <p:nvPr/>
        </p:nvCxnSpPr>
        <p:spPr bwMode="auto">
          <a:xfrm flipV="1">
            <a:off x="8673018" y="1484945"/>
            <a:ext cx="392800" cy="36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236" name="Straight Connector 170"/>
          <p:cNvCxnSpPr/>
          <p:nvPr/>
        </p:nvCxnSpPr>
        <p:spPr>
          <a:xfrm>
            <a:off x="833373" y="1767438"/>
            <a:ext cx="10766402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237" name="矩形 236"/>
          <p:cNvSpPr/>
          <p:nvPr/>
        </p:nvSpPr>
        <p:spPr>
          <a:xfrm>
            <a:off x="842868" y="1407317"/>
            <a:ext cx="1122737" cy="232384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noProof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发起董事专项任务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240" name="肘形连接符 239"/>
          <p:cNvCxnSpPr>
            <a:stCxn id="237" idx="3"/>
            <a:endCxn id="169" idx="1"/>
          </p:cNvCxnSpPr>
          <p:nvPr/>
        </p:nvCxnSpPr>
        <p:spPr bwMode="auto">
          <a:xfrm>
            <a:off x="1965605" y="1523509"/>
            <a:ext cx="505386" cy="298509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251" name="Straight Connector 170"/>
          <p:cNvCxnSpPr/>
          <p:nvPr/>
        </p:nvCxnSpPr>
        <p:spPr>
          <a:xfrm>
            <a:off x="842868" y="2266383"/>
            <a:ext cx="10766402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cxnSp>
        <p:nvCxnSpPr>
          <p:cNvPr id="257" name="Straight Connector 170"/>
          <p:cNvCxnSpPr/>
          <p:nvPr/>
        </p:nvCxnSpPr>
        <p:spPr>
          <a:xfrm flipV="1">
            <a:off x="758106" y="4155056"/>
            <a:ext cx="10943305" cy="4477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cxnSp>
        <p:nvCxnSpPr>
          <p:cNvPr id="258" name="Straight Connector 170"/>
          <p:cNvCxnSpPr/>
          <p:nvPr/>
        </p:nvCxnSpPr>
        <p:spPr>
          <a:xfrm>
            <a:off x="758106" y="5546155"/>
            <a:ext cx="10862876" cy="10699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cxnSp>
        <p:nvCxnSpPr>
          <p:cNvPr id="259" name="Straight Connector 170"/>
          <p:cNvCxnSpPr/>
          <p:nvPr/>
        </p:nvCxnSpPr>
        <p:spPr>
          <a:xfrm>
            <a:off x="785136" y="6186903"/>
            <a:ext cx="10862876" cy="10699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238529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9850755" cy="497840"/>
          </a:xfrm>
        </p:spPr>
        <p:txBody>
          <a:bodyPr anchor="ctr" anchorCtr="0"/>
          <a:lstStyle/>
          <a:p>
            <a:r>
              <a:rPr lang="zh-CN" altLang="en-US" dirty="0" smtClean="0"/>
              <a:t>三、产品架构</a:t>
            </a:r>
            <a:endParaRPr lang="zh-CN" altLang="en-US" dirty="0">
              <a:sym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297788" y="392927"/>
            <a:ext cx="43066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核心流程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治理执行 </a:t>
            </a:r>
            <a:r>
              <a:rPr lang="en-US" altLang="zh-CN" sz="1600" b="1" kern="0" noProof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| 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董事履职管理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254" name="表格 25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9970216"/>
              </p:ext>
            </p:extLst>
          </p:nvPr>
        </p:nvGraphicFramePr>
        <p:xfrm>
          <a:off x="352839" y="1516143"/>
          <a:ext cx="11414113" cy="4663440"/>
        </p:xfrm>
        <a:graphic>
          <a:graphicData uri="http://schemas.openxmlformats.org/drawingml/2006/table">
            <a:tbl>
              <a:tblPr firstRow="1" bandRow="1"/>
              <a:tblGrid>
                <a:gridCol w="484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3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现状痛点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变革路径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变革成效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2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传统董事履职数据依赖人工填报、事后周期性汇总，数据碎片化、时效性弱，集团董办难以实时掌握全局履职动态，过程管控颗粒度不足，也未形成可复用的治理数据资产，与精细化治理要求存在差距</a:t>
                      </a:r>
                      <a:endParaRPr lang="zh-CN" altLang="en-US" sz="1200" b="1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3130" rtl="0" eaLnBrk="1" latinLnBrk="0" hangingPunct="1">
                        <a:buNone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履职管控方式：从人工零散归集向全域数字治理转型</a:t>
                      </a:r>
                      <a:endParaRPr lang="en-US" altLang="zh-CN" sz="1200" b="1" kern="120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algn="l" defTabSz="913130" rtl="0" eaLnBrk="1" latinLnBrk="0" hangingPunct="1">
                        <a:buNone/>
                      </a:pPr>
                      <a:r>
                        <a:rPr lang="zh-CN" altLang="en-US" sz="1200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打通会议出席、议案表决、专题调研、履职培训等全履职场景，自动抓取全流程行为数据，实时生成标准化履职台账，实现履职数据自动留痕、全域归集、动态更新</a:t>
                      </a:r>
                      <a:endParaRPr lang="zh-CN" altLang="en-US" sz="1200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构建董事履职数字底座，实现集团层面履职动态全景可视、全程可溯，大幅提升治理管控效率与数据完整性，夯实董事履职合规管理基础</a:t>
                      </a:r>
                      <a:endParaRPr lang="zh-CN" altLang="en-US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2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履职计划与支撑材料以线下单向传递为主，董事获取信息滞后、渠道分散，存在明显履职信息差，难以系统性统筹履职安排，也无法充分获取履职前置资料，制约了董事履职效能的充分发挥</a:t>
                      </a:r>
                      <a:endParaRPr lang="zh-CN" altLang="en-US" sz="1200" b="1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143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履职服务模式：从单向线下通知向精准主动赋能升级</a:t>
                      </a:r>
                      <a:endParaRPr lang="en-US" altLang="zh-CN" sz="1200" b="1" kern="120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5143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搭建线上统一履职服务入口，集中发布会议、调研、培训等各类履职计划及配套参考材料，配置智能提醒与自主选择机制，实现调研选题、培训安排线上化透明化管理，成果材料自动归档并关联个人履职档案</a:t>
                      </a:r>
                      <a:endParaRPr lang="zh-CN" altLang="en-US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有效消除董事履职信息差，充分保障董事知情权与参与权，助力董事高效统筹履职节奏、深度开展履职准备，全面提升董事履职便利度与履职质量</a:t>
                      </a:r>
                      <a:endParaRPr lang="zh-CN" altLang="en-US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2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+mn-ea"/>
                        </a:rPr>
                        <a:t>过往履职评价以董事自评、任职企业评价为核心，缺乏系统性、可量化的客观数据支撑，主观色彩较强，评价结果难以全面真实反映董事履职投入与实际贡献，评价的导向与约束作用未充分发挥</a:t>
                      </a:r>
                      <a:endParaRPr lang="zh-CN" altLang="en-US" sz="1200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3130" rtl="0" eaLnBrk="1" latinLnBrk="0" hangingPunct="1">
                        <a:buNone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+mn-ea"/>
                        </a:rPr>
                        <a:t>履职评价机制：从主观经验评判向数据驱动评价优化</a:t>
                      </a:r>
                      <a:endParaRPr lang="en-US" altLang="zh-CN" sz="1200" b="1" kern="120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+mn-ea"/>
                      </a:endParaRPr>
                    </a:p>
                    <a:p>
                      <a:pPr marL="0" algn="l" defTabSz="913130" rtl="0" eaLnBrk="1" latinLnBrk="0" hangingPunct="1">
                        <a:buNone/>
                      </a:pPr>
                      <a:r>
                        <a:rPr lang="zh-CN" altLang="en-US" sz="1200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+mn-ea"/>
                        </a:rPr>
                        <a:t>建立基于日常履职全量数据的量化评价体系，以会议参与、调研深度、培训完成、议案审议等客观写实数据为核心依据，自动生成董事履职评价参考画像，评价结果可直接穿透至董事本人</a:t>
                      </a:r>
                      <a:endParaRPr lang="zh-CN" altLang="en-US" sz="1200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构建 “数据支撑、客观公允” 的科学评价机制，提升履职评价的说服力与公信力，强化评价对董事履职的引导、监督与激励作用</a:t>
                      </a:r>
                      <a:endParaRPr lang="zh-CN" altLang="en-US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3278"/>
                  </a:ext>
                </a:extLst>
              </a:tr>
              <a:tr h="3042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传统履职管理聚焦于 “履职是否到位” 的合规性校验，对董事调研成果、审议意见、专项建议等价值性产出沉淀不足、转化不畅，未能充分转化为公司经营决策与治理优化的有效输入，董事智力价值未充分释放</a:t>
                      </a:r>
                      <a:endParaRPr lang="zh-CN" altLang="en-US" sz="120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3130" rtl="0" eaLnBrk="1" latinLnBrk="0" hangingPunct="1">
                        <a:buNone/>
                      </a:pPr>
                      <a:r>
                        <a:rPr lang="zh-CN" altLang="en-US" sz="1200" b="1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履职价值导向：从合规底线要求向决策支撑价值延伸</a:t>
                      </a:r>
                      <a:endParaRPr lang="en-US" altLang="zh-CN" sz="1200" b="1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marL="0" algn="l" defTabSz="913130" rtl="0" eaLnBrk="1" latinLnBrk="0" hangingPunct="1">
                        <a:buNone/>
                      </a:pPr>
                      <a:r>
                        <a:rPr lang="zh-CN" altLang="en-US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建立履职成果沉淀与转化机制，线上归集调研报告、议事意见、专项建言等履职产出，形成董事智慧成果台账，并联动相关业务议题与决策事项，推动董事建议向治理改进传导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打通董事履职从 “过程合规” 到 “价值输出” 的完整闭环，为公司战略决策与治理能力提升提供多元智力支撑，强化董事在公司治理中的核心作用，助力集团治理体系现代化</a:t>
                      </a:r>
                      <a:endParaRPr lang="zh-CN" altLang="en-US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352839" y="931368"/>
            <a:ext cx="114141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董事履职管理变革点：</a:t>
            </a:r>
            <a:r>
              <a:rPr lang="zh-CN" altLang="en-US" sz="16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以数字化重塑董事履职全周期管理体系，推动管控、服务、评价、价值四维升级，赋能集团治理现代化</a:t>
            </a:r>
          </a:p>
        </p:txBody>
      </p:sp>
    </p:spTree>
    <p:extLst>
      <p:ext uri="{BB962C8B-B14F-4D97-AF65-F5344CB8AC3E}">
        <p14:creationId xmlns:p14="http://schemas.microsoft.com/office/powerpoint/2010/main" val="310261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9850755" cy="497840"/>
          </a:xfrm>
        </p:spPr>
        <p:txBody>
          <a:bodyPr anchor="ctr" anchorCtr="0"/>
          <a:lstStyle/>
          <a:p>
            <a:r>
              <a:rPr lang="zh-CN" altLang="en-US" dirty="0" smtClean="0"/>
              <a:t>三、产品架构</a:t>
            </a:r>
            <a:endParaRPr lang="zh-CN" altLang="en-US" dirty="0">
              <a:sym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310970" y="420457"/>
            <a:ext cx="41071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charset="0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核心流程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lang="zh-CN" altLang="en-US" sz="16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治理监控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807263" y="1038967"/>
            <a:ext cx="2796931" cy="279551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完成情况点检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燕尾形 11"/>
          <p:cNvSpPr/>
          <p:nvPr/>
        </p:nvSpPr>
        <p:spPr bwMode="auto">
          <a:xfrm>
            <a:off x="7599046" y="1049888"/>
            <a:ext cx="4082678" cy="299895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报告审批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燕尾形 12"/>
          <p:cNvSpPr/>
          <p:nvPr/>
        </p:nvSpPr>
        <p:spPr bwMode="auto">
          <a:xfrm>
            <a:off x="3604194" y="1039547"/>
            <a:ext cx="3994851" cy="309431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报告整合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8989722" y="367805"/>
            <a:ext cx="796112" cy="28800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线上作业</a:t>
            </a:r>
          </a:p>
        </p:txBody>
      </p:sp>
      <p:sp>
        <p:nvSpPr>
          <p:cNvPr id="147" name="矩形 146"/>
          <p:cNvSpPr/>
          <p:nvPr/>
        </p:nvSpPr>
        <p:spPr>
          <a:xfrm>
            <a:off x="7904356" y="360329"/>
            <a:ext cx="684327" cy="288000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直取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3597095"/>
              </p:ext>
            </p:extLst>
          </p:nvPr>
        </p:nvGraphicFramePr>
        <p:xfrm>
          <a:off x="740455" y="5008166"/>
          <a:ext cx="10739478" cy="1615440"/>
        </p:xfrm>
        <a:graphic>
          <a:graphicData uri="http://schemas.openxmlformats.org/drawingml/2006/table">
            <a:tbl>
              <a:tblPr firstRow="1" bandRow="1"/>
              <a:tblGrid>
                <a:gridCol w="613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3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1515"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现状痛点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变革路径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变革成效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9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9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决议、授权、建议落地依赖人工事后督办，管控滞后，风险预警不及时</a:t>
                      </a:r>
                      <a:endParaRPr lang="zh-CN" altLang="en-US" sz="10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defTabSz="913130" rtl="0" eaLnBrk="1" latinLnBrk="0" hangingPunct="1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监控模式：从人工事后督办向智能实时管控转型</a:t>
                      </a:r>
                      <a:endParaRPr lang="en-US" altLang="zh-CN" sz="100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 algn="l" defTabSz="913130" rtl="0" eaLnBrk="1" latinLnBrk="0" hangingPunct="1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嵌入全流程预警，打通系统自动抓取执行数据，动态追踪进度。</a:t>
                      </a:r>
                      <a:endParaRPr lang="zh-CN" altLang="en-US" sz="10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构建全链路实时监控体系，风险前置、全程可溯，保障治理决策刚性落地。</a:t>
                      </a:r>
                      <a:endParaRPr lang="zh-CN" altLang="en-US" sz="100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334098"/>
                  </a:ext>
                </a:extLst>
              </a:tr>
              <a:tr h="36303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9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9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监控报告依赖线下人工编制，效率低、口径不一，时效性不足</a:t>
                      </a:r>
                      <a:endParaRPr lang="zh-CN" altLang="en-US" sz="1000" b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>
                        <a:buFont typeface="+mj-ea"/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报告模式：从线下人工编制向自动整合输出转型</a:t>
                      </a:r>
                      <a:endParaRPr lang="en-US" altLang="zh-CN" sz="100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>
                        <a:buFont typeface="+mj-ea"/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预设标准口径，自动抓取系统数据，生成多维度监控报告。</a:t>
                      </a:r>
                      <a:endParaRPr lang="zh-CN" altLang="en-US" sz="100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报告自动化标准化输出，大幅减少线下作业，高效支撑管理决策。</a:t>
                      </a:r>
                      <a:endParaRPr lang="zh-CN" altLang="en-US" sz="10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03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9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治理信息分散无统一载体，管理层难以全景掌握整体运行态势</a:t>
                      </a:r>
                      <a:endParaRPr lang="zh-CN" altLang="en-US" sz="10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defTabSz="913130" rtl="0" eaLnBrk="1" latinLnBrk="0" hangingPunct="1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管控视角：从分散信息孤岛向全景可视管控转型</a:t>
                      </a:r>
                      <a:endParaRPr lang="en-US" altLang="zh-CN" sz="100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l" defTabSz="913130" rtl="0" eaLnBrk="1" latinLnBrk="0" hangingPunct="1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搭建董事会管理看板，集中展示核心治理维度进展。</a:t>
                      </a:r>
                      <a:endParaRPr lang="zh-CN" altLang="en-US" sz="100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治理管控全景可视，核心指标实时呈现，全面支撑管理层决策。</a:t>
                      </a:r>
                      <a:endParaRPr lang="zh-CN" altLang="en-US" sz="100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" name="矩形 71"/>
          <p:cNvSpPr/>
          <p:nvPr/>
        </p:nvSpPr>
        <p:spPr>
          <a:xfrm>
            <a:off x="747131" y="1329609"/>
            <a:ext cx="293148" cy="1239110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综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理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部</a:t>
            </a:r>
          </a:p>
        </p:txBody>
      </p:sp>
      <p:cxnSp>
        <p:nvCxnSpPr>
          <p:cNvPr id="73" name="Straight Connector 170"/>
          <p:cNvCxnSpPr/>
          <p:nvPr/>
        </p:nvCxnSpPr>
        <p:spPr>
          <a:xfrm flipV="1">
            <a:off x="1501904" y="2568719"/>
            <a:ext cx="10169161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9525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79" name="矩形 78"/>
          <p:cNvSpPr/>
          <p:nvPr/>
        </p:nvSpPr>
        <p:spPr>
          <a:xfrm>
            <a:off x="740456" y="3559685"/>
            <a:ext cx="698151" cy="526476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班子成员</a:t>
            </a:r>
            <a:r>
              <a:rPr lang="en-US" altLang="zh-CN" sz="10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总监</a:t>
            </a:r>
            <a:endParaRPr lang="zh-CN" altLang="en-US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0" name="Straight Connector 170"/>
          <p:cNvCxnSpPr/>
          <p:nvPr/>
        </p:nvCxnSpPr>
        <p:spPr>
          <a:xfrm flipV="1">
            <a:off x="1512563" y="3524552"/>
            <a:ext cx="10169161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82" name="矩形 81"/>
          <p:cNvSpPr/>
          <p:nvPr/>
        </p:nvSpPr>
        <p:spPr>
          <a:xfrm>
            <a:off x="1101068" y="2652421"/>
            <a:ext cx="291786" cy="790109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zh-CN" altLang="en-US" sz="10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负责人</a:t>
            </a:r>
            <a:endParaRPr lang="zh-CN" altLang="en-US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5" name="Straight Connector 170"/>
          <p:cNvCxnSpPr/>
          <p:nvPr/>
        </p:nvCxnSpPr>
        <p:spPr>
          <a:xfrm flipV="1">
            <a:off x="1501904" y="4116324"/>
            <a:ext cx="10169161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87" name="矩形 86"/>
          <p:cNvSpPr/>
          <p:nvPr/>
        </p:nvSpPr>
        <p:spPr>
          <a:xfrm>
            <a:off x="1513229" y="1365682"/>
            <a:ext cx="1443331" cy="246191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定期触发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点检任务</a:t>
            </a:r>
          </a:p>
        </p:txBody>
      </p:sp>
      <p:sp>
        <p:nvSpPr>
          <p:cNvPr id="89" name="矩形 88"/>
          <p:cNvSpPr/>
          <p:nvPr/>
        </p:nvSpPr>
        <p:spPr>
          <a:xfrm>
            <a:off x="744664" y="2652421"/>
            <a:ext cx="289120" cy="783267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各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部门</a:t>
            </a:r>
            <a:endParaRPr lang="zh-CN" altLang="en-US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523312" y="1748218"/>
            <a:ext cx="1423087" cy="392905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识别关键词，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直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取战略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监控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经营分析重点任务执行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进展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535674" y="2277468"/>
            <a:ext cx="1420886" cy="217976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形成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报告初稿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604195" y="2625970"/>
            <a:ext cx="1238426" cy="303493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调整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补充任务</a:t>
            </a: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完成表述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7663482" y="3668614"/>
            <a:ext cx="1365659" cy="303648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分管领导审批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批示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6233258" y="3156486"/>
            <a:ext cx="1231964" cy="245243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整合进展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报告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6306390" y="1642914"/>
            <a:ext cx="1167765" cy="24607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归口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确认报告内容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10" name="连接符: 肘形 35"/>
          <p:cNvCxnSpPr>
            <a:stCxn id="87" idx="2"/>
            <a:endCxn id="93" idx="0"/>
          </p:cNvCxnSpPr>
          <p:nvPr/>
        </p:nvCxnSpPr>
        <p:spPr bwMode="auto">
          <a:xfrm rot="5400000">
            <a:off x="2166704" y="1680026"/>
            <a:ext cx="136345" cy="3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19" name="连接符: 肘形 80"/>
          <p:cNvCxnSpPr>
            <a:stCxn id="62" idx="0"/>
            <a:endCxn id="108" idx="2"/>
          </p:cNvCxnSpPr>
          <p:nvPr/>
        </p:nvCxnSpPr>
        <p:spPr bwMode="auto">
          <a:xfrm rot="16200000" flipV="1">
            <a:off x="6564295" y="2214963"/>
            <a:ext cx="662117" cy="1016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20" name="矩形 119"/>
          <p:cNvSpPr/>
          <p:nvPr/>
        </p:nvSpPr>
        <p:spPr>
          <a:xfrm>
            <a:off x="3604194" y="3095253"/>
            <a:ext cx="1231965" cy="387168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判定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任务</a:t>
            </a: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状态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进展红绿灯预警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授权额度使用情况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37384" y="2551101"/>
            <a:ext cx="1526098" cy="615682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.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董事会决议执行情况报告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2.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董事会授权执行情况报告</a:t>
            </a:r>
            <a:endParaRPr kumimoji="0" lang="en-US" altLang="zh-CN" sz="900" b="1" i="0" u="none" strike="noStrike" kern="0" cap="none" spc="0" normalizeH="0" baseline="0" noProof="0" dirty="0" smtClean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3.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董事建议落实情况报告</a:t>
            </a:r>
            <a:endParaRPr kumimoji="0" lang="en-US" altLang="zh-CN" sz="900" b="1" i="0" u="none" strike="noStrike" kern="0" cap="none" spc="0" normalizeH="0" baseline="0" noProof="0" dirty="0" smtClean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defTabSz="514350">
              <a:defRPr/>
            </a:pPr>
            <a:r>
              <a:rPr lang="en-US" altLang="zh-CN" sz="9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en-US" altLang="zh-CN" sz="9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9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改进</a:t>
            </a:r>
            <a:r>
              <a:rPr lang="zh-CN" altLang="en-US" sz="9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落实</a:t>
            </a:r>
            <a:r>
              <a:rPr lang="zh-CN" altLang="en-US" sz="9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监控</a:t>
            </a:r>
            <a:r>
              <a:rPr lang="zh-CN" altLang="en-US" sz="9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endParaRPr lang="en-US" altLang="zh-CN" sz="900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3" name="连接符: 肘形 42"/>
          <p:cNvCxnSpPr>
            <a:stCxn id="99" idx="2"/>
            <a:endCxn id="101" idx="1"/>
          </p:cNvCxnSpPr>
          <p:nvPr/>
        </p:nvCxnSpPr>
        <p:spPr bwMode="auto">
          <a:xfrm rot="16200000" flipH="1">
            <a:off x="2784020" y="1957541"/>
            <a:ext cx="282273" cy="1358078"/>
          </a:xfrm>
          <a:prstGeom prst="bentConnector2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24" name="直接箭头连接符 123"/>
          <p:cNvCxnSpPr>
            <a:stCxn id="101" idx="2"/>
            <a:endCxn id="120" idx="0"/>
          </p:cNvCxnSpPr>
          <p:nvPr/>
        </p:nvCxnSpPr>
        <p:spPr bwMode="auto">
          <a:xfrm flipH="1">
            <a:off x="4220177" y="2929463"/>
            <a:ext cx="3231" cy="165790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25" name="肘形连接符 124"/>
          <p:cNvCxnSpPr>
            <a:stCxn id="83" idx="3"/>
            <a:endCxn id="105" idx="1"/>
          </p:cNvCxnSpPr>
          <p:nvPr/>
        </p:nvCxnSpPr>
        <p:spPr bwMode="auto">
          <a:xfrm flipV="1">
            <a:off x="5989232" y="3279108"/>
            <a:ext cx="244026" cy="539813"/>
          </a:xfrm>
          <a:prstGeom prst="bentConnector3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cxnSp>
        <p:nvCxnSpPr>
          <p:cNvPr id="129" name="肘形连接符 128"/>
          <p:cNvCxnSpPr>
            <a:stCxn id="108" idx="3"/>
            <a:endCxn id="104" idx="0"/>
          </p:cNvCxnSpPr>
          <p:nvPr/>
        </p:nvCxnSpPr>
        <p:spPr bwMode="auto">
          <a:xfrm>
            <a:off x="7474155" y="1765949"/>
            <a:ext cx="872157" cy="1902665"/>
          </a:xfrm>
          <a:prstGeom prst="bentConnector2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39" name="Rectangle 102"/>
          <p:cNvSpPr/>
          <p:nvPr/>
        </p:nvSpPr>
        <p:spPr bwMode="auto">
          <a:xfrm>
            <a:off x="1103534" y="1329609"/>
            <a:ext cx="259143" cy="1239110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董办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61" name="连接符: 肘形 35"/>
          <p:cNvCxnSpPr/>
          <p:nvPr/>
        </p:nvCxnSpPr>
        <p:spPr bwMode="auto">
          <a:xfrm rot="5400000">
            <a:off x="2166704" y="2198186"/>
            <a:ext cx="136345" cy="3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83" name="矩形 82"/>
          <p:cNvSpPr/>
          <p:nvPr/>
        </p:nvSpPr>
        <p:spPr>
          <a:xfrm>
            <a:off x="5199148" y="3691525"/>
            <a:ext cx="790084" cy="254791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逐级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审批</a:t>
            </a:r>
            <a:endParaRPr kumimoji="0" lang="en-US" altLang="zh-CN" sz="9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填报内容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86" name="肘形连接符 85"/>
          <p:cNvCxnSpPr>
            <a:stCxn id="120" idx="3"/>
            <a:endCxn id="83" idx="1"/>
          </p:cNvCxnSpPr>
          <p:nvPr/>
        </p:nvCxnSpPr>
        <p:spPr bwMode="auto">
          <a:xfrm>
            <a:off x="4836159" y="3288837"/>
            <a:ext cx="362989" cy="530084"/>
          </a:xfrm>
          <a:prstGeom prst="bentConnector3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106" name="矩形 105"/>
          <p:cNvSpPr/>
          <p:nvPr/>
        </p:nvSpPr>
        <p:spPr>
          <a:xfrm>
            <a:off x="9345971" y="3665277"/>
            <a:ext cx="1301718" cy="303696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总经理审批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批示</a:t>
            </a:r>
          </a:p>
        </p:txBody>
      </p:sp>
      <p:sp>
        <p:nvSpPr>
          <p:cNvPr id="109" name="矩形 108"/>
          <p:cNvSpPr/>
          <p:nvPr/>
        </p:nvSpPr>
        <p:spPr>
          <a:xfrm>
            <a:off x="10647689" y="4264366"/>
            <a:ext cx="935976" cy="301324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接收报告推送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11" name="连接符: 肘形 80"/>
          <p:cNvCxnSpPr/>
          <p:nvPr/>
        </p:nvCxnSpPr>
        <p:spPr bwMode="auto">
          <a:xfrm flipV="1">
            <a:off x="9029141" y="3827285"/>
            <a:ext cx="316830" cy="331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13" name="连接符: 肘形 80"/>
          <p:cNvCxnSpPr>
            <a:endCxn id="109" idx="0"/>
          </p:cNvCxnSpPr>
          <p:nvPr/>
        </p:nvCxnSpPr>
        <p:spPr bwMode="auto">
          <a:xfrm>
            <a:off x="10647689" y="3817125"/>
            <a:ext cx="467988" cy="447241"/>
          </a:xfrm>
          <a:prstGeom prst="bentConnector2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17" name="矩形 116"/>
          <p:cNvSpPr/>
          <p:nvPr/>
        </p:nvSpPr>
        <p:spPr>
          <a:xfrm>
            <a:off x="740455" y="4182601"/>
            <a:ext cx="698151" cy="355717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董事</a:t>
            </a:r>
            <a:endParaRPr lang="zh-CN" altLang="en-US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685575" y="4602269"/>
            <a:ext cx="108492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治理监控变革点：</a:t>
            </a:r>
            <a:r>
              <a:rPr lang="zh-CN" altLang="en-US" sz="14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以数字化构建决议、授权、建议全链路监控体系，推动人工事后督办向智能实时管控转型，保障治理决策刚性落地</a:t>
            </a:r>
          </a:p>
        </p:txBody>
      </p:sp>
    </p:spTree>
    <p:extLst>
      <p:ext uri="{BB962C8B-B14F-4D97-AF65-F5344CB8AC3E}">
        <p14:creationId xmlns:p14="http://schemas.microsoft.com/office/powerpoint/2010/main" val="265390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9850755" cy="497840"/>
          </a:xfrm>
        </p:spPr>
        <p:txBody>
          <a:bodyPr anchor="ctr" anchorCtr="0"/>
          <a:lstStyle/>
          <a:p>
            <a:r>
              <a:rPr lang="zh-CN" altLang="en-US" dirty="0" smtClean="0"/>
              <a:t>三、产品架构</a:t>
            </a:r>
            <a:endParaRPr lang="zh-CN" altLang="en-US" dirty="0">
              <a:sym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372124" y="385771"/>
            <a:ext cx="41071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charset="0"/>
              <a:buChar char="p"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核心流程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-</a:t>
            </a:r>
            <a:r>
              <a:rPr lang="zh-CN" altLang="en-US" sz="16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评价与应用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714652" y="972772"/>
            <a:ext cx="3042982" cy="297857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noProof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任务生成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燕尾形 11"/>
          <p:cNvSpPr/>
          <p:nvPr/>
        </p:nvSpPr>
        <p:spPr bwMode="auto">
          <a:xfrm>
            <a:off x="7506435" y="983693"/>
            <a:ext cx="2393893" cy="309184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评价结果报告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燕尾形 12"/>
          <p:cNvSpPr/>
          <p:nvPr/>
        </p:nvSpPr>
        <p:spPr bwMode="auto">
          <a:xfrm>
            <a:off x="3739356" y="985333"/>
            <a:ext cx="3767079" cy="321240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各公司分解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8989901" y="386029"/>
            <a:ext cx="796112" cy="28800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线上作业</a:t>
            </a:r>
          </a:p>
        </p:txBody>
      </p:sp>
      <p:sp>
        <p:nvSpPr>
          <p:cNvPr id="147" name="矩形 146"/>
          <p:cNvSpPr/>
          <p:nvPr/>
        </p:nvSpPr>
        <p:spPr>
          <a:xfrm>
            <a:off x="7904535" y="378553"/>
            <a:ext cx="684327" cy="288000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自动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直取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75863" y="1354746"/>
            <a:ext cx="289120" cy="876242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综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理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部</a:t>
            </a:r>
          </a:p>
        </p:txBody>
      </p:sp>
      <p:cxnSp>
        <p:nvCxnSpPr>
          <p:cNvPr id="73" name="Straight Connector 170"/>
          <p:cNvCxnSpPr/>
          <p:nvPr/>
        </p:nvCxnSpPr>
        <p:spPr>
          <a:xfrm flipV="1">
            <a:off x="1384595" y="2392230"/>
            <a:ext cx="10169161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9525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79" name="矩形 78"/>
          <p:cNvSpPr/>
          <p:nvPr/>
        </p:nvSpPr>
        <p:spPr>
          <a:xfrm>
            <a:off x="709828" y="4383472"/>
            <a:ext cx="698151" cy="526476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领导审批</a:t>
            </a:r>
          </a:p>
        </p:txBody>
      </p:sp>
      <p:cxnSp>
        <p:nvCxnSpPr>
          <p:cNvPr id="80" name="Straight Connector 170"/>
          <p:cNvCxnSpPr/>
          <p:nvPr/>
        </p:nvCxnSpPr>
        <p:spPr>
          <a:xfrm flipV="1">
            <a:off x="1471275" y="4307531"/>
            <a:ext cx="10169161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82" name="矩形 81"/>
          <p:cNvSpPr/>
          <p:nvPr/>
        </p:nvSpPr>
        <p:spPr>
          <a:xfrm>
            <a:off x="1066991" y="3188727"/>
            <a:ext cx="309773" cy="1118804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董事会办公室</a:t>
            </a:r>
            <a:endParaRPr lang="zh-CN" altLang="en-US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5" name="Straight Connector 170"/>
          <p:cNvCxnSpPr/>
          <p:nvPr/>
        </p:nvCxnSpPr>
        <p:spPr>
          <a:xfrm flipV="1">
            <a:off x="1471276" y="4940111"/>
            <a:ext cx="10169161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87" name="矩形 86"/>
          <p:cNvSpPr/>
          <p:nvPr/>
        </p:nvSpPr>
        <p:spPr>
          <a:xfrm>
            <a:off x="1528901" y="1390819"/>
            <a:ext cx="898292" cy="254789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定期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维度任务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10588" y="3188727"/>
            <a:ext cx="289120" cy="1109115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各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</a:t>
            </a:r>
            <a:endParaRPr lang="en-US" altLang="zh-CN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位</a:t>
            </a:r>
          </a:p>
        </p:txBody>
      </p:sp>
      <p:sp>
        <p:nvSpPr>
          <p:cNvPr id="104" name="矩形 103"/>
          <p:cNvSpPr/>
          <p:nvPr/>
        </p:nvSpPr>
        <p:spPr>
          <a:xfrm>
            <a:off x="9258779" y="4364781"/>
            <a:ext cx="1161288" cy="235685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分管领导审批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批示</a:t>
            </a:r>
          </a:p>
        </p:txBody>
      </p:sp>
      <p:cxnSp>
        <p:nvCxnSpPr>
          <p:cNvPr id="110" name="连接符: 肘形 35"/>
          <p:cNvCxnSpPr>
            <a:stCxn id="87" idx="2"/>
            <a:endCxn id="40" idx="0"/>
          </p:cNvCxnSpPr>
          <p:nvPr/>
        </p:nvCxnSpPr>
        <p:spPr bwMode="auto">
          <a:xfrm rot="16200000" flipH="1">
            <a:off x="1926777" y="1696878"/>
            <a:ext cx="104181" cy="164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19" name="连接符: 肘形 80"/>
          <p:cNvCxnSpPr>
            <a:stCxn id="49" idx="2"/>
            <a:endCxn id="53" idx="1"/>
          </p:cNvCxnSpPr>
          <p:nvPr/>
        </p:nvCxnSpPr>
        <p:spPr bwMode="auto">
          <a:xfrm rot="16200000" flipH="1">
            <a:off x="3293767" y="2709673"/>
            <a:ext cx="412980" cy="655550"/>
          </a:xfrm>
          <a:prstGeom prst="bentConnector2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30" name="矩形 129"/>
          <p:cNvSpPr/>
          <p:nvPr/>
        </p:nvSpPr>
        <p:spPr>
          <a:xfrm>
            <a:off x="9269491" y="4715916"/>
            <a:ext cx="1150576" cy="194032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总经理审批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批示</a:t>
            </a:r>
          </a:p>
        </p:txBody>
      </p:sp>
      <p:sp>
        <p:nvSpPr>
          <p:cNvPr id="40" name="矩形 39"/>
          <p:cNvSpPr/>
          <p:nvPr/>
        </p:nvSpPr>
        <p:spPr>
          <a:xfrm>
            <a:off x="1376119" y="1749789"/>
            <a:ext cx="1207135" cy="300355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评价维度模型导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入</a:t>
            </a:r>
          </a:p>
        </p:txBody>
      </p:sp>
      <p:sp>
        <p:nvSpPr>
          <p:cNvPr id="43" name="矩形 42"/>
          <p:cNvSpPr/>
          <p:nvPr/>
        </p:nvSpPr>
        <p:spPr>
          <a:xfrm>
            <a:off x="1373615" y="2056491"/>
            <a:ext cx="1194435" cy="332829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1.</a:t>
            </a:r>
            <a:r>
              <a:rPr lang="zh-CN" altLang="en-US" sz="9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评价维度</a:t>
            </a:r>
            <a:endParaRPr lang="en-US" altLang="zh-CN" sz="9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9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评价部门</a:t>
            </a:r>
            <a:endParaRPr lang="en-US" altLang="zh-CN" sz="900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.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评价人员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89453" y="2270961"/>
            <a:ext cx="289120" cy="876242"/>
          </a:xfrm>
          <a:prstGeom prst="rect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各评价角色</a:t>
            </a:r>
            <a:endParaRPr lang="zh-CN" altLang="en-US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371729" y="2535950"/>
            <a:ext cx="1196321" cy="288693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lvl="0" algn="ctr" defTabSz="514350"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调整</a:t>
            </a:r>
            <a:r>
              <a:rPr lang="en-US" altLang="zh-CN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评价任务</a:t>
            </a:r>
            <a:endParaRPr lang="en-US" altLang="zh-CN" sz="9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直接箭头连接符 47"/>
          <p:cNvCxnSpPr/>
          <p:nvPr/>
        </p:nvCxnSpPr>
        <p:spPr bwMode="auto">
          <a:xfrm>
            <a:off x="1978047" y="2362269"/>
            <a:ext cx="0" cy="187790"/>
          </a:xfrm>
          <a:prstGeom prst="straightConnector1">
            <a:avLst/>
          </a:prstGeom>
          <a:noFill/>
          <a:ln w="9525" cap="flat" cmpd="sng" algn="ctr">
            <a:solidFill>
              <a:srgbClr val="0F298E"/>
            </a:solidFill>
            <a:prstDash val="solid"/>
            <a:tailEnd type="triangle"/>
          </a:ln>
        </p:spPr>
      </p:cxnSp>
      <p:sp>
        <p:nvSpPr>
          <p:cNvPr id="49" name="矩形 48"/>
          <p:cNvSpPr/>
          <p:nvPr/>
        </p:nvSpPr>
        <p:spPr>
          <a:xfrm>
            <a:off x="2704494" y="2529634"/>
            <a:ext cx="935976" cy="301324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生成年度任务清单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1" name="连接符: 肘形 42"/>
          <p:cNvCxnSpPr>
            <a:endCxn id="49" idx="1"/>
          </p:cNvCxnSpPr>
          <p:nvPr/>
        </p:nvCxnSpPr>
        <p:spPr bwMode="auto">
          <a:xfrm>
            <a:off x="2583254" y="2680296"/>
            <a:ext cx="121240" cy="127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53" name="矩形 52"/>
          <p:cNvSpPr/>
          <p:nvPr/>
        </p:nvSpPr>
        <p:spPr>
          <a:xfrm>
            <a:off x="3828032" y="3088680"/>
            <a:ext cx="910590" cy="310515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分解子公司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任务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828032" y="3547139"/>
            <a:ext cx="925195" cy="335169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分解季度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目标及里程碑</a:t>
            </a:r>
          </a:p>
        </p:txBody>
      </p:sp>
      <p:sp>
        <p:nvSpPr>
          <p:cNvPr id="57" name="矩形 56"/>
          <p:cNvSpPr/>
          <p:nvPr/>
        </p:nvSpPr>
        <p:spPr>
          <a:xfrm>
            <a:off x="3819617" y="4008264"/>
            <a:ext cx="933609" cy="287927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确定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里程碑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负责人</a:t>
            </a:r>
          </a:p>
        </p:txBody>
      </p:sp>
      <p:sp>
        <p:nvSpPr>
          <p:cNvPr id="58" name="矩形 57"/>
          <p:cNvSpPr/>
          <p:nvPr/>
        </p:nvSpPr>
        <p:spPr>
          <a:xfrm>
            <a:off x="7259186" y="3266734"/>
            <a:ext cx="895991" cy="337810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自动计算完成进展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60" name="连接符: 肘形 67"/>
          <p:cNvCxnSpPr>
            <a:stCxn id="53" idx="2"/>
            <a:endCxn id="56" idx="0"/>
          </p:cNvCxnSpPr>
          <p:nvPr/>
        </p:nvCxnSpPr>
        <p:spPr bwMode="auto">
          <a:xfrm rot="16200000" flipH="1">
            <a:off x="4213006" y="3469515"/>
            <a:ext cx="147944" cy="730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1" name="直接箭头连接符 60"/>
          <p:cNvCxnSpPr>
            <a:stCxn id="56" idx="2"/>
            <a:endCxn id="57" idx="0"/>
          </p:cNvCxnSpPr>
          <p:nvPr/>
        </p:nvCxnSpPr>
        <p:spPr bwMode="auto">
          <a:xfrm flipH="1">
            <a:off x="4286422" y="3882308"/>
            <a:ext cx="4208" cy="125956"/>
          </a:xfrm>
          <a:prstGeom prst="straightConnector1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3" name="连接符: 肘形 106"/>
          <p:cNvCxnSpPr>
            <a:stCxn id="57" idx="2"/>
            <a:endCxn id="92" idx="0"/>
          </p:cNvCxnSpPr>
          <p:nvPr/>
        </p:nvCxnSpPr>
        <p:spPr bwMode="auto">
          <a:xfrm rot="5400000" flipH="1" flipV="1">
            <a:off x="4350151" y="3125002"/>
            <a:ext cx="1107460" cy="1234918"/>
          </a:xfrm>
          <a:prstGeom prst="bentConnector5">
            <a:avLst>
              <a:gd name="adj1" fmla="val -2874"/>
              <a:gd name="adj2" fmla="val 51469"/>
              <a:gd name="adj3" fmla="val 109145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6" name="连接符: 肘形 114"/>
          <p:cNvCxnSpPr>
            <a:stCxn id="148" idx="2"/>
            <a:endCxn id="104" idx="0"/>
          </p:cNvCxnSpPr>
          <p:nvPr/>
        </p:nvCxnSpPr>
        <p:spPr bwMode="auto">
          <a:xfrm rot="5400000">
            <a:off x="8770729" y="3296087"/>
            <a:ext cx="2137388" cy="127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74" name="矩形 73"/>
          <p:cNvSpPr/>
          <p:nvPr/>
        </p:nvSpPr>
        <p:spPr>
          <a:xfrm>
            <a:off x="2097488" y="3486378"/>
            <a:ext cx="1715137" cy="464494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1.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此处可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增加公司级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细分指标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9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选择该里程碑事件是否同步在其他任务点检中</a:t>
            </a:r>
          </a:p>
        </p:txBody>
      </p:sp>
      <p:sp>
        <p:nvSpPr>
          <p:cNvPr id="92" name="矩形 91"/>
          <p:cNvSpPr/>
          <p:nvPr/>
        </p:nvSpPr>
        <p:spPr>
          <a:xfrm>
            <a:off x="5090810" y="3188731"/>
            <a:ext cx="861060" cy="310515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生成各公司任务</a:t>
            </a: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清单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090810" y="3639331"/>
            <a:ext cx="871220" cy="277308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子公司审核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797601" y="1909723"/>
            <a:ext cx="935976" cy="299756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lvl="0" algn="ctr" defTabSz="514350"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归口确认</a:t>
            </a:r>
            <a:endParaRPr lang="en-US" altLang="zh-CN" sz="9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6" name="连接符: 肘形 106"/>
          <p:cNvCxnSpPr>
            <a:stCxn id="94" idx="2"/>
            <a:endCxn id="95" idx="3"/>
          </p:cNvCxnSpPr>
          <p:nvPr/>
        </p:nvCxnSpPr>
        <p:spPr bwMode="auto">
          <a:xfrm rot="5400000" flipH="1" flipV="1">
            <a:off x="4701479" y="2884541"/>
            <a:ext cx="1857038" cy="207157"/>
          </a:xfrm>
          <a:prstGeom prst="bentConnector4">
            <a:avLst>
              <a:gd name="adj1" fmla="val -3584"/>
              <a:gd name="adj2" fmla="val 264757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02" name="连接符: 肘形 67"/>
          <p:cNvCxnSpPr>
            <a:stCxn id="92" idx="2"/>
            <a:endCxn id="94" idx="0"/>
          </p:cNvCxnSpPr>
          <p:nvPr/>
        </p:nvCxnSpPr>
        <p:spPr bwMode="auto">
          <a:xfrm rot="16200000" flipH="1">
            <a:off x="5453838" y="3566748"/>
            <a:ext cx="140085" cy="508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06" name="Straight Connector 170"/>
          <p:cNvCxnSpPr/>
          <p:nvPr/>
        </p:nvCxnSpPr>
        <p:spPr>
          <a:xfrm flipV="1">
            <a:off x="1430661" y="3069187"/>
            <a:ext cx="10169161" cy="0"/>
          </a:xfrm>
          <a:prstGeom prst="line">
            <a:avLst/>
          </a:prstGeom>
          <a:solidFill>
            <a:srgbClr val="152A8C">
              <a:lumMod val="95000"/>
            </a:srgbClr>
          </a:solidFill>
          <a:ln w="9525" cap="flat" cmpd="sng" algn="ctr">
            <a:solidFill>
              <a:srgbClr val="FFFFFF">
                <a:lumMod val="50000"/>
              </a:srgbClr>
            </a:solidFill>
            <a:prstDash val="dash"/>
          </a:ln>
          <a:effectLst/>
        </p:spPr>
      </p:cxnSp>
      <p:sp>
        <p:nvSpPr>
          <p:cNvPr id="116" name="矩形 115"/>
          <p:cNvSpPr/>
          <p:nvPr/>
        </p:nvSpPr>
        <p:spPr>
          <a:xfrm>
            <a:off x="6225000" y="3324945"/>
            <a:ext cx="871220" cy="277308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noProof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填报完成情况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21" name="连接符: 肘形 80"/>
          <p:cNvCxnSpPr>
            <a:stCxn id="95" idx="3"/>
            <a:endCxn id="116" idx="1"/>
          </p:cNvCxnSpPr>
          <p:nvPr/>
        </p:nvCxnSpPr>
        <p:spPr bwMode="auto">
          <a:xfrm>
            <a:off x="5733577" y="2059601"/>
            <a:ext cx="491423" cy="1403998"/>
          </a:xfrm>
          <a:prstGeom prst="bentConnector3">
            <a:avLst>
              <a:gd name="adj1" fmla="val 71198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27" name="连接符: 肘形 111"/>
          <p:cNvCxnSpPr>
            <a:stCxn id="199" idx="3"/>
            <a:endCxn id="58" idx="0"/>
          </p:cNvCxnSpPr>
          <p:nvPr/>
        </p:nvCxnSpPr>
        <p:spPr bwMode="auto">
          <a:xfrm>
            <a:off x="7090025" y="1901455"/>
            <a:ext cx="617157" cy="1365279"/>
          </a:xfrm>
          <a:prstGeom prst="bentConnector2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28" name="矩形 127"/>
          <p:cNvSpPr/>
          <p:nvPr/>
        </p:nvSpPr>
        <p:spPr>
          <a:xfrm>
            <a:off x="7284137" y="3857126"/>
            <a:ext cx="861060" cy="310515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年度任务评价打分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34" name="连接符: 肘形 111"/>
          <p:cNvCxnSpPr>
            <a:stCxn id="58" idx="2"/>
            <a:endCxn id="128" idx="0"/>
          </p:cNvCxnSpPr>
          <p:nvPr/>
        </p:nvCxnSpPr>
        <p:spPr bwMode="auto">
          <a:xfrm rot="16200000" flipH="1">
            <a:off x="7584633" y="3727092"/>
            <a:ext cx="252582" cy="748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35" name="矩形 134"/>
          <p:cNvSpPr/>
          <p:nvPr/>
        </p:nvSpPr>
        <p:spPr>
          <a:xfrm>
            <a:off x="8423964" y="2726321"/>
            <a:ext cx="756494" cy="271190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lvl="0" algn="ctr" defTabSz="514350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调整</a:t>
            </a:r>
            <a:r>
              <a:rPr lang="en-US" altLang="zh-CN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补充评价情况</a:t>
            </a:r>
          </a:p>
        </p:txBody>
      </p:sp>
      <p:sp>
        <p:nvSpPr>
          <p:cNvPr id="136" name="矩形 135"/>
          <p:cNvSpPr/>
          <p:nvPr/>
        </p:nvSpPr>
        <p:spPr>
          <a:xfrm>
            <a:off x="8446474" y="1938383"/>
            <a:ext cx="788467" cy="260106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调整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补充评价情况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37" name="连接符: 肘形 106"/>
          <p:cNvCxnSpPr>
            <a:stCxn id="128" idx="3"/>
            <a:endCxn id="135" idx="1"/>
          </p:cNvCxnSpPr>
          <p:nvPr/>
        </p:nvCxnSpPr>
        <p:spPr bwMode="auto">
          <a:xfrm flipV="1">
            <a:off x="8145197" y="2861916"/>
            <a:ext cx="278767" cy="115046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38" name="连接符: 肘形 106"/>
          <p:cNvCxnSpPr>
            <a:stCxn id="128" idx="3"/>
            <a:endCxn id="136" idx="1"/>
          </p:cNvCxnSpPr>
          <p:nvPr/>
        </p:nvCxnSpPr>
        <p:spPr bwMode="auto">
          <a:xfrm flipV="1">
            <a:off x="8145197" y="2068436"/>
            <a:ext cx="301277" cy="194394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45" name="连接符: 肘形 111"/>
          <p:cNvCxnSpPr>
            <a:stCxn id="136" idx="3"/>
            <a:endCxn id="148" idx="1"/>
          </p:cNvCxnSpPr>
          <p:nvPr/>
        </p:nvCxnSpPr>
        <p:spPr bwMode="auto">
          <a:xfrm>
            <a:off x="9234941" y="2068436"/>
            <a:ext cx="173952" cy="37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48" name="矩形 147"/>
          <p:cNvSpPr/>
          <p:nvPr/>
        </p:nvSpPr>
        <p:spPr>
          <a:xfrm>
            <a:off x="9408893" y="1916878"/>
            <a:ext cx="861060" cy="310515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生成评价结果报告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70" name="连接符: 肘形 114"/>
          <p:cNvCxnSpPr>
            <a:stCxn id="104" idx="2"/>
            <a:endCxn id="130" idx="0"/>
          </p:cNvCxnSpPr>
          <p:nvPr/>
        </p:nvCxnSpPr>
        <p:spPr bwMode="auto">
          <a:xfrm rot="16200000" flipH="1">
            <a:off x="9784376" y="4655513"/>
            <a:ext cx="115450" cy="535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74" name="矩形 173"/>
          <p:cNvSpPr/>
          <p:nvPr/>
        </p:nvSpPr>
        <p:spPr>
          <a:xfrm>
            <a:off x="10558184" y="3845691"/>
            <a:ext cx="861060" cy="310515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结果反馈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75" name="连接符: 肘形 106"/>
          <p:cNvCxnSpPr>
            <a:stCxn id="130" idx="3"/>
            <a:endCxn id="174" idx="2"/>
          </p:cNvCxnSpPr>
          <p:nvPr/>
        </p:nvCxnSpPr>
        <p:spPr bwMode="auto">
          <a:xfrm flipV="1">
            <a:off x="10420067" y="4156206"/>
            <a:ext cx="568647" cy="656726"/>
          </a:xfrm>
          <a:prstGeom prst="bentConnector2">
            <a:avLst/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78" name="燕尾形 177"/>
          <p:cNvSpPr/>
          <p:nvPr/>
        </p:nvSpPr>
        <p:spPr bwMode="auto">
          <a:xfrm>
            <a:off x="9900328" y="983693"/>
            <a:ext cx="1591445" cy="297109"/>
          </a:xfrm>
          <a:prstGeom prst="chevron">
            <a:avLst/>
          </a:prstGeom>
          <a:solidFill>
            <a:srgbClr val="112D9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结果应用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10521787" y="1923149"/>
            <a:ext cx="935976" cy="299756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lvl="0" algn="ctr" defTabSz="514350"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归口确认</a:t>
            </a:r>
            <a:endParaRPr lang="en-US" altLang="zh-CN" sz="9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2" name="连接符: 肘形 106"/>
          <p:cNvCxnSpPr>
            <a:stCxn id="189" idx="0"/>
            <a:endCxn id="181" idx="2"/>
          </p:cNvCxnSpPr>
          <p:nvPr/>
        </p:nvCxnSpPr>
        <p:spPr bwMode="auto">
          <a:xfrm rot="16200000" flipV="1">
            <a:off x="10447310" y="2765370"/>
            <a:ext cx="1087018" cy="208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89" name="矩形 188"/>
          <p:cNvSpPr/>
          <p:nvPr/>
        </p:nvSpPr>
        <p:spPr>
          <a:xfrm>
            <a:off x="10561333" y="3309923"/>
            <a:ext cx="861060" cy="310515"/>
          </a:xfrm>
          <a:prstGeom prst="rect">
            <a:avLst/>
          </a:prstGeom>
          <a:solidFill>
            <a:srgbClr val="00B05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>
            <a:no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触发改善任务维护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193" name="连接符: 肘形 106"/>
          <p:cNvCxnSpPr>
            <a:stCxn id="174" idx="0"/>
            <a:endCxn id="189" idx="2"/>
          </p:cNvCxnSpPr>
          <p:nvPr/>
        </p:nvCxnSpPr>
        <p:spPr bwMode="auto">
          <a:xfrm rot="5400000" flipH="1" flipV="1">
            <a:off x="10877662" y="3731491"/>
            <a:ext cx="225253" cy="314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98" name="矩形 197"/>
          <p:cNvSpPr/>
          <p:nvPr/>
        </p:nvSpPr>
        <p:spPr>
          <a:xfrm>
            <a:off x="6213425" y="2586206"/>
            <a:ext cx="871220" cy="277308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noProof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阶段性评价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6218805" y="1762801"/>
            <a:ext cx="871220" cy="277308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rgbClr val="8DB3E2"/>
            </a:solidFill>
            <a:prstDash val="solid"/>
            <a:miter lim="800000"/>
          </a:ln>
          <a:effectLst/>
        </p:spPr>
        <p:txBody>
          <a:bodyPr lIns="72001" tIns="36001" rIns="72001" bIns="36001"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kern="0" noProof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阶段性评价建议填报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01" name="连接符: 肘形 80"/>
          <p:cNvCxnSpPr>
            <a:stCxn id="116" idx="0"/>
            <a:endCxn id="198" idx="2"/>
          </p:cNvCxnSpPr>
          <p:nvPr/>
        </p:nvCxnSpPr>
        <p:spPr bwMode="auto">
          <a:xfrm rot="16200000" flipV="1">
            <a:off x="6424108" y="3088442"/>
            <a:ext cx="461431" cy="1157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5" name="连接符: 肘形 80"/>
          <p:cNvCxnSpPr>
            <a:stCxn id="198" idx="0"/>
            <a:endCxn id="199" idx="2"/>
          </p:cNvCxnSpPr>
          <p:nvPr/>
        </p:nvCxnSpPr>
        <p:spPr bwMode="auto">
          <a:xfrm rot="5400000" flipH="1" flipV="1">
            <a:off x="6378677" y="2310468"/>
            <a:ext cx="546097" cy="538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52A8C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11" name="矩形 210"/>
          <p:cNvSpPr/>
          <p:nvPr/>
        </p:nvSpPr>
        <p:spPr>
          <a:xfrm>
            <a:off x="9900328" y="3215213"/>
            <a:ext cx="716733" cy="541068"/>
          </a:xfrm>
          <a:prstGeom prst="rect">
            <a:avLst/>
          </a:prstGeom>
          <a:noFill/>
          <a:ln w="12700" cap="flat" cmpd="sng" algn="ctr">
            <a:solidFill>
              <a:srgbClr val="8DB3E2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lIns="72001" tIns="36001" rIns="72001" bIns="36001" rtlCol="0" anchor="ctr"/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en-US" altLang="zh-CN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.</a:t>
            </a:r>
            <a:r>
              <a:rPr kumimoji="0" lang="zh-CN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zh-CN" altLang="en-US" sz="900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选择是否</a:t>
            </a:r>
            <a:r>
              <a:rPr lang="zh-CN" altLang="en-US" sz="9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同步在其他任务点检中</a:t>
            </a:r>
          </a:p>
        </p:txBody>
      </p:sp>
      <p:graphicFrame>
        <p:nvGraphicFramePr>
          <p:cNvPr id="68" name="表格 67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6397950"/>
              </p:ext>
            </p:extLst>
          </p:nvPr>
        </p:nvGraphicFramePr>
        <p:xfrm>
          <a:off x="689453" y="5203126"/>
          <a:ext cx="10739478" cy="1488462"/>
        </p:xfrm>
        <a:graphic>
          <a:graphicData uri="http://schemas.openxmlformats.org/drawingml/2006/table">
            <a:tbl>
              <a:tblPr firstRow="1" bandRow="1"/>
              <a:tblGrid>
                <a:gridCol w="613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4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1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1797"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现状痛点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变革路径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变革成效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5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9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9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董事会评价以年终一次性评价为主，缺乏过程数据支撑，过程纠偏不足</a:t>
                      </a:r>
                      <a:endParaRPr lang="zh-CN" altLang="en-US" sz="10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defTabSz="913130" rtl="0" eaLnBrk="1" latinLnBrk="0" hangingPunct="1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监控模式：从人工事后督办向智能实时管控转型</a:t>
                      </a:r>
                      <a:endParaRPr lang="en-US" altLang="zh-CN" sz="100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 algn="l" defTabSz="913130" rtl="0" eaLnBrk="1" latinLnBrk="0" hangingPunct="1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嵌入全流程预警，打通系统自动抓取执行数据，动态追踪进度。</a:t>
                      </a:r>
                      <a:endParaRPr lang="zh-CN" altLang="en-US" sz="10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构建全周期评价体系，数据全程可溯，评价更全面客观。</a:t>
                      </a:r>
                      <a:endParaRPr lang="zh-CN" altLang="en-US" sz="100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334098"/>
                  </a:ext>
                </a:extLst>
              </a:tr>
              <a:tr h="34926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9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9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评价指标人工统计核算，效率低、透明度不足，主观性较强</a:t>
                      </a:r>
                      <a:endParaRPr lang="zh-CN" altLang="en-US" sz="1000" b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>
                        <a:buFont typeface="+mj-ea"/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报告模式：从线下人工编制向自动整合输出转型</a:t>
                      </a:r>
                      <a:endParaRPr lang="en-US" altLang="zh-CN" sz="100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>
                        <a:buFont typeface="+mj-ea"/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预设标准口径，自动抓取系统数据，生成多维度监控报告。</a:t>
                      </a:r>
                      <a:endParaRPr lang="zh-CN" altLang="en-US" sz="100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评价自动计算、风险自动预警，提升评价效率与公允性。</a:t>
                      </a:r>
                      <a:endParaRPr lang="zh-CN" altLang="en-US" sz="10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5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9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改进任务线下分散分配，协同性弱，未形成持续改进闭环</a:t>
                      </a:r>
                      <a:endParaRPr lang="zh-CN" altLang="en-US" sz="10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defTabSz="913130" rtl="0" eaLnBrk="1" latinLnBrk="0" hangingPunct="1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闭环机制：从单点评价输出向闭环持续改进转型</a:t>
                      </a:r>
                      <a:endParaRPr lang="en-US" altLang="zh-CN" sz="100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l" defTabSz="913130" rtl="0" eaLnBrk="1" latinLnBrk="0" hangingPunct="1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改进任务线上流转，支持与其他管控环节信息联动。</a:t>
                      </a:r>
                      <a:endParaRPr lang="zh-CN" altLang="en-US" sz="100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任务一体化管控，形成 “评价 </a:t>
                      </a:r>
                      <a:r>
                        <a:rPr lang="en-US" altLang="zh-CN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 </a:t>
                      </a: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整改 </a:t>
                      </a:r>
                      <a:r>
                        <a:rPr lang="en-US" altLang="zh-CN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 </a:t>
                      </a:r>
                      <a:r>
                        <a:rPr lang="zh-CN" altLang="en-US" sz="100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提升” 长效闭环，赋能治理升级。</a:t>
                      </a:r>
                      <a:endParaRPr lang="zh-CN" altLang="en-US" sz="100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9" name="矩形 68"/>
          <p:cNvSpPr/>
          <p:nvPr/>
        </p:nvSpPr>
        <p:spPr>
          <a:xfrm>
            <a:off x="675863" y="4879400"/>
            <a:ext cx="108492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评价与应用变革点：</a:t>
            </a:r>
            <a:r>
              <a:rPr lang="zh-CN" altLang="en-US" sz="1400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以全周期数据构建董事会评价双循环体系，推动年终一次性评价向过程化持续改进转型，赋能治理效能长效提升</a:t>
            </a:r>
          </a:p>
        </p:txBody>
      </p:sp>
    </p:spTree>
    <p:extLst>
      <p:ext uri="{BB962C8B-B14F-4D97-AF65-F5344CB8AC3E}">
        <p14:creationId xmlns:p14="http://schemas.microsoft.com/office/powerpoint/2010/main" val="402754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中国一汽 创领未来-蓝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3021330"/>
            <a:ext cx="7128000" cy="78853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065905" y="5507355"/>
            <a:ext cx="4064000" cy="914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（禁止未经审批，扩大知悉范围）</a:t>
            </a:r>
          </a:p>
        </p:txBody>
      </p:sp>
    </p:spTree>
    <p:extLst>
      <p:ext uri="{BB962C8B-B14F-4D97-AF65-F5344CB8AC3E}">
        <p14:creationId xmlns:p14="http://schemas.microsoft.com/office/powerpoint/2010/main" val="251353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9850755" cy="497840"/>
          </a:xfrm>
        </p:spPr>
        <p:txBody>
          <a:bodyPr anchor="ctr" anchorCtr="0"/>
          <a:lstStyle/>
          <a:p>
            <a:r>
              <a:rPr lang="en-US" altLang="zh-CN" dirty="0" smtClean="0"/>
              <a:t>BACK UP-</a:t>
            </a:r>
            <a:r>
              <a:rPr lang="zh-CN" altLang="en-US" dirty="0" smtClean="0"/>
              <a:t>董事履职手册资料清单</a:t>
            </a:r>
            <a:endParaRPr lang="zh-CN" altLang="en-US" dirty="0">
              <a:sym typeface="微软雅黑" panose="020B0503020204020204" charset="-122"/>
            </a:endParaRPr>
          </a:p>
        </p:txBody>
      </p:sp>
      <p:graphicFrame>
        <p:nvGraphicFramePr>
          <p:cNvPr id="115" name="表格 11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172175"/>
              </p:ext>
            </p:extLst>
          </p:nvPr>
        </p:nvGraphicFramePr>
        <p:xfrm>
          <a:off x="650259" y="1017725"/>
          <a:ext cx="10572750" cy="2891655"/>
        </p:xfrm>
        <a:graphic>
          <a:graphicData uri="http://schemas.openxmlformats.org/drawingml/2006/table">
            <a:tbl>
              <a:tblPr firstRow="1" bandRow="1"/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5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3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资料名称</a:t>
                      </a:r>
                      <a:endParaRPr lang="zh-CN" altLang="en-US" sz="1200" b="1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责任部门</a:t>
                      </a:r>
                      <a:endParaRPr lang="zh-CN" altLang="en-US" sz="1200" b="1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更新频率</a:t>
                      </a:r>
                      <a:endParaRPr lang="zh-CN" altLang="en-US" sz="1200" b="1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公司战略规划</a:t>
                      </a:r>
                      <a:endParaRPr lang="zh-CN" altLang="en-US" sz="1200" b="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Font typeface="+mj-ea"/>
                        <a:buNone/>
                      </a:pPr>
                      <a:r>
                        <a:rPr lang="zh-CN" altLang="en-US" sz="1200" i="0" u="none" kern="0" noProof="0" dirty="0" smtClean="0">
                          <a:ln>
                            <a:noFill/>
                          </a:ln>
                          <a:solidFill>
                            <a:srgbClr val="152A8C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综合管理部</a:t>
                      </a:r>
                      <a:r>
                        <a:rPr lang="en-US" altLang="zh-CN" sz="1200" i="0" u="none" kern="0" noProof="0" dirty="0" smtClean="0">
                          <a:ln>
                            <a:noFill/>
                          </a:ln>
                          <a:solidFill>
                            <a:srgbClr val="152A8C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zh-CN" altLang="en-US" sz="1200" i="0" u="none" kern="0" noProof="0" dirty="0" smtClean="0">
                          <a:ln>
                            <a:noFill/>
                          </a:ln>
                          <a:solidFill>
                            <a:srgbClr val="152A8C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办公室</a:t>
                      </a:r>
                      <a:endParaRPr lang="zh-CN" altLang="en-US" sz="1200" i="0" u="none" kern="0" noProof="0" dirty="0">
                        <a:ln>
                          <a:noFill/>
                        </a:ln>
                        <a:solidFill>
                          <a:srgbClr val="152A8C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年度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9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公司简介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综合管理部</a:t>
                      </a:r>
                      <a:r>
                        <a:rPr lang="en-US" altLang="zh-CN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办公室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季度</a:t>
                      </a: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9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股权运营核心业务材料（一口清、一企一策、参股企业介绍）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股权运营部</a:t>
                      </a: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季度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9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产业投资核心业务材料（投资研究报告、在管项目基本情况）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投资部</a:t>
                      </a: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季度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0468033"/>
                  </a:ext>
                </a:extLst>
              </a:tr>
              <a:tr h="3739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系统情况介绍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综合管理部</a:t>
                      </a:r>
                      <a:r>
                        <a:rPr lang="en-US" altLang="zh-CN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数字化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季度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038889"/>
                  </a:ext>
                </a:extLst>
              </a:tr>
              <a:tr h="3739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外部董事履职服务支撑机制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综合管理部</a:t>
                      </a:r>
                      <a:r>
                        <a:rPr lang="en-US" altLang="zh-CN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办公室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年度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465874"/>
                  </a:ext>
                </a:extLst>
              </a:tr>
              <a:tr h="3739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公司治理相关制度文件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综合管理部</a:t>
                      </a:r>
                      <a:r>
                        <a:rPr lang="en-US" altLang="zh-CN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办公室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年度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30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88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82600" y="306705"/>
            <a:ext cx="9850755" cy="497840"/>
          </a:xfrm>
        </p:spPr>
        <p:txBody>
          <a:bodyPr anchor="ctr" anchorCtr="0"/>
          <a:lstStyle/>
          <a:p>
            <a:r>
              <a:rPr lang="en-US" altLang="zh-CN" dirty="0" smtClean="0"/>
              <a:t>BACK UP-</a:t>
            </a:r>
            <a:r>
              <a:rPr lang="zh-CN" altLang="en-US" dirty="0" smtClean="0"/>
              <a:t>董事履职计划制定</a:t>
            </a:r>
            <a:endParaRPr lang="zh-CN" altLang="en-US" dirty="0">
              <a:sym typeface="微软雅黑" panose="020B0503020204020204" charset="-122"/>
            </a:endParaRPr>
          </a:p>
        </p:txBody>
      </p:sp>
      <p:sp>
        <p:nvSpPr>
          <p:cNvPr id="22" name="内容占位符 3"/>
          <p:cNvSpPr txBox="1"/>
          <p:nvPr/>
        </p:nvSpPr>
        <p:spPr>
          <a:xfrm>
            <a:off x="434197" y="827065"/>
            <a:ext cx="7129481" cy="422615"/>
          </a:xfrm>
          <a:prstGeom prst="rect">
            <a:avLst/>
          </a:prstGeom>
          <a:noFill/>
        </p:spPr>
        <p:txBody>
          <a:bodyPr wrap="square" lIns="81750" tIns="40874" rIns="81750" bIns="40874" rtlCol="0" anchor="t" anchorCtr="0">
            <a:noAutofit/>
          </a:bodyPr>
          <a:lstStyle>
            <a:lvl1pPr marL="316865" indent="-316865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4"/>
              </a:buBlip>
              <a:defRPr sz="2200">
                <a:solidFill>
                  <a:srgbClr val="102A8D"/>
                </a:solidFill>
                <a:latin typeface="+mn-lt"/>
                <a:ea typeface="+mn-ea"/>
                <a:cs typeface="+mn-cs"/>
              </a:defRPr>
            </a:lvl1pPr>
            <a:lvl2pPr marL="686435" indent="-26289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sz="2800">
                <a:solidFill>
                  <a:srgbClr val="102A8D"/>
                </a:solidFill>
                <a:latin typeface="+mn-lt"/>
                <a:ea typeface="+mn-ea"/>
              </a:defRPr>
            </a:lvl2pPr>
            <a:lvl3pPr marL="1057275" indent="-21209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6"/>
              </a:buBlip>
              <a:defRPr sz="2200">
                <a:solidFill>
                  <a:srgbClr val="102A8D"/>
                </a:solidFill>
                <a:latin typeface="+mn-lt"/>
                <a:ea typeface="+mn-ea"/>
              </a:defRPr>
            </a:lvl3pPr>
            <a:lvl4pPr marL="147891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7"/>
              </a:buBlip>
              <a:defRPr sz="1400">
                <a:solidFill>
                  <a:srgbClr val="102A8D"/>
                </a:solidFill>
                <a:latin typeface="+mn-lt"/>
                <a:ea typeface="+mn-ea"/>
              </a:defRPr>
            </a:lvl4pPr>
            <a:lvl5pPr marL="190182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102A8D"/>
                </a:solidFill>
                <a:latin typeface="+mn-lt"/>
                <a:ea typeface="+mn-ea"/>
              </a:defRPr>
            </a:lvl5pPr>
            <a:lvl6pPr marL="235839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495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455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0" marR="0" lvl="2" indent="-342900" algn="l" defTabSz="944880" rtl="0" eaLnBrk="0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调研计划模型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rgbClr val="112D9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281734"/>
              </p:ext>
            </p:extLst>
          </p:nvPr>
        </p:nvGraphicFramePr>
        <p:xfrm>
          <a:off x="571030" y="1123930"/>
          <a:ext cx="10572750" cy="5529704"/>
        </p:xfrm>
        <a:graphic>
          <a:graphicData uri="http://schemas.openxmlformats.org/drawingml/2006/table">
            <a:tbl>
              <a:tblPr firstRow="1" bandRow="1"/>
              <a:tblGrid>
                <a:gridCol w="525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0755">
                  <a:extLst>
                    <a:ext uri="{9D8B030D-6E8A-4147-A177-3AD203B41FA5}">
                      <a16:colId xmlns:a16="http://schemas.microsoft.com/office/drawing/2014/main" val="73204050"/>
                    </a:ext>
                  </a:extLst>
                </a:gridCol>
                <a:gridCol w="3416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5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930"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模型类别</a:t>
                      </a:r>
                      <a:endParaRPr lang="zh-CN" altLang="en-US" sz="1200" b="1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范围</a:t>
                      </a:r>
                      <a:endParaRPr lang="zh-CN" altLang="en-US" sz="1200" b="1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频次</a:t>
                      </a:r>
                      <a:endParaRPr lang="zh-CN" altLang="en-US" sz="1200" b="1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3130" rtl="0" eaLnBrk="1" latinLnBrk="0" hangingPunct="1">
                        <a:buNone/>
                      </a:pPr>
                      <a:r>
                        <a:rPr lang="zh-CN" altLang="en-US" sz="1200" b="1" kern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类别</a:t>
                      </a:r>
                      <a:endParaRPr lang="zh-CN" altLang="en-US" sz="1200" b="1" kern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3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法律主体与股权关系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全资</a:t>
                      </a:r>
                      <a:r>
                        <a:rPr lang="en-US" altLang="zh-CN" sz="1200" b="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200" b="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控股</a:t>
                      </a:r>
                      <a:endParaRPr lang="en-US" altLang="zh-CN" sz="1200" b="0" i="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b="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（红旗私募基金、鼎佳私募基金、资产经营公司、招标中心）</a:t>
                      </a:r>
                      <a:endParaRPr lang="zh-CN" altLang="en-US" sz="1200" b="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Font typeface="+mj-ea"/>
                        <a:buNone/>
                      </a:pPr>
                      <a:r>
                        <a:rPr lang="zh-CN" altLang="en-US" sz="1200" i="0" u="none" kern="0" noProof="0" dirty="0" smtClean="0">
                          <a:ln>
                            <a:noFill/>
                          </a:ln>
                          <a:solidFill>
                            <a:srgbClr val="152A8C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每年不少于</a:t>
                      </a:r>
                      <a:r>
                        <a:rPr lang="en-US" altLang="zh-CN" sz="1200" i="0" u="none" kern="0" noProof="0" dirty="0" smtClean="0">
                          <a:ln>
                            <a:noFill/>
                          </a:ln>
                          <a:solidFill>
                            <a:srgbClr val="152A8C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200" i="0" u="none" kern="0" noProof="0" dirty="0" smtClean="0">
                          <a:ln>
                            <a:noFill/>
                          </a:ln>
                          <a:solidFill>
                            <a:srgbClr val="152A8C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家</a:t>
                      </a:r>
                      <a:endParaRPr lang="zh-CN" altLang="en-US" sz="1200" i="0" u="none" kern="0" noProof="0" dirty="0">
                        <a:ln>
                          <a:noFill/>
                        </a:ln>
                        <a:solidFill>
                          <a:srgbClr val="152A8C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常规调研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83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重点参股企业</a:t>
                      </a:r>
                      <a:endParaRPr lang="en-US" altLang="zh-CN" sz="1200" i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（如按照年度利润贡献、参股企业管理类别、重点投资项目等）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每年不少于</a:t>
                      </a:r>
                      <a:r>
                        <a:rPr lang="en-US" altLang="zh-CN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常规调研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74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业务主价值链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直投业务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每年不少于</a:t>
                      </a:r>
                      <a:r>
                        <a:rPr lang="en-US" altLang="zh-CN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次</a:t>
                      </a: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常规调研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74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基金业务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0468033"/>
                  </a:ext>
                </a:extLst>
              </a:tr>
              <a:tr h="35974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股权运营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endParaRPr lang="zh-CN" altLang="en-US" sz="1200" i="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038889"/>
                  </a:ext>
                </a:extLst>
              </a:tr>
              <a:tr h="35974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股权交易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endParaRPr lang="zh-CN" altLang="en-US" sz="1200" i="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465874"/>
                  </a:ext>
                </a:extLst>
              </a:tr>
              <a:tr h="35974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资产经营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endParaRPr lang="zh-CN" altLang="en-US" sz="1200" i="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kern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30962"/>
                  </a:ext>
                </a:extLst>
              </a:tr>
              <a:tr h="61583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风险管理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经营风险</a:t>
                      </a:r>
                      <a:endParaRPr lang="en-US" altLang="zh-CN" sz="1200" i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（直取管理者看板数据，展示利润连续</a:t>
                      </a:r>
                      <a:r>
                        <a:rPr lang="en-US" altLang="zh-CN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年下降等情况）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每年不少于</a:t>
                      </a:r>
                      <a:r>
                        <a:rPr lang="en-US" altLang="zh-CN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</a:t>
                      </a: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可选调研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831423"/>
                  </a:ext>
                </a:extLst>
              </a:tr>
              <a:tr h="35974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风险管理、内控建设情况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每年不少于</a:t>
                      </a:r>
                      <a:r>
                        <a:rPr lang="en-US" altLang="zh-CN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次</a:t>
                      </a: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可选调研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22164"/>
                  </a:ext>
                </a:extLst>
              </a:tr>
              <a:tr h="35974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外部利益相关方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重点参股企业其他股东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en-US" altLang="zh-CN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可选调研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595637"/>
                  </a:ext>
                </a:extLst>
              </a:tr>
              <a:tr h="43988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</a:t>
                      </a:r>
                      <a:r>
                        <a:rPr lang="en-US" altLang="zh-CN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LP</a:t>
                      </a: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</a:t>
                      </a:r>
                      <a:endParaRPr lang="en-US" altLang="zh-CN" sz="1200" i="0" dirty="0" smtClean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（直取募资工作台）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en-US" altLang="zh-CN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可选调研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25796"/>
                  </a:ext>
                </a:extLst>
              </a:tr>
              <a:tr h="359743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20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120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其他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对标交流等</a:t>
                      </a:r>
                      <a:endParaRPr lang="zh-CN" altLang="en-US" sz="1200" i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defTabSz="913130" rtl="0" eaLnBrk="1" latinLnBrk="0" hangingPunct="1">
                        <a:buNone/>
                      </a:pPr>
                      <a:r>
                        <a:rPr lang="en-US" altLang="zh-CN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zh-CN" altLang="en-US" sz="1200" i="0" kern="0" dirty="0">
                        <a:solidFill>
                          <a:srgbClr val="152A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i="0" kern="0" dirty="0" smtClean="0">
                          <a:solidFill>
                            <a:srgbClr val="152A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可选调研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16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44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6*126"/>
  <p:tag name="TABLE_ENDDRAG_RECT" val="54*379*846*1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2*153"/>
  <p:tag name="TABLE_ENDDRAG_RECT" val="59*347*832*1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2*153"/>
  <p:tag name="TABLE_ENDDRAG_RECT" val="59*347*832*1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2*153"/>
  <p:tag name="TABLE_ENDDRAG_RECT" val="59*347*832*1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2*153"/>
  <p:tag name="TABLE_ENDDRAG_RECT" val="59*347*832*153"/>
</p:tagLst>
</file>

<file path=ppt/theme/theme1.xml><?xml version="1.0" encoding="utf-8"?>
<a:theme xmlns:a="http://schemas.openxmlformats.org/drawingml/2006/main" name="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主题">
  <a:themeElements>
    <a:clrScheme name="1_Office 主题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 cap="flat" cmpd="sng" algn="ctr">
          <a:solidFill>
            <a:schemeClr val="accent1"/>
          </a:solidFill>
          <a:prstDash val="solid"/>
          <a:miter lim="800000"/>
        </a:ln>
      </a:spPr>
      <a:bodyPr lIns="72001" tIns="36001" rIns="72001" bIns="36001" rtlCol="0" anchor="ctr"/>
      <a:lstStyle>
        <a:defPPr marL="0" marR="0" lvl="0" indent="0" algn="ctr" defTabSz="51435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8_Office 主题">
  <a:themeElements>
    <a:clrScheme name="1_Office 主题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5_Office 主题">
  <a:themeElements>
    <a:clrScheme name="1_Office 主题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31976</TotalTime>
  <Words>3957</Words>
  <Application>Microsoft Office PowerPoint</Application>
  <PresentationFormat>宽屏</PresentationFormat>
  <Paragraphs>591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等线</vt:lpstr>
      <vt:lpstr>黑体</vt:lpstr>
      <vt:lpstr>宋体</vt:lpstr>
      <vt:lpstr>微软雅黑</vt:lpstr>
      <vt:lpstr>Arial</vt:lpstr>
      <vt:lpstr>Arial Black</vt:lpstr>
      <vt:lpstr>Calibri</vt:lpstr>
      <vt:lpstr>Wingdings</vt:lpstr>
      <vt:lpstr>2_Office 主题</vt:lpstr>
      <vt:lpstr>7_Office 主题</vt:lpstr>
      <vt:lpstr>17_Office 主题</vt:lpstr>
      <vt:lpstr>8_Office 主题</vt:lpstr>
      <vt:lpstr>15_Office 主题</vt:lpstr>
      <vt:lpstr>PowerPoint 演示文稿</vt:lpstr>
      <vt:lpstr>PowerPoint 演示文稿</vt:lpstr>
      <vt:lpstr>一、用户价值图</vt:lpstr>
      <vt:lpstr>二、业务逻辑图</vt:lpstr>
      <vt:lpstr>三、产品架构-总体</vt:lpstr>
      <vt:lpstr>三、产品架构</vt:lpstr>
      <vt:lpstr>三、产品架构</vt:lpstr>
      <vt:lpstr>三、产品架构</vt:lpstr>
      <vt:lpstr>三、产品架构</vt:lpstr>
      <vt:lpstr>三、产品架构</vt:lpstr>
      <vt:lpstr>PowerPoint 演示文稿</vt:lpstr>
      <vt:lpstr>BACK UP-董事履职手册资料清单</vt:lpstr>
      <vt:lpstr>BACK UP-董事履职计划制定</vt:lpstr>
    </vt:vector>
  </TitlesOfParts>
  <Company>yqjr.faw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阮迪</dc:creator>
  <cp:lastModifiedBy>阮迪</cp:lastModifiedBy>
  <cp:revision>173</cp:revision>
  <dcterms:created xsi:type="dcterms:W3CDTF">2026-05-18T01:45:07Z</dcterms:created>
  <dcterms:modified xsi:type="dcterms:W3CDTF">2026-09-08T12:21:47Z</dcterms:modified>
</cp:coreProperties>
</file>