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1" r:id="rId3"/>
    <p:sldId id="263" r:id="rId5"/>
    <p:sldId id="264" r:id="rId6"/>
    <p:sldId id="266" r:id="rId7"/>
    <p:sldId id="265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724" autoAdjust="0"/>
  </p:normalViewPr>
  <p:slideViewPr>
    <p:cSldViewPr snapToGrid="0">
      <p:cViewPr varScale="1">
        <p:scale>
          <a:sx n="62" d="100"/>
          <a:sy n="62" d="100"/>
        </p:scale>
        <p:origin x="91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D27EFF-D23C-4B6E-A448-C50C58D5863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E7593F-D04B-4AF5-B989-2C5704873A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D1116AA-80B5-45C6-B9A1-B8CE9C42A2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股权运营项目增加已完成金额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D1116AA-80B5-45C6-B9A1-B8CE9C42A2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D1116AA-80B5-45C6-B9A1-B8CE9C42A2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D1116AA-80B5-45C6-B9A1-B8CE9C42A2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D1116AA-80B5-45C6-B9A1-B8CE9C42A2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D1116AA-80B5-45C6-B9A1-B8CE9C42A28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GIF"/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56011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12048" y="964557"/>
            <a:ext cx="11779952" cy="1989667"/>
          </a:xfrm>
          <a:prstGeom prst="rect">
            <a:avLst/>
          </a:prstGeom>
        </p:spPr>
        <p:txBody>
          <a:bodyPr lIns="81750" tIns="40874" rIns="81750" bIns="40874"/>
          <a:lstStyle>
            <a:lvl1pPr marL="318770" indent="-318770">
              <a:lnSpc>
                <a:spcPct val="120000"/>
              </a:lnSpc>
              <a:spcBef>
                <a:spcPts val="385"/>
              </a:spcBef>
              <a:buFontTx/>
              <a:buBlip>
                <a:blip r:embed="rId2"/>
              </a:buBlip>
              <a:defRPr sz="18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82600" indent="-262890">
              <a:lnSpc>
                <a:spcPct val="120000"/>
              </a:lnSpc>
              <a:buSzPct val="100000"/>
              <a:buFont typeface="Wingdings" panose="05000000000000000000" pitchFamily="2" charset="2"/>
              <a:buChar char="Ø"/>
              <a:defRPr sz="16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643890" indent="-212090">
              <a:lnSpc>
                <a:spcPct val="120000"/>
              </a:lnSpc>
              <a:buFont typeface="Wingdings" panose="05000000000000000000" pitchFamily="2" charset="2"/>
              <a:buChar char="n"/>
              <a:defRPr sz="1400" b="1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523365" indent="-255270">
              <a:lnSpc>
                <a:spcPct val="120000"/>
              </a:lnSpc>
              <a:buFont typeface="Wingdings" panose="05000000000000000000" pitchFamily="2" charset="2"/>
              <a:buChar char="l"/>
              <a:defRPr sz="1300" b="1">
                <a:latin typeface="微软雅黑" panose="020B0503020204020204" charset="-122"/>
                <a:ea typeface="微软雅黑" panose="020B0503020204020204" charset="-122"/>
              </a:defRPr>
            </a:lvl4pPr>
            <a:lvl5pPr marL="1946275" indent="-255270">
              <a:lnSpc>
                <a:spcPct val="120000"/>
              </a:lnSpc>
              <a:buFont typeface="Wingdings" panose="05000000000000000000" pitchFamily="2" charset="2"/>
              <a:buChar char="u"/>
              <a:defRPr sz="1100" b="1"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单击此处添加一级文本</a:t>
            </a:r>
            <a:endParaRPr lang="en-US" altLang="zh-CN" dirty="0"/>
          </a:p>
          <a:p>
            <a:pPr lvl="1"/>
            <a:r>
              <a:rPr lang="zh-CN" altLang="en-US" dirty="0"/>
              <a:t>单击此处添加二级文本</a:t>
            </a:r>
            <a:endParaRPr lang="en-US" altLang="zh-CN" dirty="0"/>
          </a:p>
          <a:p>
            <a:pPr lvl="2"/>
            <a:r>
              <a:rPr lang="en-US" altLang="zh-CN" dirty="0"/>
              <a:t> </a:t>
            </a:r>
            <a:r>
              <a:rPr lang="zh-CN" altLang="en-US" dirty="0"/>
              <a:t>三级文本</a:t>
            </a:r>
            <a:endParaRPr lang="en-US" altLang="zh-CN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12048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9"/>
          <p:cNvSpPr>
            <a:spLocks noGrp="1"/>
          </p:cNvSpPr>
          <p:nvPr>
            <p:ph sz="quarter" idx="13"/>
          </p:nvPr>
        </p:nvSpPr>
        <p:spPr>
          <a:xfrm>
            <a:off x="451744" y="1001126"/>
            <a:ext cx="11082187" cy="5551404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buFontTx/>
              <a:buBlip>
                <a:blip r:embed="rId2"/>
              </a:buBlip>
              <a:defRPr kumimoji="1" lang="zh-CN" altLang="en-US" sz="19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>
              <a:buFontTx/>
              <a:buBlip>
                <a:blip r:embed="rId3"/>
              </a:buBlip>
              <a:defRPr kumimoji="1" lang="zh-CN" altLang="en-US" sz="17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buFontTx/>
              <a:buBlip>
                <a:blip r:embed="rId4"/>
              </a:buBlip>
              <a:defRPr kumimoji="1" lang="zh-CN" altLang="en-US" sz="1600" b="1" dirty="0" smtClean="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kumimoji="1" lang="zh-CN" altLang="en-US" sz="1400" b="1" dirty="0" smtClean="0"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4" name="灯片编号占位符 4"/>
          <p:cNvSpPr>
            <a:spLocks noGrp="1"/>
          </p:cNvSpPr>
          <p:nvPr>
            <p:ph type="sldNum" sz="quarter" idx="14"/>
          </p:nvPr>
        </p:nvSpPr>
        <p:spPr>
          <a:xfrm>
            <a:off x="8791055" y="6356937"/>
            <a:ext cx="2845283" cy="364281"/>
          </a:xfrm>
          <a:prstGeom prst="rect">
            <a:avLst/>
          </a:prstGeom>
        </p:spPr>
        <p:txBody>
          <a:bodyPr lIns="87259" tIns="43630" rIns="87259" bIns="43630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XX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公司 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2015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12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月</a:t>
            </a: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7</a:t>
            </a:r>
            <a:r>
              <a: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  <a:t>日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451744" y="169640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7860" y="990187"/>
            <a:ext cx="10947715" cy="547223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>
                <a:solidFill>
                  <a:srgbClr val="102A8D"/>
                </a:solidFill>
              </a:defRPr>
            </a:lvl1pPr>
            <a:lvl2pPr>
              <a:defRPr>
                <a:solidFill>
                  <a:srgbClr val="102A8D"/>
                </a:solidFill>
              </a:defRPr>
            </a:lvl2pPr>
            <a:lvl3pPr>
              <a:defRPr>
                <a:solidFill>
                  <a:srgbClr val="102A8D"/>
                </a:solidFill>
              </a:defRPr>
            </a:lvl3pPr>
            <a:lvl4pPr>
              <a:defRPr>
                <a:solidFill>
                  <a:srgbClr val="102A8D"/>
                </a:solidFill>
              </a:defRPr>
            </a:lvl4pPr>
            <a:lvl5pPr>
              <a:defRPr>
                <a:solidFill>
                  <a:srgbClr val="102A8D"/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477860" y="212368"/>
            <a:ext cx="9850832" cy="548571"/>
          </a:xfrm>
          <a:prstGeom prst="rect">
            <a:avLst/>
          </a:prstGeom>
        </p:spPr>
        <p:txBody>
          <a:bodyPr lIns="81750" tIns="40874" rIns="81750" bIns="40874"/>
          <a:lstStyle>
            <a:lvl1pPr>
              <a:defRPr sz="2300">
                <a:solidFill>
                  <a:srgbClr val="112D98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单击此处添加二级目录标题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12D98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7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11195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4871" y="6244599"/>
            <a:ext cx="3862260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874" y="6244599"/>
            <a:ext cx="2842941" cy="478627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913308-F349-4B6D-A68A-DD1791B4A57B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90204"/>
                <a:ea typeface="黑体" panose="02010609060101010101" pitchFamily="49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image" Target="../media/image6.png"/><Relationship Id="rId7" Type="http://schemas.openxmlformats.org/officeDocument/2006/relationships/image" Target="../media/image5.png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image" Target="../media/image9.png"/><Relationship Id="rId10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026111" y="5446317"/>
            <a:ext cx="2108316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100" name="Text Box 12"/>
          <p:cNvSpPr txBox="1">
            <a:spLocks noChangeArrowheads="1"/>
          </p:cNvSpPr>
          <p:nvPr/>
        </p:nvSpPr>
        <p:spPr bwMode="auto">
          <a:xfrm>
            <a:off x="4559060" y="6382834"/>
            <a:ext cx="2112299" cy="331589"/>
          </a:xfrm>
          <a:prstGeom prst="rect">
            <a:avLst/>
          </a:prstGeom>
          <a:noFill/>
          <a:ln>
            <a:noFill/>
          </a:ln>
        </p:spPr>
        <p:txBody>
          <a:bodyPr lIns="84531" tIns="42266" rIns="84531" bIns="42266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Rectangle 9"/>
          <p:cNvSpPr>
            <a:spLocks noChangeArrowheads="1"/>
          </p:cNvSpPr>
          <p:nvPr userDrawn="1"/>
        </p:nvSpPr>
        <p:spPr bwMode="auto">
          <a:xfrm>
            <a:off x="11585742" y="6178391"/>
            <a:ext cx="606425" cy="332105"/>
          </a:xfrm>
          <a:prstGeom prst="rect">
            <a:avLst/>
          </a:prstGeom>
          <a:noFill/>
          <a:ln>
            <a:noFill/>
          </a:ln>
          <a:effectLst>
            <a:prstShdw prst="shdw17" dist="17961" dir="2700000">
              <a:srgbClr val="2F4D71"/>
            </a:prstShdw>
          </a:effectLst>
        </p:spPr>
        <p:txBody>
          <a:bodyPr wrap="none" lIns="83199" tIns="43264" rIns="83199" bIns="43264" anchor="ctr">
            <a:spAutoFit/>
          </a:bodyPr>
          <a:lstStyle>
            <a:lvl1pPr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defTabSz="846455" eaLnBrk="0" hangingPunct="0"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algn="ctr" defTabSz="84645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marR="0" lvl="0" indent="0" algn="l" defTabSz="84645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DE838B-0F12-4B31-B7D1-2D0F6538ECB8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rgbClr val="002C6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2C6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54651" b="-2228"/>
          <a:stretch>
            <a:fillRect/>
          </a:stretch>
        </p:blipFill>
        <p:spPr>
          <a:xfrm>
            <a:off x="9776566" y="198909"/>
            <a:ext cx="820850" cy="478889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 bwMode="auto">
          <a:xfrm>
            <a:off x="444380" y="820396"/>
            <a:ext cx="11286641" cy="45719"/>
          </a:xfrm>
          <a:prstGeom prst="rect">
            <a:avLst/>
          </a:prstGeom>
          <a:solidFill>
            <a:srgbClr val="112D98"/>
          </a:solidFill>
          <a:ln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10597417" y="145965"/>
            <a:ext cx="12897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一汽股权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112D9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112D95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FAW EQUITY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112D95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-2262553" y="1045210"/>
            <a:ext cx="2262554" cy="590550"/>
          </a:xfrm>
          <a:prstGeom prst="rect">
            <a:avLst/>
          </a:prstGeom>
          <a:solidFill>
            <a:srgbClr val="152A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主色：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21/42/140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2262553" y="1798955"/>
            <a:ext cx="2262554" cy="590550"/>
          </a:xfrm>
          <a:prstGeom prst="rect">
            <a:avLst/>
          </a:prstGeom>
          <a:solidFill>
            <a:srgbClr val="2796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39/150/212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2261918" y="2552700"/>
            <a:ext cx="2262554" cy="59055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辅助色：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20202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237/237/237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20202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2273006" y="3306445"/>
            <a:ext cx="2262554" cy="590550"/>
          </a:xfrm>
          <a:prstGeom prst="rect">
            <a:avLst/>
          </a:prstGeom>
          <a:solidFill>
            <a:srgbClr val="B1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特殊色：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RGB: 177/0/17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+mj-lt"/>
          <a:ea typeface="+mj-ea"/>
          <a:cs typeface="+mj-cs"/>
        </a:defRPr>
      </a:lvl1pPr>
      <a:lvl2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45656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6pPr>
      <a:lvl7pPr marL="91313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7pPr>
      <a:lvl8pPr marL="1369695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8pPr>
      <a:lvl9pPr marL="1826260" algn="l" defTabSz="844550" rtl="0" eaLnBrk="1" fontAlgn="base" hangingPunct="1">
        <a:spcBef>
          <a:spcPct val="0"/>
        </a:spcBef>
        <a:spcAft>
          <a:spcPct val="0"/>
        </a:spcAft>
        <a:defRPr sz="2600" b="1">
          <a:solidFill>
            <a:srgbClr val="002C6C"/>
          </a:solidFill>
          <a:latin typeface="Calibri" panose="020F0502020204030204" pitchFamily="34" charset="0"/>
          <a:ea typeface="黑体" panose="02010609060101010101" pitchFamily="49" charset="-122"/>
        </a:defRPr>
      </a:lvl9pPr>
    </p:titleStyle>
    <p:bodyStyle>
      <a:lvl1pPr marL="316865" indent="-316865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Blip>
          <a:blip r:embed="rId8"/>
        </a:buBlip>
        <a:defRPr sz="2200">
          <a:solidFill>
            <a:srgbClr val="002C6C"/>
          </a:solidFill>
          <a:latin typeface="+mn-lt"/>
          <a:ea typeface="+mn-ea"/>
          <a:cs typeface="+mn-cs"/>
        </a:defRPr>
      </a:lvl1pPr>
      <a:lvl2pPr marL="686435" indent="-2628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Blip>
          <a:blip r:embed="rId9"/>
        </a:buBlip>
        <a:defRPr sz="2800">
          <a:solidFill>
            <a:srgbClr val="002C6C"/>
          </a:solidFill>
          <a:latin typeface="+mn-lt"/>
          <a:ea typeface="+mn-ea"/>
        </a:defRPr>
      </a:lvl2pPr>
      <a:lvl3pPr marL="1057275" indent="-21209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Blip>
          <a:blip r:embed="rId10"/>
        </a:buBlip>
        <a:defRPr sz="2200">
          <a:solidFill>
            <a:srgbClr val="002C6C"/>
          </a:solidFill>
          <a:latin typeface="+mn-lt"/>
          <a:ea typeface="+mn-ea"/>
        </a:defRPr>
      </a:lvl3pPr>
      <a:lvl4pPr marL="147891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Blip>
          <a:blip r:embed="rId11"/>
        </a:buBlip>
        <a:defRPr sz="1400">
          <a:solidFill>
            <a:srgbClr val="002C6C"/>
          </a:solidFill>
          <a:latin typeface="+mn-lt"/>
          <a:ea typeface="+mn-ea"/>
        </a:defRPr>
      </a:lvl4pPr>
      <a:lvl5pPr marL="190182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5pPr>
      <a:lvl6pPr marL="235839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6pPr>
      <a:lvl7pPr marL="281495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7pPr>
      <a:lvl8pPr marL="3271520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8pPr>
      <a:lvl9pPr marL="3728085" indent="-210820" algn="l" defTabSz="844550" rtl="0" eaLnBrk="1" fontAlgn="base" hangingPunct="1">
        <a:spcBef>
          <a:spcPct val="20000"/>
        </a:spcBef>
        <a:spcAft>
          <a:spcPct val="0"/>
        </a:spcAft>
        <a:buFont typeface="Arial" panose="020B0604020202090204" pitchFamily="34" charset="0"/>
        <a:buChar char="»"/>
        <a:defRPr sz="1400">
          <a:solidFill>
            <a:srgbClr val="002C6C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56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13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69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626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219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3875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5320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1885" algn="l" defTabSz="91313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/>
        </p:nvSpPr>
        <p:spPr>
          <a:xfrm>
            <a:off x="462280" y="307975"/>
            <a:ext cx="4857865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委派人员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80" y="1289345"/>
            <a:ext cx="6308390" cy="2347707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378918" y="894033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当前界面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69430" y="894080"/>
            <a:ext cx="4858385" cy="3076575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存在问题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布局需平铺，单独一行，不要卡片，董事、高管</a:t>
            </a:r>
            <a:r>
              <a:rPr lang="zh-CN" altLang="en-US" sz="14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全部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显示</a:t>
            </a:r>
            <a:endParaRPr lang="en-US" altLang="zh-CN" sz="14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指标需要调整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高管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履职情况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不变，删除专项管理建议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仅保留经营目标达成率、履职报告提报率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高管任职情况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现有指标删除，改为：应派岗位：</a:t>
            </a:r>
            <a:r>
              <a:rPr lang="en-US" altLang="zh-CN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XXXX</a:t>
            </a:r>
            <a:r>
              <a:rPr lang="zh-CN" altLang="en-US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个：实际派出人数：</a:t>
            </a:r>
            <a:r>
              <a:rPr lang="en-US" altLang="zh-CN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lang="zh-CN" altLang="en-US" sz="1050" b="1" dirty="0">
              <a:solidFill>
                <a:srgbClr val="152A8C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新增关键岗位人数：取值逻辑，派出总经理、财务负责人数量，参股信息管理需增加字段（是否为财务负责人）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下钻：具体人员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lang="zh-CN" altLang="en-US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任职结束时间不变</a:t>
            </a:r>
            <a:endParaRPr lang="en-US" altLang="zh-CN" sz="1050" b="1" dirty="0">
              <a:solidFill>
                <a:srgbClr val="152A8C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董监事</a:t>
            </a:r>
            <a:endParaRPr lang="en-US" altLang="zh-CN" sz="1050" b="1" dirty="0">
              <a:solidFill>
                <a:srgbClr val="152A8C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履职不变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indent="-228600">
              <a:buFont typeface="+mj-ea"/>
              <a:buAutoNum type="circleNumDbPlain"/>
              <a:defRPr/>
            </a:pPr>
            <a:r>
              <a:rPr lang="zh-CN" altLang="en-US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新增应派岗位：</a:t>
            </a:r>
            <a:r>
              <a:rPr lang="en-US" altLang="zh-CN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XXXX</a:t>
            </a:r>
            <a:r>
              <a:rPr lang="zh-CN" altLang="en-US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个：实际派出人数：</a:t>
            </a:r>
            <a:r>
              <a:rPr lang="en-US" altLang="zh-CN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lang="en-US" altLang="zh-CN" sz="1050" b="1" dirty="0">
              <a:solidFill>
                <a:srgbClr val="152A8C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indent="-228600">
              <a:buFont typeface="+mj-ea"/>
              <a:buAutoNum type="circleNumDbPlain"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新增委派董事覆盖率（有委派董事公司数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/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参股公司总数）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indent="-228600">
              <a:buFont typeface="+mj-ea"/>
              <a:buAutoNum type="circleNumDbPlain"/>
              <a:defRPr/>
            </a:pPr>
            <a:r>
              <a:rPr lang="zh-CN" altLang="en-US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新增关键岗位人数（派出董事长</a:t>
            </a:r>
            <a:r>
              <a:rPr lang="en-US" altLang="zh-CN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副董事长人数</a:t>
            </a:r>
            <a:r>
              <a:rPr lang="en-US" altLang="zh-CN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有委派董事人数），需下钻具体人员</a:t>
            </a:r>
            <a:endParaRPr lang="en-US" altLang="zh-CN" sz="1050" b="1" dirty="0">
              <a:solidFill>
                <a:srgbClr val="152A8C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buFont typeface="Wingdings" panose="05000000000000000000" pitchFamily="2" charset="2"/>
              <a:buChar char="Ø"/>
              <a:defRPr/>
            </a:pP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监事删除</a:t>
            </a: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indent="-228600">
              <a:buFont typeface="+mj-ea"/>
              <a:buAutoNum type="circleNumDbPlain"/>
              <a:defRPr/>
            </a:pP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indent="-228600">
              <a:buFont typeface="+mj-ea"/>
              <a:buAutoNum type="circleNumDbPlain"/>
              <a:defRPr/>
            </a:pP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62280" y="4447019"/>
            <a:ext cx="11265262" cy="2517168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1448" y="4557260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优化后界面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95901" y="4032364"/>
            <a:ext cx="2948683" cy="39775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董监高管理</a:t>
            </a:r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595902" y="4438436"/>
            <a:ext cx="3729518" cy="544529"/>
            <a:chOff x="595901" y="4438436"/>
            <a:chExt cx="10890607" cy="544529"/>
          </a:xfrm>
        </p:grpSpPr>
        <p:cxnSp>
          <p:nvCxnSpPr>
            <p:cNvPr id="18" name="直接连接符 17"/>
            <p:cNvCxnSpPr/>
            <p:nvPr/>
          </p:nvCxnSpPr>
          <p:spPr bwMode="auto">
            <a:xfrm>
              <a:off x="595901" y="4438436"/>
              <a:ext cx="10890607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dist="17961" dir="2700000" algn="ctr" rotWithShape="0">
                <a:schemeClr val="tx1">
                  <a:gamma/>
                  <a:shade val="60000"/>
                  <a:invGamma/>
                </a:schemeClr>
              </a:outerShdw>
            </a:effectLst>
          </p:spPr>
        </p:cxnSp>
        <p:sp>
          <p:nvSpPr>
            <p:cNvPr id="20" name="文本框 19"/>
            <p:cNvSpPr txBox="1"/>
            <p:nvPr/>
          </p:nvSpPr>
          <p:spPr>
            <a:xfrm>
              <a:off x="667820" y="4541178"/>
              <a:ext cx="4941870" cy="441787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sz="1100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委派高管</a:t>
              </a:r>
              <a:endPara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0787" y="4977516"/>
            <a:ext cx="2276190" cy="1392213"/>
          </a:xfrm>
          <a:prstGeom prst="rect">
            <a:avLst/>
          </a:prstGeom>
        </p:spPr>
      </p:pic>
      <p:sp>
        <p:nvSpPr>
          <p:cNvPr id="26" name="文本框 25"/>
          <p:cNvSpPr txBox="1"/>
          <p:nvPr/>
        </p:nvSpPr>
        <p:spPr>
          <a:xfrm>
            <a:off x="620531" y="5489827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经营目标达成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20531" y="5936996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提报率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6257" y="4992018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履职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2409385" y="5480773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应派岗位：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b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实际派出：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2409385" y="5927942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关键岗位人数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395111" y="4982964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任职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02554" y="4550231"/>
            <a:ext cx="1692357" cy="441787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委派董事</a:t>
            </a:r>
            <a:r>
              <a:rPr lang="en-US" altLang="zh-CN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委派监事</a:t>
            </a:r>
            <a:endParaRPr lang="zh-CN" altLang="en-US" sz="11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374007" y="4960833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履职（不变）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2555" y="5489827"/>
            <a:ext cx="1720904" cy="972498"/>
          </a:xfrm>
          <a:prstGeom prst="rect">
            <a:avLst/>
          </a:prstGeom>
        </p:spPr>
      </p:pic>
      <p:sp>
        <p:nvSpPr>
          <p:cNvPr id="38" name="文本框 37"/>
          <p:cNvSpPr txBox="1"/>
          <p:nvPr/>
        </p:nvSpPr>
        <p:spPr>
          <a:xfrm>
            <a:off x="6672304" y="4977516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任职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6480916" y="5364841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应派岗位：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个</a:t>
            </a:r>
            <a:b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实际派出：</a:t>
            </a:r>
            <a:r>
              <a:rPr lang="en-US" altLang="zh-CN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6495190" y="5806628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委派董事覆盖率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495190" y="6148722"/>
            <a:ext cx="1720904" cy="441787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关键岗位人数</a:t>
            </a:r>
            <a:endParaRPr lang="zh-CN" altLang="en-US" sz="1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/>
        </p:nvSpPr>
        <p:spPr>
          <a:xfrm>
            <a:off x="462280" y="307975"/>
            <a:ext cx="4857865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股权运营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8918" y="894033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当前界面：无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54032" y="894033"/>
            <a:ext cx="4873510" cy="811477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存在问题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进展部分放在最前面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按截至上期显示年度目标和已完成情况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股权经营方式指标：鼠标移动位置显示具体项目名称</a:t>
            </a:r>
            <a:endParaRPr lang="en-US" altLang="zh-CN" sz="1200" b="1" dirty="0">
              <a:solidFill>
                <a:srgbClr val="152A8C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按项目危险程度排序显示</a:t>
            </a:r>
            <a:endParaRPr lang="en-US" altLang="zh-CN" sz="1200" b="1" dirty="0">
              <a:solidFill>
                <a:srgbClr val="152A8C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时间戳调整到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26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年前显示信息一样，能否以</a:t>
            </a:r>
            <a:r>
              <a: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26</a:t>
            </a: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年为起点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918" y="1299771"/>
            <a:ext cx="6308389" cy="201636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78918" y="3634605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优化后界面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62280" y="4032364"/>
            <a:ext cx="11265262" cy="2517168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5901" y="4032364"/>
            <a:ext cx="2948683" cy="39775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股权运营</a:t>
            </a:r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595900" y="4582274"/>
            <a:ext cx="5640513" cy="163359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 algn="l"/>
            <a:r>
              <a:rPr lang="en-US" altLang="zh-CN" sz="1200" b="1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华大半导体（正常推进或危险标识）：具体进展</a:t>
            </a:r>
            <a:r>
              <a:rPr lang="en-US" altLang="zh-CN" sz="1200" b="1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XXX</a:t>
            </a:r>
            <a:endParaRPr lang="en-US" altLang="zh-CN" sz="1200" b="1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b="1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中联电子（正常推进或危险标识） ：具体进展</a:t>
            </a:r>
            <a:r>
              <a:rPr lang="en-US" altLang="zh-CN" sz="1200" b="1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XXX</a:t>
            </a:r>
            <a:endParaRPr lang="en-US" altLang="zh-CN" sz="1200" b="1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1200" b="1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3.XXX</a:t>
            </a:r>
            <a:r>
              <a:rPr lang="zh-CN" alt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（正常推进或危险标识） ：</a:t>
            </a:r>
            <a:endParaRPr lang="en-US" altLang="zh-CN" sz="1200" b="1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200" b="1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（截取各项目在最近一期经审批后的项目进展，进展字数太多，左右滚动播放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445249" y="4440397"/>
            <a:ext cx="1692357" cy="23388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项目进展</a:t>
            </a:r>
            <a:endParaRPr lang="zh-CN" altLang="en-US" sz="11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527025" y="4471676"/>
            <a:ext cx="1692357" cy="233887"/>
          </a:xfrm>
          <a:prstGeom prst="rect">
            <a:avLst/>
          </a:prstGeom>
          <a:solidFill>
            <a:schemeClr val="bg2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股权增值金额</a:t>
            </a:r>
            <a:endParaRPr lang="zh-CN" altLang="en-US" sz="11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527025" y="4762087"/>
            <a:ext cx="1692357" cy="65788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年度目标</a:t>
            </a:r>
            <a:endParaRPr lang="en-US" altLang="zh-CN" sz="1600" b="1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600" b="1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亿</a:t>
            </a:r>
            <a:endParaRPr lang="zh-CN" altLang="en-US" sz="1600" b="1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527025" y="5436146"/>
            <a:ext cx="1692357" cy="65788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ctr"/>
            <a:r>
              <a:rPr lang="zh-CN" alt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endParaRPr lang="en-US" altLang="zh-CN" sz="1600" b="1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sz="1600" b="1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XXX</a:t>
            </a:r>
            <a:r>
              <a:rPr lang="zh-CN" alt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亿</a:t>
            </a:r>
            <a:endParaRPr lang="zh-CN" altLang="en-US" sz="1600" b="1" dirty="0">
              <a:solidFill>
                <a:srgbClr val="000000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95901" y="6292907"/>
            <a:ext cx="4325420" cy="18715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注：按双周更新、危险的排序在上</a:t>
            </a:r>
            <a:endParaRPr lang="zh-CN" altLang="en-US" sz="11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6094911" y="6292907"/>
            <a:ext cx="3012042" cy="233886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1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注：需增加手动填写金额的功能，并有下钻页面，显示项目名称，增利时间、增利金额</a:t>
            </a:r>
            <a:endParaRPr lang="zh-CN" altLang="en-US" sz="11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 bwMode="auto">
          <a:xfrm>
            <a:off x="10161142" y="4153207"/>
            <a:ext cx="1434957" cy="31846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时间：删除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7725" y="4597581"/>
            <a:ext cx="2306833" cy="18386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/>
        </p:nvSpPr>
        <p:spPr>
          <a:xfrm>
            <a:off x="462280" y="307975"/>
            <a:ext cx="4857865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参股党建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8918" y="894033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当前界面：无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54032" y="894033"/>
            <a:ext cx="4873510" cy="811477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存在问题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无法下钻，需设置下钻页面：公司名称、是否设立党组织、是否进章程（分母剔除</a:t>
            </a:r>
            <a:r>
              <a:rPr lang="en-US" altLang="zh-CN" sz="120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T3</a:t>
            </a:r>
            <a:r>
              <a:rPr lang="zh-CN" altLang="en-US" sz="120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）、党建工作责任主体</a:t>
            </a:r>
            <a:endParaRPr lang="en-US" altLang="zh-CN" sz="1200" b="1" dirty="0">
              <a:solidFill>
                <a:srgbClr val="152A8C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鼠标悬浮，能显示未覆盖、未进章程公司名称</a:t>
            </a:r>
            <a:endParaRPr lang="en-US" altLang="zh-CN" sz="1200" b="1" dirty="0">
              <a:solidFill>
                <a:srgbClr val="152A8C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8918" y="3634605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优化后界面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62280" y="4032364"/>
            <a:ext cx="11265262" cy="2517168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5901" y="4032364"/>
            <a:ext cx="2948683" cy="39775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参股党建</a:t>
            </a:r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80" y="1221501"/>
            <a:ext cx="4971429" cy="220749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901" y="4342034"/>
            <a:ext cx="4971429" cy="203314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4378" y="4342034"/>
            <a:ext cx="3568977" cy="2077877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8763856" y="4931596"/>
            <a:ext cx="1438382" cy="801384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显示公司名称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8675535" y="4728864"/>
            <a:ext cx="1962364" cy="99809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600" dirty="0">
                <a:latin typeface="Arial" panose="020B0604020202090204" pitchFamily="34" charset="0"/>
                <a:ea typeface="宋体" pitchFamily="2" charset="-122"/>
              </a:rPr>
              <a:t>数量和比例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/>
        </p:nvSpPr>
        <p:spPr>
          <a:xfrm>
            <a:off x="462280" y="307975"/>
            <a:ext cx="4857865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152A8C"/>
                </a:solidFill>
              </a:rPr>
              <a:t>监督控制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8918" y="894033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当前界面：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54032" y="894033"/>
            <a:ext cx="4873510" cy="2051534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存在问题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平铺一整行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左侧红框标记处删除，涉及风险管理、审计管理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风险企业指标：需设置下钻页面：公司名称、是否存在风险点（逻辑与当前保持一致）、风险数量</a:t>
            </a: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highlight>
                <a:srgbClr val="FFFF00"/>
              </a:highlight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lvl="0" indent="-342900">
              <a:buFont typeface="+mj-lt"/>
              <a:buAutoNum type="arabicPeriod"/>
              <a:defRPr/>
            </a:pPr>
            <a:r>
              <a:rPr lang="zh-CN" altLang="en-US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风险分析指标：需设置下钻页面：公司名称、风险名称、触发时间、处理时间、风险状态（处理中、已关闭）、处理结果（取具体风险中核实结果说明）</a:t>
            </a:r>
            <a:endParaRPr lang="en-US" altLang="zh-CN" sz="1050" b="1" dirty="0">
              <a:solidFill>
                <a:srgbClr val="152A8C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0" indent="-342900">
              <a:buFont typeface="+mj-lt"/>
              <a:buAutoNum type="arabicPeriod"/>
              <a:defRPr/>
            </a:pPr>
            <a:r>
              <a:rPr lang="zh-CN" altLang="en-US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风险分析指标：图例显示不完整</a:t>
            </a:r>
            <a:endParaRPr lang="en-US" altLang="zh-CN" sz="1050" b="1" dirty="0">
              <a:solidFill>
                <a:srgbClr val="152A8C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lvl="0" indent="-342900">
              <a:buFont typeface="+mj-lt"/>
              <a:buAutoNum type="arabicPeriod"/>
              <a:defRPr/>
            </a:pPr>
            <a:r>
              <a:rPr lang="zh-CN" altLang="en-US" sz="105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风险状态指标：需设置下钻页面：公司名称、风险名称、触发时间、处理时间、风险状态（处理中、已关闭）、处理结果（取具体风险中核实结果说明）</a:t>
            </a:r>
            <a:endParaRPr lang="zh-CN" altLang="en-US" sz="1050" b="1" dirty="0">
              <a:solidFill>
                <a:srgbClr val="152A8C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8918" y="3634605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优化后界面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矩形 5"/>
          <p:cNvSpPr/>
          <p:nvPr/>
        </p:nvSpPr>
        <p:spPr bwMode="auto">
          <a:xfrm>
            <a:off x="462280" y="4032364"/>
            <a:ext cx="11265262" cy="2517168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95901" y="4032364"/>
            <a:ext cx="2948683" cy="39775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监督控制</a:t>
            </a:r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80" y="1306156"/>
            <a:ext cx="6020713" cy="205153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 bwMode="auto">
          <a:xfrm>
            <a:off x="595901" y="1808252"/>
            <a:ext cx="965771" cy="267128"/>
          </a:xfrm>
          <a:prstGeom prst="rect">
            <a:avLst/>
          </a:prstGeom>
          <a:noFill/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601" y="3223395"/>
            <a:ext cx="4873509" cy="26870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/>
        </p:nvSpPr>
        <p:spPr>
          <a:xfrm>
            <a:off x="462280" y="307975"/>
            <a:ext cx="4857865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其他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8918" y="894033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当前界面：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54032" y="894033"/>
            <a:ext cx="4873510" cy="2051534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存在问题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会议、人事调动无信息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左右布局需统一调整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一企一策选择</a:t>
            </a:r>
            <a:r>
              <a:rPr lang="en-US" altLang="zh-CN" sz="120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Q1</a:t>
            </a:r>
            <a:r>
              <a:rPr lang="zh-CN" altLang="en-US" sz="1200" b="1" dirty="0">
                <a:solidFill>
                  <a:srgbClr val="152A8C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</a:rPr>
              <a:t>无信息</a:t>
            </a:r>
            <a:endParaRPr lang="en-US" altLang="zh-CN" sz="1200" b="1" dirty="0">
              <a:solidFill>
                <a:srgbClr val="152A8C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亏损金额、盈利金额数据不对：富赛电子显示数据与系统录入数据不符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05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参股企业经营情况数据错误</a:t>
            </a:r>
            <a:endParaRPr lang="en-US" altLang="zh-CN" sz="105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80" y="1264221"/>
            <a:ext cx="3311878" cy="5285804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520" y="1241437"/>
            <a:ext cx="2366369" cy="1826595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7520" y="3068033"/>
            <a:ext cx="6095999" cy="1826596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520" y="4843881"/>
            <a:ext cx="6342857" cy="154536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0377" y="3381007"/>
            <a:ext cx="1925995" cy="14628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/>
        </p:nvSpPr>
        <p:spPr>
          <a:xfrm>
            <a:off x="462280" y="307975"/>
            <a:ext cx="4857865" cy="509905"/>
          </a:xfrm>
          <a:prstGeom prst="rect">
            <a:avLst/>
          </a:prstGeom>
        </p:spPr>
        <p:txBody>
          <a:bodyPr lIns="81750" tIns="40874" rIns="81750" bIns="40874"/>
          <a:lstStyle>
            <a:lvl1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300" b="1">
                <a:solidFill>
                  <a:srgbClr val="002C6C"/>
                </a:solidFill>
                <a:latin typeface="微软雅黑" panose="020B0503020204020204" charset="-122"/>
                <a:ea typeface="微软雅黑" panose="020B0503020204020204" charset="-122"/>
                <a:cs typeface="+mj-cs"/>
              </a:defRPr>
            </a:lvl1pPr>
            <a:lvl2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45656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6pPr>
            <a:lvl7pPr marL="91313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7pPr>
            <a:lvl8pPr marL="1369695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8pPr>
            <a:lvl9pPr marL="1826260" algn="l" defTabSz="844550" rtl="0" eaLnBrk="1" fontAlgn="base" hangingPunct="1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002C6C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9pPr>
          </a:lstStyle>
          <a:p>
            <a:pPr marL="0" marR="0" lvl="0" indent="0" algn="l" defTabSz="8445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战略模块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78918" y="894033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当前界面：无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854032" y="894033"/>
            <a:ext cx="4873510" cy="811477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存在问题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lang="zh-CN" altLang="en-US" sz="1200" b="1" dirty="0">
                <a:solidFill>
                  <a:srgbClr val="152A8C"/>
                </a:solidFill>
                <a:latin typeface="微软雅黑" panose="020B0503020204020204" charset="-122"/>
                <a:ea typeface="微软雅黑" panose="020B0503020204020204" charset="-122"/>
              </a:rPr>
              <a:t>需重新搭建</a:t>
            </a:r>
            <a:endParaRPr lang="en-US" altLang="zh-CN" sz="1200" b="1" dirty="0">
              <a:solidFill>
                <a:srgbClr val="152A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平铺一整行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indent="-228600">
              <a:buFont typeface="+mj-ea"/>
              <a:buAutoNum type="circleNumDbPlain"/>
              <a:defRPr/>
            </a:pPr>
            <a:endParaRPr kumimoji="0" lang="en-US" altLang="zh-CN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endParaRPr kumimoji="0" lang="zh-CN" altLang="en-US" sz="105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 bwMode="auto">
          <a:xfrm>
            <a:off x="462280" y="1886546"/>
            <a:ext cx="11265262" cy="4257399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78918" y="1488788"/>
            <a:ext cx="11265262" cy="518602"/>
          </a:xfrm>
          <a:prstGeom prst="rect">
            <a:avLst/>
          </a:prstGeom>
          <a:noFill/>
        </p:spPr>
        <p:txBody>
          <a:bodyPr wrap="square" rtlCol="0" anchor="t" anchorCtr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52A8C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设计界面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152A8C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95901" y="1886547"/>
            <a:ext cx="2948683" cy="397759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战略模块（暂定）</a:t>
            </a:r>
            <a:endParaRPr lang="zh-CN" altLang="en-US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矩形: 圆角 44"/>
          <p:cNvSpPr/>
          <p:nvPr/>
        </p:nvSpPr>
        <p:spPr bwMode="auto">
          <a:xfrm>
            <a:off x="595901" y="3164949"/>
            <a:ext cx="678095" cy="1201081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规划编制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矩形: 圆角 46"/>
          <p:cNvSpPr/>
          <p:nvPr/>
        </p:nvSpPr>
        <p:spPr bwMode="auto">
          <a:xfrm>
            <a:off x="595901" y="4950038"/>
            <a:ext cx="678095" cy="1201081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</a:rPr>
              <a:t>其他专项工作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箭头: 五边形 47"/>
          <p:cNvSpPr/>
          <p:nvPr/>
        </p:nvSpPr>
        <p:spPr bwMode="auto">
          <a:xfrm>
            <a:off x="1357358" y="2589089"/>
            <a:ext cx="1941815" cy="297950"/>
          </a:xfrm>
          <a:prstGeom prst="homePlat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战略任务拆解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1357358" y="3068075"/>
            <a:ext cx="1941815" cy="120108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当前状态：进行中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审批中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  <a:endParaRPr lang="en-US" altLang="zh-CN" sz="1200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完成时间：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-/xxxx.xx.xx</a:t>
            </a:r>
            <a:endParaRPr lang="zh-CN" altLang="en-US" sz="1200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箭头: 五边形 49"/>
          <p:cNvSpPr/>
          <p:nvPr/>
        </p:nvSpPr>
        <p:spPr bwMode="auto">
          <a:xfrm>
            <a:off x="3378330" y="2571246"/>
            <a:ext cx="1941815" cy="297950"/>
          </a:xfrm>
          <a:prstGeom prst="homePlat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规划编制启动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3378329" y="3025028"/>
            <a:ext cx="1941815" cy="1201081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algn="l"/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当前状态：进行中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审批中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已完成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  <a:endParaRPr lang="en-US" altLang="zh-CN" sz="1200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完成时间：</a:t>
            </a:r>
            <a:r>
              <a:rPr lang="en-US" altLang="zh-CN" sz="1200" dirty="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-/xxxx.xx.xx</a:t>
            </a:r>
            <a:endParaRPr lang="zh-CN" altLang="en-US" sz="1200" dirty="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左大括号 51"/>
          <p:cNvSpPr/>
          <p:nvPr/>
        </p:nvSpPr>
        <p:spPr bwMode="auto">
          <a:xfrm>
            <a:off x="5392168" y="3219741"/>
            <a:ext cx="123876" cy="1421610"/>
          </a:xfrm>
          <a:prstGeom prst="leftBrace">
            <a:avLst>
              <a:gd name="adj1" fmla="val 35452"/>
              <a:gd name="adj2" fmla="val 50000"/>
            </a:avLst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53" name="圆角矩形 16"/>
          <p:cNvSpPr/>
          <p:nvPr/>
        </p:nvSpPr>
        <p:spPr>
          <a:xfrm>
            <a:off x="5761454" y="3245129"/>
            <a:ext cx="848360" cy="51860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>
              <a:lnSpc>
                <a:spcPct val="200000"/>
              </a:lnSpc>
              <a:defRPr/>
            </a:pPr>
            <a:r>
              <a:rPr lang="zh-CN" altLang="en-US" sz="1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先进底盘</a:t>
            </a:r>
            <a:endParaRPr lang="zh-CN" altLang="en-US" sz="10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圆角矩形 16"/>
          <p:cNvSpPr/>
          <p:nvPr/>
        </p:nvSpPr>
        <p:spPr>
          <a:xfrm>
            <a:off x="5779703" y="3915360"/>
            <a:ext cx="848360" cy="51860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>
              <a:lnSpc>
                <a:spcPct val="200000"/>
              </a:lnSpc>
              <a:defRPr/>
            </a:pPr>
            <a:r>
              <a:rPr lang="zh-CN" altLang="en-US" sz="1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智能座舱</a:t>
            </a:r>
            <a:endParaRPr lang="zh-CN" altLang="en-US" sz="10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圆角矩形 11"/>
          <p:cNvSpPr/>
          <p:nvPr/>
        </p:nvSpPr>
        <p:spPr>
          <a:xfrm>
            <a:off x="6693176" y="3259320"/>
            <a:ext cx="883285" cy="24511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富奥公司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56" name="圆角矩形 11"/>
          <p:cNvSpPr/>
          <p:nvPr/>
        </p:nvSpPr>
        <p:spPr>
          <a:xfrm>
            <a:off x="6726085" y="3932572"/>
            <a:ext cx="883285" cy="24511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富维公司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57" name="箭头: 五边形 56"/>
          <p:cNvSpPr/>
          <p:nvPr/>
        </p:nvSpPr>
        <p:spPr bwMode="auto">
          <a:xfrm>
            <a:off x="7691763" y="2589118"/>
            <a:ext cx="1941815" cy="297950"/>
          </a:xfrm>
          <a:prstGeom prst="homePlat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规划编制评审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58" name="箭头: 五边形 57"/>
          <p:cNvSpPr/>
          <p:nvPr/>
        </p:nvSpPr>
        <p:spPr bwMode="auto">
          <a:xfrm>
            <a:off x="5516044" y="2564431"/>
            <a:ext cx="1941815" cy="297950"/>
          </a:xfrm>
          <a:prstGeom prst="homePlat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规划制定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59" name="左大括号 58"/>
          <p:cNvSpPr/>
          <p:nvPr/>
        </p:nvSpPr>
        <p:spPr bwMode="auto">
          <a:xfrm>
            <a:off x="7664817" y="3217172"/>
            <a:ext cx="123876" cy="1421610"/>
          </a:xfrm>
          <a:prstGeom prst="leftBrace">
            <a:avLst>
              <a:gd name="adj1" fmla="val 35452"/>
              <a:gd name="adj2" fmla="val 50000"/>
            </a:avLst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60" name="圆角矩形 16"/>
          <p:cNvSpPr/>
          <p:nvPr/>
        </p:nvSpPr>
        <p:spPr>
          <a:xfrm>
            <a:off x="8034103" y="3242560"/>
            <a:ext cx="848360" cy="51860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>
              <a:lnSpc>
                <a:spcPct val="200000"/>
              </a:lnSpc>
              <a:defRPr/>
            </a:pPr>
            <a:r>
              <a:rPr lang="zh-CN" altLang="en-US" sz="1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先进底盘</a:t>
            </a:r>
            <a:endParaRPr lang="zh-CN" altLang="en-US" sz="10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圆角矩形 16"/>
          <p:cNvSpPr/>
          <p:nvPr/>
        </p:nvSpPr>
        <p:spPr>
          <a:xfrm>
            <a:off x="8052352" y="3912791"/>
            <a:ext cx="848360" cy="518602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>
              <a:lnSpc>
                <a:spcPct val="200000"/>
              </a:lnSpc>
              <a:defRPr/>
            </a:pPr>
            <a:r>
              <a:rPr lang="zh-CN" altLang="en-US" sz="1000" b="1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智能座舱</a:t>
            </a:r>
            <a:endParaRPr lang="zh-CN" altLang="en-US" sz="1000" b="1" dirty="0">
              <a:solidFill>
                <a:prstClr val="whit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圆角矩形 11"/>
          <p:cNvSpPr/>
          <p:nvPr/>
        </p:nvSpPr>
        <p:spPr>
          <a:xfrm>
            <a:off x="8965825" y="3256751"/>
            <a:ext cx="883285" cy="24511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富奥公司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63" name="圆角矩形 11"/>
          <p:cNvSpPr/>
          <p:nvPr/>
        </p:nvSpPr>
        <p:spPr>
          <a:xfrm>
            <a:off x="8998734" y="3930003"/>
            <a:ext cx="883285" cy="24511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7961" dir="2700000" algn="ctr" rotWithShape="0">
              <a:schemeClr val="tx1">
                <a:gamma/>
                <a:shade val="60000"/>
                <a:invGamma/>
              </a:schemeClr>
            </a:outerShdw>
          </a:effectLst>
        </p:spPr>
        <p:txBody>
          <a:bodyPr vert="horz" wrap="square" lIns="91440" tIns="45720" rIns="91440" bIns="45720" numCol="1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200" b="0" i="0" u="none" strike="noStrike" cap="none" normalizeH="0" baseline="0" dirty="0">
                <a:ln>
                  <a:noFill/>
                </a:ln>
                <a:solidFill>
                  <a:schemeClr val="bg2"/>
                </a:solidFill>
                <a:effectLst/>
                <a:latin typeface="Arial" panose="020B0604020202090204" pitchFamily="34" charset="0"/>
                <a:ea typeface="宋体" pitchFamily="2" charset="-122"/>
              </a:rPr>
              <a:t>富维公司</a:t>
            </a:r>
            <a:endParaRPr kumimoji="0" lang="zh-CN" altLang="en-US" sz="1200" b="0" i="0" u="none" strike="noStrike" cap="none" normalizeH="0" baseline="0" dirty="0">
              <a:ln>
                <a:noFill/>
              </a:ln>
              <a:solidFill>
                <a:schemeClr val="bg2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cxnSp>
        <p:nvCxnSpPr>
          <p:cNvPr id="64" name="直接连接符 63"/>
          <p:cNvCxnSpPr/>
          <p:nvPr/>
        </p:nvCxnSpPr>
        <p:spPr>
          <a:xfrm flipV="1">
            <a:off x="462280" y="4809652"/>
            <a:ext cx="11133819" cy="33676"/>
          </a:xfrm>
          <a:prstGeom prst="line">
            <a:avLst/>
          </a:prstGeom>
          <a:ln w="31750" cap="rnd">
            <a:solidFill>
              <a:schemeClr val="accent1"/>
            </a:solidFill>
            <a:prstDash val="sysDot"/>
            <a:round/>
            <a:headEnd type="none" w="med" len="med"/>
            <a:tailEnd type="none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2_Office 主题">
  <a:themeElements>
    <a:clrScheme name="中国一汽">
      <a:dk1>
        <a:srgbClr val="FFFFFF"/>
      </a:dk1>
      <a:lt1>
        <a:srgbClr val="FFFFFF"/>
      </a:lt1>
      <a:dk2>
        <a:srgbClr val="7F7F7F"/>
      </a:dk2>
      <a:lt2>
        <a:srgbClr val="1F497D"/>
      </a:lt2>
      <a:accent1>
        <a:srgbClr val="8DB3E2"/>
      </a:accent1>
      <a:accent2>
        <a:srgbClr val="548DD4"/>
      </a:accent2>
      <a:accent3>
        <a:srgbClr val="17365D"/>
      </a:accent3>
      <a:accent4>
        <a:srgbClr val="1F497D"/>
      </a:accent4>
      <a:accent5>
        <a:srgbClr val="FF0000"/>
      </a:accent5>
      <a:accent6>
        <a:srgbClr val="002060"/>
      </a:accent6>
      <a:hlink>
        <a:srgbClr val="1F497D"/>
      </a:hlink>
      <a:folHlink>
        <a:srgbClr val="7F7F7F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>
          <a:outerShdw dist="17961" dir="2700000" algn="ctr" rotWithShape="0">
            <a:schemeClr val="tx1">
              <a:gamma/>
              <a:shade val="60000"/>
              <a:invGamma/>
            </a:schemeClr>
          </a:outerShdw>
        </a:effectLst>
      </a:spPr>
      <a:bodyPr vert="horz" wrap="square" lIns="91440" tIns="45720" rIns="91440" bIns="45720" numCol="1" anchor="ctr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90204" pitchFamily="34" charset="0"/>
            <a:ea typeface="宋体" pitchFamily="2" charset="-122"/>
          </a:defRPr>
        </a:defPPr>
      </a:lstStyle>
    </a:lnDef>
    <a:txDef>
      <a:spPr>
        <a:noFill/>
      </a:spPr>
      <a:bodyPr wrap="square" rtlCol="0" anchor="ctr" anchorCtr="0">
        <a:noAutofit/>
      </a:bodyPr>
      <a:lstStyle>
        <a:defPPr algn="l">
          <a:defRPr b="1" dirty="0" smtClean="0"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>
    <a:extraClrScheme>
      <a:clrScheme name="3_Office 主题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2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Office 主题 3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E70000"/>
        </a:accent6>
        <a:hlink>
          <a:srgbClr val="0000FF"/>
        </a:hlink>
        <a:folHlink>
          <a:srgbClr val="FF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1272</Words>
  <Application>WPS 演示</Application>
  <PresentationFormat>宽屏</PresentationFormat>
  <Paragraphs>186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7" baseType="lpstr">
      <vt:lpstr>Arial</vt:lpstr>
      <vt:lpstr>宋体</vt:lpstr>
      <vt:lpstr>Wingdings</vt:lpstr>
      <vt:lpstr>汉仪书宋二KW</vt:lpstr>
      <vt:lpstr>微软雅黑</vt:lpstr>
      <vt:lpstr>汉仪旗黑</vt:lpstr>
      <vt:lpstr>Calibri</vt:lpstr>
      <vt:lpstr>黑体</vt:lpstr>
      <vt:lpstr>Arial</vt:lpstr>
      <vt:lpstr>汉仪中黑KW</vt:lpstr>
      <vt:lpstr>Helvetica Neue</vt:lpstr>
      <vt:lpstr>等线</vt:lpstr>
      <vt:lpstr>等线</vt:lpstr>
      <vt:lpstr>宋体</vt:lpstr>
      <vt:lpstr>Arial Unicode MS</vt:lpstr>
      <vt:lpstr>汉仪中等线KW</vt:lpstr>
      <vt:lpstr>Arial Black</vt:lpstr>
      <vt:lpstr>Wingdings</vt:lpstr>
      <vt:lpstr>微软雅黑</vt:lpstr>
      <vt:lpstr>等线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guocc</cp:lastModifiedBy>
  <cp:revision>47</cp:revision>
  <dcterms:created xsi:type="dcterms:W3CDTF">2026-07-29T06:02:03Z</dcterms:created>
  <dcterms:modified xsi:type="dcterms:W3CDTF">2026-07-29T06:02:03Z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2052-12.1.25869.25869</vt:lpwstr>
  </property>
  <property fmtid="{D5CDD505-2E9C-101B-9397-08002B2CF9AE}" pid="3" name="ICV">
    <vt:lpwstr>33542F1C978DBEC173175F6A87C6DE97_42</vt:lpwstr>
  </property>
</Properties>
</file>