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xlsx" ContentType="application/vnd.openxmlformats-officedocument.spreadsheetml.sheet"/>
  <Default Extension="gif" ContentType="image/gi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3941" r:id="rId4"/>
    <p:sldId id="3942" r:id="rId6"/>
    <p:sldId id="3943" r:id="rId7"/>
    <p:sldId id="3944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2A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88" autoAdjust="0"/>
  </p:normalViewPr>
  <p:slideViewPr>
    <p:cSldViewPr snapToGrid="0">
      <p:cViewPr varScale="1">
        <p:scale>
          <a:sx n="62" d="100"/>
          <a:sy n="62" d="100"/>
        </p:scale>
        <p:origin x="91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4" Type="http://schemas.microsoft.com/office/2011/relationships/chartColorStyle" Target="colors1.xml"/><Relationship Id="rId3" Type="http://schemas.microsoft.com/office/2011/relationships/chartStyle" Target="style1.xml"/><Relationship Id="rId2" Type="http://schemas.openxmlformats.org/officeDocument/2006/relationships/themeOverride" Target="../theme/themeOverride1.xml"/><Relationship Id="rId1" Type="http://schemas.openxmlformats.org/officeDocument/2006/relationships/package" Target="../embeddings/Workbook2.xlsx"/></Relationships>
</file>

<file path=ppt/charts/_rels/chart2.xml.rels><?xml version="1.0" encoding="UTF-8" standalone="yes"?>
<Relationships xmlns="http://schemas.openxmlformats.org/package/2006/relationships"><Relationship Id="rId4" Type="http://schemas.microsoft.com/office/2011/relationships/chartColorStyle" Target="colors2.xml"/><Relationship Id="rId3" Type="http://schemas.microsoft.com/office/2011/relationships/chartStyle" Target="style2.xml"/><Relationship Id="rId2" Type="http://schemas.openxmlformats.org/officeDocument/2006/relationships/themeOverride" Target="../theme/themeOverride2.xml"/><Relationship Id="rId1" Type="http://schemas.openxmlformats.org/officeDocument/2006/relationships/package" Target="../embeddings/Workbook3.xlsx"/></Relationships>
</file>

<file path=ppt/charts/_rels/chart3.xml.rels><?xml version="1.0" encoding="UTF-8" standalone="yes"?>
<Relationships xmlns="http://schemas.openxmlformats.org/package/2006/relationships"><Relationship Id="rId4" Type="http://schemas.microsoft.com/office/2011/relationships/chartColorStyle" Target="colors3.xml"/><Relationship Id="rId3" Type="http://schemas.microsoft.com/office/2011/relationships/chartStyle" Target="style3.xml"/><Relationship Id="rId2" Type="http://schemas.openxmlformats.org/officeDocument/2006/relationships/themeOverride" Target="../theme/themeOverride3.xml"/><Relationship Id="rId1" Type="http://schemas.openxmlformats.org/officeDocument/2006/relationships/package" Target="../embeddings/Workbook4.xlsx"/></Relationships>
</file>

<file path=ppt/charts/_rels/chart4.xml.rels><?xml version="1.0" encoding="UTF-8" standalone="yes"?>
<Relationships xmlns="http://schemas.openxmlformats.org/package/2006/relationships"><Relationship Id="rId4" Type="http://schemas.microsoft.com/office/2011/relationships/chartColorStyle" Target="colors4.xml"/><Relationship Id="rId3" Type="http://schemas.microsoft.com/office/2011/relationships/chartStyle" Target="style4.xml"/><Relationship Id="rId2" Type="http://schemas.openxmlformats.org/officeDocument/2006/relationships/themeOverride" Target="../theme/themeOverride4.xml"/><Relationship Id="rId1" Type="http://schemas.openxmlformats.org/officeDocument/2006/relationships/package" Target="../embeddings/Workbook5.xlsx"/></Relationships>
</file>

<file path=ppt/charts/_rels/chart5.xml.rels><?xml version="1.0" encoding="UTF-8" standalone="yes"?>
<Relationships xmlns="http://schemas.openxmlformats.org/package/2006/relationships"><Relationship Id="rId4" Type="http://schemas.microsoft.com/office/2011/relationships/chartColorStyle" Target="colors5.xml"/><Relationship Id="rId3" Type="http://schemas.microsoft.com/office/2011/relationships/chartStyle" Target="style5.xml"/><Relationship Id="rId2" Type="http://schemas.openxmlformats.org/officeDocument/2006/relationships/themeOverride" Target="../theme/themeOverride5.xml"/><Relationship Id="rId1" Type="http://schemas.openxmlformats.org/officeDocument/2006/relationships/package" Target="../embeddings/Workbook6.xlsx"/></Relationships>
</file>

<file path=ppt/charts/_rels/chart6.xml.rels><?xml version="1.0" encoding="UTF-8" standalone="yes"?>
<Relationships xmlns="http://schemas.openxmlformats.org/package/2006/relationships"><Relationship Id="rId4" Type="http://schemas.microsoft.com/office/2011/relationships/chartColorStyle" Target="colors6.xml"/><Relationship Id="rId3" Type="http://schemas.microsoft.com/office/2011/relationships/chartStyle" Target="style6.xml"/><Relationship Id="rId2" Type="http://schemas.openxmlformats.org/officeDocument/2006/relationships/themeOverride" Target="../theme/themeOverride6.xml"/><Relationship Id="rId1" Type="http://schemas.openxmlformats.org/officeDocument/2006/relationships/package" Target="../embeddings/Workbook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r>
              <a:rPr lang="zh-CN" altLang="en-US" dirty="0"/>
              <a:t>利润贡献情况</a:t>
            </a:r>
            <a:endParaRPr lang="zh-CN" altLang="en-US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投资收益总额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Sheet1!$C$2:$C$9</c:f>
              <c:strCache>
                <c:ptCount val="8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  <c:pt idx="7">
                  <c:v>2026年度目标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87878</c:v>
                </c:pt>
                <c:pt idx="1">
                  <c:v>69849</c:v>
                </c:pt>
                <c:pt idx="2">
                  <c:v>53954</c:v>
                </c:pt>
                <c:pt idx="3">
                  <c:v>55047</c:v>
                </c:pt>
                <c:pt idx="4">
                  <c:v>64030</c:v>
                </c:pt>
                <c:pt idx="5">
                  <c:v>66977</c:v>
                </c:pt>
                <c:pt idx="6">
                  <c:v>99332</c:v>
                </c:pt>
                <c:pt idx="7">
                  <c:v>100000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4746616"/>
        <c:axId val="584745536"/>
      </c:barChart>
      <c:catAx>
        <c:axId val="584746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584745536"/>
        <c:crosses val="autoZero"/>
        <c:auto val="1"/>
        <c:lblAlgn val="ctr"/>
        <c:lblOffset val="100"/>
        <c:noMultiLvlLbl val="0"/>
      </c:catAx>
      <c:valAx>
        <c:axId val="5847455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5847466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2d3ac9a-baa4-4541-936f-10eb922cabee}"/>
      </c:ext>
    </c:extLst>
  </c:chart>
  <c:spPr>
    <a:noFill/>
    <a:ln>
      <a:solidFill>
        <a:srgbClr val="FFFFFF">
          <a:lumMod val="85000"/>
        </a:srgbClr>
      </a:solidFill>
    </a:ln>
    <a:effectLst/>
  </c:spPr>
  <c:txPr>
    <a:bodyPr/>
    <a:lstStyle/>
    <a:p>
      <a:pPr>
        <a:defRPr lang="zh-CN">
          <a:latin typeface="微软雅黑" panose="020B0503020204020204" charset="-122"/>
          <a:ea typeface="微软雅黑" panose="020B0503020204020204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Sheet1!$D$41</c:f>
              <c:strCache>
                <c:ptCount val="1"/>
                <c:pt idx="0">
                  <c:v>2026年度投资收益贡献情况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Sheet1!$C$42:$C$46</c:f>
              <c:strCache>
                <c:ptCount val="5"/>
                <c:pt idx="0">
                  <c:v>A公司</c:v>
                </c:pt>
                <c:pt idx="1">
                  <c:v>B公司</c:v>
                </c:pt>
                <c:pt idx="2">
                  <c:v>C公司</c:v>
                </c:pt>
                <c:pt idx="3">
                  <c:v>D公司</c:v>
                </c:pt>
                <c:pt idx="4">
                  <c:v>E公司</c:v>
                </c:pt>
              </c:strCache>
            </c:strRef>
          </c:cat>
          <c:val>
            <c:numRef>
              <c:f>Sheet1!$D$42:$D$46</c:f>
              <c:numCache>
                <c:formatCode>General</c:formatCode>
                <c:ptCount val="5"/>
                <c:pt idx="0">
                  <c:v>1200</c:v>
                </c:pt>
                <c:pt idx="1">
                  <c:v>1601</c:v>
                </c:pt>
                <c:pt idx="2">
                  <c:v>1860</c:v>
                </c:pt>
                <c:pt idx="3">
                  <c:v>2350</c:v>
                </c:pt>
                <c:pt idx="4">
                  <c:v>2840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13324808"/>
        <c:axId val="613322288"/>
      </c:barChart>
      <c:catAx>
        <c:axId val="6133248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613322288"/>
        <c:crosses val="autoZero"/>
        <c:auto val="1"/>
        <c:lblAlgn val="ctr"/>
        <c:lblOffset val="100"/>
        <c:noMultiLvlLbl val="0"/>
      </c:catAx>
      <c:valAx>
        <c:axId val="613322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613324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bf28e85-e03c-4572-947b-b675aa97706e}"/>
      </c:ext>
    </c:extLst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charset="-122"/>
          <a:ea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r>
              <a:rPr lang="en-US" altLang="zh-CN" dirty="0"/>
              <a:t>2026</a:t>
            </a:r>
            <a:r>
              <a:rPr lang="zh-CN" altLang="en-US" dirty="0"/>
              <a:t>年度投资收益亏损情况</a:t>
            </a:r>
            <a:endParaRPr lang="zh-CN" altLang="en-US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Sheet1!$D$41</c:f>
              <c:strCache>
                <c:ptCount val="1"/>
                <c:pt idx="0">
                  <c:v>2026年度投资收益贡献情况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Sheet1!$C$42:$C$46</c:f>
              <c:strCache>
                <c:ptCount val="5"/>
                <c:pt idx="0">
                  <c:v>A公司</c:v>
                </c:pt>
                <c:pt idx="1">
                  <c:v>B公司</c:v>
                </c:pt>
                <c:pt idx="2">
                  <c:v>C公司</c:v>
                </c:pt>
                <c:pt idx="3">
                  <c:v>D公司</c:v>
                </c:pt>
                <c:pt idx="4">
                  <c:v>E公司</c:v>
                </c:pt>
              </c:strCache>
            </c:strRef>
          </c:cat>
          <c:val>
            <c:numRef>
              <c:f>Sheet1!$D$42:$D$46</c:f>
              <c:numCache>
                <c:formatCode>General</c:formatCode>
                <c:ptCount val="5"/>
                <c:pt idx="0">
                  <c:v>1200</c:v>
                </c:pt>
                <c:pt idx="1">
                  <c:v>1601</c:v>
                </c:pt>
                <c:pt idx="2">
                  <c:v>1860</c:v>
                </c:pt>
                <c:pt idx="3">
                  <c:v>2350</c:v>
                </c:pt>
                <c:pt idx="4">
                  <c:v>2840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13324808"/>
        <c:axId val="613322288"/>
      </c:barChart>
      <c:catAx>
        <c:axId val="6133248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613322288"/>
        <c:crosses val="autoZero"/>
        <c:auto val="1"/>
        <c:lblAlgn val="ctr"/>
        <c:lblOffset val="100"/>
        <c:noMultiLvlLbl val="0"/>
      </c:catAx>
      <c:valAx>
        <c:axId val="613322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613324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5892cd8-6db4-414b-b5a2-8a738f265449}"/>
      </c:ext>
    </c:extLst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charset="-122"/>
          <a:ea typeface="微软雅黑" panose="020B050302020402020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r>
              <a:rPr lang="en-US" altLang="zh-CN" dirty="0"/>
              <a:t>2026</a:t>
            </a:r>
            <a:r>
              <a:rPr lang="zh-CN" altLang="en-US" dirty="0"/>
              <a:t>年分红情况</a:t>
            </a:r>
            <a:endParaRPr lang="zh-CN" altLang="en-US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Sheet1!$D$48</c:f>
              <c:strCache>
                <c:ptCount val="1"/>
                <c:pt idx="0">
                  <c:v>分红金额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Sheet1!$C$49:$C$60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Sheet1!$D$49:$D$60</c:f>
              <c:numCache>
                <c:formatCode>General</c:formatCode>
                <c:ptCount val="12"/>
                <c:pt idx="0">
                  <c:v>805</c:v>
                </c:pt>
                <c:pt idx="1">
                  <c:v>150</c:v>
                </c:pt>
                <c:pt idx="2">
                  <c:v>30</c:v>
                </c:pt>
                <c:pt idx="3">
                  <c:v>1250</c:v>
                </c:pt>
                <c:pt idx="4">
                  <c:v>455</c:v>
                </c:pt>
                <c:pt idx="5">
                  <c:v>786</c:v>
                </c:pt>
                <c:pt idx="6">
                  <c:v>269</c:v>
                </c:pt>
                <c:pt idx="7">
                  <c:v>106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0251424"/>
        <c:axId val="610252504"/>
      </c:barChart>
      <c:catAx>
        <c:axId val="610251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610252504"/>
        <c:crosses val="autoZero"/>
        <c:auto val="1"/>
        <c:lblAlgn val="ctr"/>
        <c:lblOffset val="100"/>
        <c:noMultiLvlLbl val="0"/>
      </c:catAx>
      <c:valAx>
        <c:axId val="6102525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6102514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458b69e-3543-435e-a5e2-c4d0d043c763}"/>
      </c:ext>
    </c:extLst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charset="-122"/>
          <a:ea typeface="微软雅黑" panose="020B050302020402020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spc="0" baseline="0">
                <a:solidFill>
                  <a:schemeClr val="accent3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r>
              <a:rPr lang="zh-CN" altLang="en-US" b="1" dirty="0"/>
              <a:t>资产负债率</a:t>
            </a:r>
            <a:endParaRPr lang="zh-CN" altLang="en-US" b="1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Sheet1!$E$29</c:f>
              <c:strCache>
                <c:ptCount val="1"/>
                <c:pt idx="0">
                  <c:v>资产负债率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accent3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Sheet1!$D$30:$D$35</c:f>
              <c:strCache>
                <c:ptCount val="6"/>
                <c:pt idx="0">
                  <c:v>A公司</c:v>
                </c:pt>
                <c:pt idx="1">
                  <c:v>B公司</c:v>
                </c:pt>
                <c:pt idx="2">
                  <c:v>C公司</c:v>
                </c:pt>
                <c:pt idx="3">
                  <c:v>D公司</c:v>
                </c:pt>
                <c:pt idx="4">
                  <c:v>E公司</c:v>
                </c:pt>
                <c:pt idx="5">
                  <c:v>F公司</c:v>
                </c:pt>
              </c:strCache>
            </c:strRef>
          </c:cat>
          <c:val>
            <c:numRef>
              <c:f>Sheet1!$E$30:$E$35</c:f>
              <c:numCache>
                <c:formatCode>0%</c:formatCode>
                <c:ptCount val="6"/>
                <c:pt idx="0">
                  <c:v>0.75</c:v>
                </c:pt>
                <c:pt idx="1">
                  <c:v>0.8</c:v>
                </c:pt>
                <c:pt idx="2">
                  <c:v>0.82</c:v>
                </c:pt>
                <c:pt idx="3">
                  <c:v>0.79</c:v>
                </c:pt>
                <c:pt idx="4">
                  <c:v>0.75</c:v>
                </c:pt>
                <c:pt idx="5">
                  <c:v>0.92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4745896"/>
        <c:axId val="584732936"/>
      </c:barChart>
      <c:catAx>
        <c:axId val="584745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accent3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584732936"/>
        <c:crosses val="autoZero"/>
        <c:auto val="1"/>
        <c:lblAlgn val="ctr"/>
        <c:lblOffset val="100"/>
        <c:noMultiLvlLbl val="0"/>
      </c:catAx>
      <c:valAx>
        <c:axId val="58473293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accent3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5847458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2b110a1-8927-4587-a937-643d5a993cd1}"/>
      </c:ext>
    </c:extLst>
  </c:chart>
  <c:spPr>
    <a:noFill/>
    <a:ln>
      <a:solidFill>
        <a:srgbClr val="FFFFFF">
          <a:lumMod val="85000"/>
        </a:srgbClr>
      </a:solidFill>
    </a:ln>
    <a:effectLst/>
  </c:spPr>
  <c:txPr>
    <a:bodyPr/>
    <a:lstStyle/>
    <a:p>
      <a:pPr>
        <a:defRPr lang="zh-CN">
          <a:solidFill>
            <a:schemeClr val="accent3">
              <a:lumMod val="50000"/>
            </a:schemeClr>
          </a:solidFill>
          <a:latin typeface="微软雅黑" panose="020B0503020204020204" charset="-122"/>
          <a:ea typeface="微软雅黑" panose="020B0503020204020204" charset="-122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spc="0" baseline="0">
                <a:solidFill>
                  <a:schemeClr val="accent3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r>
              <a:rPr lang="en-US"/>
              <a:t>ROA</a:t>
            </a:r>
            <a:r>
              <a:rPr lang="zh-CN"/>
              <a:t>异常变动</a:t>
            </a:r>
            <a:endParaRPr 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Sheet1!$H$29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accent3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Sheet1!$G$30:$G$35</c:f>
              <c:strCache>
                <c:ptCount val="6"/>
                <c:pt idx="0">
                  <c:v>A公司</c:v>
                </c:pt>
                <c:pt idx="1">
                  <c:v>B公司</c:v>
                </c:pt>
                <c:pt idx="2">
                  <c:v>C公司</c:v>
                </c:pt>
                <c:pt idx="3">
                  <c:v>D公司</c:v>
                </c:pt>
                <c:pt idx="4">
                  <c:v>E公司</c:v>
                </c:pt>
                <c:pt idx="5">
                  <c:v>F公司</c:v>
                </c:pt>
              </c:strCache>
            </c:strRef>
          </c:cat>
          <c:val>
            <c:numRef>
              <c:f>Sheet1!$H$30:$H$35</c:f>
              <c:numCache>
                <c:formatCode>0.00%</c:formatCode>
                <c:ptCount val="6"/>
                <c:pt idx="0">
                  <c:v>0.025</c:v>
                </c:pt>
                <c:pt idx="1">
                  <c:v>0.025</c:v>
                </c:pt>
                <c:pt idx="2">
                  <c:v>0.025</c:v>
                </c:pt>
                <c:pt idx="3">
                  <c:v>0.025</c:v>
                </c:pt>
                <c:pt idx="4">
                  <c:v>0.025</c:v>
                </c:pt>
                <c:pt idx="5">
                  <c:v>0.025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8667720"/>
        <c:axId val="438661600"/>
      </c:barChart>
      <c:catAx>
        <c:axId val="438667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accent3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438661600"/>
        <c:crosses val="autoZero"/>
        <c:auto val="1"/>
        <c:lblAlgn val="ctr"/>
        <c:lblOffset val="100"/>
        <c:noMultiLvlLbl val="0"/>
      </c:catAx>
      <c:valAx>
        <c:axId val="438661600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accent3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438667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25094f0-c1cd-47ed-bb22-decd9249e7d1}"/>
      </c:ext>
    </c:extLst>
  </c:chart>
  <c:spPr>
    <a:noFill/>
    <a:ln>
      <a:solidFill>
        <a:srgbClr val="FFFFFF">
          <a:lumMod val="85000"/>
        </a:srgbClr>
      </a:solidFill>
    </a:ln>
    <a:effectLst/>
  </c:spPr>
  <c:txPr>
    <a:bodyPr/>
    <a:lstStyle/>
    <a:p>
      <a:pPr>
        <a:defRPr lang="zh-CN">
          <a:solidFill>
            <a:schemeClr val="accent3">
              <a:lumMod val="50000"/>
            </a:schemeClr>
          </a:solidFill>
          <a:latin typeface="微软雅黑" panose="020B0503020204020204" charset="-122"/>
          <a:ea typeface="微软雅黑" panose="020B050302020402020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7958C3-D505-45C5-8739-CC4167239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4F59C-D7B4-499A-9E61-9765899A40D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连续非持续经营、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10ECC9-BEFD-40EB-A993-E432DA1E796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分红已覆盖投资成本企业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10ECC9-BEFD-40EB-A993-E432DA1E796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连续非持续经营、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10ECC9-BEFD-40EB-A993-E432DA1E796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10ECC9-BEFD-40EB-A993-E432DA1E796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GIF"/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913F-9AA0-4860-A278-D7309D854E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D00A5-D8E5-4CB8-A620-633577BDB0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913F-9AA0-4860-A278-D7309D854E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D00A5-D8E5-4CB8-A620-633577BDB0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913F-9AA0-4860-A278-D7309D854E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D00A5-D8E5-4CB8-A620-633577BDB0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913F-9AA0-4860-A278-D7309D854E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D00A5-D8E5-4CB8-A620-633577BDB0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913F-9AA0-4860-A278-D7309D854E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D00A5-D8E5-4CB8-A620-633577BDB0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913F-9AA0-4860-A278-D7309D854E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D00A5-D8E5-4CB8-A620-633577BDB0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913F-9AA0-4860-A278-D7309D854E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D00A5-D8E5-4CB8-A620-633577BDB0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913F-9AA0-4860-A278-D7309D854E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D00A5-D8E5-4CB8-A620-633577BDB0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913F-9AA0-4860-A278-D7309D854E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D00A5-D8E5-4CB8-A620-633577BDB0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913F-9AA0-4860-A278-D7309D854E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D00A5-D8E5-4CB8-A620-633577BDB0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913F-9AA0-4860-A278-D7309D854E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D00A5-D8E5-4CB8-A620-633577BDB0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5586" y="182604"/>
            <a:ext cx="10290733" cy="510092"/>
          </a:xfrm>
          <a:prstGeom prst="rect">
            <a:avLst/>
          </a:prstGeom>
        </p:spPr>
        <p:txBody>
          <a:bodyPr lIns="81750" tIns="40874" rIns="81750" bIns="40874"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138" y="836362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image" Target="../media/image9.png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2913F-9AA0-4860-A278-D7309D854E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9D00A5-D8E5-4CB8-A620-633577BDB04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731021" y="6555928"/>
            <a:ext cx="378017" cy="272039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54651" b="-2228"/>
          <a:stretch>
            <a:fillRect/>
          </a:stretch>
        </p:blipFill>
        <p:spPr>
          <a:xfrm>
            <a:off x="9776566" y="198909"/>
            <a:ext cx="820850" cy="478889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0597417" y="145965"/>
            <a:ext cx="1289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12D9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一汽股权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112D95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112D9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FAW EQUITY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112D95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Blip>
          <a:blip r:embed="rId10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Blip>
          <a:blip r:embed="rId11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Blip>
          <a:blip r:embed="rId12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Blip>
          <a:blip r:embed="rId13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11.emf"/><Relationship Id="rId3" Type="http://schemas.openxmlformats.org/officeDocument/2006/relationships/package" Target="../embeddings/Workbook1.xlsx"/><Relationship Id="rId2" Type="http://schemas.openxmlformats.org/officeDocument/2006/relationships/image" Target="../media/image10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4.xml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tags" Target="../tags/tag2.xml"/><Relationship Id="rId4" Type="http://schemas.openxmlformats.org/officeDocument/2006/relationships/chart" Target="../charts/chart4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14.png"/><Relationship Id="rId3" Type="http://schemas.openxmlformats.org/officeDocument/2006/relationships/tags" Target="../tags/tag3.xml"/><Relationship Id="rId2" Type="http://schemas.openxmlformats.org/officeDocument/2006/relationships/chart" Target="../charts/chart6.xml"/><Relationship Id="rId1" Type="http://schemas.openxmlformats.org/officeDocument/2006/relationships/chart" Target="../charts/chart5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72290" y="974504"/>
            <a:ext cx="11186332" cy="3189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36000" rIns="0" bIns="36000" anchor="t" anchorCtr="0">
            <a:spAutoFit/>
          </a:bodyPr>
          <a:lstStyle/>
          <a:p>
            <a:pPr marL="285750" marR="0" lvl="1" indent="-285750" algn="just" defTabSz="914400" rtl="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52A8C"/>
              </a:buClr>
              <a:buSzPct val="100000"/>
              <a:buFont typeface="Wingdings" panose="05000000000000000000" pitchFamily="2" charset="2"/>
              <a:buChar char="p"/>
              <a:tabLst>
                <a:tab pos="0" algn="l"/>
              </a:tabLst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绩效考核</a:t>
            </a:r>
            <a:r>
              <a:rPr lang="zh-CN" altLang="en-US" sz="16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指标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7" name="标题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77860" y="288568"/>
            <a:ext cx="9850832" cy="548571"/>
          </a:xfrm>
          <a:prstGeom prst="rect">
            <a:avLst/>
          </a:prstGeom>
        </p:spPr>
        <p:txBody>
          <a:bodyPr lIns="81750" tIns="40874" rIns="81750" bIns="40874" anchor="ctr" anchorCtr="0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12D9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微软雅黑" panose="020B0503020204020204" charset="-122"/>
              </a:rPr>
              <a:t>设计界面</a:t>
            </a:r>
            <a:endParaRPr kumimoji="0" lang="en-US" altLang="zh-CN" sz="2300" b="1" i="0" u="none" strike="noStrike" kern="1200" cap="none" spc="0" normalizeH="0" baseline="0" noProof="0" dirty="0">
              <a:ln>
                <a:noFill/>
              </a:ln>
              <a:solidFill>
                <a:srgbClr val="112D98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41" y="1504086"/>
            <a:ext cx="11332715" cy="1817318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472290" y="3692140"/>
            <a:ext cx="11186332" cy="3189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36000" rIns="0" bIns="36000" anchor="t" anchorCtr="0">
            <a:spAutoFit/>
          </a:bodyPr>
          <a:lstStyle/>
          <a:p>
            <a:pPr marL="285750" marR="0" lvl="1" indent="-285750" algn="just" defTabSz="914400" rtl="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52A8C"/>
              </a:buClr>
              <a:buSzPct val="100000"/>
              <a:buFont typeface="Wingdings" panose="05000000000000000000" pitchFamily="2" charset="2"/>
              <a:buChar char="p"/>
              <a:tabLst>
                <a:tab pos="0" algn="l"/>
              </a:tabLst>
              <a:defRPr/>
            </a:pPr>
            <a:r>
              <a:rPr lang="zh-CN" altLang="en-US" sz="16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国资监管指标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90759" y="4133769"/>
            <a:ext cx="11167863" cy="1220145"/>
            <a:chOff x="472290" y="4542631"/>
            <a:chExt cx="7480967" cy="1241720"/>
          </a:xfrm>
        </p:grpSpPr>
        <p:grpSp>
          <p:nvGrpSpPr>
            <p:cNvPr id="5" name="组合 4"/>
            <p:cNvGrpSpPr/>
            <p:nvPr/>
          </p:nvGrpSpPr>
          <p:grpSpPr>
            <a:xfrm>
              <a:off x="472290" y="4542631"/>
              <a:ext cx="3602473" cy="1241720"/>
              <a:chOff x="472290" y="4542631"/>
              <a:chExt cx="2693399" cy="1099335"/>
            </a:xfrm>
          </p:grpSpPr>
          <p:sp>
            <p:nvSpPr>
              <p:cNvPr id="12" name="矩形: 圆角 11"/>
              <p:cNvSpPr/>
              <p:nvPr/>
            </p:nvSpPr>
            <p:spPr bwMode="auto">
              <a:xfrm>
                <a:off x="472290" y="4542631"/>
                <a:ext cx="2693399" cy="1099335"/>
              </a:xfrm>
              <a:prstGeom prst="roundRect">
                <a:avLst/>
              </a:prstGeom>
              <a:solidFill>
                <a:schemeClr val="tx1">
                  <a:lumMod val="9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tx1">
                    <a:gamma/>
                    <a:shade val="60000"/>
                    <a:invGamma/>
                  </a:schemeClr>
                </a:outerShdw>
              </a:effectLst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90204" pitchFamily="34" charset="0"/>
                  <a:ea typeface="宋体" pitchFamily="2" charset="-122"/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658662" y="4665921"/>
                <a:ext cx="1918832" cy="247298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l"/>
                <a:r>
                  <a:rPr lang="zh-CN" altLang="en-US" sz="1200" b="1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连续五年未分红企业占比</a:t>
                </a:r>
                <a:endParaRPr lang="zh-CN" altLang="en-US" sz="1200" b="1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1667349" y="5168802"/>
                <a:ext cx="1498340" cy="30565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l"/>
                <a:r>
                  <a:rPr lang="en-US" altLang="zh-CN" sz="24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XX</a:t>
                </a:r>
                <a:r>
                  <a:rPr lang="zh-CN" altLang="en-US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家</a:t>
                </a:r>
                <a:endParaRPr lang="zh-CN" altLang="en-US" sz="12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4350784" y="4542631"/>
              <a:ext cx="3602473" cy="1241720"/>
              <a:chOff x="472290" y="4542631"/>
              <a:chExt cx="2693399" cy="1099335"/>
            </a:xfrm>
          </p:grpSpPr>
          <p:sp>
            <p:nvSpPr>
              <p:cNvPr id="9" name="矩形: 圆角 8"/>
              <p:cNvSpPr/>
              <p:nvPr/>
            </p:nvSpPr>
            <p:spPr bwMode="auto">
              <a:xfrm>
                <a:off x="472290" y="4542631"/>
                <a:ext cx="2693399" cy="1099335"/>
              </a:xfrm>
              <a:prstGeom prst="roundRect">
                <a:avLst/>
              </a:prstGeom>
              <a:solidFill>
                <a:schemeClr val="tx1">
                  <a:lumMod val="9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tx1">
                    <a:gamma/>
                    <a:shade val="60000"/>
                    <a:invGamma/>
                  </a:schemeClr>
                </a:outerShdw>
              </a:effectLst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90204" pitchFamily="34" charset="0"/>
                  <a:ea typeface="宋体" pitchFamily="2" charset="-122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658662" y="4665920"/>
                <a:ext cx="1918832" cy="247298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l"/>
                <a:r>
                  <a:rPr lang="zh-CN" altLang="en-US" sz="1200" b="1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连续三年亏损占比</a:t>
                </a:r>
                <a:endParaRPr lang="zh-CN" altLang="en-US" sz="1200" b="1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1667349" y="5168802"/>
                <a:ext cx="1498340" cy="30565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l"/>
                <a:r>
                  <a:rPr lang="en-US" altLang="zh-CN" sz="24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XX</a:t>
                </a:r>
                <a:r>
                  <a:rPr lang="zh-CN" altLang="en-US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家</a:t>
                </a:r>
                <a:endParaRPr lang="zh-CN" altLang="en-US" sz="12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1" name="矩形 20"/>
          <p:cNvSpPr/>
          <p:nvPr/>
        </p:nvSpPr>
        <p:spPr bwMode="auto">
          <a:xfrm>
            <a:off x="575353" y="5763802"/>
            <a:ext cx="11083269" cy="68836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全年目标：股权经营</a:t>
            </a:r>
            <a:r>
              <a:rPr lang="en-US" altLang="zh-CN" sz="1200" dirty="0">
                <a:latin typeface="Arial" panose="020B0604020202090204" pitchFamily="34" charset="0"/>
                <a:ea typeface="宋体" pitchFamily="2" charset="-122"/>
              </a:rPr>
              <a:t>+</a:t>
            </a:r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资本运作；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rPr>
              <a:t>已完成：截至上月月末股权经营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rPr>
              <a:t>+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rPr>
              <a:t>资本运作合计完成值；达成率合计完成值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rPr>
              <a:t>/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rPr>
              <a:t>全年目标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股权经营、资本运作全年目标：参照附件；已完成：截至上月月末股权经营、资本运作合计完成值，其中资本运作手工录入，股权经营系统提取；达成进度：已完成</a:t>
            </a:r>
            <a:r>
              <a:rPr lang="en-US" altLang="zh-CN" sz="1200" dirty="0">
                <a:latin typeface="Arial" panose="020B0604020202090204" pitchFamily="34" charset="0"/>
                <a:ea typeface="宋体" pitchFamily="2" charset="-122"/>
              </a:rPr>
              <a:t>/</a:t>
            </a:r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全年目标</a:t>
            </a:r>
            <a:endParaRPr lang="en-US" altLang="zh-CN" sz="1200" dirty="0">
              <a:latin typeface="Arial" panose="020B0604020202090204" pitchFamily="34" charset="0"/>
              <a:ea typeface="宋体" pitchFamily="2" charset="-122"/>
            </a:endParaRPr>
          </a:p>
        </p:txBody>
      </p:sp>
      <p:cxnSp>
        <p:nvCxnSpPr>
          <p:cNvPr id="23" name="连接符: 肘形 22"/>
          <p:cNvCxnSpPr>
            <a:stCxn id="25" idx="1"/>
            <a:endCxn id="21" idx="1"/>
          </p:cNvCxnSpPr>
          <p:nvPr/>
        </p:nvCxnSpPr>
        <p:spPr bwMode="auto">
          <a:xfrm rot="10800000" flipH="1" flipV="1">
            <a:off x="339047" y="2428397"/>
            <a:ext cx="236306" cy="3679590"/>
          </a:xfrm>
          <a:prstGeom prst="bentConnector3">
            <a:avLst>
              <a:gd name="adj1" fmla="val -96739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grpSp>
        <p:nvGrpSpPr>
          <p:cNvPr id="44" name="组合 43"/>
          <p:cNvGrpSpPr/>
          <p:nvPr/>
        </p:nvGrpSpPr>
        <p:grpSpPr>
          <a:xfrm>
            <a:off x="339047" y="1395017"/>
            <a:ext cx="2948683" cy="2066759"/>
            <a:chOff x="6318308" y="30957"/>
            <a:chExt cx="3175013" cy="2630049"/>
          </a:xfrm>
        </p:grpSpPr>
        <p:sp>
          <p:nvSpPr>
            <p:cNvPr id="25" name="矩形: 圆角 24"/>
            <p:cNvSpPr/>
            <p:nvPr/>
          </p:nvSpPr>
          <p:spPr bwMode="auto">
            <a:xfrm>
              <a:off x="6318308" y="30957"/>
              <a:ext cx="3175013" cy="2630049"/>
            </a:xfrm>
            <a:prstGeom prst="roundRect">
              <a:avLst/>
            </a:prstGeom>
            <a:solidFill>
              <a:schemeClr val="tx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</a:schemeClr>
              </a:outerShdw>
            </a:effectLst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497364" y="128255"/>
              <a:ext cx="2605539" cy="27757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zh-CN" altLang="en-US" sz="1200" b="1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</a:rPr>
                <a:t>利润总额指标</a:t>
              </a:r>
              <a:endPara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6318308" y="510659"/>
              <a:ext cx="1424011" cy="30415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sz="1200" b="1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</a:rPr>
                <a:t>全年目标</a:t>
              </a:r>
              <a:endParaRPr lang="en-US" altLang="zh-CN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en-US" altLang="zh-CN" sz="1200" b="1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</a:rPr>
                <a:t>XXX</a:t>
              </a:r>
              <a:endPara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7800133" y="539221"/>
              <a:ext cx="1424012" cy="276988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sz="1200" b="1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</a:rPr>
                <a:t>目前已完成</a:t>
              </a:r>
              <a:endParaRPr lang="en-US" altLang="zh-CN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en-US" altLang="zh-CN" sz="1200" b="1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</a:rPr>
                <a:t>XXX</a:t>
              </a:r>
              <a:endPara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矩形: 圆角 36"/>
            <p:cNvSpPr/>
            <p:nvPr/>
          </p:nvSpPr>
          <p:spPr bwMode="auto">
            <a:xfrm>
              <a:off x="6497364" y="837139"/>
              <a:ext cx="2903490" cy="210658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</a:schemeClr>
              </a:outerShdw>
            </a:effectLst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90204" pitchFamily="34" charset="0"/>
                  <a:ea typeface="宋体" pitchFamily="2" charset="-122"/>
                </a:rPr>
                <a:t>达成</a:t>
              </a:r>
              <a:r>
                <a:rPr lang="zh-CN" altLang="en-US" sz="1400" dirty="0">
                  <a:latin typeface="Arial" panose="020B0604020202090204" pitchFamily="34" charset="0"/>
                  <a:ea typeface="宋体" pitchFamily="2" charset="-122"/>
                </a:rPr>
                <a:t>进度</a:t>
              </a:r>
              <a:r>
                <a:rPr lang="en-US" altLang="zh-CN" sz="1400" dirty="0">
                  <a:latin typeface="Arial" panose="020B0604020202090204" pitchFamily="34" charset="0"/>
                  <a:ea typeface="宋体" pitchFamily="2" charset="-122"/>
                </a:rPr>
                <a:t>XX%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495651" y="1186578"/>
              <a:ext cx="1424011" cy="30415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sz="1100" b="1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</a:rPr>
                <a:t>股权经营全年目标</a:t>
              </a:r>
              <a:endParaRPr lang="en-US" altLang="zh-CN" sz="11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en-US" altLang="zh-CN" sz="1100" b="1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</a:rPr>
                <a:t>XXX</a:t>
              </a:r>
              <a:endParaRPr lang="zh-CN" altLang="en-US" sz="11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7798420" y="1214236"/>
              <a:ext cx="1424012" cy="276988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sz="1200" b="1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</a:rPr>
                <a:t>目前已完成</a:t>
              </a:r>
              <a:endParaRPr lang="en-US" altLang="zh-CN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en-US" altLang="zh-CN" sz="1200" b="1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</a:rPr>
                <a:t>XXX</a:t>
              </a:r>
              <a:endPara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矩形: 圆角 39"/>
            <p:cNvSpPr/>
            <p:nvPr/>
          </p:nvSpPr>
          <p:spPr bwMode="auto">
            <a:xfrm>
              <a:off x="6495651" y="1512154"/>
              <a:ext cx="2903490" cy="210658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</a:schemeClr>
              </a:outerShdw>
            </a:effectLst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90204" pitchFamily="34" charset="0"/>
                  <a:ea typeface="宋体" pitchFamily="2" charset="-122"/>
                </a:rPr>
                <a:t>达成</a:t>
              </a:r>
              <a:r>
                <a:rPr lang="zh-CN" altLang="en-US" sz="1400" dirty="0">
                  <a:latin typeface="Arial" panose="020B0604020202090204" pitchFamily="34" charset="0"/>
                  <a:ea typeface="宋体" pitchFamily="2" charset="-122"/>
                </a:rPr>
                <a:t>进度</a:t>
              </a:r>
              <a:r>
                <a:rPr lang="en-US" altLang="zh-CN" sz="1400" dirty="0">
                  <a:latin typeface="Arial" panose="020B0604020202090204" pitchFamily="34" charset="0"/>
                  <a:ea typeface="宋体" pitchFamily="2" charset="-122"/>
                </a:rPr>
                <a:t>XX%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6495651" y="1897018"/>
              <a:ext cx="1424011" cy="30415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sz="1100" b="1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</a:rPr>
                <a:t>资本运作全年目标</a:t>
              </a:r>
              <a:endParaRPr lang="en-US" altLang="zh-CN" sz="11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en-US" altLang="zh-CN" sz="1100" b="1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</a:rPr>
                <a:t>XXX</a:t>
              </a:r>
              <a:endParaRPr lang="zh-CN" altLang="en-US" sz="11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7798420" y="1924676"/>
              <a:ext cx="1424012" cy="276988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sz="1200" b="1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</a:rPr>
                <a:t>目前已完成</a:t>
              </a:r>
              <a:endParaRPr lang="en-US" altLang="zh-CN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en-US" altLang="zh-CN" sz="1200" b="1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</a:rPr>
                <a:t>XXX</a:t>
              </a:r>
              <a:endPara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" name="矩形: 圆角 42"/>
            <p:cNvSpPr/>
            <p:nvPr/>
          </p:nvSpPr>
          <p:spPr bwMode="auto">
            <a:xfrm>
              <a:off x="6495651" y="2222594"/>
              <a:ext cx="2903490" cy="210658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</a:schemeClr>
              </a:outerShdw>
            </a:effectLst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90204" pitchFamily="34" charset="0"/>
                  <a:ea typeface="宋体" pitchFamily="2" charset="-122"/>
                </a:rPr>
                <a:t>达成</a:t>
              </a:r>
              <a:r>
                <a:rPr lang="zh-CN" altLang="en-US" sz="1400" dirty="0">
                  <a:latin typeface="Arial" panose="020B0604020202090204" pitchFamily="34" charset="0"/>
                  <a:ea typeface="宋体" pitchFamily="2" charset="-122"/>
                </a:rPr>
                <a:t>进度</a:t>
              </a:r>
              <a:r>
                <a:rPr lang="en-US" altLang="zh-CN" sz="1400" dirty="0">
                  <a:latin typeface="Arial" panose="020B0604020202090204" pitchFamily="34" charset="0"/>
                  <a:ea typeface="宋体" pitchFamily="2" charset="-122"/>
                </a:rPr>
                <a:t>XX%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endParaRPr>
            </a:p>
          </p:txBody>
        </p:sp>
      </p:grpSp>
      <p:sp>
        <p:nvSpPr>
          <p:cNvPr id="46" name="矩形: 圆角 45"/>
          <p:cNvSpPr/>
          <p:nvPr/>
        </p:nvSpPr>
        <p:spPr bwMode="auto">
          <a:xfrm>
            <a:off x="3554878" y="2774086"/>
            <a:ext cx="2278675" cy="347366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rPr>
              <a:t>达成</a:t>
            </a:r>
            <a:r>
              <a:rPr lang="zh-CN" altLang="en-US" sz="1400" dirty="0">
                <a:latin typeface="Arial" panose="020B0604020202090204" pitchFamily="34" charset="0"/>
                <a:ea typeface="宋体" pitchFamily="2" charset="-122"/>
              </a:rPr>
              <a:t>进度</a:t>
            </a:r>
            <a:r>
              <a:rPr lang="en-US" altLang="zh-CN" sz="1400" dirty="0">
                <a:latin typeface="Arial" panose="020B0604020202090204" pitchFamily="34" charset="0"/>
                <a:ea typeface="宋体" pitchFamily="2" charset="-122"/>
              </a:rPr>
              <a:t>XX%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47" name="矩形: 圆角 46"/>
          <p:cNvSpPr/>
          <p:nvPr/>
        </p:nvSpPr>
        <p:spPr bwMode="auto">
          <a:xfrm>
            <a:off x="6388215" y="2774086"/>
            <a:ext cx="2278675" cy="347366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rPr>
              <a:t>达成</a:t>
            </a:r>
            <a:r>
              <a:rPr lang="zh-CN" altLang="en-US" sz="1400" dirty="0">
                <a:latin typeface="Arial" panose="020B0604020202090204" pitchFamily="34" charset="0"/>
                <a:ea typeface="宋体" pitchFamily="2" charset="-122"/>
              </a:rPr>
              <a:t>进度</a:t>
            </a:r>
            <a:r>
              <a:rPr lang="en-US" altLang="zh-CN" sz="1400" dirty="0">
                <a:latin typeface="Arial" panose="020B0604020202090204" pitchFamily="34" charset="0"/>
                <a:ea typeface="宋体" pitchFamily="2" charset="-122"/>
              </a:rPr>
              <a:t>XX%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48" name="矩形: 圆角 47"/>
          <p:cNvSpPr/>
          <p:nvPr/>
        </p:nvSpPr>
        <p:spPr bwMode="auto">
          <a:xfrm>
            <a:off x="9189354" y="2753060"/>
            <a:ext cx="2278675" cy="347366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rPr>
              <a:t>达成</a:t>
            </a:r>
            <a:r>
              <a:rPr lang="zh-CN" altLang="en-US" sz="1400" dirty="0">
                <a:latin typeface="Arial" panose="020B0604020202090204" pitchFamily="34" charset="0"/>
                <a:ea typeface="宋体" pitchFamily="2" charset="-122"/>
              </a:rPr>
              <a:t>进度</a:t>
            </a:r>
            <a:r>
              <a:rPr lang="en-US" altLang="zh-CN" sz="1400" dirty="0">
                <a:latin typeface="Arial" panose="020B0604020202090204" pitchFamily="34" charset="0"/>
                <a:ea typeface="宋体" pitchFamily="2" charset="-122"/>
              </a:rPr>
              <a:t>XX%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50" name="矩形 49"/>
          <p:cNvSpPr/>
          <p:nvPr/>
        </p:nvSpPr>
        <p:spPr bwMode="auto">
          <a:xfrm>
            <a:off x="3431569" y="2028535"/>
            <a:ext cx="1066063" cy="54559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rPr>
              <a:t>全年目标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600" dirty="0">
                <a:latin typeface="Arial" panose="020B0604020202090204" pitchFamily="34" charset="0"/>
                <a:ea typeface="宋体" pitchFamily="2" charset="-122"/>
              </a:rPr>
              <a:t>XXX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51" name="矩形 50"/>
          <p:cNvSpPr/>
          <p:nvPr/>
        </p:nvSpPr>
        <p:spPr bwMode="auto">
          <a:xfrm>
            <a:off x="4740626" y="2010990"/>
            <a:ext cx="1066063" cy="54559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rPr>
              <a:t>已完成</a:t>
            </a:r>
            <a:endParaRPr lang="en-US" altLang="zh-CN" sz="1600" dirty="0">
              <a:latin typeface="Arial" panose="020B0604020202090204" pitchFamily="34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rPr>
              <a:t>XXX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52" name="矩形 51"/>
          <p:cNvSpPr/>
          <p:nvPr/>
        </p:nvSpPr>
        <p:spPr bwMode="auto">
          <a:xfrm>
            <a:off x="6251173" y="2028535"/>
            <a:ext cx="1066063" cy="54559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rPr>
              <a:t>全年目标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600" dirty="0">
                <a:latin typeface="Arial" panose="020B0604020202090204" pitchFamily="34" charset="0"/>
                <a:ea typeface="宋体" pitchFamily="2" charset="-122"/>
              </a:rPr>
              <a:t>6</a:t>
            </a:r>
            <a:r>
              <a:rPr lang="en-US" altLang="zh-CN" sz="1100" dirty="0">
                <a:latin typeface="Arial" panose="020B0604020202090204" pitchFamily="34" charset="0"/>
                <a:ea typeface="宋体" pitchFamily="2" charset="-122"/>
              </a:rPr>
              <a:t>(</a:t>
            </a:r>
            <a:r>
              <a:rPr lang="zh-CN" altLang="en-US" sz="1100" dirty="0">
                <a:latin typeface="Arial" panose="020B0604020202090204" pitchFamily="34" charset="0"/>
                <a:ea typeface="宋体" pitchFamily="2" charset="-122"/>
              </a:rPr>
              <a:t>可初始化录入）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53" name="矩形 52"/>
          <p:cNvSpPr/>
          <p:nvPr/>
        </p:nvSpPr>
        <p:spPr bwMode="auto">
          <a:xfrm>
            <a:off x="7600827" y="2030333"/>
            <a:ext cx="1066063" cy="54559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dirty="0">
                <a:latin typeface="Arial" panose="020B0604020202090204" pitchFamily="34" charset="0"/>
                <a:ea typeface="宋体" pitchFamily="2" charset="-122"/>
              </a:rPr>
              <a:t>推进中</a:t>
            </a:r>
            <a:endParaRPr lang="en-US" altLang="zh-CN" sz="1600" dirty="0">
              <a:latin typeface="Arial" panose="020B0604020202090204" pitchFamily="34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rPr>
              <a:t>XX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9118789" y="1703872"/>
            <a:ext cx="2419804" cy="21812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战略零部件新智产品营收占比</a:t>
            </a:r>
            <a:endParaRPr lang="zh-CN" altLang="en-US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矩形 54"/>
          <p:cNvSpPr/>
          <p:nvPr/>
        </p:nvSpPr>
        <p:spPr bwMode="auto">
          <a:xfrm>
            <a:off x="9096693" y="2039683"/>
            <a:ext cx="1066063" cy="54559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rPr>
              <a:t>全年目标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600" dirty="0">
                <a:latin typeface="Arial" panose="020B0604020202090204" pitchFamily="34" charset="0"/>
                <a:ea typeface="宋体" pitchFamily="2" charset="-122"/>
              </a:rPr>
              <a:t>XXX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56" name="矩形 55"/>
          <p:cNvSpPr/>
          <p:nvPr/>
        </p:nvSpPr>
        <p:spPr bwMode="auto">
          <a:xfrm>
            <a:off x="10451862" y="2039683"/>
            <a:ext cx="1066063" cy="54559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rPr>
              <a:t>已完成</a:t>
            </a:r>
            <a:endParaRPr lang="en-US" altLang="zh-CN" sz="1600" dirty="0">
              <a:latin typeface="Arial" panose="020B0604020202090204" pitchFamily="34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rPr>
              <a:t>XXX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graphicFrame>
        <p:nvGraphicFramePr>
          <p:cNvPr id="57" name="对象 56"/>
          <p:cNvGraphicFramePr>
            <a:graphicFrameLocks noChangeAspect="1"/>
          </p:cNvGraphicFramePr>
          <p:nvPr/>
        </p:nvGraphicFramePr>
        <p:xfrm>
          <a:off x="11395754" y="5370102"/>
          <a:ext cx="914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Worksheet" showAsIcon="1" r:id="rId3" imgW="833120" imgH="717550" progId="Excel.Sheet.12">
                  <p:embed/>
                </p:oleObj>
              </mc:Choice>
              <mc:Fallback>
                <p:oleObj name="Worksheet" showAsIcon="1" r:id="rId3" imgW="833120" imgH="717550" progId="Excel.Sheet.12">
                  <p:embed/>
                  <p:pic>
                    <p:nvPicPr>
                      <p:cNvPr id="0" name="图片 -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395754" y="5370102"/>
                        <a:ext cx="9144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3474720" y="1050290"/>
            <a:ext cx="2312670" cy="24574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/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向战略报送？</a:t>
            </a:r>
            <a:endParaRPr lang="zh-CN" altLang="en-US" b="1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006205" y="1050290"/>
            <a:ext cx="2312670" cy="24574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/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向战略报送？</a:t>
            </a:r>
            <a:endParaRPr lang="zh-CN" altLang="en-US" b="1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72290" y="974504"/>
            <a:ext cx="11186332" cy="3189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36000" rIns="0" bIns="36000" anchor="t" anchorCtr="0">
            <a:spAutoFit/>
          </a:bodyPr>
          <a:lstStyle/>
          <a:p>
            <a:pPr marL="285750" marR="0" lvl="1" indent="-285750" algn="just" defTabSz="914400" rtl="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52A8C"/>
              </a:buClr>
              <a:buSzPct val="100000"/>
              <a:buFont typeface="Wingdings" panose="05000000000000000000" pitchFamily="2" charset="2"/>
              <a:buChar char="p"/>
              <a:tabLst>
                <a:tab pos="0" algn="l"/>
              </a:tabLst>
              <a:defRPr/>
            </a:pPr>
            <a:r>
              <a:rPr lang="zh-CN" altLang="en-US" sz="16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参股经营指标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7" name="标题 4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77860" y="288568"/>
            <a:ext cx="9850832" cy="548571"/>
          </a:xfrm>
          <a:prstGeom prst="rect">
            <a:avLst/>
          </a:prstGeom>
        </p:spPr>
        <p:txBody>
          <a:bodyPr lIns="81750" tIns="40874" rIns="81750" bIns="40874" anchor="ctr" anchorCtr="0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12D9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微软雅黑" panose="020B0503020204020204" charset="-122"/>
              </a:rPr>
              <a:t>设计界面</a:t>
            </a:r>
            <a:endParaRPr kumimoji="0" lang="en-US" altLang="zh-CN" sz="2300" b="1" i="0" u="none" strike="noStrike" kern="1200" cap="none" spc="0" normalizeH="0" baseline="0" noProof="0" dirty="0">
              <a:ln>
                <a:noFill/>
              </a:ln>
              <a:solidFill>
                <a:srgbClr val="112D98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微软雅黑" panose="020B0503020204020204" charset="-122"/>
            </a:endParaRPr>
          </a:p>
        </p:txBody>
      </p:sp>
      <p:sp>
        <p:nvSpPr>
          <p:cNvPr id="2" name="矩形: 圆角 1"/>
          <p:cNvSpPr/>
          <p:nvPr/>
        </p:nvSpPr>
        <p:spPr bwMode="auto">
          <a:xfrm>
            <a:off x="472290" y="1438382"/>
            <a:ext cx="11186332" cy="2476072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4" name="矩形: 圆角 3"/>
          <p:cNvSpPr/>
          <p:nvPr/>
        </p:nvSpPr>
        <p:spPr bwMode="auto">
          <a:xfrm>
            <a:off x="472290" y="4093360"/>
            <a:ext cx="11186332" cy="2476072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90743" y="1558545"/>
            <a:ext cx="2566475" cy="27932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利润贡献</a:t>
            </a:r>
            <a:endParaRPr lang="zh-CN" altLang="en-US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90743" y="4228113"/>
            <a:ext cx="2566475" cy="27932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分红情况</a:t>
            </a:r>
            <a:endParaRPr lang="zh-CN" altLang="en-US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8" name="图表 47"/>
          <p:cNvGraphicFramePr/>
          <p:nvPr/>
        </p:nvGraphicFramePr>
        <p:xfrm>
          <a:off x="533378" y="1837874"/>
          <a:ext cx="4634523" cy="18916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70" name="图片 6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378" y="4575577"/>
            <a:ext cx="4634523" cy="1811903"/>
          </a:xfrm>
          <a:prstGeom prst="rect">
            <a:avLst/>
          </a:prstGeom>
        </p:spPr>
      </p:pic>
      <p:graphicFrame>
        <p:nvGraphicFramePr>
          <p:cNvPr id="5" name="图表 4"/>
          <p:cNvGraphicFramePr/>
          <p:nvPr/>
        </p:nvGraphicFramePr>
        <p:xfrm>
          <a:off x="5325267" y="1837872"/>
          <a:ext cx="3068720" cy="18916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图表 5"/>
          <p:cNvGraphicFramePr/>
          <p:nvPr/>
        </p:nvGraphicFramePr>
        <p:xfrm>
          <a:off x="8304772" y="1837871"/>
          <a:ext cx="3068720" cy="18916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图表 9"/>
          <p:cNvGraphicFramePr/>
          <p:nvPr/>
        </p:nvGraphicFramePr>
        <p:xfrm>
          <a:off x="5325266" y="4575577"/>
          <a:ext cx="3849555" cy="18119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4821" y="4393625"/>
            <a:ext cx="2198671" cy="14010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174821" y="5794625"/>
            <a:ext cx="2363058" cy="59285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6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动态信息</a:t>
            </a:r>
            <a:r>
              <a:rPr lang="en-US" altLang="zh-CN" sz="16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6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分红改到这李</a:t>
            </a:r>
            <a:endParaRPr lang="zh-CN" altLang="en-US" sz="16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72290" y="974504"/>
            <a:ext cx="11186332" cy="3189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36000" rIns="0" bIns="36000" anchor="t" anchorCtr="0">
            <a:spAutoFit/>
          </a:bodyPr>
          <a:lstStyle/>
          <a:p>
            <a:pPr marL="285750" marR="0" lvl="1" indent="-285750" algn="just" defTabSz="914400" rtl="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52A8C"/>
              </a:buClr>
              <a:buSzPct val="100000"/>
              <a:buFont typeface="Wingdings" panose="05000000000000000000" pitchFamily="2" charset="2"/>
              <a:buChar char="p"/>
              <a:tabLst>
                <a:tab pos="0" algn="l"/>
              </a:tabLst>
              <a:defRPr/>
            </a:pPr>
            <a:r>
              <a:rPr lang="zh-CN" altLang="en-US" sz="16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参股经营指标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7" name="标题 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77860" y="288568"/>
            <a:ext cx="9850832" cy="548571"/>
          </a:xfrm>
          <a:prstGeom prst="rect">
            <a:avLst/>
          </a:prstGeom>
        </p:spPr>
        <p:txBody>
          <a:bodyPr lIns="81750" tIns="40874" rIns="81750" bIns="40874" anchor="ctr" anchorCtr="0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12D9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微软雅黑" panose="020B0503020204020204" charset="-122"/>
              </a:rPr>
              <a:t>设计界面</a:t>
            </a:r>
            <a:endParaRPr kumimoji="0" lang="en-US" altLang="zh-CN" sz="2300" b="1" i="0" u="none" strike="noStrike" kern="1200" cap="none" spc="0" normalizeH="0" baseline="0" noProof="0" dirty="0">
              <a:ln>
                <a:noFill/>
              </a:ln>
              <a:solidFill>
                <a:srgbClr val="112D98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微软雅黑" panose="020B0503020204020204" charset="-122"/>
            </a:endParaRPr>
          </a:p>
        </p:txBody>
      </p:sp>
      <p:sp>
        <p:nvSpPr>
          <p:cNvPr id="2" name="矩形: 圆角 1"/>
          <p:cNvSpPr/>
          <p:nvPr/>
        </p:nvSpPr>
        <p:spPr bwMode="auto">
          <a:xfrm>
            <a:off x="472290" y="1438381"/>
            <a:ext cx="11186332" cy="3634361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90743" y="1558545"/>
            <a:ext cx="2566475" cy="27932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经营指标</a:t>
            </a:r>
            <a:endParaRPr lang="zh-CN" altLang="en-US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43" y="1864964"/>
            <a:ext cx="3358743" cy="183373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94656" y="3725788"/>
            <a:ext cx="3113314" cy="27932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4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连续三年收入增长</a:t>
            </a:r>
            <a:endParaRPr lang="zh-CN" altLang="en-US" sz="1400" b="1" dirty="0">
              <a:solidFill>
                <a:schemeClr val="accent3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94656" y="4092846"/>
            <a:ext cx="3113314" cy="27932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4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连续三年收入下滑</a:t>
            </a:r>
            <a:endParaRPr lang="zh-CN" altLang="en-US" sz="1400" b="1" dirty="0">
              <a:solidFill>
                <a:schemeClr val="accent3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344606" y="1585636"/>
            <a:ext cx="2056194" cy="27932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defRPr sz="1200" b="1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预警指标</a:t>
            </a:r>
            <a:endParaRPr lang="zh-CN" altLang="en-US" dirty="0"/>
          </a:p>
        </p:txBody>
      </p:sp>
      <p:graphicFrame>
        <p:nvGraphicFramePr>
          <p:cNvPr id="12" name="图表 11"/>
          <p:cNvGraphicFramePr/>
          <p:nvPr/>
        </p:nvGraphicFramePr>
        <p:xfrm>
          <a:off x="4114801" y="1804970"/>
          <a:ext cx="3679370" cy="2961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4" name="图表 13"/>
          <p:cNvGraphicFramePr/>
          <p:nvPr/>
        </p:nvGraphicFramePr>
        <p:xfrm>
          <a:off x="8023976" y="1804969"/>
          <a:ext cx="3373368" cy="2961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794656" y="4459904"/>
            <a:ext cx="3113314" cy="27932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4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2026</a:t>
            </a:r>
            <a:r>
              <a:rPr lang="zh-CN" altLang="en-US" sz="14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年由盈转亏企业</a:t>
            </a:r>
            <a:endParaRPr lang="zh-CN" altLang="en-US" sz="1400" b="1" dirty="0">
              <a:solidFill>
                <a:schemeClr val="accent3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94656" y="4766143"/>
            <a:ext cx="3113314" cy="27932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4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2026</a:t>
            </a:r>
            <a:r>
              <a:rPr lang="zh-CN" altLang="en-US" sz="14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年由亏转盈企业</a:t>
            </a:r>
            <a:endParaRPr lang="zh-CN" altLang="en-US" sz="1400" b="1" dirty="0">
              <a:solidFill>
                <a:schemeClr val="accent3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575353" y="5272364"/>
            <a:ext cx="11083269" cy="117980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连续三年收入增长、连续三年收入下降定义：与利润口径一致</a:t>
            </a:r>
            <a:endParaRPr lang="en-US" altLang="zh-CN" sz="1200" dirty="0">
              <a:latin typeface="Arial" panose="020B0604020202090204" pitchFamily="34" charset="0"/>
              <a:ea typeface="宋体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latin typeface="Arial" panose="020B0604020202090204" pitchFamily="34" charset="0"/>
                <a:ea typeface="宋体" pitchFamily="2" charset="-122"/>
              </a:rPr>
              <a:t>2026</a:t>
            </a:r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年由盈转亏企业：</a:t>
            </a:r>
            <a:r>
              <a:rPr lang="en-US" altLang="zh-CN" sz="1200" dirty="0">
                <a:latin typeface="Arial" panose="020B0604020202090204" pitchFamily="34" charset="0"/>
                <a:ea typeface="宋体" pitchFamily="2" charset="-122"/>
              </a:rPr>
              <a:t>2025</a:t>
            </a:r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年末累计净利润为正、但是截至</a:t>
            </a:r>
            <a:r>
              <a:rPr lang="en-US" altLang="zh-CN" sz="1200" dirty="0">
                <a:latin typeface="Arial" panose="020B0604020202090204" pitchFamily="34" charset="0"/>
                <a:ea typeface="宋体" pitchFamily="2" charset="-122"/>
              </a:rPr>
              <a:t>2026</a:t>
            </a:r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年最新月份累计净利润为负企业</a:t>
            </a:r>
            <a:endParaRPr lang="en-US" altLang="zh-CN" sz="1200" dirty="0">
              <a:latin typeface="Arial" panose="020B0604020202090204" pitchFamily="34" charset="0"/>
              <a:ea typeface="宋体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latin typeface="Arial" panose="020B0604020202090204" pitchFamily="34" charset="0"/>
                <a:ea typeface="宋体" pitchFamily="2" charset="-122"/>
              </a:rPr>
              <a:t>2026</a:t>
            </a:r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年由亏转盈企业：</a:t>
            </a:r>
            <a:r>
              <a:rPr lang="en-US" altLang="zh-CN" sz="1200" dirty="0">
                <a:latin typeface="Arial" panose="020B0604020202090204" pitchFamily="34" charset="0"/>
                <a:ea typeface="宋体" pitchFamily="2" charset="-122"/>
              </a:rPr>
              <a:t>2025</a:t>
            </a:r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年末累计净利润为负、但是截至</a:t>
            </a:r>
            <a:r>
              <a:rPr lang="en-US" altLang="zh-CN" sz="1200" dirty="0">
                <a:latin typeface="Arial" panose="020B0604020202090204" pitchFamily="34" charset="0"/>
                <a:ea typeface="宋体" pitchFamily="2" charset="-122"/>
              </a:rPr>
              <a:t>2026</a:t>
            </a:r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年最新月份累计净利润为正企业</a:t>
            </a:r>
            <a:endParaRPr lang="en-US" altLang="zh-CN" sz="1200" dirty="0">
              <a:latin typeface="Arial" panose="020B0604020202090204" pitchFamily="34" charset="0"/>
              <a:ea typeface="宋体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资产负债率：截至</a:t>
            </a:r>
            <a:r>
              <a:rPr lang="en-US" altLang="zh-CN" sz="1200" dirty="0">
                <a:latin typeface="Arial" panose="020B0604020202090204" pitchFamily="34" charset="0"/>
                <a:ea typeface="宋体" pitchFamily="2" charset="-122"/>
              </a:rPr>
              <a:t>2026</a:t>
            </a:r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年最新月份累计资产负债率大于等于</a:t>
            </a:r>
            <a:r>
              <a:rPr lang="en-US" altLang="zh-CN" sz="1200" dirty="0">
                <a:latin typeface="Arial" panose="020B0604020202090204" pitchFamily="34" charset="0"/>
                <a:ea typeface="宋体" pitchFamily="2" charset="-122"/>
              </a:rPr>
              <a:t>70%</a:t>
            </a:r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的参股公司，按资产负债率由大到小排列</a:t>
            </a:r>
            <a:endParaRPr lang="en-US" altLang="zh-CN" sz="1200" dirty="0">
              <a:latin typeface="Arial" panose="020B0604020202090204" pitchFamily="34" charset="0"/>
              <a:ea typeface="宋体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latin typeface="Arial" panose="020B0604020202090204" pitchFamily="34" charset="0"/>
                <a:ea typeface="宋体" pitchFamily="2" charset="-122"/>
              </a:rPr>
              <a:t>ROA</a:t>
            </a:r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异常变动：截至</a:t>
            </a:r>
            <a:r>
              <a:rPr lang="en-US" altLang="zh-CN" sz="1200" dirty="0">
                <a:latin typeface="Arial" panose="020B0604020202090204" pitchFamily="34" charset="0"/>
                <a:ea typeface="宋体" pitchFamily="2" charset="-122"/>
              </a:rPr>
              <a:t>2026</a:t>
            </a:r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年最新月份累计</a:t>
            </a:r>
            <a:r>
              <a:rPr lang="en-US" altLang="zh-CN" sz="1200" dirty="0">
                <a:latin typeface="Arial" panose="020B0604020202090204" pitchFamily="34" charset="0"/>
                <a:ea typeface="宋体" pitchFamily="2" charset="-122"/>
              </a:rPr>
              <a:t>ROA</a:t>
            </a:r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同比变动大于等于</a:t>
            </a:r>
            <a:r>
              <a:rPr lang="en-US" altLang="zh-CN" sz="1200" dirty="0">
                <a:latin typeface="Arial" panose="020B0604020202090204" pitchFamily="34" charset="0"/>
                <a:ea typeface="宋体" pitchFamily="2" charset="-122"/>
              </a:rPr>
              <a:t>50%</a:t>
            </a:r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的参股公司，按</a:t>
            </a:r>
            <a:r>
              <a:rPr lang="en-US" altLang="zh-CN" sz="1200" dirty="0">
                <a:latin typeface="Arial" panose="020B0604020202090204" pitchFamily="34" charset="0"/>
                <a:ea typeface="宋体" pitchFamily="2" charset="-122"/>
              </a:rPr>
              <a:t>ROA</a:t>
            </a:r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由大到小排列</a:t>
            </a:r>
            <a:endParaRPr lang="en-US" altLang="zh-CN" sz="1200" dirty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00045" y="756920"/>
            <a:ext cx="2305685" cy="59944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/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不要公司数量占比</a:t>
            </a:r>
            <a:endParaRPr lang="zh-CN" altLang="en-US" b="1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72290" y="974504"/>
            <a:ext cx="11186332" cy="3189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36000" rIns="0" bIns="36000" anchor="t" anchorCtr="0">
            <a:spAutoFit/>
          </a:bodyPr>
          <a:lstStyle/>
          <a:p>
            <a:pPr marL="285750" marR="0" lvl="1" indent="-285750" algn="just" defTabSz="914400" rtl="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52A8C"/>
              </a:buClr>
              <a:buSzPct val="100000"/>
              <a:buFont typeface="Wingdings" panose="05000000000000000000" pitchFamily="2" charset="2"/>
              <a:buChar char="p"/>
              <a:tabLst>
                <a:tab pos="0" algn="l"/>
              </a:tabLst>
              <a:defRPr/>
            </a:pPr>
            <a:r>
              <a:rPr lang="zh-CN" altLang="en-US" sz="16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股权运营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7" name="标题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77860" y="288568"/>
            <a:ext cx="9850832" cy="548571"/>
          </a:xfrm>
          <a:prstGeom prst="rect">
            <a:avLst/>
          </a:prstGeom>
        </p:spPr>
        <p:txBody>
          <a:bodyPr lIns="81750" tIns="40874" rIns="81750" bIns="40874" anchor="ctr" anchorCtr="0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12D9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微软雅黑" panose="020B0503020204020204" charset="-122"/>
              </a:rPr>
              <a:t>设计界面</a:t>
            </a:r>
            <a:endParaRPr kumimoji="0" lang="en-US" altLang="zh-CN" sz="2300" b="1" i="0" u="none" strike="noStrike" kern="1200" cap="none" spc="0" normalizeH="0" baseline="0" noProof="0" dirty="0">
              <a:ln>
                <a:noFill/>
              </a:ln>
              <a:solidFill>
                <a:srgbClr val="112D98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微软雅黑" panose="020B0503020204020204" charset="-122"/>
            </a:endParaRPr>
          </a:p>
        </p:txBody>
      </p:sp>
      <p:sp>
        <p:nvSpPr>
          <p:cNvPr id="2" name="矩形: 圆角 1"/>
          <p:cNvSpPr/>
          <p:nvPr/>
        </p:nvSpPr>
        <p:spPr bwMode="auto">
          <a:xfrm>
            <a:off x="472290" y="1438381"/>
            <a:ext cx="11186332" cy="3634361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latin typeface="Arial" panose="020B0604020202090204" pitchFamily="34" charset="0"/>
              <a:ea typeface="宋体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19" y="1636513"/>
            <a:ext cx="2933333" cy="3238095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3799114" y="1636513"/>
            <a:ext cx="4865915" cy="3238096"/>
            <a:chOff x="3799114" y="1636513"/>
            <a:chExt cx="5410200" cy="323809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16681" y="1636513"/>
              <a:ext cx="5392633" cy="657143"/>
            </a:xfrm>
            <a:prstGeom prst="rect">
              <a:avLst/>
            </a:prstGeom>
          </p:spPr>
        </p:pic>
        <p:sp>
          <p:nvSpPr>
            <p:cNvPr id="15" name="矩形 14"/>
            <p:cNvSpPr/>
            <p:nvPr/>
          </p:nvSpPr>
          <p:spPr bwMode="auto">
            <a:xfrm>
              <a:off x="3799114" y="2373086"/>
              <a:ext cx="979715" cy="315685"/>
            </a:xfrm>
            <a:prstGeom prst="rect">
              <a:avLst/>
            </a:prstGeom>
            <a:solidFill>
              <a:srgbClr val="92D050"/>
            </a:solidFill>
            <a:ln w="9525" cap="flat" cmpd="sng" algn="ctr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</a:schemeClr>
              </a:outerShdw>
            </a:effectLst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90204" pitchFamily="34" charset="0"/>
                  <a:ea typeface="宋体" pitchFamily="2" charset="-122"/>
                </a:rPr>
                <a:t>正常类</a:t>
              </a:r>
              <a:endPara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endParaRPr>
            </a:p>
          </p:txBody>
        </p:sp>
        <p:sp>
          <p:nvSpPr>
            <p:cNvPr id="16" name="矩形 15"/>
            <p:cNvSpPr/>
            <p:nvPr/>
          </p:nvSpPr>
          <p:spPr bwMode="auto">
            <a:xfrm>
              <a:off x="4913418" y="2373086"/>
              <a:ext cx="979715" cy="315685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</a:schemeClr>
              </a:outerShdw>
            </a:effectLst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90204" pitchFamily="34" charset="0"/>
                  <a:ea typeface="宋体" pitchFamily="2" charset="-122"/>
                </a:rPr>
                <a:t>警告类</a:t>
              </a:r>
              <a:endPara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endParaRPr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6027722" y="2373086"/>
              <a:ext cx="979715" cy="315685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</a:schemeClr>
              </a:outerShdw>
            </a:effectLst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90204" pitchFamily="34" charset="0"/>
                  <a:ea typeface="宋体" pitchFamily="2" charset="-122"/>
                </a:rPr>
                <a:t>预警类</a:t>
              </a:r>
              <a:endPara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16681" y="2836019"/>
              <a:ext cx="5392633" cy="2038590"/>
            </a:xfrm>
            <a:prstGeom prst="rect">
              <a:avLst/>
            </a:prstGeom>
          </p:spPr>
        </p:pic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7138" y="1636512"/>
            <a:ext cx="2667043" cy="323809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 bwMode="auto">
          <a:xfrm>
            <a:off x="575353" y="5272364"/>
            <a:ext cx="11083269" cy="117980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年度目标改为计划增利金额</a:t>
            </a:r>
            <a:endParaRPr lang="en-US" altLang="zh-CN" sz="1200" dirty="0">
              <a:latin typeface="Arial" panose="020B0604020202090204" pitchFamily="34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已实现改为已实现增利金额</a:t>
            </a:r>
            <a:endParaRPr lang="en-US" altLang="zh-CN" sz="1200" dirty="0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4474_1*a*1"/>
  <p:tag name="KSO_WM_TEMPLATE_CATEGORY" val="custom"/>
  <p:tag name="KSO_WM_TEMPLATE_INDEX" val="20234474"/>
  <p:tag name="KSO_WM_UNIT_LAYERLEVEL" val="1"/>
  <p:tag name="KSO_WM_TAG_VERSION" val="3.0"/>
  <p:tag name="KSO_WM_BEAUTIFY_FLAG" val="#wm#"/>
  <p:tag name="KSO_WM_UNIT_TEXT_TYPE" val="1"/>
  <p:tag name="KSO_WM_UNIT_TEXT_FILL_FORE_SCHEMECOLOR_INDEX" val="13"/>
  <p:tag name="KSO_WM_UNIT_TEXT_FILL_TYPE" val="1"/>
  <p:tag name="KSO_WM_UNIT_USESOURCEFORMAT_APPLY" val="1"/>
  <p:tag name="KSO_WM_UNIT_PRESET_TEXT" val="单击此处添加标题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4474_1*a*1"/>
  <p:tag name="KSO_WM_TEMPLATE_CATEGORY" val="custom"/>
  <p:tag name="KSO_WM_TEMPLATE_INDEX" val="20234474"/>
  <p:tag name="KSO_WM_UNIT_LAYERLEVEL" val="1"/>
  <p:tag name="KSO_WM_TAG_VERSION" val="3.0"/>
  <p:tag name="KSO_WM_BEAUTIFY_FLAG" val="#wm#"/>
  <p:tag name="KSO_WM_UNIT_TEXT_TYPE" val="1"/>
  <p:tag name="KSO_WM_UNIT_TEXT_FILL_FORE_SCHEMECOLOR_INDEX" val="13"/>
  <p:tag name="KSO_WM_UNIT_TEXT_FILL_TYPE" val="1"/>
  <p:tag name="KSO_WM_UNIT_USESOURCEFORMAT_APPLY" val="1"/>
  <p:tag name="KSO_WM_UNIT_PRESET_TEXT" val="单击此处添加标题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4474_1*a*1"/>
  <p:tag name="KSO_WM_TEMPLATE_CATEGORY" val="custom"/>
  <p:tag name="KSO_WM_TEMPLATE_INDEX" val="20234474"/>
  <p:tag name="KSO_WM_UNIT_LAYERLEVEL" val="1"/>
  <p:tag name="KSO_WM_TAG_VERSION" val="3.0"/>
  <p:tag name="KSO_WM_BEAUTIFY_FLAG" val="#wm#"/>
  <p:tag name="KSO_WM_UNIT_TEXT_TYPE" val="1"/>
  <p:tag name="KSO_WM_UNIT_TEXT_FILL_FORE_SCHEMECOLOR_INDEX" val="13"/>
  <p:tag name="KSO_WM_UNIT_TEXT_FILL_TYPE" val="1"/>
  <p:tag name="KSO_WM_UNIT_USESOURCEFORMAT_APPLY" val="1"/>
  <p:tag name="KSO_WM_UNIT_PRESET_TEXT" val="单击此处添加标题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4474_1*a*1"/>
  <p:tag name="KSO_WM_TEMPLATE_CATEGORY" val="custom"/>
  <p:tag name="KSO_WM_TEMPLATE_INDEX" val="20234474"/>
  <p:tag name="KSO_WM_UNIT_LAYERLEVEL" val="1"/>
  <p:tag name="KSO_WM_TAG_VERSION" val="3.0"/>
  <p:tag name="KSO_WM_BEAUTIFY_FLAG" val="#wm#"/>
  <p:tag name="KSO_WM_UNIT_TEXT_TYPE" val="1"/>
  <p:tag name="KSO_WM_UNIT_TEXT_FILL_FORE_SCHEMECOLOR_INDEX" val="13"/>
  <p:tag name="KSO_WM_UNIT_TEXT_FILL_TYPE" val="1"/>
  <p:tag name="KSO_WM_UNIT_USESOURCEFORMAT_APPLY" val="1"/>
  <p:tag name="KSO_WM_UNIT_PRESET_TEXT" val="单击此处添加标题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9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698</Words>
  <Application>WPS 文字</Application>
  <PresentationFormat>宽屏</PresentationFormat>
  <Paragraphs>120</Paragraphs>
  <Slides>4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7" baseType="lpstr">
      <vt:lpstr>Arial</vt:lpstr>
      <vt:lpstr>宋体</vt:lpstr>
      <vt:lpstr>Wingdings</vt:lpstr>
      <vt:lpstr>汉仪书宋二KW</vt:lpstr>
      <vt:lpstr>微软雅黑</vt:lpstr>
      <vt:lpstr>汉仪旗黑</vt:lpstr>
      <vt:lpstr>Calibri</vt:lpstr>
      <vt:lpstr>黑体</vt:lpstr>
      <vt:lpstr>Arial</vt:lpstr>
      <vt:lpstr>汉仪中黑KW</vt:lpstr>
      <vt:lpstr>等线</vt:lpstr>
      <vt:lpstr>宋体</vt:lpstr>
      <vt:lpstr>Arial Unicode MS</vt:lpstr>
      <vt:lpstr>等线 Light</vt:lpstr>
      <vt:lpstr>汉仪中等线KW</vt:lpstr>
      <vt:lpstr>Arial Black</vt:lpstr>
      <vt:lpstr>Helvetica Neue</vt:lpstr>
      <vt:lpstr>Wingdings</vt:lpstr>
      <vt:lpstr>微软雅黑</vt:lpstr>
      <vt:lpstr>等线</vt:lpstr>
      <vt:lpstr>Office 主题​​</vt:lpstr>
      <vt:lpstr>9_Office 主题</vt:lpstr>
      <vt:lpstr>Excel.Sheet.12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郭_少</cp:lastModifiedBy>
  <cp:revision>53</cp:revision>
  <dcterms:created xsi:type="dcterms:W3CDTF">2026-09-15T02:14:42Z</dcterms:created>
  <dcterms:modified xsi:type="dcterms:W3CDTF">2026-09-15T02:14:42Z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2E02551494CA4E87B8217B643EEF21D6_12</vt:lpwstr>
  </property>
  <property fmtid="{D5CDD505-2E9C-101B-9397-08002B2CF9AE}" pid="3" name="KSOProductBuildVer">
    <vt:lpwstr>2052-12.1.25869.25869</vt:lpwstr>
  </property>
</Properties>
</file>