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0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10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1015.xml" ContentType="application/vnd.openxmlformats-officedocument.presentationml.slideLayout+xml"/>
  <Override PartName="/ppt/slideLayouts/slideLayout1016.xml" ContentType="application/vnd.openxmlformats-officedocument.presentationml.slideLayout+xml"/>
  <Override PartName="/ppt/slideLayouts/slideLayout10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20.xml" ContentType="application/vnd.openxmlformats-officedocument.presentationml.slideLayout+xml"/>
  <Override PartName="/ppt/slideLayouts/slideLayout1021.xml" ContentType="application/vnd.openxmlformats-officedocument.presentationml.slideLayout+xml"/>
  <Override PartName="/ppt/slideLayouts/slideLayout102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00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103.xml" ContentType="application/vnd.openxmlformats-officedocument.theme+xml"/>
  <Override PartName="/ppt/theme/theme104.xml" ContentType="application/vnd.openxmlformats-officedocument.theme+xml"/>
  <Override PartName="/ppt/theme/theme105.xml" ContentType="application/vnd.openxmlformats-officedocument.theme+xml"/>
  <Override PartName="/ppt/theme/theme106.xml" ContentType="application/vnd.openxmlformats-officedocument.theme+xml"/>
  <Override PartName="/ppt/theme/theme107.xml" ContentType="application/vnd.openxmlformats-officedocument.theme+xml"/>
  <Override PartName="/ppt/theme/theme108.xml" ContentType="application/vnd.openxmlformats-officedocument.theme+xml"/>
  <Override PartName="/ppt/theme/theme109.xml" ContentType="application/vnd.openxmlformats-officedocument.theme+xml"/>
  <Override PartName="/ppt/theme/theme11.xml" ContentType="application/vnd.openxmlformats-officedocument.theme+xml"/>
  <Override PartName="/ppt/theme/theme110.xml" ContentType="application/vnd.openxmlformats-officedocument.theme+xml"/>
  <Override PartName="/ppt/theme/theme111.xml" ContentType="application/vnd.openxmlformats-officedocument.theme+xml"/>
  <Override PartName="/ppt/theme/theme112.xml" ContentType="application/vnd.openxmlformats-officedocument.theme+xml"/>
  <Override PartName="/ppt/theme/theme113.xml" ContentType="application/vnd.openxmlformats-officedocument.theme+xml"/>
  <Override PartName="/ppt/theme/theme114.xml" ContentType="application/vnd.openxmlformats-officedocument.theme+xml"/>
  <Override PartName="/ppt/theme/theme115.xml" ContentType="application/vnd.openxmlformats-officedocument.theme+xml"/>
  <Override PartName="/ppt/theme/theme116.xml" ContentType="application/vnd.openxmlformats-officedocument.theme+xml"/>
  <Override PartName="/ppt/theme/theme117.xml" ContentType="application/vnd.openxmlformats-officedocument.theme+xml"/>
  <Override PartName="/ppt/theme/theme118.xml" ContentType="application/vnd.openxmlformats-officedocument.theme+xml"/>
  <Override PartName="/ppt/theme/theme119.xml" ContentType="application/vnd.openxmlformats-officedocument.theme+xml"/>
  <Override PartName="/ppt/theme/theme12.xml" ContentType="application/vnd.openxmlformats-officedocument.theme+xml"/>
  <Override PartName="/ppt/theme/theme120.xml" ContentType="application/vnd.openxmlformats-officedocument.theme+xml"/>
  <Override PartName="/ppt/theme/theme121.xml" ContentType="application/vnd.openxmlformats-officedocument.theme+xml"/>
  <Override PartName="/ppt/theme/theme122.xml" ContentType="application/vnd.openxmlformats-officedocument.theme+xml"/>
  <Override PartName="/ppt/theme/theme123.xml" ContentType="application/vnd.openxmlformats-officedocument.theme+xml"/>
  <Override PartName="/ppt/theme/theme124.xml" ContentType="application/vnd.openxmlformats-officedocument.theme+xml"/>
  <Override PartName="/ppt/theme/theme125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86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9.xml" ContentType="application/vnd.openxmlformats-officedocument.theme+xml"/>
  <Override PartName="/ppt/theme/theme90.xml" ContentType="application/vnd.openxmlformats-officedocument.theme+xml"/>
  <Override PartName="/ppt/theme/theme91.xml" ContentType="application/vnd.openxmlformats-officedocument.theme+xml"/>
  <Override PartName="/ppt/theme/theme92.xml" ContentType="application/vnd.openxmlformats-officedocument.theme+xml"/>
  <Override PartName="/ppt/theme/theme93.xml" ContentType="application/vnd.openxmlformats-officedocument.theme+xml"/>
  <Override PartName="/ppt/theme/theme94.xml" ContentType="application/vnd.openxmlformats-officedocument.theme+xml"/>
  <Override PartName="/ppt/theme/theme95.xml" ContentType="application/vnd.openxmlformats-officedocument.theme+xml"/>
  <Override PartName="/ppt/theme/theme96.xml" ContentType="application/vnd.openxmlformats-officedocument.theme+xml"/>
  <Override PartName="/ppt/theme/theme97.xml" ContentType="application/vnd.openxmlformats-officedocument.theme+xml"/>
  <Override PartName="/ppt/theme/theme98.xml" ContentType="application/vnd.openxmlformats-officedocument.theme+xml"/>
  <Override PartName="/ppt/theme/theme9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3"/>
    <p:sldMasterId id="2147483654" r:id="rId4"/>
    <p:sldMasterId id="2147483659" r:id="rId5"/>
    <p:sldMasterId id="2147483668" r:id="rId6"/>
    <p:sldMasterId id="2147483673" r:id="rId7"/>
    <p:sldMasterId id="2147483676" r:id="rId8"/>
    <p:sldMasterId id="2147483683" r:id="rId9"/>
    <p:sldMasterId id="2147483686" r:id="rId10"/>
    <p:sldMasterId id="2147483690" r:id="rId11"/>
    <p:sldMasterId id="2147483697" r:id="rId12"/>
    <p:sldMasterId id="2147483704" r:id="rId13"/>
    <p:sldMasterId id="2147483713" r:id="rId14"/>
    <p:sldMasterId id="2147483717" r:id="rId15"/>
    <p:sldMasterId id="2147483722" r:id="rId16"/>
    <p:sldMasterId id="2147483726" r:id="rId17"/>
    <p:sldMasterId id="2147483733" r:id="rId18"/>
    <p:sldMasterId id="2147483740" r:id="rId19"/>
    <p:sldMasterId id="2147483750" r:id="rId20"/>
    <p:sldMasterId id="2147483760" r:id="rId21"/>
    <p:sldMasterId id="2147483763" r:id="rId22"/>
    <p:sldMasterId id="2147483773" r:id="rId23"/>
    <p:sldMasterId id="2147483783" r:id="rId24"/>
    <p:sldMasterId id="2147483793" r:id="rId25"/>
    <p:sldMasterId id="2147483803" r:id="rId26"/>
    <p:sldMasterId id="2147483813" r:id="rId27"/>
    <p:sldMasterId id="2147483823" r:id="rId28"/>
    <p:sldMasterId id="2147483833" r:id="rId29"/>
    <p:sldMasterId id="2147483843" r:id="rId30"/>
    <p:sldMasterId id="2147483853" r:id="rId31"/>
    <p:sldMasterId id="2147483863" r:id="rId32"/>
    <p:sldMasterId id="2147483873" r:id="rId33"/>
    <p:sldMasterId id="2147483883" r:id="rId34"/>
    <p:sldMasterId id="2147483893" r:id="rId35"/>
    <p:sldMasterId id="2147483903" r:id="rId36"/>
    <p:sldMasterId id="2147483913" r:id="rId37"/>
    <p:sldMasterId id="2147483923" r:id="rId38"/>
    <p:sldMasterId id="2147483933" r:id="rId39"/>
    <p:sldMasterId id="2147483943" r:id="rId40"/>
    <p:sldMasterId id="2147483953" r:id="rId41"/>
    <p:sldMasterId id="2147483963" r:id="rId42"/>
    <p:sldMasterId id="2147483973" r:id="rId43"/>
    <p:sldMasterId id="2147483983" r:id="rId44"/>
    <p:sldMasterId id="2147483993" r:id="rId45"/>
    <p:sldMasterId id="2147484003" r:id="rId46"/>
    <p:sldMasterId id="2147484013" r:id="rId47"/>
    <p:sldMasterId id="2147484023" r:id="rId48"/>
    <p:sldMasterId id="2147484033" r:id="rId49"/>
    <p:sldMasterId id="2147484043" r:id="rId50"/>
    <p:sldMasterId id="2147484053" r:id="rId51"/>
    <p:sldMasterId id="2147484063" r:id="rId52"/>
    <p:sldMasterId id="2147484073" r:id="rId53"/>
    <p:sldMasterId id="2147484083" r:id="rId54"/>
    <p:sldMasterId id="2147484093" r:id="rId55"/>
    <p:sldMasterId id="2147484103" r:id="rId56"/>
    <p:sldMasterId id="2147484113" r:id="rId57"/>
    <p:sldMasterId id="2147484123" r:id="rId58"/>
    <p:sldMasterId id="2147484133" r:id="rId59"/>
    <p:sldMasterId id="2147484143" r:id="rId60"/>
    <p:sldMasterId id="2147484153" r:id="rId61"/>
    <p:sldMasterId id="2147484163" r:id="rId62"/>
    <p:sldMasterId id="2147484173" r:id="rId63"/>
    <p:sldMasterId id="2147484183" r:id="rId64"/>
    <p:sldMasterId id="2147484193" r:id="rId65"/>
    <p:sldMasterId id="2147484203" r:id="rId66"/>
    <p:sldMasterId id="2147484213" r:id="rId67"/>
    <p:sldMasterId id="2147484223" r:id="rId68"/>
    <p:sldMasterId id="2147484233" r:id="rId69"/>
    <p:sldMasterId id="2147484243" r:id="rId70"/>
    <p:sldMasterId id="2147484253" r:id="rId71"/>
    <p:sldMasterId id="2147484263" r:id="rId72"/>
    <p:sldMasterId id="2147484273" r:id="rId73"/>
    <p:sldMasterId id="2147484283" r:id="rId74"/>
    <p:sldMasterId id="2147484293" r:id="rId75"/>
    <p:sldMasterId id="2147484303" r:id="rId76"/>
    <p:sldMasterId id="2147484313" r:id="rId77"/>
    <p:sldMasterId id="2147484323" r:id="rId78"/>
    <p:sldMasterId id="2147484333" r:id="rId79"/>
    <p:sldMasterId id="2147484343" r:id="rId80"/>
    <p:sldMasterId id="2147484353" r:id="rId81"/>
    <p:sldMasterId id="2147484363" r:id="rId82"/>
    <p:sldMasterId id="2147484373" r:id="rId83"/>
    <p:sldMasterId id="2147484383" r:id="rId84"/>
    <p:sldMasterId id="2147484393" r:id="rId85"/>
    <p:sldMasterId id="2147484403" r:id="rId86"/>
    <p:sldMasterId id="2147484413" r:id="rId87"/>
    <p:sldMasterId id="2147484423" r:id="rId88"/>
    <p:sldMasterId id="2147484433" r:id="rId89"/>
    <p:sldMasterId id="2147484443" r:id="rId90"/>
    <p:sldMasterId id="2147484453" r:id="rId91"/>
    <p:sldMasterId id="2147484463" r:id="rId92"/>
    <p:sldMasterId id="2147484473" r:id="rId93"/>
    <p:sldMasterId id="2147484483" r:id="rId94"/>
    <p:sldMasterId id="2147484493" r:id="rId95"/>
    <p:sldMasterId id="2147484503" r:id="rId96"/>
    <p:sldMasterId id="2147484513" r:id="rId97"/>
    <p:sldMasterId id="2147484523" r:id="rId98"/>
    <p:sldMasterId id="2147484533" r:id="rId99"/>
    <p:sldMasterId id="2147484543" r:id="rId100"/>
    <p:sldMasterId id="2147484553" r:id="rId101"/>
    <p:sldMasterId id="2147484563" r:id="rId102"/>
    <p:sldMasterId id="2147484573" r:id="rId103"/>
    <p:sldMasterId id="2147484583" r:id="rId104"/>
    <p:sldMasterId id="2147484593" r:id="rId105"/>
    <p:sldMasterId id="2147484603" r:id="rId106"/>
    <p:sldMasterId id="2147484613" r:id="rId107"/>
    <p:sldMasterId id="2147484623" r:id="rId108"/>
    <p:sldMasterId id="2147484633" r:id="rId109"/>
    <p:sldMasterId id="2147484643" r:id="rId110"/>
    <p:sldMasterId id="2147484653" r:id="rId111"/>
    <p:sldMasterId id="2147484663" r:id="rId112"/>
    <p:sldMasterId id="2147484673" r:id="rId113"/>
    <p:sldMasterId id="2147484683" r:id="rId114"/>
    <p:sldMasterId id="2147484693" r:id="rId115"/>
    <p:sldMasterId id="2147484703" r:id="rId116"/>
    <p:sldMasterId id="2147484713" r:id="rId117"/>
    <p:sldMasterId id="2147484723" r:id="rId118"/>
    <p:sldMasterId id="2147484733" r:id="rId119"/>
    <p:sldMasterId id="2147484743" r:id="rId120"/>
    <p:sldMasterId id="2147484753" r:id="rId121"/>
    <p:sldMasterId id="2147484763" r:id="rId122"/>
    <p:sldMasterId id="2147484773" r:id="rId123"/>
    <p:sldMasterId id="2147484783" r:id="rId124"/>
  </p:sldMasterIdLst>
  <p:notesMasterIdLst>
    <p:notesMasterId r:id="rId126"/>
  </p:notesMasterIdLst>
  <p:handoutMasterIdLst>
    <p:handoutMasterId r:id="rId155"/>
  </p:handoutMasterIdLst>
  <p:sldIdLst>
    <p:sldId id="2829" r:id="rId125"/>
    <p:sldId id="3103" r:id="rId127"/>
    <p:sldId id="3139" r:id="rId128"/>
    <p:sldId id="3104" r:id="rId129"/>
    <p:sldId id="3149" r:id="rId130"/>
    <p:sldId id="3108" r:id="rId131"/>
    <p:sldId id="3178" r:id="rId132"/>
    <p:sldId id="3079" r:id="rId133"/>
    <p:sldId id="3133" r:id="rId134"/>
    <p:sldId id="3186" r:id="rId135"/>
    <p:sldId id="3150" r:id="rId136"/>
    <p:sldId id="3179" r:id="rId137"/>
    <p:sldId id="3180" r:id="rId138"/>
    <p:sldId id="3118" r:id="rId139"/>
    <p:sldId id="3183" r:id="rId140"/>
    <p:sldId id="3141" r:id="rId141"/>
    <p:sldId id="3184" r:id="rId142"/>
    <p:sldId id="3158" r:id="rId143"/>
    <p:sldId id="3182" r:id="rId144"/>
    <p:sldId id="3119" r:id="rId145"/>
    <p:sldId id="2891" r:id="rId146"/>
    <p:sldId id="3073" r:id="rId147"/>
    <p:sldId id="3151" r:id="rId148"/>
    <p:sldId id="3152" r:id="rId149"/>
    <p:sldId id="3156" r:id="rId150"/>
    <p:sldId id="3157" r:id="rId151"/>
    <p:sldId id="3153" r:id="rId152"/>
    <p:sldId id="3176" r:id="rId153"/>
    <p:sldId id="3154" r:id="rId154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2" userDrawn="1">
          <p15:clr>
            <a:srgbClr val="A4A3A4"/>
          </p15:clr>
        </p15:guide>
        <p15:guide id="2" pos="1152" userDrawn="1">
          <p15:clr>
            <a:srgbClr val="A4A3A4"/>
          </p15:clr>
        </p15:guide>
        <p15:guide id="3" pos="74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相亲相爱一家人" initials="相亲相爱一家人" lastIdx="4" clrIdx="0"/>
  <p:cmAuthor id="2" name="AutoBVT" initials="A" lastIdx="6" clrIdx="1"/>
  <p:cmAuthor id="3" name="NTKO" initials="谢雨希" lastIdx="2" clrIdx="2"/>
  <p:cmAuthor id="4" name="Administrator" initials="A" lastIdx="0" clrIdx="3"/>
  <p:cmAuthor id="5" name="FtpDown" initials="F" lastIdx="0" clrIdx="4"/>
  <p:cmAuthor id="6" name="andres.x.gomez" initials="a" lastIdx="0" clrIdx="5"/>
  <p:cmAuthor id="7" name="evil" initials="e" lastIdx="0" clrIdx="6"/>
  <p:cmAuthor id="8" name="674159052@qq.com" initials="6" lastIdx="0" clrIdx="7"/>
  <p:cmAuthor id="9" name="丁芙蓉" initials="丁" lastIdx="0" clrIdx="8"/>
  <p:cmAuthor id="10" name="聂 媛媛" initials="聂" lastIdx="0" clrIdx="9"/>
  <p:cmAuthor id="11" name="gtmc" initials="g" lastIdx="0" clrIdx="10"/>
  <p:cmAuthor id="12" name="993252537@qq.com" initials="9" lastIdx="0" clrIdx="11"/>
  <p:cmAuthor id="13" name="作者" initials="A" lastIdx="0" clrIdx="12"/>
  <p:cmAuthor id="14" name="未知用户23" initials="未" lastIdx="0" clrIdx="13"/>
  <p:cmAuthor id="15" name="黄 仁芬" initials="黄" lastIdx="0" clrIdx="14"/>
  <p:cmAuthor id="16" name="未知用户24" initials="未" lastIdx="0" clrIdx="15"/>
  <p:cmAuthor id="17" name="Iris Lee" initials="IL" lastIdx="0" clrIdx="16"/>
  <p:cmAuthor id="18" name="未知用户25" initials="未" lastIdx="0" clrIdx="17"/>
  <p:cmAuthor id="19" name="99325" initials="9" lastIdx="0" clrIdx="18"/>
  <p:cmAuthor id="20" name="2824" initials="2" lastIdx="0" clrIdx="19"/>
  <p:cmAuthor id="21" name="zhe" initials="z" lastIdx="0" clrIdx="20"/>
  <p:cmAuthor id="22" name="刘 元" initials="刘" lastIdx="0" clrIdx="21"/>
  <p:cmAuthor id="23" name="zhouwd" initials="1" lastIdx="0" clrIdx="22"/>
  <p:cmAuthor id="24" name="chentianyao" initials="c" lastIdx="0" clrIdx="23"/>
  <p:cmAuthor id="25" name="lidan" initials="l" lastIdx="0" clrIdx="24"/>
  <p:cmAuthor id="26" name="W Shi" initials="W" lastIdx="0" clrIdx="25"/>
  <p:cmAuthor id="27" name="Li" initials="L" lastIdx="0" clrIdx="26"/>
  <p:cmAuthor id="28" name="10078380" initials="1" lastIdx="0" clrIdx="27"/>
  <p:cmAuthor id="29" name="00035181" initials="0" lastIdx="0" clrIdx="28"/>
  <p:cmAuthor id="30" name="李蕾00009994" initials="李蕾00009994" lastIdx="0" clrIdx="29"/>
  <p:cmAuthor id="31" name="Saku Uchikawa" initials="S" lastIdx="0" clrIdx="30"/>
  <p:cmAuthor id="32" name="00065088" initials="0" lastIdx="0" clrIdx="31"/>
  <p:cmAuthor id="33" name="10066351" initials="1" lastIdx="0" clrIdx="32"/>
  <p:cmAuthor id="34" name="蔡建楠" initials="caijianna" lastIdx="0" clrIdx="33"/>
  <p:cmAuthor id="35" name="赵诚荣10027092" initials="赵" lastIdx="0" clrIdx="34"/>
  <p:cmAuthor id="36" name="10196350" initials="rule" lastIdx="0" clrIdx="35"/>
  <p:cmAuthor id="37" name="wyz" initials="w" lastIdx="0" clrIdx="36"/>
  <p:cmAuthor id="38" name="10270945" initials="1" lastIdx="0" clrIdx="37"/>
  <p:cmAuthor id="39" name="10295142" initials="1" lastIdx="0" clrIdx="38"/>
  <p:cmAuthor id="40" name="Hou Yingfeng" initials="H" lastIdx="0" clrIdx="39"/>
  <p:cmAuthor id="41" name="10056791" initials="ZTE" lastIdx="0" clrIdx="40"/>
  <p:cmAuthor id="42" name="Author" initials="A" lastIdx="0" clrIdx="41"/>
  <p:cmAuthor id="43" name="10033224" initials="1" lastIdx="0" clrIdx="42"/>
  <p:cmAuthor id="44" name="D eco" initials="De" lastIdx="0" clrIdx="43"/>
  <p:cmAuthor id="45" name="610007" initials="6" lastIdx="0" clrIdx="44"/>
  <p:cmAuthor id="46" name="刘付平" initials="刘" lastIdx="0" clrIdx="45"/>
  <p:cmAuthor id="47" name="Microsoft 帐户" initials="M" lastIdx="0" clrIdx="46"/>
  <p:cmAuthor id="48" name="yuan xiwen" initials="yx" lastIdx="0" clrIdx="47"/>
  <p:cmAuthor id="49" name="关全全10258021" initials="关全全10258021" lastIdx="0" clrIdx="48"/>
  <p:cmAuthor id="50" name="xy-zsj" initials="SZ" lastIdx="0" clrIdx="49"/>
  <p:cmAuthor id="51" name="未知用户1" initials="未知用户1" lastIdx="0" clrIdx="50"/>
  <p:cmAuthor id="52" name="刘怡" initials="刘怡" lastIdx="0" clrIdx="51"/>
  <p:cmAuthor id="53" name="feng changping" initials="fc" lastIdx="0" clrIdx="52"/>
  <p:cmAuthor id="54" name="China" initials="C" lastIdx="0" clrIdx="53"/>
  <p:cmAuthor id="55" name="沈霄雷" initials="沈" lastIdx="0" clrIdx="54"/>
  <p:cmAuthor id="56" name="wuyonglin" initials="w" lastIdx="0" clrIdx="55"/>
  <p:cmAuthor id="57" name="张心蕾" initials="张" lastIdx="0" clrIdx="56"/>
  <p:cmAuthor id="58" name="仁芬" initials="仁芬" lastIdx="0" clrIdx="57"/>
  <p:cmAuthor id="59" name="叶得会" initials="叶" lastIdx="0" clrIdx="58"/>
  <p:cmAuthor id="60" name="梦颖 魏" initials="梦魏" lastIdx="0" clrIdx="59"/>
  <p:cmAuthor id="61" name="中兴新云" initials="中" lastIdx="0" clrIdx="60"/>
  <p:cmAuthor id="62" name="若愚 张" initials="若张" lastIdx="0" clrIdx="61"/>
  <p:cmAuthor id="63" name="USER" initials="U" lastIdx="0" clrIdx="62"/>
  <p:cmAuthor id="64" name="一条小神龙" initials="一" lastIdx="0" clrIdx="63"/>
  <p:cmAuthor id="65" name="未知用户17" initials="未" lastIdx="0" clrIdx="64"/>
  <p:cmAuthor id="66" name="张惠" initials="张" lastIdx="0" clrIdx="65"/>
  <p:cmAuthor id="67" name="未知用户18" initials="未" lastIdx="0" clrIdx="66"/>
  <p:cmAuthor id="68" name="吴铭锐" initials="吴" lastIdx="0" clrIdx="67"/>
  <p:cmAuthor id="69" name="liying" initials="l" lastIdx="0" clrIdx="68"/>
  <p:cmAuthor id="70" name="panhong" initials="p" lastIdx="0" clrIdx="69"/>
  <p:cmAuthor id="71" name="张钦" initials="张" lastIdx="0" clrIdx="70"/>
  <p:cmAuthor id="72" name="未知用户21" initials="未" lastIdx="0" clrIdx="71"/>
  <p:cmAuthor id="73" name="nine" initials="n" lastIdx="0" clrIdx="72"/>
  <p:cmAuthor id="74" name="未知用户14" initials="未" lastIdx="0" clrIdx="73"/>
  <p:cmAuthor id="75" name="涛娜" initials="涛" lastIdx="0" clrIdx="74"/>
  <p:cmAuthor id="76" name="未知用户15" initials="未" lastIdx="0" clrIdx="75"/>
  <p:cmAuthor id="77" name="未知用户16" initials="未" lastIdx="0" clrIdx="76"/>
  <p:cmAuthor id="78" name="郝崇" initials="郝" lastIdx="0" clrIdx="77"/>
  <p:cmAuthor id="79" name="吴杰" initials="吴" lastIdx="0" clrIdx="78"/>
  <p:cmAuthor id="80" name="刘丽仙" initials="刘" lastIdx="0" clrIdx="79"/>
  <p:cmAuthor id="81" name="仝德志" initials="仝" lastIdx="0" clrIdx="80"/>
  <p:cmAuthor id="82" name="陶川" initials="陶" lastIdx="0" clrIdx="81"/>
  <p:cmAuthor id="83" name="张杰" initials="张" lastIdx="0" clrIdx="82"/>
  <p:cmAuthor id="84" name="杨艳霞" initials="杨" lastIdx="0" clrIdx="83"/>
  <p:cmAuthor id="85" name="user" initials="u" lastIdx="0" clrIdx="84"/>
  <p:cmAuthor id="86" name="未知用户8" initials="未" lastIdx="0" clrIdx="85"/>
  <p:cmAuthor id="87" name="吕喜龙" initials="吕" lastIdx="0" clrIdx="8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00"/>
    <a:srgbClr val="152A8C"/>
    <a:srgbClr val="1F497D"/>
    <a:srgbClr val="B4C6E7"/>
    <a:srgbClr val="F8BB78"/>
    <a:srgbClr val="DAA896"/>
    <a:srgbClr val="EDEDED"/>
    <a:srgbClr val="BFBFBF"/>
    <a:srgbClr val="279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63" autoAdjust="0"/>
    <p:restoredTop sz="93530" autoAdjust="0"/>
  </p:normalViewPr>
  <p:slideViewPr>
    <p:cSldViewPr snapToGrid="0" showGuides="1">
      <p:cViewPr varScale="1">
        <p:scale>
          <a:sx n="73" d="100"/>
          <a:sy n="73" d="100"/>
        </p:scale>
        <p:origin x="1080" y="52"/>
      </p:cViewPr>
      <p:guideLst>
        <p:guide orient="horz" pos="652"/>
        <p:guide pos="1152"/>
        <p:guide pos="7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6" d="100"/>
        <a:sy n="116" d="100"/>
      </p:scale>
      <p:origin x="0" y="-3144"/>
    </p:cViewPr>
  </p:sorterViewPr>
  <p:notesViewPr>
    <p:cSldViewPr snapToGrid="0">
      <p:cViewPr varScale="1">
        <p:scale>
          <a:sx n="60" d="100"/>
          <a:sy n="60" d="100"/>
        </p:scale>
        <p:origin x="2419" y="5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Master" Target="slideMasters/slideMaster98.xml"/><Relationship Id="rId98" Type="http://schemas.openxmlformats.org/officeDocument/2006/relationships/slideMaster" Target="slideMasters/slideMaster97.xml"/><Relationship Id="rId97" Type="http://schemas.openxmlformats.org/officeDocument/2006/relationships/slideMaster" Target="slideMasters/slideMaster96.xml"/><Relationship Id="rId96" Type="http://schemas.openxmlformats.org/officeDocument/2006/relationships/slideMaster" Target="slideMasters/slideMaster95.xml"/><Relationship Id="rId95" Type="http://schemas.openxmlformats.org/officeDocument/2006/relationships/slideMaster" Target="slideMasters/slideMaster94.xml"/><Relationship Id="rId94" Type="http://schemas.openxmlformats.org/officeDocument/2006/relationships/slideMaster" Target="slideMasters/slideMaster93.xml"/><Relationship Id="rId93" Type="http://schemas.openxmlformats.org/officeDocument/2006/relationships/slideMaster" Target="slideMasters/slideMaster92.xml"/><Relationship Id="rId92" Type="http://schemas.openxmlformats.org/officeDocument/2006/relationships/slideMaster" Target="slideMasters/slideMaster91.xml"/><Relationship Id="rId91" Type="http://schemas.openxmlformats.org/officeDocument/2006/relationships/slideMaster" Target="slideMasters/slideMaster90.xml"/><Relationship Id="rId90" Type="http://schemas.openxmlformats.org/officeDocument/2006/relationships/slideMaster" Target="slideMasters/slideMaster89.xml"/><Relationship Id="rId9" Type="http://schemas.openxmlformats.org/officeDocument/2006/relationships/slideMaster" Target="slideMasters/slideMaster8.xml"/><Relationship Id="rId89" Type="http://schemas.openxmlformats.org/officeDocument/2006/relationships/slideMaster" Target="slideMasters/slideMaster88.xml"/><Relationship Id="rId88" Type="http://schemas.openxmlformats.org/officeDocument/2006/relationships/slideMaster" Target="slideMasters/slideMaster87.xml"/><Relationship Id="rId87" Type="http://schemas.openxmlformats.org/officeDocument/2006/relationships/slideMaster" Target="slideMasters/slideMaster86.xml"/><Relationship Id="rId86" Type="http://schemas.openxmlformats.org/officeDocument/2006/relationships/slideMaster" Target="slideMasters/slideMaster85.xml"/><Relationship Id="rId85" Type="http://schemas.openxmlformats.org/officeDocument/2006/relationships/slideMaster" Target="slideMasters/slideMaster84.xml"/><Relationship Id="rId84" Type="http://schemas.openxmlformats.org/officeDocument/2006/relationships/slideMaster" Target="slideMasters/slideMaster83.xml"/><Relationship Id="rId83" Type="http://schemas.openxmlformats.org/officeDocument/2006/relationships/slideMaster" Target="slideMasters/slideMaster82.xml"/><Relationship Id="rId82" Type="http://schemas.openxmlformats.org/officeDocument/2006/relationships/slideMaster" Target="slideMasters/slideMaster81.xml"/><Relationship Id="rId81" Type="http://schemas.openxmlformats.org/officeDocument/2006/relationships/slideMaster" Target="slideMasters/slideMaster80.xml"/><Relationship Id="rId80" Type="http://schemas.openxmlformats.org/officeDocument/2006/relationships/slideMaster" Target="slideMasters/slideMaster79.xml"/><Relationship Id="rId8" Type="http://schemas.openxmlformats.org/officeDocument/2006/relationships/slideMaster" Target="slideMasters/slideMaster7.xml"/><Relationship Id="rId79" Type="http://schemas.openxmlformats.org/officeDocument/2006/relationships/slideMaster" Target="slideMasters/slideMaster78.xml"/><Relationship Id="rId78" Type="http://schemas.openxmlformats.org/officeDocument/2006/relationships/slideMaster" Target="slideMasters/slideMaster77.xml"/><Relationship Id="rId77" Type="http://schemas.openxmlformats.org/officeDocument/2006/relationships/slideMaster" Target="slideMasters/slideMaster76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" Type="http://schemas.openxmlformats.org/officeDocument/2006/relationships/slideMaster" Target="slideMasters/slideMaster73.xml"/><Relationship Id="rId73" Type="http://schemas.openxmlformats.org/officeDocument/2006/relationships/slideMaster" Target="slideMasters/slideMaster72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" Type="http://schemas.openxmlformats.org/officeDocument/2006/relationships/slideMaster" Target="slideMasters/slideMaster68.xml"/><Relationship Id="rId68" Type="http://schemas.openxmlformats.org/officeDocument/2006/relationships/slideMaster" Target="slideMasters/slideMaster67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9" Type="http://schemas.openxmlformats.org/officeDocument/2006/relationships/commentAuthors" Target="commentAuthors.xml"/><Relationship Id="rId158" Type="http://schemas.openxmlformats.org/officeDocument/2006/relationships/tableStyles" Target="tableStyles.xml"/><Relationship Id="rId157" Type="http://schemas.openxmlformats.org/officeDocument/2006/relationships/viewProps" Target="viewProps.xml"/><Relationship Id="rId156" Type="http://schemas.openxmlformats.org/officeDocument/2006/relationships/presProps" Target="presProps.xml"/><Relationship Id="rId155" Type="http://schemas.openxmlformats.org/officeDocument/2006/relationships/handoutMaster" Target="handoutMasters/handoutMaster1.xml"/><Relationship Id="rId154" Type="http://schemas.openxmlformats.org/officeDocument/2006/relationships/slide" Target="slides/slide29.xml"/><Relationship Id="rId153" Type="http://schemas.openxmlformats.org/officeDocument/2006/relationships/slide" Target="slides/slide28.xml"/><Relationship Id="rId152" Type="http://schemas.openxmlformats.org/officeDocument/2006/relationships/slide" Target="slides/slide27.xml"/><Relationship Id="rId151" Type="http://schemas.openxmlformats.org/officeDocument/2006/relationships/slide" Target="slides/slide26.xml"/><Relationship Id="rId150" Type="http://schemas.openxmlformats.org/officeDocument/2006/relationships/slide" Target="slides/slide25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24.xml"/><Relationship Id="rId148" Type="http://schemas.openxmlformats.org/officeDocument/2006/relationships/slide" Target="slides/slide23.xml"/><Relationship Id="rId147" Type="http://schemas.openxmlformats.org/officeDocument/2006/relationships/slide" Target="slides/slide22.xml"/><Relationship Id="rId146" Type="http://schemas.openxmlformats.org/officeDocument/2006/relationships/slide" Target="slides/slide21.xml"/><Relationship Id="rId145" Type="http://schemas.openxmlformats.org/officeDocument/2006/relationships/slide" Target="slides/slide20.xml"/><Relationship Id="rId144" Type="http://schemas.openxmlformats.org/officeDocument/2006/relationships/slide" Target="slides/slide19.xml"/><Relationship Id="rId143" Type="http://schemas.openxmlformats.org/officeDocument/2006/relationships/slide" Target="slides/slide18.xml"/><Relationship Id="rId142" Type="http://schemas.openxmlformats.org/officeDocument/2006/relationships/slide" Target="slides/slide17.xml"/><Relationship Id="rId141" Type="http://schemas.openxmlformats.org/officeDocument/2006/relationships/slide" Target="slides/slide16.xml"/><Relationship Id="rId140" Type="http://schemas.openxmlformats.org/officeDocument/2006/relationships/slide" Target="slides/slide15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14.xml"/><Relationship Id="rId138" Type="http://schemas.openxmlformats.org/officeDocument/2006/relationships/slide" Target="slides/slide13.xml"/><Relationship Id="rId137" Type="http://schemas.openxmlformats.org/officeDocument/2006/relationships/slide" Target="slides/slide12.xml"/><Relationship Id="rId136" Type="http://schemas.openxmlformats.org/officeDocument/2006/relationships/slide" Target="slides/slide11.xml"/><Relationship Id="rId135" Type="http://schemas.openxmlformats.org/officeDocument/2006/relationships/slide" Target="slides/slide10.xml"/><Relationship Id="rId134" Type="http://schemas.openxmlformats.org/officeDocument/2006/relationships/slide" Target="slides/slide9.xml"/><Relationship Id="rId133" Type="http://schemas.openxmlformats.org/officeDocument/2006/relationships/slide" Target="slides/slide8.xml"/><Relationship Id="rId132" Type="http://schemas.openxmlformats.org/officeDocument/2006/relationships/slide" Target="slides/slide7.xml"/><Relationship Id="rId131" Type="http://schemas.openxmlformats.org/officeDocument/2006/relationships/slide" Target="slides/slide6.xml"/><Relationship Id="rId130" Type="http://schemas.openxmlformats.org/officeDocument/2006/relationships/slide" Target="slides/slide5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4.xml"/><Relationship Id="rId128" Type="http://schemas.openxmlformats.org/officeDocument/2006/relationships/slide" Target="slides/slide3.xml"/><Relationship Id="rId127" Type="http://schemas.openxmlformats.org/officeDocument/2006/relationships/slide" Target="slides/slide2.xml"/><Relationship Id="rId126" Type="http://schemas.openxmlformats.org/officeDocument/2006/relationships/notesMaster" Target="notesMasters/notesMaster1.xml"/><Relationship Id="rId125" Type="http://schemas.openxmlformats.org/officeDocument/2006/relationships/slide" Target="slides/slide1.xml"/><Relationship Id="rId124" Type="http://schemas.openxmlformats.org/officeDocument/2006/relationships/slideMaster" Target="slideMasters/slideMaster123.xml"/><Relationship Id="rId123" Type="http://schemas.openxmlformats.org/officeDocument/2006/relationships/slideMaster" Target="slideMasters/slideMaster122.xml"/><Relationship Id="rId122" Type="http://schemas.openxmlformats.org/officeDocument/2006/relationships/slideMaster" Target="slideMasters/slideMaster121.xml"/><Relationship Id="rId121" Type="http://schemas.openxmlformats.org/officeDocument/2006/relationships/slideMaster" Target="slideMasters/slideMaster120.xml"/><Relationship Id="rId120" Type="http://schemas.openxmlformats.org/officeDocument/2006/relationships/slideMaster" Target="slideMasters/slideMaster119.xml"/><Relationship Id="rId12" Type="http://schemas.openxmlformats.org/officeDocument/2006/relationships/slideMaster" Target="slideMasters/slideMaster11.xml"/><Relationship Id="rId119" Type="http://schemas.openxmlformats.org/officeDocument/2006/relationships/slideMaster" Target="slideMasters/slideMaster118.xml"/><Relationship Id="rId118" Type="http://schemas.openxmlformats.org/officeDocument/2006/relationships/slideMaster" Target="slideMasters/slideMaster117.xml"/><Relationship Id="rId117" Type="http://schemas.openxmlformats.org/officeDocument/2006/relationships/slideMaster" Target="slideMasters/slideMaster116.xml"/><Relationship Id="rId116" Type="http://schemas.openxmlformats.org/officeDocument/2006/relationships/slideMaster" Target="slideMasters/slideMaster115.xml"/><Relationship Id="rId115" Type="http://schemas.openxmlformats.org/officeDocument/2006/relationships/slideMaster" Target="slideMasters/slideMaster114.xml"/><Relationship Id="rId114" Type="http://schemas.openxmlformats.org/officeDocument/2006/relationships/slideMaster" Target="slideMasters/slideMaster113.xml"/><Relationship Id="rId113" Type="http://schemas.openxmlformats.org/officeDocument/2006/relationships/slideMaster" Target="slideMasters/slideMaster112.xml"/><Relationship Id="rId112" Type="http://schemas.openxmlformats.org/officeDocument/2006/relationships/slideMaster" Target="slideMasters/slideMaster111.xml"/><Relationship Id="rId111" Type="http://schemas.openxmlformats.org/officeDocument/2006/relationships/slideMaster" Target="slideMasters/slideMaster110.xml"/><Relationship Id="rId110" Type="http://schemas.openxmlformats.org/officeDocument/2006/relationships/slideMaster" Target="slideMasters/slideMaster109.xml"/><Relationship Id="rId11" Type="http://schemas.openxmlformats.org/officeDocument/2006/relationships/slideMaster" Target="slideMasters/slideMaster10.xml"/><Relationship Id="rId109" Type="http://schemas.openxmlformats.org/officeDocument/2006/relationships/slideMaster" Target="slideMasters/slideMaster108.xml"/><Relationship Id="rId108" Type="http://schemas.openxmlformats.org/officeDocument/2006/relationships/slideMaster" Target="slideMasters/slideMaster107.xml"/><Relationship Id="rId107" Type="http://schemas.openxmlformats.org/officeDocument/2006/relationships/slideMaster" Target="slideMasters/slideMaster106.xml"/><Relationship Id="rId106" Type="http://schemas.openxmlformats.org/officeDocument/2006/relationships/slideMaster" Target="slideMasters/slideMaster105.xml"/><Relationship Id="rId105" Type="http://schemas.openxmlformats.org/officeDocument/2006/relationships/slideMaster" Target="slideMasters/slideMaster104.xml"/><Relationship Id="rId104" Type="http://schemas.openxmlformats.org/officeDocument/2006/relationships/slideMaster" Target="slideMasters/slideMaster103.xml"/><Relationship Id="rId103" Type="http://schemas.openxmlformats.org/officeDocument/2006/relationships/slideMaster" Target="slideMasters/slideMaster102.xml"/><Relationship Id="rId102" Type="http://schemas.openxmlformats.org/officeDocument/2006/relationships/slideMaster" Target="slideMasters/slideMaster101.xml"/><Relationship Id="rId101" Type="http://schemas.openxmlformats.org/officeDocument/2006/relationships/slideMaster" Target="slideMasters/slideMaster100.xml"/><Relationship Id="rId100" Type="http://schemas.openxmlformats.org/officeDocument/2006/relationships/slideMaster" Target="slideMasters/slideMaster9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7754-4016-4142-A148-2FD9F4901B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C411A-1614-4C2C-83A9-37A725D131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061E6-9082-4DE5-9A66-8A4CDD8232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健全参股经营投资评估机制，聚焦战略使命履行，国有股东行权，国有权益维护，重大风险等事项，科学评价存量国有参股股权质效。标识，分类</a:t>
            </a:r>
            <a:r>
              <a:rPr lang="zh-CN" altLang="en-US"/>
              <a:t>监管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 fontAlgn="ctr">
              <a:lnSpc>
                <a:spcPct val="110000"/>
              </a:lnSpc>
              <a:buClrTx/>
              <a:buSzTx/>
              <a:buFontTx/>
            </a:pPr>
            <a:r>
              <a:rPr lang="zh-CN" altLang="en-US"/>
              <a:t>健全参股经营投资评估机制，聚焦战略使命履行，国有股东行权，国有权益维护，重大风险等事项，科学评价存量国有参股股权质效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9F240-7763-492B-9AA6-70329668C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项目功能已开发完毕，可直接</a:t>
            </a:r>
            <a:r>
              <a:rPr lang="zh-CN" altLang="en-US" dirty="0"/>
              <a:t>套用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结合产业协同，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项目功能已开发完毕，可直接</a:t>
            </a:r>
            <a:r>
              <a:rPr lang="zh-CN" altLang="en-US" dirty="0"/>
              <a:t>套用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结合产业协同，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项目功能已开发完毕，可直接</a:t>
            </a:r>
            <a:r>
              <a:rPr lang="zh-CN" altLang="en-US" dirty="0"/>
              <a:t>套用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结合产业协同，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124F95-A27F-4848-8BFC-F38062363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24F95-A27F-4848-8BFC-F38062363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5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6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7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8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9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0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1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8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2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9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3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0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4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5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6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7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8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8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9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3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3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0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1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2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3.xml"/></Relationships>
</file>

<file path=ppt/slideLayouts/_rels/slideLayout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3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29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4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4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0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5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5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6.xml"/></Relationships>
</file>

<file path=ppt/slideLayouts/_rels/slideLayout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6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6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7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7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7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8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8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8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9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9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49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0.xml"/></Relationships>
</file>

<file path=ppt/slideLayouts/_rels/slideLayout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1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1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6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2.xml"/></Relationships>
</file>

<file path=ppt/slideLayouts/_rels/slideLayout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7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3.xml"/></Relationships>
</file>

<file path=ppt/slideLayouts/_rels/slideLayout3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3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8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4.xml"/></Relationships>
</file>

<file path=ppt/slideLayouts/_rels/slideLayout3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4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39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4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5.xml"/></Relationships>
</file>

<file path=ppt/slideLayouts/_rels/slideLayout4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5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0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5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6.xml"/></Relationships>
</file>

<file path=ppt/slideLayouts/_rels/slideLayout4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6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6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4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7.xml"/></Relationships>
</file>

<file path=ppt/slideLayouts/_rels/slideLayout4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7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7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8.xml"/></Relationships>
</file>

<file path=ppt/slideLayouts/_rels/slideLayout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8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8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9.xml"/></Relationships>
</file>

<file path=ppt/slideLayouts/_rels/slideLayout4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9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59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4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0.xml"/></Relationships>
</file>

<file path=ppt/slideLayouts/_rels/slideLayout4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0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0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4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1.xml"/></Relationships>
</file>

<file path=ppt/slideLayouts/_rels/slideLayout4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1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1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4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2.xml"/></Relationships>
</file>

<file path=ppt/slideLayouts/_rels/slideLayout4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2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6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2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4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3.xml"/></Relationships>
</file>

<file path=ppt/slideLayouts/_rels/slideLayout4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3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7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3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4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4.xml"/></Relationships>
</file>

<file path=ppt/slideLayouts/_rels/slideLayout4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8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4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4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5.xml"/></Relationships>
</file>

<file path=ppt/slideLayouts/_rels/slideLayout4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49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5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6.xml"/></Relationships>
</file>

<file path=ppt/slideLayouts/_rels/slideLayout5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0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5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7.xml"/></Relationships>
</file>

<file path=ppt/slideLayouts/_rels/slideLayout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8.xml"/></Relationships>
</file>

<file path=ppt/slideLayouts/_rels/slideLayout5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5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9.xml"/></Relationships>
</file>

<file path=ppt/slideLayouts/_rels/slideLayout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6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6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5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0.xml"/></Relationships>
</file>

<file path=ppt/slideLayouts/_rels/slideLayout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0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5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1.xml"/></Relationships>
</file>

<file path=ppt/slideLayouts/_rels/slideLayout5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1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1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5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2.xml"/></Relationships>
</file>

<file path=ppt/slideLayouts/_rels/slideLayout5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2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5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2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3.xml"/></Relationships>
</file>

<file path=ppt/slideLayouts/_rels/slideLayout5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3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6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3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4.xml"/></Relationships>
</file>

<file path=ppt/slideLayouts/_rels/slideLayout5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4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7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4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5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5.xml"/></Relationships>
</file>

<file path=ppt/slideLayouts/_rels/slideLayout5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5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8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5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5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6.xml"/></Relationships>
</file>

<file path=ppt/slideLayouts/_rels/slideLayout5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6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59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6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7.xml"/></Relationships>
</file>

<file path=ppt/slideLayouts/_rels/slideLayout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7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7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8.xml"/></Relationships>
</file>

<file path=ppt/slideLayouts/_rels/slideLayout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8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8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6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9.xml"/></Relationships>
</file>

<file path=ppt/slideLayouts/_rels/slideLayout6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9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79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6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0.xml"/></Relationships>
</file>

<file path=ppt/slideLayouts/_rels/slideLayout6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0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0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6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1.xml"/></Relationships>
</file>

<file path=ppt/slideLayouts/_rels/slideLayout6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1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1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6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2.xml"/></Relationships>
</file>

<file path=ppt/slideLayouts/_rels/slideLayout6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2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2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6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3.xml"/></Relationships>
</file>

<file path=ppt/slideLayouts/_rels/slideLayout6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3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5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3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6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4.xml"/></Relationships>
</file>

<file path=ppt/slideLayouts/_rels/slideLayout6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4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6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4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6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5.xml"/></Relationships>
</file>

<file path=ppt/slideLayouts/_rels/slideLayout6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5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7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5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6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6.xml"/></Relationships>
</file>

<file path=ppt/slideLayouts/_rels/slideLayout6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6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8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6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6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7.xml"/></Relationships>
</file>

<file path=ppt/slideLayouts/_rels/slideLayout6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7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7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6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8.xml"/></Relationships>
</file>

<file path=ppt/slideLayouts/_rels/slideLayout7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8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8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7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9.xml"/></Relationships>
</file>

<file path=ppt/slideLayouts/_rels/slideLayout7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9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89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7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0.xml"/></Relationships>
</file>

<file path=ppt/slideLayouts/_rels/slideLayout7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0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0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7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1.xml"/></Relationships>
</file>

<file path=ppt/slideLayouts/_rels/slideLayout7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1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1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7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2.xml"/></Relationships>
</file>

<file path=ppt/slideLayouts/_rels/slideLayout7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2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2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7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3.xml"/></Relationships>
</file>

<file path=ppt/slideLayouts/_rels/slideLayout7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3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3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7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4.xml"/></Relationships>
</file>

<file path=ppt/slideLayouts/_rels/slideLayout7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4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5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4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7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5.xml"/></Relationships>
</file>

<file path=ppt/slideLayouts/_rels/slideLayout7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5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6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5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7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6.xml"/></Relationships>
</file>

<file path=ppt/slideLayouts/_rels/slideLayout7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6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6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7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7.xml"/></Relationships>
</file>

<file path=ppt/slideLayouts/_rels/slideLayout7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7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7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7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8.xml"/></Relationships>
</file>

<file path=ppt/slideLayouts/_rels/slideLayout7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8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8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7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9.xml"/></Relationships>
</file>

<file path=ppt/slideLayouts/_rels/slideLayout7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9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99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8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0.xml"/></Relationships>
</file>

<file path=ppt/slideLayouts/_rels/slideLayout8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0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0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8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1.xml"/></Relationships>
</file>

<file path=ppt/slideLayouts/_rels/slideLayout8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1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1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8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2.xml"/></Relationships>
</file>

<file path=ppt/slideLayouts/_rels/slideLayout8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2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2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8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3.xml"/></Relationships>
</file>

<file path=ppt/slideLayouts/_rels/slideLayout8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3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3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8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4.xml"/></Relationships>
</file>

<file path=ppt/slideLayouts/_rels/slideLayout8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4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4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8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5.xml"/></Relationships>
</file>

<file path=ppt/slideLayouts/_rels/slideLayout8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5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5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8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6.xml"/></Relationships>
</file>

<file path=ppt/slideLayouts/_rels/slideLayout8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6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6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6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8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7.xml"/></Relationships>
</file>

<file path=ppt/slideLayouts/_rels/slideLayout8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7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7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8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8.xml"/></Relationships>
</file>

<file path=ppt/slideLayouts/_rels/slideLayout8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8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8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8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9.xml"/></Relationships>
</file>

<file path=ppt/slideLayouts/_rels/slideLayout8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9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09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8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0.xml"/></Relationships>
</file>

<file path=ppt/slideLayouts/_rels/slideLayout8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0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0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9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1.xml"/></Relationships>
</file>

<file path=ppt/slideLayouts/_rels/slideLayout9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1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0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1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9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2.xml"/></Relationships>
</file>

<file path=ppt/slideLayouts/_rels/slideLayout9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2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2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9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3.xml"/></Relationships>
</file>

<file path=ppt/slideLayouts/_rels/slideLayout9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3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3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9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4.xml"/></Relationships>
</file>

<file path=ppt/slideLayouts/_rels/slideLayout9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4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4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9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5.xml"/></Relationships>
</file>

<file path=ppt/slideLayouts/_rels/slideLayout9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5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5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9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6.xml"/></Relationships>
</file>

<file path=ppt/slideLayouts/_rels/slideLayout9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6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5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6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9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7.xml"/></Relationships>
</file>

<file path=ppt/slideLayouts/_rels/slideLayout9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7.xml"/></Relationships>
</file>

<file path=ppt/slideLayouts/_rels/slideLayout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7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9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8.xml"/></Relationships>
</file>

<file path=ppt/slideLayouts/_rels/slideLayout9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8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8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9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9.xml"/></Relationships>
</file>

<file path=ppt/slideLayouts/_rels/slideLayout9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19.xml"/></Relationships>
</file>

<file path=ppt/slideLayouts/_rels/slideLayout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19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9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0.xml"/></Relationships>
</file>

<file path=ppt/slideLayouts/_rels/slideLayout9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0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20.xml"/></Relationships>
</file>

<file path=ppt/slideLayouts/_rels/slideLayout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9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1.xml"/></Relationships>
</file>

<file path=ppt/slideLayouts/_rels/slideLayout9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1.xml"/></Relationships>
</file>

<file path=ppt/slideLayouts/_rels/slideLayout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99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21.xml"/></Relationships>
</file>

<file path=ppt/slideLayouts/_rels/slideLayout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0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2.xml"/></Relationships>
</file>

<file path=ppt/slideLayouts/_rels/slideLayout10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2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0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22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0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3.xml"/></Relationships>
</file>

<file path=ppt/slideLayouts/_rels/slideLayout10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23.xml"/></Relationships>
</file>

<file path=ppt/slideLayouts/_rels/slideLayout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0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GIF"/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123.xml"/></Relationships>
</file>

<file path=ppt/slideLayouts/_rels/slideLayout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29D92E-C150-4C87-AE78-7079AFA707B8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2A8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C6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+mn-ea"/>
              </a:rPr>
            </a:fld>
            <a:endParaRPr kumimoji="0" sz="1600" b="1" i="0" u="none" strike="noStrike" kern="1200" cap="none" spc="-5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914400"/>
          </a:xfrm>
          <a:prstGeom prst="rect">
            <a:avLst/>
          </a:prstGeom>
        </p:spPr>
        <p:txBody>
          <a:bodyPr/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4621" y="6536534"/>
            <a:ext cx="256413" cy="275717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CB4B4D-7CA3-9044-876B-883B54F8677D}" type="slidenum">
              <a:rPr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cs typeface="Arial" panose="020B0604020202020204"/>
                <a:sym typeface="Arial" panose="020B0604020202020204"/>
              </a:rPr>
            </a:fld>
            <a:endParaRPr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charset="-122"/>
                <a:ea typeface="微软雅黑" panose="020B050302020402020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charset="-122"/>
                <a:ea typeface="微软雅黑" panose="020B050302020402020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7CA0-4DF2-4843-80D5-E2FAF334B8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0819-1778-41C5-950F-587F75146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65770"/>
            <a:ext cx="10515600" cy="46859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71966" y="6421613"/>
            <a:ext cx="596154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latin typeface="+mn-lt"/>
              </a:defRPr>
            </a:lvl1pPr>
          </a:lstStyle>
          <a:p>
            <a:fld id="{730450CD-DD8F-4095-A3CF-82FEA7E967E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8000"/>
    </mc:Choice>
    <mc:Fallback>
      <p:transition advClick="0" advTm="8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3" y="325443"/>
            <a:ext cx="10176934" cy="871537"/>
          </a:xfrm>
          <a:prstGeom prst="rect">
            <a:avLst/>
          </a:prstGeom>
        </p:spPr>
        <p:txBody>
          <a:bodyPr lIns="121935" tIns="60968" rIns="121935" bIns="60968"/>
          <a:lstStyle>
            <a:lvl1pPr>
              <a:defRPr sz="27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8000"/>
    </mc:Choice>
    <mc:Fallback>
      <p:transition advClick="0" advTm="8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5"/>
          <p:cNvSpPr>
            <a:spLocks noGrp="1"/>
          </p:cNvSpPr>
          <p:nvPr>
            <p:ph type="title"/>
          </p:nvPr>
        </p:nvSpPr>
        <p:spPr>
          <a:xfrm>
            <a:off x="456035" y="189394"/>
            <a:ext cx="10516036" cy="749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advClick="0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2A8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C6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+mn-ea"/>
              </a:rPr>
            </a:fld>
            <a:endParaRPr kumimoji="0" sz="1600" b="1" i="0" u="none" strike="noStrike" kern="1200" cap="none" spc="-5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标题 1"/>
          <p:cNvSpPr>
            <a:spLocks noGrp="1"/>
          </p:cNvSpPr>
          <p:nvPr>
            <p:ph type="title"/>
          </p:nvPr>
        </p:nvSpPr>
        <p:spPr>
          <a:xfrm>
            <a:off x="334023" y="792197"/>
            <a:ext cx="9850832" cy="548571"/>
          </a:xfrm>
          <a:prstGeom prst="rect">
            <a:avLst/>
          </a:prstGeom>
        </p:spPr>
        <p:txBody>
          <a:bodyPr lIns="106828" tIns="53415" rIns="106828" bIns="53415"/>
          <a:lstStyle>
            <a:lvl1pPr>
              <a:defRPr sz="21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3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34027" y="1412776"/>
            <a:ext cx="11494073" cy="5256584"/>
          </a:xfrm>
          <a:prstGeom prst="rect">
            <a:avLst/>
          </a:prstGeom>
        </p:spPr>
        <p:txBody>
          <a:bodyPr lIns="106828" tIns="53415" rIns="106828" bIns="53415"/>
          <a:lstStyle>
            <a:lvl1pPr marL="312420" indent="-31242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Wingdings" panose="05000000000000000000" pitchFamily="2" charset="2"/>
              <a:buChar char="n"/>
              <a:defRPr sz="19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473075" indent="-25781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SzPct val="100000"/>
              <a:buFont typeface="Wingdings" panose="05000000000000000000" pitchFamily="2" charset="2"/>
              <a:buChar char="u"/>
              <a:defRPr sz="16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631190" indent="-20828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500" b="0">
                <a:latin typeface="微软雅黑" panose="020B0503020204020204" charset="-122"/>
                <a:ea typeface="微软雅黑" panose="020B0503020204020204" charset="-122"/>
              </a:defRPr>
            </a:lvl3pPr>
            <a:lvl4pPr marL="1492885" indent="-250190">
              <a:lnSpc>
                <a:spcPct val="120000"/>
              </a:lnSpc>
              <a:buFont typeface="Wingdings" panose="05000000000000000000" pitchFamily="2" charset="2"/>
              <a:buChar char="l"/>
              <a:defRPr sz="12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08175" indent="-25019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2A8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C6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+mn-ea"/>
              </a:rPr>
            </a:fld>
            <a:endParaRPr kumimoji="0" sz="1600" b="1" i="0" u="none" strike="noStrike" kern="1200" cap="none" spc="-5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42146" y="1349118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企业信息 严格保密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矩形 2"/>
          <p:cNvSpPr/>
          <p:nvPr userDrawn="1"/>
        </p:nvSpPr>
        <p:spPr bwMode="auto">
          <a:xfrm>
            <a:off x="244929" y="242586"/>
            <a:ext cx="3118757" cy="828675"/>
          </a:xfrm>
          <a:prstGeom prst="rect">
            <a:avLst/>
          </a:prstGeom>
          <a:solidFill>
            <a:srgbClr val="152A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5" y="250101"/>
            <a:ext cx="3156734" cy="816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直线连接符 6"/>
          <p:cNvCxnSpPr/>
          <p:nvPr userDrawn="1"/>
        </p:nvCxnSpPr>
        <p:spPr>
          <a:xfrm>
            <a:off x="295383" y="884717"/>
            <a:ext cx="11601236" cy="0"/>
          </a:xfrm>
          <a:prstGeom prst="line">
            <a:avLst/>
          </a:prstGeom>
          <a:ln w="19050">
            <a:solidFill>
              <a:srgbClr val="4C515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8582" name="Rectangle 17"/>
          <p:cNvSpPr txBox="1">
            <a:spLocks noGrp="1" noChangeArrowheads="1"/>
          </p:cNvSpPr>
          <p:nvPr userDrawn="1"/>
        </p:nvSpPr>
        <p:spPr bwMode="auto">
          <a:xfrm>
            <a:off x="8832304" y="6191711"/>
            <a:ext cx="3248308" cy="501652"/>
          </a:xfrm>
          <a:prstGeom prst="rect">
            <a:avLst/>
          </a:prstGeom>
          <a:noFill/>
          <a:ln>
            <a:noFill/>
          </a:ln>
        </p:spPr>
        <p:txBody>
          <a:bodyPr lIns="121290" tIns="60648" rIns="121290" bIns="60648" anchor="b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833221-7274-4820-A552-6AF0D03898F9}" type="slidenum">
              <a:rPr kumimoji="0" lang="en-US" altLang="zh-CN" sz="1335" b="0" i="0" u="none" strike="noStrike" kern="1200" cap="none" spc="0" normalizeH="0" baseline="0" noProof="0" smtClean="0">
                <a:ln>
                  <a:noFill/>
                </a:ln>
                <a:solidFill>
                  <a:srgbClr val="4B51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srgbClr val="4B51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/25</a:t>
            </a:r>
            <a:endParaRPr kumimoji="0" lang="en-US" altLang="zh-CN" sz="1335" b="0" i="0" u="none" strike="noStrike" kern="1200" cap="none" spc="0" normalizeH="0" baseline="0" noProof="0" dirty="0">
              <a:ln>
                <a:noFill/>
              </a:ln>
              <a:solidFill>
                <a:srgbClr val="4B5154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3" name="Rectangle 7"/>
          <p:cNvSpPr>
            <a:spLocks noChangeAspect="1" noChangeArrowheads="1"/>
          </p:cNvSpPr>
          <p:nvPr/>
        </p:nvSpPr>
        <p:spPr bwMode="auto">
          <a:xfrm>
            <a:off x="-1121144" y="2671129"/>
            <a:ext cx="960000" cy="960000"/>
          </a:xfrm>
          <a:prstGeom prst="rect">
            <a:avLst/>
          </a:prstGeom>
          <a:solidFill>
            <a:srgbClr val="2D8ED8"/>
          </a:solidFill>
          <a:ln>
            <a:noFill/>
          </a:ln>
          <a:effectLst/>
        </p:spPr>
        <p:txBody>
          <a:bodyPr wrap="none" anchor="b"/>
          <a:lstStyle/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" charset="-122"/>
                <a:ea typeface="Source Han Sans CN" charset="-122"/>
                <a:cs typeface="Source Han Sans CN" charset="-122"/>
              </a:rPr>
              <a:t>梦想蓝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" charset="-122"/>
              <a:ea typeface="Source Han Sans CN" charset="-122"/>
              <a:cs typeface="Source Han Sans CN" charset="-122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R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45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G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144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B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218</a:t>
            </a:r>
            <a:endParaRPr kumimoji="0" lang="zh-CN" altLang="en-US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048584" name="Rectangle 7"/>
          <p:cNvSpPr>
            <a:spLocks noChangeAspect="1" noChangeArrowheads="1"/>
          </p:cNvSpPr>
          <p:nvPr/>
        </p:nvSpPr>
        <p:spPr bwMode="auto">
          <a:xfrm>
            <a:off x="-1114173" y="3708489"/>
            <a:ext cx="960000" cy="960000"/>
          </a:xfrm>
          <a:prstGeom prst="rect">
            <a:avLst/>
          </a:prstGeom>
          <a:solidFill>
            <a:srgbClr val="A22B2B"/>
          </a:solidFill>
          <a:ln>
            <a:noFill/>
          </a:ln>
          <a:effectLst/>
        </p:spPr>
        <p:txBody>
          <a:bodyPr wrap="none" anchor="b"/>
          <a:lstStyle/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" charset="-122"/>
                <a:ea typeface="Source Han Sans CN" charset="-122"/>
                <a:cs typeface="Source Han Sans CN" charset="-122"/>
              </a:rPr>
              <a:t>气势红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" charset="-122"/>
              <a:ea typeface="Source Han Sans CN" charset="-122"/>
              <a:cs typeface="Source Han Sans CN" charset="-122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R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173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G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44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B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44</a:t>
            </a:r>
            <a:endParaRPr kumimoji="0" lang="zh-CN" altLang="en-US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048585" name="Rectangle 7"/>
          <p:cNvSpPr>
            <a:spLocks noChangeAspect="1" noChangeArrowheads="1"/>
          </p:cNvSpPr>
          <p:nvPr/>
        </p:nvSpPr>
        <p:spPr bwMode="auto">
          <a:xfrm>
            <a:off x="-1121144" y="4745849"/>
            <a:ext cx="960000" cy="960000"/>
          </a:xfrm>
          <a:prstGeom prst="rect">
            <a:avLst/>
          </a:prstGeom>
          <a:solidFill>
            <a:srgbClr val="E4AD54"/>
          </a:solidFill>
          <a:ln>
            <a:noFill/>
          </a:ln>
          <a:effectLst/>
        </p:spPr>
        <p:txBody>
          <a:bodyPr wrap="none" anchor="b"/>
          <a:lstStyle/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" charset="-122"/>
                <a:ea typeface="Source Han Sans CN" charset="-122"/>
                <a:cs typeface="Source Han Sans CN" charset="-122"/>
              </a:rPr>
              <a:t>能量黄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" charset="-122"/>
              <a:ea typeface="Source Han Sans CN" charset="-122"/>
              <a:cs typeface="Source Han Sans CN" charset="-122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R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249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G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191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B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88</a:t>
            </a:r>
            <a:endParaRPr kumimoji="0" lang="zh-CN" altLang="en-US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048586" name="Rectangle 7"/>
          <p:cNvSpPr>
            <a:spLocks noChangeAspect="1" noChangeArrowheads="1"/>
          </p:cNvSpPr>
          <p:nvPr/>
        </p:nvSpPr>
        <p:spPr bwMode="auto">
          <a:xfrm>
            <a:off x="-1121144" y="1633769"/>
            <a:ext cx="960000" cy="960000"/>
          </a:xfrm>
          <a:prstGeom prst="rect">
            <a:avLst/>
          </a:prstGeom>
          <a:solidFill>
            <a:srgbClr val="4B5154"/>
          </a:solidFill>
          <a:ln>
            <a:noFill/>
          </a:ln>
          <a:effectLst/>
        </p:spPr>
        <p:txBody>
          <a:bodyPr wrap="none" anchor="b"/>
          <a:lstStyle/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" charset="-122"/>
                <a:ea typeface="Source Han Sans CN" charset="-122"/>
                <a:cs typeface="Source Han Sans CN" charset="-122"/>
              </a:rPr>
              <a:t>科技灰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" charset="-122"/>
              <a:ea typeface="Source Han Sans CN" charset="-122"/>
              <a:cs typeface="Source Han Sans CN" charset="-122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R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75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G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81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endParaRPr kumimoji="0" lang="en-US" altLang="zh-CN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  <a:p>
            <a:pPr marL="0" marR="0" lvl="0" indent="0" algn="l" defTabSz="821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B</a:t>
            </a:r>
            <a:r>
              <a: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 </a:t>
            </a:r>
            <a:r>
              <a:rPr kumimoji="0" lang="en-US" altLang="zh-CN" sz="10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yriad Pro" charset="0"/>
                <a:ea typeface="Myriad Pro" charset="0"/>
                <a:cs typeface="Myriad Pro" charset="0"/>
              </a:rPr>
              <a:t>184</a:t>
            </a:r>
            <a:endParaRPr kumimoji="0" lang="zh-CN" altLang="en-US" sz="10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048587" name="文本框 18"/>
          <p:cNvSpPr txBox="1"/>
          <p:nvPr/>
        </p:nvSpPr>
        <p:spPr>
          <a:xfrm>
            <a:off x="-1203952" y="1145492"/>
            <a:ext cx="1198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C515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品牌识别色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C515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9051" y="-50006"/>
            <a:ext cx="12239625" cy="103794"/>
          </a:xfrm>
          <a:prstGeom prst="rect">
            <a:avLst/>
          </a:prstGeom>
          <a:gradFill>
            <a:gsLst>
              <a:gs pos="0">
                <a:srgbClr val="1EAAE6"/>
              </a:gs>
              <a:gs pos="100000">
                <a:srgbClr val="007DD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31845" y="347084"/>
            <a:ext cx="865188" cy="432594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679076" y="739588"/>
            <a:ext cx="309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DD2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标题 7"/>
          <p:cNvSpPr>
            <a:spLocks noGrp="1"/>
          </p:cNvSpPr>
          <p:nvPr>
            <p:ph type="title"/>
          </p:nvPr>
        </p:nvSpPr>
        <p:spPr>
          <a:xfrm>
            <a:off x="345322" y="785224"/>
            <a:ext cx="4239378" cy="195797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defRPr lang="zh-CN" altLang="en-US" sz="2200" kern="1200" dirty="0">
                <a:solidFill>
                  <a:srgbClr val="007DD2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451878"/>
          </a:xfrm>
          <a:prstGeom prst="rect">
            <a:avLst/>
          </a:prstGeom>
        </p:spPr>
        <p:txBody>
          <a:bodyPr lIns="81750" tIns="40874" rIns="81750" bIns="40874">
            <a:spAutoFit/>
          </a:bodyPr>
          <a:lstStyle>
            <a:lvl1pPr>
              <a:defRPr sz="24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304823" cy="378012"/>
          </a:xfrm>
          <a:prstGeom prst="rect">
            <a:avLst/>
          </a:prstGeom>
        </p:spPr>
        <p:txBody>
          <a:bodyPr wrap="square" lIns="81750" tIns="40874" rIns="81750" bIns="40874">
            <a:spAutoFit/>
          </a:bodyPr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XX</a:t>
            </a:r>
            <a:r>
              <a:rPr lang="zh-CN" altLang="en-US"/>
              <a:t>公司 </a:t>
            </a:r>
            <a:r>
              <a:rPr lang="en-US" altLang="zh-CN" dirty="0"/>
              <a:t>2015</a:t>
            </a:r>
            <a:r>
              <a:rPr lang="zh-CN" altLang="en-US"/>
              <a:t>年</a:t>
            </a:r>
            <a:r>
              <a:rPr lang="en-US" altLang="zh-CN" dirty="0"/>
              <a:t>12</a:t>
            </a:r>
            <a:r>
              <a:rPr lang="zh-CN" altLang="en-US"/>
              <a:t>月</a:t>
            </a:r>
            <a:r>
              <a:rPr lang="en-US" altLang="zh-CN" dirty="0"/>
              <a:t>7</a:t>
            </a:r>
            <a:r>
              <a:rPr lang="zh-CN" altLang="en-US"/>
              <a:t>日</a:t>
            </a:r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42146" y="1349118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企业信息 严格保密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矩形 2"/>
          <p:cNvSpPr/>
          <p:nvPr userDrawn="1"/>
        </p:nvSpPr>
        <p:spPr bwMode="auto">
          <a:xfrm>
            <a:off x="244929" y="242586"/>
            <a:ext cx="3118757" cy="828675"/>
          </a:xfrm>
          <a:prstGeom prst="rect">
            <a:avLst/>
          </a:prstGeom>
          <a:solidFill>
            <a:srgbClr val="152A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5" y="250101"/>
            <a:ext cx="3156734" cy="816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0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452679" y="846183"/>
            <a:ext cx="11286641" cy="0"/>
          </a:xfrm>
          <a:prstGeom prst="line">
            <a:avLst/>
          </a:prstGeom>
          <a:solidFill>
            <a:srgbClr val="4F81BD"/>
          </a:solidFill>
          <a:ln w="19050" cap="flat" cmpd="sng" algn="ctr">
            <a:solidFill>
              <a:srgbClr val="112D9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0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2280" y="307975"/>
            <a:ext cx="9547482" cy="511200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lang="zh-CN" altLang="en-US" sz="2400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latinLnBrk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62280" y="885046"/>
            <a:ext cx="11232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360045" indent="-316865">
              <a:spcBef>
                <a:spcPts val="0"/>
              </a:spcBef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1pPr>
            <a:lvl2pPr marL="686435" indent="-2628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2pPr>
            <a:lvl3pPr marL="1057275" indent="-21209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3pPr>
            <a:lvl4pPr marL="147891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4pPr>
            <a:lvl5pPr marL="1901825" indent="-210820">
              <a:buFont typeface="Wingdings" panose="05000000000000000000" pitchFamily="2" charset="2"/>
              <a:buChar char="p"/>
              <a:defRPr sz="1800" b="1">
                <a:solidFill>
                  <a:srgbClr val="152A8C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1" Type="http://schemas.openxmlformats.org/officeDocument/2006/relationships/theme" Target="../theme/theme3.xml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4.xml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0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16.png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7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19.jpe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0" Type="http://schemas.openxmlformats.org/officeDocument/2006/relationships/theme" Target="../theme/theme8.xml"/><Relationship Id="rId1" Type="http://schemas.openxmlformats.org/officeDocument/2006/relationships/slideLayout" Target="../slideLayouts/slideLayout2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heme" Target="../theme/theme9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16.png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10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3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16.png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2" Type="http://schemas.openxmlformats.org/officeDocument/2006/relationships/theme" Target="../theme/theme11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4" Type="http://schemas.openxmlformats.org/officeDocument/2006/relationships/theme" Target="../theme/theme12.xml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46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theme" Target="../theme/theme13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0" Type="http://schemas.openxmlformats.org/officeDocument/2006/relationships/theme" Target="../theme/theme14.xml"/><Relationship Id="rId1" Type="http://schemas.openxmlformats.org/officeDocument/2006/relationships/slideLayout" Target="../slideLayouts/slideLayout5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theme" Target="../theme/theme15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16.png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2" Type="http://schemas.openxmlformats.org/officeDocument/2006/relationships/theme" Target="../theme/theme16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64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16.png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2" Type="http://schemas.openxmlformats.org/officeDocument/2006/relationships/theme" Target="../theme/theme17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70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5" Type="http://schemas.openxmlformats.org/officeDocument/2006/relationships/theme" Target="../theme/theme1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6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5" Type="http://schemas.openxmlformats.org/officeDocument/2006/relationships/theme" Target="../theme/theme1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5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19.jpe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95.xml"/><Relationship Id="rId10" Type="http://schemas.openxmlformats.org/officeDocument/2006/relationships/theme" Target="../theme/theme20.xml"/><Relationship Id="rId1" Type="http://schemas.openxmlformats.org/officeDocument/2006/relationships/slideLayout" Target="../slideLayouts/slideLayout94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4.xml"/><Relationship Id="rId8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5" Type="http://schemas.openxmlformats.org/officeDocument/2006/relationships/theme" Target="../theme/theme2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6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6.xml"/><Relationship Id="rId15" Type="http://schemas.openxmlformats.org/officeDocument/2006/relationships/theme" Target="../theme/theme2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05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5.xml"/><Relationship Id="rId15" Type="http://schemas.openxmlformats.org/officeDocument/2006/relationships/theme" Target="../theme/theme2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14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4.xml"/><Relationship Id="rId15" Type="http://schemas.openxmlformats.org/officeDocument/2006/relationships/theme" Target="../theme/theme2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23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5" Type="http://schemas.openxmlformats.org/officeDocument/2006/relationships/theme" Target="../theme/theme2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32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2.xml"/><Relationship Id="rId15" Type="http://schemas.openxmlformats.org/officeDocument/2006/relationships/theme" Target="../theme/theme2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4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1.xml"/><Relationship Id="rId15" Type="http://schemas.openxmlformats.org/officeDocument/2006/relationships/theme" Target="../theme/theme2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50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5" Type="http://schemas.openxmlformats.org/officeDocument/2006/relationships/theme" Target="../theme/theme2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59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6.xml"/><Relationship Id="rId8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4.xml"/><Relationship Id="rId6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72.xml"/><Relationship Id="rId4" Type="http://schemas.openxmlformats.org/officeDocument/2006/relationships/slideLayout" Target="../slideLayouts/slideLayout171.xml"/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5" Type="http://schemas.openxmlformats.org/officeDocument/2006/relationships/theme" Target="../theme/theme2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68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5" Type="http://schemas.openxmlformats.org/officeDocument/2006/relationships/theme" Target="../theme/theme3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77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7.xml"/><Relationship Id="rId15" Type="http://schemas.openxmlformats.org/officeDocument/2006/relationships/theme" Target="../theme/theme3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86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6.xml"/><Relationship Id="rId15" Type="http://schemas.openxmlformats.org/officeDocument/2006/relationships/theme" Target="../theme/theme3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95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2.xml"/><Relationship Id="rId8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7.xml"/><Relationship Id="rId3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205.xml"/><Relationship Id="rId15" Type="http://schemas.openxmlformats.org/officeDocument/2006/relationships/theme" Target="../theme/theme3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0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4.xml"/><Relationship Id="rId15" Type="http://schemas.openxmlformats.org/officeDocument/2006/relationships/theme" Target="../theme/theme3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13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0.xml"/><Relationship Id="rId8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6.xml"/><Relationship Id="rId4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23.xml"/><Relationship Id="rId15" Type="http://schemas.openxmlformats.org/officeDocument/2006/relationships/theme" Target="../theme/theme3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22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2.xml"/><Relationship Id="rId15" Type="http://schemas.openxmlformats.org/officeDocument/2006/relationships/theme" Target="../theme/theme3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31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8.xml"/><Relationship Id="rId8" Type="http://schemas.openxmlformats.org/officeDocument/2006/relationships/slideLayout" Target="../slideLayouts/slideLayout247.xml"/><Relationship Id="rId7" Type="http://schemas.openxmlformats.org/officeDocument/2006/relationships/slideLayout" Target="../slideLayouts/slideLayout246.xml"/><Relationship Id="rId6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44.xml"/><Relationship Id="rId4" Type="http://schemas.openxmlformats.org/officeDocument/2006/relationships/slideLayout" Target="../slideLayouts/slideLayout243.xml"/><Relationship Id="rId3" Type="http://schemas.openxmlformats.org/officeDocument/2006/relationships/slideLayout" Target="../slideLayouts/slideLayout242.xml"/><Relationship Id="rId2" Type="http://schemas.openxmlformats.org/officeDocument/2006/relationships/slideLayout" Target="../slideLayouts/slideLayout241.xml"/><Relationship Id="rId15" Type="http://schemas.openxmlformats.org/officeDocument/2006/relationships/theme" Target="../theme/theme3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40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7.xml"/><Relationship Id="rId8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55.xml"/><Relationship Id="rId6" Type="http://schemas.openxmlformats.org/officeDocument/2006/relationships/slideLayout" Target="../slideLayouts/slideLayout254.xml"/><Relationship Id="rId5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50.xml"/><Relationship Id="rId15" Type="http://schemas.openxmlformats.org/officeDocument/2006/relationships/theme" Target="../theme/theme3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49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6.xml"/><Relationship Id="rId8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62.xml"/><Relationship Id="rId4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9.xml"/><Relationship Id="rId15" Type="http://schemas.openxmlformats.org/officeDocument/2006/relationships/theme" Target="../theme/theme3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58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5.xml"/><Relationship Id="rId8" Type="http://schemas.openxmlformats.org/officeDocument/2006/relationships/slideLayout" Target="../slideLayouts/slideLayout274.xml"/><Relationship Id="rId7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2.xml"/><Relationship Id="rId5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68.xml"/><Relationship Id="rId15" Type="http://schemas.openxmlformats.org/officeDocument/2006/relationships/theme" Target="../theme/theme4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67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5" Type="http://schemas.openxmlformats.org/officeDocument/2006/relationships/theme" Target="../theme/theme4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76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3.xml"/><Relationship Id="rId8" Type="http://schemas.openxmlformats.org/officeDocument/2006/relationships/slideLayout" Target="../slideLayouts/slideLayout292.xml"/><Relationship Id="rId7" Type="http://schemas.openxmlformats.org/officeDocument/2006/relationships/slideLayout" Target="../slideLayouts/slideLayout291.xml"/><Relationship Id="rId6" Type="http://schemas.openxmlformats.org/officeDocument/2006/relationships/slideLayout" Target="../slideLayouts/slideLayout290.xml"/><Relationship Id="rId5" Type="http://schemas.openxmlformats.org/officeDocument/2006/relationships/slideLayout" Target="../slideLayouts/slideLayout289.xml"/><Relationship Id="rId4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86.xml"/><Relationship Id="rId15" Type="http://schemas.openxmlformats.org/officeDocument/2006/relationships/theme" Target="../theme/theme4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85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2.xml"/><Relationship Id="rId8" Type="http://schemas.openxmlformats.org/officeDocument/2006/relationships/slideLayout" Target="../slideLayouts/slideLayout301.xml"/><Relationship Id="rId7" Type="http://schemas.openxmlformats.org/officeDocument/2006/relationships/slideLayout" Target="../slideLayouts/slideLayout300.xml"/><Relationship Id="rId6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97.xml"/><Relationship Id="rId3" Type="http://schemas.openxmlformats.org/officeDocument/2006/relationships/slideLayout" Target="../slideLayouts/slideLayout296.xml"/><Relationship Id="rId2" Type="http://schemas.openxmlformats.org/officeDocument/2006/relationships/slideLayout" Target="../slideLayouts/slideLayout295.xml"/><Relationship Id="rId15" Type="http://schemas.openxmlformats.org/officeDocument/2006/relationships/theme" Target="../theme/theme4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94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1.xml"/><Relationship Id="rId8" Type="http://schemas.openxmlformats.org/officeDocument/2006/relationships/slideLayout" Target="../slideLayouts/slideLayout310.xml"/><Relationship Id="rId7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304.xml"/><Relationship Id="rId15" Type="http://schemas.openxmlformats.org/officeDocument/2006/relationships/theme" Target="../theme/theme4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03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5" Type="http://schemas.openxmlformats.org/officeDocument/2006/relationships/theme" Target="../theme/theme4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12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9.xml"/><Relationship Id="rId8" Type="http://schemas.openxmlformats.org/officeDocument/2006/relationships/slideLayout" Target="../slideLayouts/slideLayout328.xml"/><Relationship Id="rId7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26.xml"/><Relationship Id="rId5" Type="http://schemas.openxmlformats.org/officeDocument/2006/relationships/slideLayout" Target="../slideLayouts/slideLayout325.xml"/><Relationship Id="rId4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22.xml"/><Relationship Id="rId15" Type="http://schemas.openxmlformats.org/officeDocument/2006/relationships/theme" Target="../theme/theme4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21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8.xml"/><Relationship Id="rId8" Type="http://schemas.openxmlformats.org/officeDocument/2006/relationships/slideLayout" Target="../slideLayouts/slideLayout337.xml"/><Relationship Id="rId7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33.xml"/><Relationship Id="rId3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31.xml"/><Relationship Id="rId15" Type="http://schemas.openxmlformats.org/officeDocument/2006/relationships/theme" Target="../theme/theme4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30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7.xml"/><Relationship Id="rId8" Type="http://schemas.openxmlformats.org/officeDocument/2006/relationships/slideLayout" Target="../slideLayouts/slideLayout346.xml"/><Relationship Id="rId7" Type="http://schemas.openxmlformats.org/officeDocument/2006/relationships/slideLayout" Target="../slideLayouts/slideLayout345.xml"/><Relationship Id="rId6" Type="http://schemas.openxmlformats.org/officeDocument/2006/relationships/slideLayout" Target="../slideLayouts/slideLayout344.xml"/><Relationship Id="rId5" Type="http://schemas.openxmlformats.org/officeDocument/2006/relationships/slideLayout" Target="../slideLayouts/slideLayout343.xml"/><Relationship Id="rId4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40.xml"/><Relationship Id="rId15" Type="http://schemas.openxmlformats.org/officeDocument/2006/relationships/theme" Target="../theme/theme4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39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" Type="http://schemas.openxmlformats.org/officeDocument/2006/relationships/slideLayout" Target="../slideLayouts/slideLayout349.xml"/><Relationship Id="rId15" Type="http://schemas.openxmlformats.org/officeDocument/2006/relationships/theme" Target="../theme/theme4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48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5.xml"/><Relationship Id="rId8" Type="http://schemas.openxmlformats.org/officeDocument/2006/relationships/slideLayout" Target="../slideLayouts/slideLayout364.xml"/><Relationship Id="rId7" Type="http://schemas.openxmlformats.org/officeDocument/2006/relationships/slideLayout" Target="../slideLayouts/slideLayout363.xml"/><Relationship Id="rId6" Type="http://schemas.openxmlformats.org/officeDocument/2006/relationships/slideLayout" Target="../slideLayouts/slideLayout362.xml"/><Relationship Id="rId5" Type="http://schemas.openxmlformats.org/officeDocument/2006/relationships/slideLayout" Target="../slideLayouts/slideLayout361.xml"/><Relationship Id="rId4" Type="http://schemas.openxmlformats.org/officeDocument/2006/relationships/slideLayout" Target="../slideLayouts/slideLayout360.xml"/><Relationship Id="rId3" Type="http://schemas.openxmlformats.org/officeDocument/2006/relationships/slideLayout" Target="../slideLayouts/slideLayout359.xml"/><Relationship Id="rId2" Type="http://schemas.openxmlformats.org/officeDocument/2006/relationships/slideLayout" Target="../slideLayouts/slideLayout358.xml"/><Relationship Id="rId15" Type="http://schemas.openxmlformats.org/officeDocument/2006/relationships/theme" Target="../theme/theme5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57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4.xml"/><Relationship Id="rId8" Type="http://schemas.openxmlformats.org/officeDocument/2006/relationships/slideLayout" Target="../slideLayouts/slideLayout373.xml"/><Relationship Id="rId7" Type="http://schemas.openxmlformats.org/officeDocument/2006/relationships/slideLayout" Target="../slideLayouts/slideLayout372.xml"/><Relationship Id="rId6" Type="http://schemas.openxmlformats.org/officeDocument/2006/relationships/slideLayout" Target="../slideLayouts/slideLayout371.xml"/><Relationship Id="rId5" Type="http://schemas.openxmlformats.org/officeDocument/2006/relationships/slideLayout" Target="../slideLayouts/slideLayout370.xml"/><Relationship Id="rId4" Type="http://schemas.openxmlformats.org/officeDocument/2006/relationships/slideLayout" Target="../slideLayouts/slideLayout369.xml"/><Relationship Id="rId3" Type="http://schemas.openxmlformats.org/officeDocument/2006/relationships/slideLayout" Target="../slideLayouts/slideLayout368.xml"/><Relationship Id="rId2" Type="http://schemas.openxmlformats.org/officeDocument/2006/relationships/slideLayout" Target="../slideLayouts/slideLayout367.xml"/><Relationship Id="rId15" Type="http://schemas.openxmlformats.org/officeDocument/2006/relationships/theme" Target="../theme/theme5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66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5" Type="http://schemas.openxmlformats.org/officeDocument/2006/relationships/theme" Target="../theme/theme5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75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2.xml"/><Relationship Id="rId8" Type="http://schemas.openxmlformats.org/officeDocument/2006/relationships/slideLayout" Target="../slideLayouts/slideLayout391.xml"/><Relationship Id="rId7" Type="http://schemas.openxmlformats.org/officeDocument/2006/relationships/slideLayout" Target="../slideLayouts/slideLayout390.xml"/><Relationship Id="rId6" Type="http://schemas.openxmlformats.org/officeDocument/2006/relationships/slideLayout" Target="../slideLayouts/slideLayout389.xml"/><Relationship Id="rId5" Type="http://schemas.openxmlformats.org/officeDocument/2006/relationships/slideLayout" Target="../slideLayouts/slideLayout388.xml"/><Relationship Id="rId4" Type="http://schemas.openxmlformats.org/officeDocument/2006/relationships/slideLayout" Target="../slideLayouts/slideLayout387.xml"/><Relationship Id="rId3" Type="http://schemas.openxmlformats.org/officeDocument/2006/relationships/slideLayout" Target="../slideLayouts/slideLayout386.xml"/><Relationship Id="rId2" Type="http://schemas.openxmlformats.org/officeDocument/2006/relationships/slideLayout" Target="../slideLayouts/slideLayout385.xml"/><Relationship Id="rId15" Type="http://schemas.openxmlformats.org/officeDocument/2006/relationships/theme" Target="../theme/theme5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84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1.xml"/><Relationship Id="rId8" Type="http://schemas.openxmlformats.org/officeDocument/2006/relationships/slideLayout" Target="../slideLayouts/slideLayout400.xml"/><Relationship Id="rId7" Type="http://schemas.openxmlformats.org/officeDocument/2006/relationships/slideLayout" Target="../slideLayouts/slideLayout399.xml"/><Relationship Id="rId6" Type="http://schemas.openxmlformats.org/officeDocument/2006/relationships/slideLayout" Target="../slideLayouts/slideLayout398.xml"/><Relationship Id="rId5" Type="http://schemas.openxmlformats.org/officeDocument/2006/relationships/slideLayout" Target="../slideLayouts/slideLayout397.xml"/><Relationship Id="rId4" Type="http://schemas.openxmlformats.org/officeDocument/2006/relationships/slideLayout" Target="../slideLayouts/slideLayout396.xml"/><Relationship Id="rId3" Type="http://schemas.openxmlformats.org/officeDocument/2006/relationships/slideLayout" Target="../slideLayouts/slideLayout395.xml"/><Relationship Id="rId2" Type="http://schemas.openxmlformats.org/officeDocument/2006/relationships/slideLayout" Target="../slideLayouts/slideLayout394.xml"/><Relationship Id="rId15" Type="http://schemas.openxmlformats.org/officeDocument/2006/relationships/theme" Target="../theme/theme5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93.xml"/></Relationships>
</file>

<file path=ppt/slideMasters/_rels/slideMaster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0.xml"/><Relationship Id="rId8" Type="http://schemas.openxmlformats.org/officeDocument/2006/relationships/slideLayout" Target="../slideLayouts/slideLayout409.xml"/><Relationship Id="rId7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406.xml"/><Relationship Id="rId4" Type="http://schemas.openxmlformats.org/officeDocument/2006/relationships/slideLayout" Target="../slideLayouts/slideLayout405.xml"/><Relationship Id="rId3" Type="http://schemas.openxmlformats.org/officeDocument/2006/relationships/slideLayout" Target="../slideLayouts/slideLayout404.xml"/><Relationship Id="rId2" Type="http://schemas.openxmlformats.org/officeDocument/2006/relationships/slideLayout" Target="../slideLayouts/slideLayout403.xml"/><Relationship Id="rId15" Type="http://schemas.openxmlformats.org/officeDocument/2006/relationships/theme" Target="../theme/theme5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02.xml"/></Relationships>
</file>

<file path=ppt/slideMasters/_rels/slideMaster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9.xml"/><Relationship Id="rId8" Type="http://schemas.openxmlformats.org/officeDocument/2006/relationships/slideLayout" Target="../slideLayouts/slideLayout418.xml"/><Relationship Id="rId7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16.xml"/><Relationship Id="rId5" Type="http://schemas.openxmlformats.org/officeDocument/2006/relationships/slideLayout" Target="../slideLayouts/slideLayout415.xml"/><Relationship Id="rId4" Type="http://schemas.openxmlformats.org/officeDocument/2006/relationships/slideLayout" Target="../slideLayouts/slideLayout414.xml"/><Relationship Id="rId3" Type="http://schemas.openxmlformats.org/officeDocument/2006/relationships/slideLayout" Target="../slideLayouts/slideLayout413.xml"/><Relationship Id="rId2" Type="http://schemas.openxmlformats.org/officeDocument/2006/relationships/slideLayout" Target="../slideLayouts/slideLayout412.xml"/><Relationship Id="rId15" Type="http://schemas.openxmlformats.org/officeDocument/2006/relationships/theme" Target="../theme/theme5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11.xml"/></Relationships>
</file>

<file path=ppt/slideMasters/_rels/slideMaster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8.xml"/><Relationship Id="rId8" Type="http://schemas.openxmlformats.org/officeDocument/2006/relationships/slideLayout" Target="../slideLayouts/slideLayout427.xml"/><Relationship Id="rId7" Type="http://schemas.openxmlformats.org/officeDocument/2006/relationships/slideLayout" Target="../slideLayouts/slideLayout426.xml"/><Relationship Id="rId6" Type="http://schemas.openxmlformats.org/officeDocument/2006/relationships/slideLayout" Target="../slideLayouts/slideLayout425.xml"/><Relationship Id="rId5" Type="http://schemas.openxmlformats.org/officeDocument/2006/relationships/slideLayout" Target="../slideLayouts/slideLayout424.xml"/><Relationship Id="rId4" Type="http://schemas.openxmlformats.org/officeDocument/2006/relationships/slideLayout" Target="../slideLayouts/slideLayout423.xml"/><Relationship Id="rId3" Type="http://schemas.openxmlformats.org/officeDocument/2006/relationships/slideLayout" Target="../slideLayouts/slideLayout422.xml"/><Relationship Id="rId2" Type="http://schemas.openxmlformats.org/officeDocument/2006/relationships/slideLayout" Target="../slideLayouts/slideLayout421.xml"/><Relationship Id="rId15" Type="http://schemas.openxmlformats.org/officeDocument/2006/relationships/theme" Target="../theme/theme5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20.xml"/></Relationships>
</file>

<file path=ppt/slideMasters/_rels/slideMaster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7.xml"/><Relationship Id="rId8" Type="http://schemas.openxmlformats.org/officeDocument/2006/relationships/slideLayout" Target="../slideLayouts/slideLayout436.xml"/><Relationship Id="rId7" Type="http://schemas.openxmlformats.org/officeDocument/2006/relationships/slideLayout" Target="../slideLayouts/slideLayout435.xml"/><Relationship Id="rId6" Type="http://schemas.openxmlformats.org/officeDocument/2006/relationships/slideLayout" Target="../slideLayouts/slideLayout434.xml"/><Relationship Id="rId5" Type="http://schemas.openxmlformats.org/officeDocument/2006/relationships/slideLayout" Target="../slideLayouts/slideLayout433.xml"/><Relationship Id="rId4" Type="http://schemas.openxmlformats.org/officeDocument/2006/relationships/slideLayout" Target="../slideLayouts/slideLayout432.xml"/><Relationship Id="rId3" Type="http://schemas.openxmlformats.org/officeDocument/2006/relationships/slideLayout" Target="../slideLayouts/slideLayout431.xml"/><Relationship Id="rId2" Type="http://schemas.openxmlformats.org/officeDocument/2006/relationships/slideLayout" Target="../slideLayouts/slideLayout430.xml"/><Relationship Id="rId15" Type="http://schemas.openxmlformats.org/officeDocument/2006/relationships/theme" Target="../theme/theme5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29.xml"/></Relationships>
</file>

<file path=ppt/slideMasters/_rels/slideMaster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6.xml"/><Relationship Id="rId8" Type="http://schemas.openxmlformats.org/officeDocument/2006/relationships/slideLayout" Target="../slideLayouts/slideLayout445.xml"/><Relationship Id="rId7" Type="http://schemas.openxmlformats.org/officeDocument/2006/relationships/slideLayout" Target="../slideLayouts/slideLayout444.xml"/><Relationship Id="rId6" Type="http://schemas.openxmlformats.org/officeDocument/2006/relationships/slideLayout" Target="../slideLayouts/slideLayout443.xml"/><Relationship Id="rId5" Type="http://schemas.openxmlformats.org/officeDocument/2006/relationships/slideLayout" Target="../slideLayouts/slideLayout442.xml"/><Relationship Id="rId4" Type="http://schemas.openxmlformats.org/officeDocument/2006/relationships/slideLayout" Target="../slideLayouts/slideLayout441.xml"/><Relationship Id="rId3" Type="http://schemas.openxmlformats.org/officeDocument/2006/relationships/slideLayout" Target="../slideLayouts/slideLayout440.xml"/><Relationship Id="rId2" Type="http://schemas.openxmlformats.org/officeDocument/2006/relationships/slideLayout" Target="../slideLayouts/slideLayout439.xml"/><Relationship Id="rId15" Type="http://schemas.openxmlformats.org/officeDocument/2006/relationships/theme" Target="../theme/theme5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38.xml"/></Relationships>
</file>

<file path=ppt/slideMasters/_rels/slideMaster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5.xml"/><Relationship Id="rId8" Type="http://schemas.openxmlformats.org/officeDocument/2006/relationships/slideLayout" Target="../slideLayouts/slideLayout454.xml"/><Relationship Id="rId7" Type="http://schemas.openxmlformats.org/officeDocument/2006/relationships/slideLayout" Target="../slideLayouts/slideLayout453.xml"/><Relationship Id="rId6" Type="http://schemas.openxmlformats.org/officeDocument/2006/relationships/slideLayout" Target="../slideLayouts/slideLayout452.xml"/><Relationship Id="rId5" Type="http://schemas.openxmlformats.org/officeDocument/2006/relationships/slideLayout" Target="../slideLayouts/slideLayout451.xml"/><Relationship Id="rId4" Type="http://schemas.openxmlformats.org/officeDocument/2006/relationships/slideLayout" Target="../slideLayouts/slideLayout450.xml"/><Relationship Id="rId3" Type="http://schemas.openxmlformats.org/officeDocument/2006/relationships/slideLayout" Target="../slideLayouts/slideLayout449.xml"/><Relationship Id="rId2" Type="http://schemas.openxmlformats.org/officeDocument/2006/relationships/slideLayout" Target="../slideLayouts/slideLayout448.xml"/><Relationship Id="rId15" Type="http://schemas.openxmlformats.org/officeDocument/2006/relationships/theme" Target="../theme/theme6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47.xml"/></Relationships>
</file>

<file path=ppt/slideMasters/_rels/slideMaster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4.xml"/><Relationship Id="rId8" Type="http://schemas.openxmlformats.org/officeDocument/2006/relationships/slideLayout" Target="../slideLayouts/slideLayout463.xml"/><Relationship Id="rId7" Type="http://schemas.openxmlformats.org/officeDocument/2006/relationships/slideLayout" Target="../slideLayouts/slideLayout462.xml"/><Relationship Id="rId6" Type="http://schemas.openxmlformats.org/officeDocument/2006/relationships/slideLayout" Target="../slideLayouts/slideLayout461.xml"/><Relationship Id="rId5" Type="http://schemas.openxmlformats.org/officeDocument/2006/relationships/slideLayout" Target="../slideLayouts/slideLayout460.xml"/><Relationship Id="rId4" Type="http://schemas.openxmlformats.org/officeDocument/2006/relationships/slideLayout" Target="../slideLayouts/slideLayout459.xml"/><Relationship Id="rId3" Type="http://schemas.openxmlformats.org/officeDocument/2006/relationships/slideLayout" Target="../slideLayouts/slideLayout458.xml"/><Relationship Id="rId2" Type="http://schemas.openxmlformats.org/officeDocument/2006/relationships/slideLayout" Target="../slideLayouts/slideLayout457.xml"/><Relationship Id="rId15" Type="http://schemas.openxmlformats.org/officeDocument/2006/relationships/theme" Target="../theme/theme6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56.xml"/></Relationships>
</file>

<file path=ppt/slideMasters/_rels/slideMaster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3.xml"/><Relationship Id="rId8" Type="http://schemas.openxmlformats.org/officeDocument/2006/relationships/slideLayout" Target="../slideLayouts/slideLayout472.xml"/><Relationship Id="rId7" Type="http://schemas.openxmlformats.org/officeDocument/2006/relationships/slideLayout" Target="../slideLayouts/slideLayout471.xml"/><Relationship Id="rId6" Type="http://schemas.openxmlformats.org/officeDocument/2006/relationships/slideLayout" Target="../slideLayouts/slideLayout470.xml"/><Relationship Id="rId5" Type="http://schemas.openxmlformats.org/officeDocument/2006/relationships/slideLayout" Target="../slideLayouts/slideLayout469.xml"/><Relationship Id="rId4" Type="http://schemas.openxmlformats.org/officeDocument/2006/relationships/slideLayout" Target="../slideLayouts/slideLayout468.xml"/><Relationship Id="rId3" Type="http://schemas.openxmlformats.org/officeDocument/2006/relationships/slideLayout" Target="../slideLayouts/slideLayout467.xml"/><Relationship Id="rId2" Type="http://schemas.openxmlformats.org/officeDocument/2006/relationships/slideLayout" Target="../slideLayouts/slideLayout466.xml"/><Relationship Id="rId15" Type="http://schemas.openxmlformats.org/officeDocument/2006/relationships/theme" Target="../theme/theme6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65.xml"/></Relationships>
</file>

<file path=ppt/slideMasters/_rels/slideMaster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2.xml"/><Relationship Id="rId8" Type="http://schemas.openxmlformats.org/officeDocument/2006/relationships/slideLayout" Target="../slideLayouts/slideLayout481.xml"/><Relationship Id="rId7" Type="http://schemas.openxmlformats.org/officeDocument/2006/relationships/slideLayout" Target="../slideLayouts/slideLayout480.xml"/><Relationship Id="rId6" Type="http://schemas.openxmlformats.org/officeDocument/2006/relationships/slideLayout" Target="../slideLayouts/slideLayout479.xml"/><Relationship Id="rId5" Type="http://schemas.openxmlformats.org/officeDocument/2006/relationships/slideLayout" Target="../slideLayouts/slideLayout478.xml"/><Relationship Id="rId4" Type="http://schemas.openxmlformats.org/officeDocument/2006/relationships/slideLayout" Target="../slideLayouts/slideLayout477.xml"/><Relationship Id="rId3" Type="http://schemas.openxmlformats.org/officeDocument/2006/relationships/slideLayout" Target="../slideLayouts/slideLayout476.xml"/><Relationship Id="rId2" Type="http://schemas.openxmlformats.org/officeDocument/2006/relationships/slideLayout" Target="../slideLayouts/slideLayout475.xml"/><Relationship Id="rId15" Type="http://schemas.openxmlformats.org/officeDocument/2006/relationships/theme" Target="../theme/theme6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74.xml"/></Relationships>
</file>

<file path=ppt/slideMasters/_rels/slideMaster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1.xml"/><Relationship Id="rId8" Type="http://schemas.openxmlformats.org/officeDocument/2006/relationships/slideLayout" Target="../slideLayouts/slideLayout490.xml"/><Relationship Id="rId7" Type="http://schemas.openxmlformats.org/officeDocument/2006/relationships/slideLayout" Target="../slideLayouts/slideLayout489.xml"/><Relationship Id="rId6" Type="http://schemas.openxmlformats.org/officeDocument/2006/relationships/slideLayout" Target="../slideLayouts/slideLayout488.xml"/><Relationship Id="rId5" Type="http://schemas.openxmlformats.org/officeDocument/2006/relationships/slideLayout" Target="../slideLayouts/slideLayout487.xml"/><Relationship Id="rId4" Type="http://schemas.openxmlformats.org/officeDocument/2006/relationships/slideLayout" Target="../slideLayouts/slideLayout486.xml"/><Relationship Id="rId3" Type="http://schemas.openxmlformats.org/officeDocument/2006/relationships/slideLayout" Target="../slideLayouts/slideLayout485.xml"/><Relationship Id="rId2" Type="http://schemas.openxmlformats.org/officeDocument/2006/relationships/slideLayout" Target="../slideLayouts/slideLayout484.xml"/><Relationship Id="rId15" Type="http://schemas.openxmlformats.org/officeDocument/2006/relationships/theme" Target="../theme/theme6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83.xml"/></Relationships>
</file>

<file path=ppt/slideMasters/_rels/slideMaster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0.xml"/><Relationship Id="rId8" Type="http://schemas.openxmlformats.org/officeDocument/2006/relationships/slideLayout" Target="../slideLayouts/slideLayout499.xml"/><Relationship Id="rId7" Type="http://schemas.openxmlformats.org/officeDocument/2006/relationships/slideLayout" Target="../slideLayouts/slideLayout498.xml"/><Relationship Id="rId6" Type="http://schemas.openxmlformats.org/officeDocument/2006/relationships/slideLayout" Target="../slideLayouts/slideLayout497.xml"/><Relationship Id="rId5" Type="http://schemas.openxmlformats.org/officeDocument/2006/relationships/slideLayout" Target="../slideLayouts/slideLayout496.xml"/><Relationship Id="rId4" Type="http://schemas.openxmlformats.org/officeDocument/2006/relationships/slideLayout" Target="../slideLayouts/slideLayout495.xml"/><Relationship Id="rId3" Type="http://schemas.openxmlformats.org/officeDocument/2006/relationships/slideLayout" Target="../slideLayouts/slideLayout494.xml"/><Relationship Id="rId2" Type="http://schemas.openxmlformats.org/officeDocument/2006/relationships/slideLayout" Target="../slideLayouts/slideLayout493.xml"/><Relationship Id="rId15" Type="http://schemas.openxmlformats.org/officeDocument/2006/relationships/theme" Target="../theme/theme6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92.xml"/></Relationships>
</file>

<file path=ppt/slideMasters/_rels/slideMaster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9.xml"/><Relationship Id="rId8" Type="http://schemas.openxmlformats.org/officeDocument/2006/relationships/slideLayout" Target="../slideLayouts/slideLayout508.xml"/><Relationship Id="rId7" Type="http://schemas.openxmlformats.org/officeDocument/2006/relationships/slideLayout" Target="../slideLayouts/slideLayout507.xml"/><Relationship Id="rId6" Type="http://schemas.openxmlformats.org/officeDocument/2006/relationships/slideLayout" Target="../slideLayouts/slideLayout506.xml"/><Relationship Id="rId5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504.xml"/><Relationship Id="rId3" Type="http://schemas.openxmlformats.org/officeDocument/2006/relationships/slideLayout" Target="../slideLayouts/slideLayout503.xml"/><Relationship Id="rId2" Type="http://schemas.openxmlformats.org/officeDocument/2006/relationships/slideLayout" Target="../slideLayouts/slideLayout502.xml"/><Relationship Id="rId15" Type="http://schemas.openxmlformats.org/officeDocument/2006/relationships/theme" Target="../theme/theme6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01.xml"/></Relationships>
</file>

<file path=ppt/slideMasters/_rels/slideMaster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8.xml"/><Relationship Id="rId8" Type="http://schemas.openxmlformats.org/officeDocument/2006/relationships/slideLayout" Target="../slideLayouts/slideLayout517.xml"/><Relationship Id="rId7" Type="http://schemas.openxmlformats.org/officeDocument/2006/relationships/slideLayout" Target="../slideLayouts/slideLayout516.xml"/><Relationship Id="rId6" Type="http://schemas.openxmlformats.org/officeDocument/2006/relationships/slideLayout" Target="../slideLayouts/slideLayout515.xml"/><Relationship Id="rId5" Type="http://schemas.openxmlformats.org/officeDocument/2006/relationships/slideLayout" Target="../slideLayouts/slideLayout514.xml"/><Relationship Id="rId4" Type="http://schemas.openxmlformats.org/officeDocument/2006/relationships/slideLayout" Target="../slideLayouts/slideLayout513.xml"/><Relationship Id="rId3" Type="http://schemas.openxmlformats.org/officeDocument/2006/relationships/slideLayout" Target="../slideLayouts/slideLayout512.xml"/><Relationship Id="rId2" Type="http://schemas.openxmlformats.org/officeDocument/2006/relationships/slideLayout" Target="../slideLayouts/slideLayout511.xml"/><Relationship Id="rId15" Type="http://schemas.openxmlformats.org/officeDocument/2006/relationships/theme" Target="../theme/theme6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10.xml"/></Relationships>
</file>

<file path=ppt/slideMasters/_rels/slideMaster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7.xml"/><Relationship Id="rId8" Type="http://schemas.openxmlformats.org/officeDocument/2006/relationships/slideLayout" Target="../slideLayouts/slideLayout526.xml"/><Relationship Id="rId7" Type="http://schemas.openxmlformats.org/officeDocument/2006/relationships/slideLayout" Target="../slideLayouts/slideLayout525.xml"/><Relationship Id="rId6" Type="http://schemas.openxmlformats.org/officeDocument/2006/relationships/slideLayout" Target="../slideLayouts/slideLayout524.xml"/><Relationship Id="rId5" Type="http://schemas.openxmlformats.org/officeDocument/2006/relationships/slideLayout" Target="../slideLayouts/slideLayout523.xml"/><Relationship Id="rId4" Type="http://schemas.openxmlformats.org/officeDocument/2006/relationships/slideLayout" Target="../slideLayouts/slideLayout522.xml"/><Relationship Id="rId3" Type="http://schemas.openxmlformats.org/officeDocument/2006/relationships/slideLayout" Target="../slideLayouts/slideLayout521.xml"/><Relationship Id="rId2" Type="http://schemas.openxmlformats.org/officeDocument/2006/relationships/slideLayout" Target="../slideLayouts/slideLayout520.xml"/><Relationship Id="rId15" Type="http://schemas.openxmlformats.org/officeDocument/2006/relationships/theme" Target="../theme/theme6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19.xml"/></Relationships>
</file>

<file path=ppt/slideMasters/_rels/slideMaster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6.xml"/><Relationship Id="rId8" Type="http://schemas.openxmlformats.org/officeDocument/2006/relationships/slideLayout" Target="../slideLayouts/slideLayout535.xml"/><Relationship Id="rId7" Type="http://schemas.openxmlformats.org/officeDocument/2006/relationships/slideLayout" Target="../slideLayouts/slideLayout534.xml"/><Relationship Id="rId6" Type="http://schemas.openxmlformats.org/officeDocument/2006/relationships/slideLayout" Target="../slideLayouts/slideLayout533.xml"/><Relationship Id="rId5" Type="http://schemas.openxmlformats.org/officeDocument/2006/relationships/slideLayout" Target="../slideLayouts/slideLayout532.xml"/><Relationship Id="rId4" Type="http://schemas.openxmlformats.org/officeDocument/2006/relationships/slideLayout" Target="../slideLayouts/slideLayout531.xml"/><Relationship Id="rId3" Type="http://schemas.openxmlformats.org/officeDocument/2006/relationships/slideLayout" Target="../slideLayouts/slideLayout530.xml"/><Relationship Id="rId2" Type="http://schemas.openxmlformats.org/officeDocument/2006/relationships/slideLayout" Target="../slideLayouts/slideLayout529.xml"/><Relationship Id="rId15" Type="http://schemas.openxmlformats.org/officeDocument/2006/relationships/theme" Target="../theme/theme6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28.xml"/></Relationships>
</file>

<file path=ppt/slideMasters/_rels/slideMaster7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5.xml"/><Relationship Id="rId8" Type="http://schemas.openxmlformats.org/officeDocument/2006/relationships/slideLayout" Target="../slideLayouts/slideLayout544.xml"/><Relationship Id="rId7" Type="http://schemas.openxmlformats.org/officeDocument/2006/relationships/slideLayout" Target="../slideLayouts/slideLayout543.xml"/><Relationship Id="rId6" Type="http://schemas.openxmlformats.org/officeDocument/2006/relationships/slideLayout" Target="../slideLayouts/slideLayout542.xml"/><Relationship Id="rId5" Type="http://schemas.openxmlformats.org/officeDocument/2006/relationships/slideLayout" Target="../slideLayouts/slideLayout541.xml"/><Relationship Id="rId4" Type="http://schemas.openxmlformats.org/officeDocument/2006/relationships/slideLayout" Target="../slideLayouts/slideLayout540.xml"/><Relationship Id="rId3" Type="http://schemas.openxmlformats.org/officeDocument/2006/relationships/slideLayout" Target="../slideLayouts/slideLayout539.xml"/><Relationship Id="rId2" Type="http://schemas.openxmlformats.org/officeDocument/2006/relationships/slideLayout" Target="../slideLayouts/slideLayout538.xml"/><Relationship Id="rId15" Type="http://schemas.openxmlformats.org/officeDocument/2006/relationships/theme" Target="../theme/theme7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37.xml"/></Relationships>
</file>

<file path=ppt/slideMasters/_rels/slideMaster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4.xml"/><Relationship Id="rId8" Type="http://schemas.openxmlformats.org/officeDocument/2006/relationships/slideLayout" Target="../slideLayouts/slideLayout553.xml"/><Relationship Id="rId7" Type="http://schemas.openxmlformats.org/officeDocument/2006/relationships/slideLayout" Target="../slideLayouts/slideLayout552.xml"/><Relationship Id="rId6" Type="http://schemas.openxmlformats.org/officeDocument/2006/relationships/slideLayout" Target="../slideLayouts/slideLayout551.xml"/><Relationship Id="rId5" Type="http://schemas.openxmlformats.org/officeDocument/2006/relationships/slideLayout" Target="../slideLayouts/slideLayout550.xml"/><Relationship Id="rId4" Type="http://schemas.openxmlformats.org/officeDocument/2006/relationships/slideLayout" Target="../slideLayouts/slideLayout549.xml"/><Relationship Id="rId3" Type="http://schemas.openxmlformats.org/officeDocument/2006/relationships/slideLayout" Target="../slideLayouts/slideLayout548.xml"/><Relationship Id="rId2" Type="http://schemas.openxmlformats.org/officeDocument/2006/relationships/slideLayout" Target="../slideLayouts/slideLayout547.xml"/><Relationship Id="rId15" Type="http://schemas.openxmlformats.org/officeDocument/2006/relationships/theme" Target="../theme/theme7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46.xml"/></Relationships>
</file>

<file path=ppt/slideMasters/_rels/slideMaster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3.xml"/><Relationship Id="rId8" Type="http://schemas.openxmlformats.org/officeDocument/2006/relationships/slideLayout" Target="../slideLayouts/slideLayout562.xml"/><Relationship Id="rId7" Type="http://schemas.openxmlformats.org/officeDocument/2006/relationships/slideLayout" Target="../slideLayouts/slideLayout561.xml"/><Relationship Id="rId6" Type="http://schemas.openxmlformats.org/officeDocument/2006/relationships/slideLayout" Target="../slideLayouts/slideLayout560.xml"/><Relationship Id="rId5" Type="http://schemas.openxmlformats.org/officeDocument/2006/relationships/slideLayout" Target="../slideLayouts/slideLayout559.xml"/><Relationship Id="rId4" Type="http://schemas.openxmlformats.org/officeDocument/2006/relationships/slideLayout" Target="../slideLayouts/slideLayout558.xml"/><Relationship Id="rId3" Type="http://schemas.openxmlformats.org/officeDocument/2006/relationships/slideLayout" Target="../slideLayouts/slideLayout557.xml"/><Relationship Id="rId2" Type="http://schemas.openxmlformats.org/officeDocument/2006/relationships/slideLayout" Target="../slideLayouts/slideLayout556.xml"/><Relationship Id="rId15" Type="http://schemas.openxmlformats.org/officeDocument/2006/relationships/theme" Target="../theme/theme7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55.xml"/></Relationships>
</file>

<file path=ppt/slideMasters/_rels/slideMaster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2.xml"/><Relationship Id="rId8" Type="http://schemas.openxmlformats.org/officeDocument/2006/relationships/slideLayout" Target="../slideLayouts/slideLayout571.xml"/><Relationship Id="rId7" Type="http://schemas.openxmlformats.org/officeDocument/2006/relationships/slideLayout" Target="../slideLayouts/slideLayout570.xml"/><Relationship Id="rId6" Type="http://schemas.openxmlformats.org/officeDocument/2006/relationships/slideLayout" Target="../slideLayouts/slideLayout569.xml"/><Relationship Id="rId5" Type="http://schemas.openxmlformats.org/officeDocument/2006/relationships/slideLayout" Target="../slideLayouts/slideLayout568.xml"/><Relationship Id="rId4" Type="http://schemas.openxmlformats.org/officeDocument/2006/relationships/slideLayout" Target="../slideLayouts/slideLayout567.xml"/><Relationship Id="rId3" Type="http://schemas.openxmlformats.org/officeDocument/2006/relationships/slideLayout" Target="../slideLayouts/slideLayout566.xml"/><Relationship Id="rId2" Type="http://schemas.openxmlformats.org/officeDocument/2006/relationships/slideLayout" Target="../slideLayouts/slideLayout565.xml"/><Relationship Id="rId15" Type="http://schemas.openxmlformats.org/officeDocument/2006/relationships/theme" Target="../theme/theme7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64.xml"/></Relationships>
</file>

<file path=ppt/slideMasters/_rels/slideMaster7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1.xml"/><Relationship Id="rId8" Type="http://schemas.openxmlformats.org/officeDocument/2006/relationships/slideLayout" Target="../slideLayouts/slideLayout580.xml"/><Relationship Id="rId7" Type="http://schemas.openxmlformats.org/officeDocument/2006/relationships/slideLayout" Target="../slideLayouts/slideLayout579.xml"/><Relationship Id="rId6" Type="http://schemas.openxmlformats.org/officeDocument/2006/relationships/slideLayout" Target="../slideLayouts/slideLayout578.xml"/><Relationship Id="rId5" Type="http://schemas.openxmlformats.org/officeDocument/2006/relationships/slideLayout" Target="../slideLayouts/slideLayout577.xml"/><Relationship Id="rId4" Type="http://schemas.openxmlformats.org/officeDocument/2006/relationships/slideLayout" Target="../slideLayouts/slideLayout576.xml"/><Relationship Id="rId3" Type="http://schemas.openxmlformats.org/officeDocument/2006/relationships/slideLayout" Target="../slideLayouts/slideLayout575.xml"/><Relationship Id="rId2" Type="http://schemas.openxmlformats.org/officeDocument/2006/relationships/slideLayout" Target="../slideLayouts/slideLayout574.xml"/><Relationship Id="rId15" Type="http://schemas.openxmlformats.org/officeDocument/2006/relationships/theme" Target="../theme/theme7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73.xml"/></Relationships>
</file>

<file path=ppt/slideMasters/_rels/slideMaster7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0.xml"/><Relationship Id="rId8" Type="http://schemas.openxmlformats.org/officeDocument/2006/relationships/slideLayout" Target="../slideLayouts/slideLayout589.xml"/><Relationship Id="rId7" Type="http://schemas.openxmlformats.org/officeDocument/2006/relationships/slideLayout" Target="../slideLayouts/slideLayout588.xml"/><Relationship Id="rId6" Type="http://schemas.openxmlformats.org/officeDocument/2006/relationships/slideLayout" Target="../slideLayouts/slideLayout587.xml"/><Relationship Id="rId5" Type="http://schemas.openxmlformats.org/officeDocument/2006/relationships/slideLayout" Target="../slideLayouts/slideLayout586.xml"/><Relationship Id="rId4" Type="http://schemas.openxmlformats.org/officeDocument/2006/relationships/slideLayout" Target="../slideLayouts/slideLayout585.xml"/><Relationship Id="rId3" Type="http://schemas.openxmlformats.org/officeDocument/2006/relationships/slideLayout" Target="../slideLayouts/slideLayout584.xml"/><Relationship Id="rId2" Type="http://schemas.openxmlformats.org/officeDocument/2006/relationships/slideLayout" Target="../slideLayouts/slideLayout583.xml"/><Relationship Id="rId15" Type="http://schemas.openxmlformats.org/officeDocument/2006/relationships/theme" Target="../theme/theme7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82.xml"/></Relationships>
</file>

<file path=ppt/slideMasters/_rels/slideMaster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9.xml"/><Relationship Id="rId8" Type="http://schemas.openxmlformats.org/officeDocument/2006/relationships/slideLayout" Target="../slideLayouts/slideLayout598.xml"/><Relationship Id="rId7" Type="http://schemas.openxmlformats.org/officeDocument/2006/relationships/slideLayout" Target="../slideLayouts/slideLayout597.xml"/><Relationship Id="rId6" Type="http://schemas.openxmlformats.org/officeDocument/2006/relationships/slideLayout" Target="../slideLayouts/slideLayout596.xml"/><Relationship Id="rId5" Type="http://schemas.openxmlformats.org/officeDocument/2006/relationships/slideLayout" Target="../slideLayouts/slideLayout595.xml"/><Relationship Id="rId4" Type="http://schemas.openxmlformats.org/officeDocument/2006/relationships/slideLayout" Target="../slideLayouts/slideLayout594.xml"/><Relationship Id="rId3" Type="http://schemas.openxmlformats.org/officeDocument/2006/relationships/slideLayout" Target="../slideLayouts/slideLayout593.xml"/><Relationship Id="rId2" Type="http://schemas.openxmlformats.org/officeDocument/2006/relationships/slideLayout" Target="../slideLayouts/slideLayout592.xml"/><Relationship Id="rId15" Type="http://schemas.openxmlformats.org/officeDocument/2006/relationships/theme" Target="../theme/theme7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91.xml"/></Relationships>
</file>

<file path=ppt/slideMasters/_rels/slideMaster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8.xml"/><Relationship Id="rId8" Type="http://schemas.openxmlformats.org/officeDocument/2006/relationships/slideLayout" Target="../slideLayouts/slideLayout607.xml"/><Relationship Id="rId7" Type="http://schemas.openxmlformats.org/officeDocument/2006/relationships/slideLayout" Target="../slideLayouts/slideLayout606.xml"/><Relationship Id="rId6" Type="http://schemas.openxmlformats.org/officeDocument/2006/relationships/slideLayout" Target="../slideLayouts/slideLayout605.xml"/><Relationship Id="rId5" Type="http://schemas.openxmlformats.org/officeDocument/2006/relationships/slideLayout" Target="../slideLayouts/slideLayout604.xml"/><Relationship Id="rId4" Type="http://schemas.openxmlformats.org/officeDocument/2006/relationships/slideLayout" Target="../slideLayouts/slideLayout603.xml"/><Relationship Id="rId3" Type="http://schemas.openxmlformats.org/officeDocument/2006/relationships/slideLayout" Target="../slideLayouts/slideLayout602.xml"/><Relationship Id="rId2" Type="http://schemas.openxmlformats.org/officeDocument/2006/relationships/slideLayout" Target="../slideLayouts/slideLayout601.xml"/><Relationship Id="rId15" Type="http://schemas.openxmlformats.org/officeDocument/2006/relationships/theme" Target="../theme/theme7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00.xml"/></Relationships>
</file>

<file path=ppt/slideMasters/_rels/slideMaster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7.xml"/><Relationship Id="rId8" Type="http://schemas.openxmlformats.org/officeDocument/2006/relationships/slideLayout" Target="../slideLayouts/slideLayout616.xml"/><Relationship Id="rId7" Type="http://schemas.openxmlformats.org/officeDocument/2006/relationships/slideLayout" Target="../slideLayouts/slideLayout615.xml"/><Relationship Id="rId6" Type="http://schemas.openxmlformats.org/officeDocument/2006/relationships/slideLayout" Target="../slideLayouts/slideLayout614.xml"/><Relationship Id="rId5" Type="http://schemas.openxmlformats.org/officeDocument/2006/relationships/slideLayout" Target="../slideLayouts/slideLayout613.xml"/><Relationship Id="rId4" Type="http://schemas.openxmlformats.org/officeDocument/2006/relationships/slideLayout" Target="../slideLayouts/slideLayout612.xml"/><Relationship Id="rId3" Type="http://schemas.openxmlformats.org/officeDocument/2006/relationships/slideLayout" Target="../slideLayouts/slideLayout611.xml"/><Relationship Id="rId2" Type="http://schemas.openxmlformats.org/officeDocument/2006/relationships/slideLayout" Target="../slideLayouts/slideLayout610.xml"/><Relationship Id="rId15" Type="http://schemas.openxmlformats.org/officeDocument/2006/relationships/theme" Target="../theme/theme7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09.xml"/></Relationships>
</file>

<file path=ppt/slideMasters/_rels/slideMaster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6.xml"/><Relationship Id="rId8" Type="http://schemas.openxmlformats.org/officeDocument/2006/relationships/slideLayout" Target="../slideLayouts/slideLayout625.xml"/><Relationship Id="rId7" Type="http://schemas.openxmlformats.org/officeDocument/2006/relationships/slideLayout" Target="../slideLayouts/slideLayout624.xml"/><Relationship Id="rId6" Type="http://schemas.openxmlformats.org/officeDocument/2006/relationships/slideLayout" Target="../slideLayouts/slideLayout623.xml"/><Relationship Id="rId5" Type="http://schemas.openxmlformats.org/officeDocument/2006/relationships/slideLayout" Target="../slideLayouts/slideLayout622.xml"/><Relationship Id="rId4" Type="http://schemas.openxmlformats.org/officeDocument/2006/relationships/slideLayout" Target="../slideLayouts/slideLayout621.xml"/><Relationship Id="rId3" Type="http://schemas.openxmlformats.org/officeDocument/2006/relationships/slideLayout" Target="../slideLayouts/slideLayout620.xml"/><Relationship Id="rId2" Type="http://schemas.openxmlformats.org/officeDocument/2006/relationships/slideLayout" Target="../slideLayouts/slideLayout619.xml"/><Relationship Id="rId15" Type="http://schemas.openxmlformats.org/officeDocument/2006/relationships/theme" Target="../theme/theme7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18.xml"/></Relationships>
</file>

<file path=ppt/slideMasters/_rels/slideMaster8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5.xml"/><Relationship Id="rId8" Type="http://schemas.openxmlformats.org/officeDocument/2006/relationships/slideLayout" Target="../slideLayouts/slideLayout634.xml"/><Relationship Id="rId7" Type="http://schemas.openxmlformats.org/officeDocument/2006/relationships/slideLayout" Target="../slideLayouts/slideLayout633.xml"/><Relationship Id="rId6" Type="http://schemas.openxmlformats.org/officeDocument/2006/relationships/slideLayout" Target="../slideLayouts/slideLayout632.xml"/><Relationship Id="rId5" Type="http://schemas.openxmlformats.org/officeDocument/2006/relationships/slideLayout" Target="../slideLayouts/slideLayout631.xml"/><Relationship Id="rId4" Type="http://schemas.openxmlformats.org/officeDocument/2006/relationships/slideLayout" Target="../slideLayouts/slideLayout630.xml"/><Relationship Id="rId3" Type="http://schemas.openxmlformats.org/officeDocument/2006/relationships/slideLayout" Target="../slideLayouts/slideLayout629.xml"/><Relationship Id="rId2" Type="http://schemas.openxmlformats.org/officeDocument/2006/relationships/slideLayout" Target="../slideLayouts/slideLayout628.xml"/><Relationship Id="rId15" Type="http://schemas.openxmlformats.org/officeDocument/2006/relationships/theme" Target="../theme/theme8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27.xml"/></Relationships>
</file>

<file path=ppt/slideMasters/_rels/slideMaster8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4.xml"/><Relationship Id="rId8" Type="http://schemas.openxmlformats.org/officeDocument/2006/relationships/slideLayout" Target="../slideLayouts/slideLayout643.xml"/><Relationship Id="rId7" Type="http://schemas.openxmlformats.org/officeDocument/2006/relationships/slideLayout" Target="../slideLayouts/slideLayout642.xml"/><Relationship Id="rId6" Type="http://schemas.openxmlformats.org/officeDocument/2006/relationships/slideLayout" Target="../slideLayouts/slideLayout641.xml"/><Relationship Id="rId5" Type="http://schemas.openxmlformats.org/officeDocument/2006/relationships/slideLayout" Target="../slideLayouts/slideLayout640.xml"/><Relationship Id="rId4" Type="http://schemas.openxmlformats.org/officeDocument/2006/relationships/slideLayout" Target="../slideLayouts/slideLayout639.xml"/><Relationship Id="rId3" Type="http://schemas.openxmlformats.org/officeDocument/2006/relationships/slideLayout" Target="../slideLayouts/slideLayout638.xml"/><Relationship Id="rId2" Type="http://schemas.openxmlformats.org/officeDocument/2006/relationships/slideLayout" Target="../slideLayouts/slideLayout637.xml"/><Relationship Id="rId15" Type="http://schemas.openxmlformats.org/officeDocument/2006/relationships/theme" Target="../theme/theme8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36.xml"/></Relationships>
</file>

<file path=ppt/slideMasters/_rels/slideMaster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3.xml"/><Relationship Id="rId8" Type="http://schemas.openxmlformats.org/officeDocument/2006/relationships/slideLayout" Target="../slideLayouts/slideLayout652.xml"/><Relationship Id="rId7" Type="http://schemas.openxmlformats.org/officeDocument/2006/relationships/slideLayout" Target="../slideLayouts/slideLayout651.xml"/><Relationship Id="rId6" Type="http://schemas.openxmlformats.org/officeDocument/2006/relationships/slideLayout" Target="../slideLayouts/slideLayout650.xml"/><Relationship Id="rId5" Type="http://schemas.openxmlformats.org/officeDocument/2006/relationships/slideLayout" Target="../slideLayouts/slideLayout649.xml"/><Relationship Id="rId4" Type="http://schemas.openxmlformats.org/officeDocument/2006/relationships/slideLayout" Target="../slideLayouts/slideLayout648.xml"/><Relationship Id="rId3" Type="http://schemas.openxmlformats.org/officeDocument/2006/relationships/slideLayout" Target="../slideLayouts/slideLayout647.xml"/><Relationship Id="rId2" Type="http://schemas.openxmlformats.org/officeDocument/2006/relationships/slideLayout" Target="../slideLayouts/slideLayout646.xml"/><Relationship Id="rId15" Type="http://schemas.openxmlformats.org/officeDocument/2006/relationships/theme" Target="../theme/theme8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45.xml"/></Relationships>
</file>

<file path=ppt/slideMasters/_rels/slideMaster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2.xml"/><Relationship Id="rId8" Type="http://schemas.openxmlformats.org/officeDocument/2006/relationships/slideLayout" Target="../slideLayouts/slideLayout661.xml"/><Relationship Id="rId7" Type="http://schemas.openxmlformats.org/officeDocument/2006/relationships/slideLayout" Target="../slideLayouts/slideLayout660.xml"/><Relationship Id="rId6" Type="http://schemas.openxmlformats.org/officeDocument/2006/relationships/slideLayout" Target="../slideLayouts/slideLayout659.xml"/><Relationship Id="rId5" Type="http://schemas.openxmlformats.org/officeDocument/2006/relationships/slideLayout" Target="../slideLayouts/slideLayout658.xml"/><Relationship Id="rId4" Type="http://schemas.openxmlformats.org/officeDocument/2006/relationships/slideLayout" Target="../slideLayouts/slideLayout657.xml"/><Relationship Id="rId3" Type="http://schemas.openxmlformats.org/officeDocument/2006/relationships/slideLayout" Target="../slideLayouts/slideLayout656.xml"/><Relationship Id="rId2" Type="http://schemas.openxmlformats.org/officeDocument/2006/relationships/slideLayout" Target="../slideLayouts/slideLayout655.xml"/><Relationship Id="rId15" Type="http://schemas.openxmlformats.org/officeDocument/2006/relationships/theme" Target="../theme/theme8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54.xml"/></Relationships>
</file>

<file path=ppt/slideMasters/_rels/slideMaster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1.xml"/><Relationship Id="rId8" Type="http://schemas.openxmlformats.org/officeDocument/2006/relationships/slideLayout" Target="../slideLayouts/slideLayout670.xml"/><Relationship Id="rId7" Type="http://schemas.openxmlformats.org/officeDocument/2006/relationships/slideLayout" Target="../slideLayouts/slideLayout669.xml"/><Relationship Id="rId6" Type="http://schemas.openxmlformats.org/officeDocument/2006/relationships/slideLayout" Target="../slideLayouts/slideLayout668.xml"/><Relationship Id="rId5" Type="http://schemas.openxmlformats.org/officeDocument/2006/relationships/slideLayout" Target="../slideLayouts/slideLayout667.xml"/><Relationship Id="rId4" Type="http://schemas.openxmlformats.org/officeDocument/2006/relationships/slideLayout" Target="../slideLayouts/slideLayout666.xml"/><Relationship Id="rId3" Type="http://schemas.openxmlformats.org/officeDocument/2006/relationships/slideLayout" Target="../slideLayouts/slideLayout665.xml"/><Relationship Id="rId2" Type="http://schemas.openxmlformats.org/officeDocument/2006/relationships/slideLayout" Target="../slideLayouts/slideLayout664.xml"/><Relationship Id="rId15" Type="http://schemas.openxmlformats.org/officeDocument/2006/relationships/theme" Target="../theme/theme8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63.xml"/></Relationships>
</file>

<file path=ppt/slideMasters/_rels/slideMaster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0.xml"/><Relationship Id="rId8" Type="http://schemas.openxmlformats.org/officeDocument/2006/relationships/slideLayout" Target="../slideLayouts/slideLayout679.xml"/><Relationship Id="rId7" Type="http://schemas.openxmlformats.org/officeDocument/2006/relationships/slideLayout" Target="../slideLayouts/slideLayout678.xml"/><Relationship Id="rId6" Type="http://schemas.openxmlformats.org/officeDocument/2006/relationships/slideLayout" Target="../slideLayouts/slideLayout677.xml"/><Relationship Id="rId5" Type="http://schemas.openxmlformats.org/officeDocument/2006/relationships/slideLayout" Target="../slideLayouts/slideLayout676.xml"/><Relationship Id="rId4" Type="http://schemas.openxmlformats.org/officeDocument/2006/relationships/slideLayout" Target="../slideLayouts/slideLayout675.xml"/><Relationship Id="rId3" Type="http://schemas.openxmlformats.org/officeDocument/2006/relationships/slideLayout" Target="../slideLayouts/slideLayout674.xml"/><Relationship Id="rId2" Type="http://schemas.openxmlformats.org/officeDocument/2006/relationships/slideLayout" Target="../slideLayouts/slideLayout673.xml"/><Relationship Id="rId15" Type="http://schemas.openxmlformats.org/officeDocument/2006/relationships/theme" Target="../theme/theme8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72.xml"/></Relationships>
</file>

<file path=ppt/slideMasters/_rels/slideMaster8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9.xml"/><Relationship Id="rId8" Type="http://schemas.openxmlformats.org/officeDocument/2006/relationships/slideLayout" Target="../slideLayouts/slideLayout688.xml"/><Relationship Id="rId7" Type="http://schemas.openxmlformats.org/officeDocument/2006/relationships/slideLayout" Target="../slideLayouts/slideLayout687.xml"/><Relationship Id="rId6" Type="http://schemas.openxmlformats.org/officeDocument/2006/relationships/slideLayout" Target="../slideLayouts/slideLayout686.xml"/><Relationship Id="rId5" Type="http://schemas.openxmlformats.org/officeDocument/2006/relationships/slideLayout" Target="../slideLayouts/slideLayout685.xml"/><Relationship Id="rId4" Type="http://schemas.openxmlformats.org/officeDocument/2006/relationships/slideLayout" Target="../slideLayouts/slideLayout684.xml"/><Relationship Id="rId3" Type="http://schemas.openxmlformats.org/officeDocument/2006/relationships/slideLayout" Target="../slideLayouts/slideLayout683.xml"/><Relationship Id="rId2" Type="http://schemas.openxmlformats.org/officeDocument/2006/relationships/slideLayout" Target="../slideLayouts/slideLayout682.xml"/><Relationship Id="rId15" Type="http://schemas.openxmlformats.org/officeDocument/2006/relationships/theme" Target="../theme/theme8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81.xml"/></Relationships>
</file>

<file path=ppt/slideMasters/_rels/slideMaster8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8.xml"/><Relationship Id="rId8" Type="http://schemas.openxmlformats.org/officeDocument/2006/relationships/slideLayout" Target="../slideLayouts/slideLayout697.xml"/><Relationship Id="rId7" Type="http://schemas.openxmlformats.org/officeDocument/2006/relationships/slideLayout" Target="../slideLayouts/slideLayout696.xml"/><Relationship Id="rId6" Type="http://schemas.openxmlformats.org/officeDocument/2006/relationships/slideLayout" Target="../slideLayouts/slideLayout695.xml"/><Relationship Id="rId5" Type="http://schemas.openxmlformats.org/officeDocument/2006/relationships/slideLayout" Target="../slideLayouts/slideLayout694.xml"/><Relationship Id="rId4" Type="http://schemas.openxmlformats.org/officeDocument/2006/relationships/slideLayout" Target="../slideLayouts/slideLayout693.xml"/><Relationship Id="rId3" Type="http://schemas.openxmlformats.org/officeDocument/2006/relationships/slideLayout" Target="../slideLayouts/slideLayout692.xml"/><Relationship Id="rId2" Type="http://schemas.openxmlformats.org/officeDocument/2006/relationships/slideLayout" Target="../slideLayouts/slideLayout691.xml"/><Relationship Id="rId15" Type="http://schemas.openxmlformats.org/officeDocument/2006/relationships/theme" Target="../theme/theme8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90.xml"/></Relationships>
</file>

<file path=ppt/slideMasters/_rels/slideMaster8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7.xml"/><Relationship Id="rId8" Type="http://schemas.openxmlformats.org/officeDocument/2006/relationships/slideLayout" Target="../slideLayouts/slideLayout706.xml"/><Relationship Id="rId7" Type="http://schemas.openxmlformats.org/officeDocument/2006/relationships/slideLayout" Target="../slideLayouts/slideLayout705.xml"/><Relationship Id="rId6" Type="http://schemas.openxmlformats.org/officeDocument/2006/relationships/slideLayout" Target="../slideLayouts/slideLayout704.xml"/><Relationship Id="rId5" Type="http://schemas.openxmlformats.org/officeDocument/2006/relationships/slideLayout" Target="../slideLayouts/slideLayout703.xml"/><Relationship Id="rId4" Type="http://schemas.openxmlformats.org/officeDocument/2006/relationships/slideLayout" Target="../slideLayouts/slideLayout702.xml"/><Relationship Id="rId3" Type="http://schemas.openxmlformats.org/officeDocument/2006/relationships/slideLayout" Target="../slideLayouts/slideLayout701.xml"/><Relationship Id="rId2" Type="http://schemas.openxmlformats.org/officeDocument/2006/relationships/slideLayout" Target="../slideLayouts/slideLayout700.xml"/><Relationship Id="rId15" Type="http://schemas.openxmlformats.org/officeDocument/2006/relationships/theme" Target="../theme/theme8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99.xml"/></Relationships>
</file>

<file path=ppt/slideMasters/_rels/slideMaster8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6.xml"/><Relationship Id="rId8" Type="http://schemas.openxmlformats.org/officeDocument/2006/relationships/slideLayout" Target="../slideLayouts/slideLayout715.xml"/><Relationship Id="rId7" Type="http://schemas.openxmlformats.org/officeDocument/2006/relationships/slideLayout" Target="../slideLayouts/slideLayout714.xml"/><Relationship Id="rId6" Type="http://schemas.openxmlformats.org/officeDocument/2006/relationships/slideLayout" Target="../slideLayouts/slideLayout713.xml"/><Relationship Id="rId5" Type="http://schemas.openxmlformats.org/officeDocument/2006/relationships/slideLayout" Target="../slideLayouts/slideLayout712.xml"/><Relationship Id="rId4" Type="http://schemas.openxmlformats.org/officeDocument/2006/relationships/slideLayout" Target="../slideLayouts/slideLayout711.xml"/><Relationship Id="rId3" Type="http://schemas.openxmlformats.org/officeDocument/2006/relationships/slideLayout" Target="../slideLayouts/slideLayout710.xml"/><Relationship Id="rId2" Type="http://schemas.openxmlformats.org/officeDocument/2006/relationships/slideLayout" Target="../slideLayouts/slideLayout709.xml"/><Relationship Id="rId15" Type="http://schemas.openxmlformats.org/officeDocument/2006/relationships/theme" Target="../theme/theme8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08.xml"/></Relationships>
</file>

<file path=ppt/slideMasters/_rels/slideMaster9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5.xml"/><Relationship Id="rId8" Type="http://schemas.openxmlformats.org/officeDocument/2006/relationships/slideLayout" Target="../slideLayouts/slideLayout724.xml"/><Relationship Id="rId7" Type="http://schemas.openxmlformats.org/officeDocument/2006/relationships/slideLayout" Target="../slideLayouts/slideLayout723.xml"/><Relationship Id="rId6" Type="http://schemas.openxmlformats.org/officeDocument/2006/relationships/slideLayout" Target="../slideLayouts/slideLayout722.xml"/><Relationship Id="rId5" Type="http://schemas.openxmlformats.org/officeDocument/2006/relationships/slideLayout" Target="../slideLayouts/slideLayout721.xml"/><Relationship Id="rId4" Type="http://schemas.openxmlformats.org/officeDocument/2006/relationships/slideLayout" Target="../slideLayouts/slideLayout720.xml"/><Relationship Id="rId3" Type="http://schemas.openxmlformats.org/officeDocument/2006/relationships/slideLayout" Target="../slideLayouts/slideLayout719.xml"/><Relationship Id="rId2" Type="http://schemas.openxmlformats.org/officeDocument/2006/relationships/slideLayout" Target="../slideLayouts/slideLayout718.xml"/><Relationship Id="rId15" Type="http://schemas.openxmlformats.org/officeDocument/2006/relationships/theme" Target="../theme/theme9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17.xml"/></Relationships>
</file>

<file path=ppt/slideMasters/_rels/slideMaster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4.xml"/><Relationship Id="rId8" Type="http://schemas.openxmlformats.org/officeDocument/2006/relationships/slideLayout" Target="../slideLayouts/slideLayout733.xml"/><Relationship Id="rId7" Type="http://schemas.openxmlformats.org/officeDocument/2006/relationships/slideLayout" Target="../slideLayouts/slideLayout732.xml"/><Relationship Id="rId6" Type="http://schemas.openxmlformats.org/officeDocument/2006/relationships/slideLayout" Target="../slideLayouts/slideLayout731.xml"/><Relationship Id="rId5" Type="http://schemas.openxmlformats.org/officeDocument/2006/relationships/slideLayout" Target="../slideLayouts/slideLayout730.xml"/><Relationship Id="rId4" Type="http://schemas.openxmlformats.org/officeDocument/2006/relationships/slideLayout" Target="../slideLayouts/slideLayout729.xml"/><Relationship Id="rId3" Type="http://schemas.openxmlformats.org/officeDocument/2006/relationships/slideLayout" Target="../slideLayouts/slideLayout728.xml"/><Relationship Id="rId2" Type="http://schemas.openxmlformats.org/officeDocument/2006/relationships/slideLayout" Target="../slideLayouts/slideLayout727.xml"/><Relationship Id="rId15" Type="http://schemas.openxmlformats.org/officeDocument/2006/relationships/theme" Target="../theme/theme9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26.xml"/></Relationships>
</file>

<file path=ppt/slideMasters/_rels/slideMaster9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3.xml"/><Relationship Id="rId8" Type="http://schemas.openxmlformats.org/officeDocument/2006/relationships/slideLayout" Target="../slideLayouts/slideLayout742.xml"/><Relationship Id="rId7" Type="http://schemas.openxmlformats.org/officeDocument/2006/relationships/slideLayout" Target="../slideLayouts/slideLayout741.xml"/><Relationship Id="rId6" Type="http://schemas.openxmlformats.org/officeDocument/2006/relationships/slideLayout" Target="../slideLayouts/slideLayout740.xml"/><Relationship Id="rId5" Type="http://schemas.openxmlformats.org/officeDocument/2006/relationships/slideLayout" Target="../slideLayouts/slideLayout739.xml"/><Relationship Id="rId4" Type="http://schemas.openxmlformats.org/officeDocument/2006/relationships/slideLayout" Target="../slideLayouts/slideLayout738.xml"/><Relationship Id="rId3" Type="http://schemas.openxmlformats.org/officeDocument/2006/relationships/slideLayout" Target="../slideLayouts/slideLayout737.xml"/><Relationship Id="rId2" Type="http://schemas.openxmlformats.org/officeDocument/2006/relationships/slideLayout" Target="../slideLayouts/slideLayout736.xml"/><Relationship Id="rId15" Type="http://schemas.openxmlformats.org/officeDocument/2006/relationships/theme" Target="../theme/theme9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35.xml"/></Relationships>
</file>

<file path=ppt/slideMasters/_rels/slideMaster9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2.xml"/><Relationship Id="rId8" Type="http://schemas.openxmlformats.org/officeDocument/2006/relationships/slideLayout" Target="../slideLayouts/slideLayout751.xml"/><Relationship Id="rId7" Type="http://schemas.openxmlformats.org/officeDocument/2006/relationships/slideLayout" Target="../slideLayouts/slideLayout750.xml"/><Relationship Id="rId6" Type="http://schemas.openxmlformats.org/officeDocument/2006/relationships/slideLayout" Target="../slideLayouts/slideLayout749.xml"/><Relationship Id="rId5" Type="http://schemas.openxmlformats.org/officeDocument/2006/relationships/slideLayout" Target="../slideLayouts/slideLayout748.xml"/><Relationship Id="rId4" Type="http://schemas.openxmlformats.org/officeDocument/2006/relationships/slideLayout" Target="../slideLayouts/slideLayout747.xml"/><Relationship Id="rId3" Type="http://schemas.openxmlformats.org/officeDocument/2006/relationships/slideLayout" Target="../slideLayouts/slideLayout746.xml"/><Relationship Id="rId2" Type="http://schemas.openxmlformats.org/officeDocument/2006/relationships/slideLayout" Target="../slideLayouts/slideLayout745.xml"/><Relationship Id="rId15" Type="http://schemas.openxmlformats.org/officeDocument/2006/relationships/theme" Target="../theme/theme9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44.xml"/></Relationships>
</file>

<file path=ppt/slideMasters/_rels/slideMaster9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1.xml"/><Relationship Id="rId8" Type="http://schemas.openxmlformats.org/officeDocument/2006/relationships/slideLayout" Target="../slideLayouts/slideLayout760.xml"/><Relationship Id="rId7" Type="http://schemas.openxmlformats.org/officeDocument/2006/relationships/slideLayout" Target="../slideLayouts/slideLayout759.xml"/><Relationship Id="rId6" Type="http://schemas.openxmlformats.org/officeDocument/2006/relationships/slideLayout" Target="../slideLayouts/slideLayout758.xml"/><Relationship Id="rId5" Type="http://schemas.openxmlformats.org/officeDocument/2006/relationships/slideLayout" Target="../slideLayouts/slideLayout757.xml"/><Relationship Id="rId4" Type="http://schemas.openxmlformats.org/officeDocument/2006/relationships/slideLayout" Target="../slideLayouts/slideLayout756.xml"/><Relationship Id="rId3" Type="http://schemas.openxmlformats.org/officeDocument/2006/relationships/slideLayout" Target="../slideLayouts/slideLayout755.xml"/><Relationship Id="rId2" Type="http://schemas.openxmlformats.org/officeDocument/2006/relationships/slideLayout" Target="../slideLayouts/slideLayout754.xml"/><Relationship Id="rId15" Type="http://schemas.openxmlformats.org/officeDocument/2006/relationships/theme" Target="../theme/theme9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53.xml"/></Relationships>
</file>

<file path=ppt/slideMasters/_rels/slideMaster9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0.xml"/><Relationship Id="rId8" Type="http://schemas.openxmlformats.org/officeDocument/2006/relationships/slideLayout" Target="../slideLayouts/slideLayout769.xml"/><Relationship Id="rId7" Type="http://schemas.openxmlformats.org/officeDocument/2006/relationships/slideLayout" Target="../slideLayouts/slideLayout768.xml"/><Relationship Id="rId6" Type="http://schemas.openxmlformats.org/officeDocument/2006/relationships/slideLayout" Target="../slideLayouts/slideLayout767.xml"/><Relationship Id="rId5" Type="http://schemas.openxmlformats.org/officeDocument/2006/relationships/slideLayout" Target="../slideLayouts/slideLayout766.xml"/><Relationship Id="rId4" Type="http://schemas.openxmlformats.org/officeDocument/2006/relationships/slideLayout" Target="../slideLayouts/slideLayout765.xml"/><Relationship Id="rId3" Type="http://schemas.openxmlformats.org/officeDocument/2006/relationships/slideLayout" Target="../slideLayouts/slideLayout764.xml"/><Relationship Id="rId2" Type="http://schemas.openxmlformats.org/officeDocument/2006/relationships/slideLayout" Target="../slideLayouts/slideLayout763.xml"/><Relationship Id="rId15" Type="http://schemas.openxmlformats.org/officeDocument/2006/relationships/theme" Target="../theme/theme9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62.xml"/></Relationships>
</file>

<file path=ppt/slideMasters/_rels/slideMaster9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9.xml"/><Relationship Id="rId8" Type="http://schemas.openxmlformats.org/officeDocument/2006/relationships/slideLayout" Target="../slideLayouts/slideLayout778.xml"/><Relationship Id="rId7" Type="http://schemas.openxmlformats.org/officeDocument/2006/relationships/slideLayout" Target="../slideLayouts/slideLayout777.xml"/><Relationship Id="rId6" Type="http://schemas.openxmlformats.org/officeDocument/2006/relationships/slideLayout" Target="../slideLayouts/slideLayout776.xml"/><Relationship Id="rId5" Type="http://schemas.openxmlformats.org/officeDocument/2006/relationships/slideLayout" Target="../slideLayouts/slideLayout775.xml"/><Relationship Id="rId4" Type="http://schemas.openxmlformats.org/officeDocument/2006/relationships/slideLayout" Target="../slideLayouts/slideLayout774.xml"/><Relationship Id="rId3" Type="http://schemas.openxmlformats.org/officeDocument/2006/relationships/slideLayout" Target="../slideLayouts/slideLayout773.xml"/><Relationship Id="rId2" Type="http://schemas.openxmlformats.org/officeDocument/2006/relationships/slideLayout" Target="../slideLayouts/slideLayout772.xml"/><Relationship Id="rId15" Type="http://schemas.openxmlformats.org/officeDocument/2006/relationships/theme" Target="../theme/theme9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71.xml"/></Relationships>
</file>

<file path=ppt/slideMasters/_rels/slideMaster9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8.xml"/><Relationship Id="rId8" Type="http://schemas.openxmlformats.org/officeDocument/2006/relationships/slideLayout" Target="../slideLayouts/slideLayout787.xml"/><Relationship Id="rId7" Type="http://schemas.openxmlformats.org/officeDocument/2006/relationships/slideLayout" Target="../slideLayouts/slideLayout786.xml"/><Relationship Id="rId6" Type="http://schemas.openxmlformats.org/officeDocument/2006/relationships/slideLayout" Target="../slideLayouts/slideLayout785.xml"/><Relationship Id="rId5" Type="http://schemas.openxmlformats.org/officeDocument/2006/relationships/slideLayout" Target="../slideLayouts/slideLayout784.xml"/><Relationship Id="rId4" Type="http://schemas.openxmlformats.org/officeDocument/2006/relationships/slideLayout" Target="../slideLayouts/slideLayout783.xml"/><Relationship Id="rId3" Type="http://schemas.openxmlformats.org/officeDocument/2006/relationships/slideLayout" Target="../slideLayouts/slideLayout782.xml"/><Relationship Id="rId2" Type="http://schemas.openxmlformats.org/officeDocument/2006/relationships/slideLayout" Target="../slideLayouts/slideLayout781.xml"/><Relationship Id="rId15" Type="http://schemas.openxmlformats.org/officeDocument/2006/relationships/theme" Target="../theme/theme9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80.xml"/></Relationships>
</file>

<file path=ppt/slideMasters/_rels/slideMaster9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7.xml"/><Relationship Id="rId8" Type="http://schemas.openxmlformats.org/officeDocument/2006/relationships/slideLayout" Target="../slideLayouts/slideLayout796.xml"/><Relationship Id="rId7" Type="http://schemas.openxmlformats.org/officeDocument/2006/relationships/slideLayout" Target="../slideLayouts/slideLayout795.xml"/><Relationship Id="rId6" Type="http://schemas.openxmlformats.org/officeDocument/2006/relationships/slideLayout" Target="../slideLayouts/slideLayout794.xml"/><Relationship Id="rId5" Type="http://schemas.openxmlformats.org/officeDocument/2006/relationships/slideLayout" Target="../slideLayouts/slideLayout793.xml"/><Relationship Id="rId4" Type="http://schemas.openxmlformats.org/officeDocument/2006/relationships/slideLayout" Target="../slideLayouts/slideLayout792.xml"/><Relationship Id="rId3" Type="http://schemas.openxmlformats.org/officeDocument/2006/relationships/slideLayout" Target="../slideLayouts/slideLayout791.xml"/><Relationship Id="rId2" Type="http://schemas.openxmlformats.org/officeDocument/2006/relationships/slideLayout" Target="../slideLayouts/slideLayout790.xml"/><Relationship Id="rId15" Type="http://schemas.openxmlformats.org/officeDocument/2006/relationships/theme" Target="../theme/theme9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89.xml"/></Relationships>
</file>

<file path=ppt/slideMasters/_rels/slideMaster9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6.xml"/><Relationship Id="rId8" Type="http://schemas.openxmlformats.org/officeDocument/2006/relationships/slideLayout" Target="../slideLayouts/slideLayout805.xml"/><Relationship Id="rId7" Type="http://schemas.openxmlformats.org/officeDocument/2006/relationships/slideLayout" Target="../slideLayouts/slideLayout804.xml"/><Relationship Id="rId6" Type="http://schemas.openxmlformats.org/officeDocument/2006/relationships/slideLayout" Target="../slideLayouts/slideLayout803.xml"/><Relationship Id="rId5" Type="http://schemas.openxmlformats.org/officeDocument/2006/relationships/slideLayout" Target="../slideLayouts/slideLayout802.xml"/><Relationship Id="rId4" Type="http://schemas.openxmlformats.org/officeDocument/2006/relationships/slideLayout" Target="../slideLayouts/slideLayout801.xml"/><Relationship Id="rId3" Type="http://schemas.openxmlformats.org/officeDocument/2006/relationships/slideLayout" Target="../slideLayouts/slideLayout800.xml"/><Relationship Id="rId2" Type="http://schemas.openxmlformats.org/officeDocument/2006/relationships/slideLayout" Target="../slideLayouts/slideLayout799.xml"/><Relationship Id="rId15" Type="http://schemas.openxmlformats.org/officeDocument/2006/relationships/theme" Target="../theme/theme9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798.xml"/></Relationships>
</file>

<file path=ppt/slideMasters/_rels/slideMaster10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5.xml"/><Relationship Id="rId8" Type="http://schemas.openxmlformats.org/officeDocument/2006/relationships/slideLayout" Target="../slideLayouts/slideLayout814.xml"/><Relationship Id="rId7" Type="http://schemas.openxmlformats.org/officeDocument/2006/relationships/slideLayout" Target="../slideLayouts/slideLayout813.xml"/><Relationship Id="rId6" Type="http://schemas.openxmlformats.org/officeDocument/2006/relationships/slideLayout" Target="../slideLayouts/slideLayout812.xml"/><Relationship Id="rId5" Type="http://schemas.openxmlformats.org/officeDocument/2006/relationships/slideLayout" Target="../slideLayouts/slideLayout811.xml"/><Relationship Id="rId4" Type="http://schemas.openxmlformats.org/officeDocument/2006/relationships/slideLayout" Target="../slideLayouts/slideLayout810.xml"/><Relationship Id="rId3" Type="http://schemas.openxmlformats.org/officeDocument/2006/relationships/slideLayout" Target="../slideLayouts/slideLayout809.xml"/><Relationship Id="rId2" Type="http://schemas.openxmlformats.org/officeDocument/2006/relationships/slideLayout" Target="../slideLayouts/slideLayout808.xml"/><Relationship Id="rId15" Type="http://schemas.openxmlformats.org/officeDocument/2006/relationships/theme" Target="../theme/theme10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07.xml"/></Relationships>
</file>

<file path=ppt/slideMasters/_rels/slideMaster10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4.xml"/><Relationship Id="rId8" Type="http://schemas.openxmlformats.org/officeDocument/2006/relationships/slideLayout" Target="../slideLayouts/slideLayout823.xml"/><Relationship Id="rId7" Type="http://schemas.openxmlformats.org/officeDocument/2006/relationships/slideLayout" Target="../slideLayouts/slideLayout822.xml"/><Relationship Id="rId6" Type="http://schemas.openxmlformats.org/officeDocument/2006/relationships/slideLayout" Target="../slideLayouts/slideLayout821.xml"/><Relationship Id="rId5" Type="http://schemas.openxmlformats.org/officeDocument/2006/relationships/slideLayout" Target="../slideLayouts/slideLayout820.xml"/><Relationship Id="rId4" Type="http://schemas.openxmlformats.org/officeDocument/2006/relationships/slideLayout" Target="../slideLayouts/slideLayout819.xml"/><Relationship Id="rId3" Type="http://schemas.openxmlformats.org/officeDocument/2006/relationships/slideLayout" Target="../slideLayouts/slideLayout818.xml"/><Relationship Id="rId2" Type="http://schemas.openxmlformats.org/officeDocument/2006/relationships/slideLayout" Target="../slideLayouts/slideLayout817.xml"/><Relationship Id="rId15" Type="http://schemas.openxmlformats.org/officeDocument/2006/relationships/theme" Target="../theme/theme10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16.xml"/></Relationships>
</file>

<file path=ppt/slideMasters/_rels/slideMaster10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3.xml"/><Relationship Id="rId8" Type="http://schemas.openxmlformats.org/officeDocument/2006/relationships/slideLayout" Target="../slideLayouts/slideLayout832.xml"/><Relationship Id="rId7" Type="http://schemas.openxmlformats.org/officeDocument/2006/relationships/slideLayout" Target="../slideLayouts/slideLayout831.xml"/><Relationship Id="rId6" Type="http://schemas.openxmlformats.org/officeDocument/2006/relationships/slideLayout" Target="../slideLayouts/slideLayout830.xml"/><Relationship Id="rId5" Type="http://schemas.openxmlformats.org/officeDocument/2006/relationships/slideLayout" Target="../slideLayouts/slideLayout829.xml"/><Relationship Id="rId4" Type="http://schemas.openxmlformats.org/officeDocument/2006/relationships/slideLayout" Target="../slideLayouts/slideLayout828.xml"/><Relationship Id="rId3" Type="http://schemas.openxmlformats.org/officeDocument/2006/relationships/slideLayout" Target="../slideLayouts/slideLayout827.xml"/><Relationship Id="rId2" Type="http://schemas.openxmlformats.org/officeDocument/2006/relationships/slideLayout" Target="../slideLayouts/slideLayout826.xml"/><Relationship Id="rId15" Type="http://schemas.openxmlformats.org/officeDocument/2006/relationships/theme" Target="../theme/theme10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25.xml"/></Relationships>
</file>

<file path=ppt/slideMasters/_rels/slideMaster10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2.xml"/><Relationship Id="rId8" Type="http://schemas.openxmlformats.org/officeDocument/2006/relationships/slideLayout" Target="../slideLayouts/slideLayout841.xml"/><Relationship Id="rId7" Type="http://schemas.openxmlformats.org/officeDocument/2006/relationships/slideLayout" Target="../slideLayouts/slideLayout840.xml"/><Relationship Id="rId6" Type="http://schemas.openxmlformats.org/officeDocument/2006/relationships/slideLayout" Target="../slideLayouts/slideLayout839.xml"/><Relationship Id="rId5" Type="http://schemas.openxmlformats.org/officeDocument/2006/relationships/slideLayout" Target="../slideLayouts/slideLayout838.xml"/><Relationship Id="rId4" Type="http://schemas.openxmlformats.org/officeDocument/2006/relationships/slideLayout" Target="../slideLayouts/slideLayout837.xml"/><Relationship Id="rId3" Type="http://schemas.openxmlformats.org/officeDocument/2006/relationships/slideLayout" Target="../slideLayouts/slideLayout836.xml"/><Relationship Id="rId2" Type="http://schemas.openxmlformats.org/officeDocument/2006/relationships/slideLayout" Target="../slideLayouts/slideLayout835.xml"/><Relationship Id="rId15" Type="http://schemas.openxmlformats.org/officeDocument/2006/relationships/theme" Target="../theme/theme10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34.xml"/></Relationships>
</file>

<file path=ppt/slideMasters/_rels/slideMaster10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51.xml"/><Relationship Id="rId8" Type="http://schemas.openxmlformats.org/officeDocument/2006/relationships/slideLayout" Target="../slideLayouts/slideLayout850.xml"/><Relationship Id="rId7" Type="http://schemas.openxmlformats.org/officeDocument/2006/relationships/slideLayout" Target="../slideLayouts/slideLayout849.xml"/><Relationship Id="rId6" Type="http://schemas.openxmlformats.org/officeDocument/2006/relationships/slideLayout" Target="../slideLayouts/slideLayout848.xml"/><Relationship Id="rId5" Type="http://schemas.openxmlformats.org/officeDocument/2006/relationships/slideLayout" Target="../slideLayouts/slideLayout847.xml"/><Relationship Id="rId4" Type="http://schemas.openxmlformats.org/officeDocument/2006/relationships/slideLayout" Target="../slideLayouts/slideLayout846.xml"/><Relationship Id="rId3" Type="http://schemas.openxmlformats.org/officeDocument/2006/relationships/slideLayout" Target="../slideLayouts/slideLayout845.xml"/><Relationship Id="rId2" Type="http://schemas.openxmlformats.org/officeDocument/2006/relationships/slideLayout" Target="../slideLayouts/slideLayout844.xml"/><Relationship Id="rId15" Type="http://schemas.openxmlformats.org/officeDocument/2006/relationships/theme" Target="../theme/theme10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43.xml"/></Relationships>
</file>

<file path=ppt/slideMasters/_rels/slideMaster10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0.xml"/><Relationship Id="rId8" Type="http://schemas.openxmlformats.org/officeDocument/2006/relationships/slideLayout" Target="../slideLayouts/slideLayout859.xml"/><Relationship Id="rId7" Type="http://schemas.openxmlformats.org/officeDocument/2006/relationships/slideLayout" Target="../slideLayouts/slideLayout858.xml"/><Relationship Id="rId6" Type="http://schemas.openxmlformats.org/officeDocument/2006/relationships/slideLayout" Target="../slideLayouts/slideLayout857.xml"/><Relationship Id="rId5" Type="http://schemas.openxmlformats.org/officeDocument/2006/relationships/slideLayout" Target="../slideLayouts/slideLayout856.xml"/><Relationship Id="rId4" Type="http://schemas.openxmlformats.org/officeDocument/2006/relationships/slideLayout" Target="../slideLayouts/slideLayout855.xml"/><Relationship Id="rId3" Type="http://schemas.openxmlformats.org/officeDocument/2006/relationships/slideLayout" Target="../slideLayouts/slideLayout854.xml"/><Relationship Id="rId2" Type="http://schemas.openxmlformats.org/officeDocument/2006/relationships/slideLayout" Target="../slideLayouts/slideLayout853.xml"/><Relationship Id="rId15" Type="http://schemas.openxmlformats.org/officeDocument/2006/relationships/theme" Target="../theme/theme10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52.xml"/></Relationships>
</file>

<file path=ppt/slideMasters/_rels/slideMaster10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9.xml"/><Relationship Id="rId8" Type="http://schemas.openxmlformats.org/officeDocument/2006/relationships/slideLayout" Target="../slideLayouts/slideLayout868.xml"/><Relationship Id="rId7" Type="http://schemas.openxmlformats.org/officeDocument/2006/relationships/slideLayout" Target="../slideLayouts/slideLayout867.xml"/><Relationship Id="rId6" Type="http://schemas.openxmlformats.org/officeDocument/2006/relationships/slideLayout" Target="../slideLayouts/slideLayout866.xml"/><Relationship Id="rId5" Type="http://schemas.openxmlformats.org/officeDocument/2006/relationships/slideLayout" Target="../slideLayouts/slideLayout865.xml"/><Relationship Id="rId4" Type="http://schemas.openxmlformats.org/officeDocument/2006/relationships/slideLayout" Target="../slideLayouts/slideLayout864.xml"/><Relationship Id="rId3" Type="http://schemas.openxmlformats.org/officeDocument/2006/relationships/slideLayout" Target="../slideLayouts/slideLayout863.xml"/><Relationship Id="rId2" Type="http://schemas.openxmlformats.org/officeDocument/2006/relationships/slideLayout" Target="../slideLayouts/slideLayout862.xml"/><Relationship Id="rId15" Type="http://schemas.openxmlformats.org/officeDocument/2006/relationships/theme" Target="../theme/theme10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61.xml"/></Relationships>
</file>

<file path=ppt/slideMasters/_rels/slideMaster10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8.xml"/><Relationship Id="rId8" Type="http://schemas.openxmlformats.org/officeDocument/2006/relationships/slideLayout" Target="../slideLayouts/slideLayout877.xml"/><Relationship Id="rId7" Type="http://schemas.openxmlformats.org/officeDocument/2006/relationships/slideLayout" Target="../slideLayouts/slideLayout876.xml"/><Relationship Id="rId6" Type="http://schemas.openxmlformats.org/officeDocument/2006/relationships/slideLayout" Target="../slideLayouts/slideLayout875.xml"/><Relationship Id="rId5" Type="http://schemas.openxmlformats.org/officeDocument/2006/relationships/slideLayout" Target="../slideLayouts/slideLayout874.xml"/><Relationship Id="rId4" Type="http://schemas.openxmlformats.org/officeDocument/2006/relationships/slideLayout" Target="../slideLayouts/slideLayout873.xml"/><Relationship Id="rId3" Type="http://schemas.openxmlformats.org/officeDocument/2006/relationships/slideLayout" Target="../slideLayouts/slideLayout872.xml"/><Relationship Id="rId2" Type="http://schemas.openxmlformats.org/officeDocument/2006/relationships/slideLayout" Target="../slideLayouts/slideLayout871.xml"/><Relationship Id="rId15" Type="http://schemas.openxmlformats.org/officeDocument/2006/relationships/theme" Target="../theme/theme10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70.xml"/></Relationships>
</file>

<file path=ppt/slideMasters/_rels/slideMaster10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87.xml"/><Relationship Id="rId8" Type="http://schemas.openxmlformats.org/officeDocument/2006/relationships/slideLayout" Target="../slideLayouts/slideLayout886.xml"/><Relationship Id="rId7" Type="http://schemas.openxmlformats.org/officeDocument/2006/relationships/slideLayout" Target="../slideLayouts/slideLayout885.xml"/><Relationship Id="rId6" Type="http://schemas.openxmlformats.org/officeDocument/2006/relationships/slideLayout" Target="../slideLayouts/slideLayout884.xml"/><Relationship Id="rId5" Type="http://schemas.openxmlformats.org/officeDocument/2006/relationships/slideLayout" Target="../slideLayouts/slideLayout883.xml"/><Relationship Id="rId4" Type="http://schemas.openxmlformats.org/officeDocument/2006/relationships/slideLayout" Target="../slideLayouts/slideLayout882.xml"/><Relationship Id="rId3" Type="http://schemas.openxmlformats.org/officeDocument/2006/relationships/slideLayout" Target="../slideLayouts/slideLayout881.xml"/><Relationship Id="rId2" Type="http://schemas.openxmlformats.org/officeDocument/2006/relationships/slideLayout" Target="../slideLayouts/slideLayout880.xml"/><Relationship Id="rId15" Type="http://schemas.openxmlformats.org/officeDocument/2006/relationships/theme" Target="../theme/theme10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79.xml"/></Relationships>
</file>

<file path=ppt/slideMasters/_rels/slideMaster10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6.xml"/><Relationship Id="rId8" Type="http://schemas.openxmlformats.org/officeDocument/2006/relationships/slideLayout" Target="../slideLayouts/slideLayout895.xml"/><Relationship Id="rId7" Type="http://schemas.openxmlformats.org/officeDocument/2006/relationships/slideLayout" Target="../slideLayouts/slideLayout894.xml"/><Relationship Id="rId6" Type="http://schemas.openxmlformats.org/officeDocument/2006/relationships/slideLayout" Target="../slideLayouts/slideLayout893.xml"/><Relationship Id="rId5" Type="http://schemas.openxmlformats.org/officeDocument/2006/relationships/slideLayout" Target="../slideLayouts/slideLayout892.xml"/><Relationship Id="rId4" Type="http://schemas.openxmlformats.org/officeDocument/2006/relationships/slideLayout" Target="../slideLayouts/slideLayout891.xml"/><Relationship Id="rId3" Type="http://schemas.openxmlformats.org/officeDocument/2006/relationships/slideLayout" Target="../slideLayouts/slideLayout890.xml"/><Relationship Id="rId2" Type="http://schemas.openxmlformats.org/officeDocument/2006/relationships/slideLayout" Target="../slideLayouts/slideLayout889.xml"/><Relationship Id="rId15" Type="http://schemas.openxmlformats.org/officeDocument/2006/relationships/theme" Target="../theme/theme10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88.xml"/></Relationships>
</file>

<file path=ppt/slideMasters/_rels/slideMaster1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5.xml"/><Relationship Id="rId8" Type="http://schemas.openxmlformats.org/officeDocument/2006/relationships/slideLayout" Target="../slideLayouts/slideLayout904.xml"/><Relationship Id="rId7" Type="http://schemas.openxmlformats.org/officeDocument/2006/relationships/slideLayout" Target="../slideLayouts/slideLayout903.xml"/><Relationship Id="rId6" Type="http://schemas.openxmlformats.org/officeDocument/2006/relationships/slideLayout" Target="../slideLayouts/slideLayout902.xml"/><Relationship Id="rId5" Type="http://schemas.openxmlformats.org/officeDocument/2006/relationships/slideLayout" Target="../slideLayouts/slideLayout901.xml"/><Relationship Id="rId4" Type="http://schemas.openxmlformats.org/officeDocument/2006/relationships/slideLayout" Target="../slideLayouts/slideLayout900.xml"/><Relationship Id="rId3" Type="http://schemas.openxmlformats.org/officeDocument/2006/relationships/slideLayout" Target="../slideLayouts/slideLayout899.xml"/><Relationship Id="rId2" Type="http://schemas.openxmlformats.org/officeDocument/2006/relationships/slideLayout" Target="../slideLayouts/slideLayout898.xml"/><Relationship Id="rId15" Type="http://schemas.openxmlformats.org/officeDocument/2006/relationships/theme" Target="../theme/theme11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897.xml"/></Relationships>
</file>

<file path=ppt/slideMasters/_rels/slideMaster1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4.xml"/><Relationship Id="rId8" Type="http://schemas.openxmlformats.org/officeDocument/2006/relationships/slideLayout" Target="../slideLayouts/slideLayout913.xml"/><Relationship Id="rId7" Type="http://schemas.openxmlformats.org/officeDocument/2006/relationships/slideLayout" Target="../slideLayouts/slideLayout912.xml"/><Relationship Id="rId6" Type="http://schemas.openxmlformats.org/officeDocument/2006/relationships/slideLayout" Target="../slideLayouts/slideLayout911.xml"/><Relationship Id="rId5" Type="http://schemas.openxmlformats.org/officeDocument/2006/relationships/slideLayout" Target="../slideLayouts/slideLayout910.xml"/><Relationship Id="rId4" Type="http://schemas.openxmlformats.org/officeDocument/2006/relationships/slideLayout" Target="../slideLayouts/slideLayout909.xml"/><Relationship Id="rId3" Type="http://schemas.openxmlformats.org/officeDocument/2006/relationships/slideLayout" Target="../slideLayouts/slideLayout908.xml"/><Relationship Id="rId2" Type="http://schemas.openxmlformats.org/officeDocument/2006/relationships/slideLayout" Target="../slideLayouts/slideLayout907.xml"/><Relationship Id="rId15" Type="http://schemas.openxmlformats.org/officeDocument/2006/relationships/theme" Target="../theme/theme11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06.xml"/></Relationships>
</file>

<file path=ppt/slideMasters/_rels/slideMaster1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3.xml"/><Relationship Id="rId8" Type="http://schemas.openxmlformats.org/officeDocument/2006/relationships/slideLayout" Target="../slideLayouts/slideLayout922.xml"/><Relationship Id="rId7" Type="http://schemas.openxmlformats.org/officeDocument/2006/relationships/slideLayout" Target="../slideLayouts/slideLayout921.xml"/><Relationship Id="rId6" Type="http://schemas.openxmlformats.org/officeDocument/2006/relationships/slideLayout" Target="../slideLayouts/slideLayout920.xml"/><Relationship Id="rId5" Type="http://schemas.openxmlformats.org/officeDocument/2006/relationships/slideLayout" Target="../slideLayouts/slideLayout919.xml"/><Relationship Id="rId4" Type="http://schemas.openxmlformats.org/officeDocument/2006/relationships/slideLayout" Target="../slideLayouts/slideLayout918.xml"/><Relationship Id="rId3" Type="http://schemas.openxmlformats.org/officeDocument/2006/relationships/slideLayout" Target="../slideLayouts/slideLayout917.xml"/><Relationship Id="rId2" Type="http://schemas.openxmlformats.org/officeDocument/2006/relationships/slideLayout" Target="../slideLayouts/slideLayout916.xml"/><Relationship Id="rId15" Type="http://schemas.openxmlformats.org/officeDocument/2006/relationships/theme" Target="../theme/theme11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15.xml"/></Relationships>
</file>

<file path=ppt/slideMasters/_rels/slideMaster1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2.xml"/><Relationship Id="rId8" Type="http://schemas.openxmlformats.org/officeDocument/2006/relationships/slideLayout" Target="../slideLayouts/slideLayout931.xml"/><Relationship Id="rId7" Type="http://schemas.openxmlformats.org/officeDocument/2006/relationships/slideLayout" Target="../slideLayouts/slideLayout930.xml"/><Relationship Id="rId6" Type="http://schemas.openxmlformats.org/officeDocument/2006/relationships/slideLayout" Target="../slideLayouts/slideLayout929.xml"/><Relationship Id="rId5" Type="http://schemas.openxmlformats.org/officeDocument/2006/relationships/slideLayout" Target="../slideLayouts/slideLayout928.xml"/><Relationship Id="rId4" Type="http://schemas.openxmlformats.org/officeDocument/2006/relationships/slideLayout" Target="../slideLayouts/slideLayout927.xml"/><Relationship Id="rId3" Type="http://schemas.openxmlformats.org/officeDocument/2006/relationships/slideLayout" Target="../slideLayouts/slideLayout926.xml"/><Relationship Id="rId2" Type="http://schemas.openxmlformats.org/officeDocument/2006/relationships/slideLayout" Target="../slideLayouts/slideLayout925.xml"/><Relationship Id="rId15" Type="http://schemas.openxmlformats.org/officeDocument/2006/relationships/theme" Target="../theme/theme11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24.xml"/></Relationships>
</file>

<file path=ppt/slideMasters/_rels/slideMaster1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1.xml"/><Relationship Id="rId8" Type="http://schemas.openxmlformats.org/officeDocument/2006/relationships/slideLayout" Target="../slideLayouts/slideLayout940.xml"/><Relationship Id="rId7" Type="http://schemas.openxmlformats.org/officeDocument/2006/relationships/slideLayout" Target="../slideLayouts/slideLayout939.xml"/><Relationship Id="rId6" Type="http://schemas.openxmlformats.org/officeDocument/2006/relationships/slideLayout" Target="../slideLayouts/slideLayout938.xml"/><Relationship Id="rId5" Type="http://schemas.openxmlformats.org/officeDocument/2006/relationships/slideLayout" Target="../slideLayouts/slideLayout937.xml"/><Relationship Id="rId4" Type="http://schemas.openxmlformats.org/officeDocument/2006/relationships/slideLayout" Target="../slideLayouts/slideLayout936.xml"/><Relationship Id="rId3" Type="http://schemas.openxmlformats.org/officeDocument/2006/relationships/slideLayout" Target="../slideLayouts/slideLayout935.xml"/><Relationship Id="rId2" Type="http://schemas.openxmlformats.org/officeDocument/2006/relationships/slideLayout" Target="../slideLayouts/slideLayout934.xml"/><Relationship Id="rId15" Type="http://schemas.openxmlformats.org/officeDocument/2006/relationships/theme" Target="../theme/theme114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33.xml"/></Relationships>
</file>

<file path=ppt/slideMasters/_rels/slideMaster1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50.xml"/><Relationship Id="rId8" Type="http://schemas.openxmlformats.org/officeDocument/2006/relationships/slideLayout" Target="../slideLayouts/slideLayout949.xml"/><Relationship Id="rId7" Type="http://schemas.openxmlformats.org/officeDocument/2006/relationships/slideLayout" Target="../slideLayouts/slideLayout948.xml"/><Relationship Id="rId6" Type="http://schemas.openxmlformats.org/officeDocument/2006/relationships/slideLayout" Target="../slideLayouts/slideLayout947.xml"/><Relationship Id="rId5" Type="http://schemas.openxmlformats.org/officeDocument/2006/relationships/slideLayout" Target="../slideLayouts/slideLayout946.xml"/><Relationship Id="rId4" Type="http://schemas.openxmlformats.org/officeDocument/2006/relationships/slideLayout" Target="../slideLayouts/slideLayout945.xml"/><Relationship Id="rId3" Type="http://schemas.openxmlformats.org/officeDocument/2006/relationships/slideLayout" Target="../slideLayouts/slideLayout944.xml"/><Relationship Id="rId2" Type="http://schemas.openxmlformats.org/officeDocument/2006/relationships/slideLayout" Target="../slideLayouts/slideLayout943.xml"/><Relationship Id="rId15" Type="http://schemas.openxmlformats.org/officeDocument/2006/relationships/theme" Target="../theme/theme115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42.xml"/></Relationships>
</file>

<file path=ppt/slideMasters/_rels/slideMaster1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59.xml"/><Relationship Id="rId8" Type="http://schemas.openxmlformats.org/officeDocument/2006/relationships/slideLayout" Target="../slideLayouts/slideLayout958.xml"/><Relationship Id="rId7" Type="http://schemas.openxmlformats.org/officeDocument/2006/relationships/slideLayout" Target="../slideLayouts/slideLayout957.xml"/><Relationship Id="rId6" Type="http://schemas.openxmlformats.org/officeDocument/2006/relationships/slideLayout" Target="../slideLayouts/slideLayout956.xml"/><Relationship Id="rId5" Type="http://schemas.openxmlformats.org/officeDocument/2006/relationships/slideLayout" Target="../slideLayouts/slideLayout955.xml"/><Relationship Id="rId4" Type="http://schemas.openxmlformats.org/officeDocument/2006/relationships/slideLayout" Target="../slideLayouts/slideLayout954.xml"/><Relationship Id="rId3" Type="http://schemas.openxmlformats.org/officeDocument/2006/relationships/slideLayout" Target="../slideLayouts/slideLayout953.xml"/><Relationship Id="rId2" Type="http://schemas.openxmlformats.org/officeDocument/2006/relationships/slideLayout" Target="../slideLayouts/slideLayout952.xml"/><Relationship Id="rId15" Type="http://schemas.openxmlformats.org/officeDocument/2006/relationships/theme" Target="../theme/theme116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51.xml"/></Relationships>
</file>

<file path=ppt/slideMasters/_rels/slideMaster1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68.xml"/><Relationship Id="rId8" Type="http://schemas.openxmlformats.org/officeDocument/2006/relationships/slideLayout" Target="../slideLayouts/slideLayout967.xml"/><Relationship Id="rId7" Type="http://schemas.openxmlformats.org/officeDocument/2006/relationships/slideLayout" Target="../slideLayouts/slideLayout966.xml"/><Relationship Id="rId6" Type="http://schemas.openxmlformats.org/officeDocument/2006/relationships/slideLayout" Target="../slideLayouts/slideLayout965.xml"/><Relationship Id="rId5" Type="http://schemas.openxmlformats.org/officeDocument/2006/relationships/slideLayout" Target="../slideLayouts/slideLayout964.xml"/><Relationship Id="rId4" Type="http://schemas.openxmlformats.org/officeDocument/2006/relationships/slideLayout" Target="../slideLayouts/slideLayout963.xml"/><Relationship Id="rId3" Type="http://schemas.openxmlformats.org/officeDocument/2006/relationships/slideLayout" Target="../slideLayouts/slideLayout962.xml"/><Relationship Id="rId2" Type="http://schemas.openxmlformats.org/officeDocument/2006/relationships/slideLayout" Target="../slideLayouts/slideLayout961.xml"/><Relationship Id="rId15" Type="http://schemas.openxmlformats.org/officeDocument/2006/relationships/theme" Target="../theme/theme117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60.xml"/></Relationships>
</file>

<file path=ppt/slideMasters/_rels/slideMaster1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7.xml"/><Relationship Id="rId8" Type="http://schemas.openxmlformats.org/officeDocument/2006/relationships/slideLayout" Target="../slideLayouts/slideLayout976.xml"/><Relationship Id="rId7" Type="http://schemas.openxmlformats.org/officeDocument/2006/relationships/slideLayout" Target="../slideLayouts/slideLayout975.xml"/><Relationship Id="rId6" Type="http://schemas.openxmlformats.org/officeDocument/2006/relationships/slideLayout" Target="../slideLayouts/slideLayout974.xml"/><Relationship Id="rId5" Type="http://schemas.openxmlformats.org/officeDocument/2006/relationships/slideLayout" Target="../slideLayouts/slideLayout973.xml"/><Relationship Id="rId4" Type="http://schemas.openxmlformats.org/officeDocument/2006/relationships/slideLayout" Target="../slideLayouts/slideLayout972.xml"/><Relationship Id="rId3" Type="http://schemas.openxmlformats.org/officeDocument/2006/relationships/slideLayout" Target="../slideLayouts/slideLayout971.xml"/><Relationship Id="rId2" Type="http://schemas.openxmlformats.org/officeDocument/2006/relationships/slideLayout" Target="../slideLayouts/slideLayout970.xml"/><Relationship Id="rId15" Type="http://schemas.openxmlformats.org/officeDocument/2006/relationships/theme" Target="../theme/theme118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69.xml"/></Relationships>
</file>

<file path=ppt/slideMasters/_rels/slideMaster1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6.xml"/><Relationship Id="rId8" Type="http://schemas.openxmlformats.org/officeDocument/2006/relationships/slideLayout" Target="../slideLayouts/slideLayout985.xml"/><Relationship Id="rId7" Type="http://schemas.openxmlformats.org/officeDocument/2006/relationships/slideLayout" Target="../slideLayouts/slideLayout984.xml"/><Relationship Id="rId6" Type="http://schemas.openxmlformats.org/officeDocument/2006/relationships/slideLayout" Target="../slideLayouts/slideLayout983.xml"/><Relationship Id="rId5" Type="http://schemas.openxmlformats.org/officeDocument/2006/relationships/slideLayout" Target="../slideLayouts/slideLayout982.xml"/><Relationship Id="rId4" Type="http://schemas.openxmlformats.org/officeDocument/2006/relationships/slideLayout" Target="../slideLayouts/slideLayout981.xml"/><Relationship Id="rId3" Type="http://schemas.openxmlformats.org/officeDocument/2006/relationships/slideLayout" Target="../slideLayouts/slideLayout980.xml"/><Relationship Id="rId2" Type="http://schemas.openxmlformats.org/officeDocument/2006/relationships/slideLayout" Target="../slideLayouts/slideLayout979.xml"/><Relationship Id="rId15" Type="http://schemas.openxmlformats.org/officeDocument/2006/relationships/theme" Target="../theme/theme119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78.xml"/></Relationships>
</file>

<file path=ppt/slideMasters/_rels/slideMaster1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5.xml"/><Relationship Id="rId8" Type="http://schemas.openxmlformats.org/officeDocument/2006/relationships/slideLayout" Target="../slideLayouts/slideLayout994.xml"/><Relationship Id="rId7" Type="http://schemas.openxmlformats.org/officeDocument/2006/relationships/slideLayout" Target="../slideLayouts/slideLayout993.xml"/><Relationship Id="rId6" Type="http://schemas.openxmlformats.org/officeDocument/2006/relationships/slideLayout" Target="../slideLayouts/slideLayout992.xml"/><Relationship Id="rId5" Type="http://schemas.openxmlformats.org/officeDocument/2006/relationships/slideLayout" Target="../slideLayouts/slideLayout991.xml"/><Relationship Id="rId4" Type="http://schemas.openxmlformats.org/officeDocument/2006/relationships/slideLayout" Target="../slideLayouts/slideLayout990.xml"/><Relationship Id="rId3" Type="http://schemas.openxmlformats.org/officeDocument/2006/relationships/slideLayout" Target="../slideLayouts/slideLayout989.xml"/><Relationship Id="rId2" Type="http://schemas.openxmlformats.org/officeDocument/2006/relationships/slideLayout" Target="../slideLayouts/slideLayout988.xml"/><Relationship Id="rId15" Type="http://schemas.openxmlformats.org/officeDocument/2006/relationships/theme" Target="../theme/theme120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87.xml"/></Relationships>
</file>

<file path=ppt/slideMasters/_rels/slideMaster1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4.xml"/><Relationship Id="rId8" Type="http://schemas.openxmlformats.org/officeDocument/2006/relationships/slideLayout" Target="../slideLayouts/slideLayout1003.xml"/><Relationship Id="rId7" Type="http://schemas.openxmlformats.org/officeDocument/2006/relationships/slideLayout" Target="../slideLayouts/slideLayout1002.xml"/><Relationship Id="rId6" Type="http://schemas.openxmlformats.org/officeDocument/2006/relationships/slideLayout" Target="../slideLayouts/slideLayout1001.xml"/><Relationship Id="rId5" Type="http://schemas.openxmlformats.org/officeDocument/2006/relationships/slideLayout" Target="../slideLayouts/slideLayout1000.xml"/><Relationship Id="rId4" Type="http://schemas.openxmlformats.org/officeDocument/2006/relationships/slideLayout" Target="../slideLayouts/slideLayout999.xml"/><Relationship Id="rId3" Type="http://schemas.openxmlformats.org/officeDocument/2006/relationships/slideLayout" Target="../slideLayouts/slideLayout998.xml"/><Relationship Id="rId2" Type="http://schemas.openxmlformats.org/officeDocument/2006/relationships/slideLayout" Target="../slideLayouts/slideLayout997.xml"/><Relationship Id="rId15" Type="http://schemas.openxmlformats.org/officeDocument/2006/relationships/theme" Target="../theme/theme121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96.xml"/></Relationships>
</file>

<file path=ppt/slideMasters/_rels/slideMaster1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13.xml"/><Relationship Id="rId8" Type="http://schemas.openxmlformats.org/officeDocument/2006/relationships/slideLayout" Target="../slideLayouts/slideLayout1012.xml"/><Relationship Id="rId7" Type="http://schemas.openxmlformats.org/officeDocument/2006/relationships/slideLayout" Target="../slideLayouts/slideLayout1011.xml"/><Relationship Id="rId6" Type="http://schemas.openxmlformats.org/officeDocument/2006/relationships/slideLayout" Target="../slideLayouts/slideLayout1010.xml"/><Relationship Id="rId5" Type="http://schemas.openxmlformats.org/officeDocument/2006/relationships/slideLayout" Target="../slideLayouts/slideLayout1009.xml"/><Relationship Id="rId4" Type="http://schemas.openxmlformats.org/officeDocument/2006/relationships/slideLayout" Target="../slideLayouts/slideLayout1008.xml"/><Relationship Id="rId3" Type="http://schemas.openxmlformats.org/officeDocument/2006/relationships/slideLayout" Target="../slideLayouts/slideLayout1007.xml"/><Relationship Id="rId2" Type="http://schemas.openxmlformats.org/officeDocument/2006/relationships/slideLayout" Target="../slideLayouts/slideLayout1006.xml"/><Relationship Id="rId15" Type="http://schemas.openxmlformats.org/officeDocument/2006/relationships/theme" Target="../theme/theme122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005.xml"/></Relationships>
</file>

<file path=ppt/slideMasters/_rels/slideMaster1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2.xml"/><Relationship Id="rId8" Type="http://schemas.openxmlformats.org/officeDocument/2006/relationships/slideLayout" Target="../slideLayouts/slideLayout1021.xml"/><Relationship Id="rId7" Type="http://schemas.openxmlformats.org/officeDocument/2006/relationships/slideLayout" Target="../slideLayouts/slideLayout1020.xml"/><Relationship Id="rId6" Type="http://schemas.openxmlformats.org/officeDocument/2006/relationships/slideLayout" Target="../slideLayouts/slideLayout1019.xml"/><Relationship Id="rId5" Type="http://schemas.openxmlformats.org/officeDocument/2006/relationships/slideLayout" Target="../slideLayouts/slideLayout1018.xml"/><Relationship Id="rId4" Type="http://schemas.openxmlformats.org/officeDocument/2006/relationships/slideLayout" Target="../slideLayouts/slideLayout1017.xml"/><Relationship Id="rId3" Type="http://schemas.openxmlformats.org/officeDocument/2006/relationships/slideLayout" Target="../slideLayouts/slideLayout1016.xml"/><Relationship Id="rId2" Type="http://schemas.openxmlformats.org/officeDocument/2006/relationships/slideLayout" Target="../slideLayouts/slideLayout1015.xml"/><Relationship Id="rId15" Type="http://schemas.openxmlformats.org/officeDocument/2006/relationships/theme" Target="../theme/theme123.xml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0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10" name="图片 9" descr="2.22-"/>
          <p:cNvPicPr>
            <a:picLocks noChangeAspect="1"/>
          </p:cNvPicPr>
          <p:nvPr userDrawn="1"/>
        </p:nvPicPr>
        <p:blipFill>
          <a:blip r:embed="rId4"/>
          <a:srcRect r="214" b="129"/>
          <a:stretch>
            <a:fillRect/>
          </a:stretch>
        </p:blipFill>
        <p:spPr>
          <a:xfrm>
            <a:off x="0" y="-1270"/>
            <a:ext cx="12240260" cy="68910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主色：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21/42/140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辅助色：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39/150/212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辅助色：</a:t>
            </a:r>
            <a:endParaRPr lang="en-US" altLang="zh-CN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237/237/237</a:t>
            </a:r>
            <a:endParaRPr lang="en-US" altLang="zh-CN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特殊色：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177/0/17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 userDrawn="1"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 userDrawn="1"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" t="8011" r="39579" b="63983"/>
          <a:stretch>
            <a:fillRect/>
          </a:stretch>
        </p:blipFill>
        <p:spPr>
          <a:xfrm>
            <a:off x="10005695" y="170815"/>
            <a:ext cx="1786890" cy="549910"/>
          </a:xfrm>
          <a:prstGeom prst="rect">
            <a:avLst/>
          </a:prstGeom>
        </p:spPr>
      </p:pic>
      <p:pic>
        <p:nvPicPr>
          <p:cNvPr id="3" name="图片 2" descr="微信图片_2022022411160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80348" y="3059748"/>
            <a:ext cx="6631305" cy="7385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主色：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21/42/140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辅助色：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39/150/212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辅助色：</a:t>
            </a:r>
            <a:endParaRPr lang="en-US" altLang="zh-CN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237/237/237</a:t>
            </a:r>
            <a:endParaRPr lang="en-US" altLang="zh-CN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特殊色：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RGB: 177/0/17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810077" cy="468453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86245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86245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861820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86118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86245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86245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861820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86118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" t="8011" r="39579" b="61816"/>
          <a:stretch>
            <a:fillRect/>
          </a:stretch>
        </p:blipFill>
        <p:spPr>
          <a:xfrm>
            <a:off x="10005695" y="170815"/>
            <a:ext cx="1786890" cy="5924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4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2" name="图片 1" descr="一汽和红旗联合logo-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30130" y="172720"/>
            <a:ext cx="1866900" cy="583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  <p:sldLayoutId id="2147484135" r:id="rId2"/>
    <p:sldLayoutId id="2147484136" r:id="rId3"/>
    <p:sldLayoutId id="2147484137" r:id="rId4"/>
    <p:sldLayoutId id="2147484138" r:id="rId5"/>
    <p:sldLayoutId id="2147484139" r:id="rId6"/>
    <p:sldLayoutId id="2147484140" r:id="rId7"/>
    <p:sldLayoutId id="2147484141" r:id="rId8"/>
    <p:sldLayoutId id="21474841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4" r:id="rId1"/>
    <p:sldLayoutId id="2147484215" r:id="rId2"/>
    <p:sldLayoutId id="2147484216" r:id="rId3"/>
    <p:sldLayoutId id="2147484217" r:id="rId4"/>
    <p:sldLayoutId id="2147484218" r:id="rId5"/>
    <p:sldLayoutId id="2147484219" r:id="rId6"/>
    <p:sldLayoutId id="2147484220" r:id="rId7"/>
    <p:sldLayoutId id="2147484221" r:id="rId8"/>
    <p:sldLayoutId id="21474842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7" r:id="rId4"/>
    <p:sldLayoutId id="2147484238" r:id="rId5"/>
    <p:sldLayoutId id="2147484239" r:id="rId6"/>
    <p:sldLayoutId id="2147484240" r:id="rId7"/>
    <p:sldLayoutId id="2147484241" r:id="rId8"/>
    <p:sldLayoutId id="21474842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4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4" r:id="rId1"/>
    <p:sldLayoutId id="2147484285" r:id="rId2"/>
    <p:sldLayoutId id="2147484286" r:id="rId3"/>
    <p:sldLayoutId id="2147484287" r:id="rId4"/>
    <p:sldLayoutId id="2147484288" r:id="rId5"/>
    <p:sldLayoutId id="2147484289" r:id="rId6"/>
    <p:sldLayoutId id="2147484290" r:id="rId7"/>
    <p:sldLayoutId id="2147484291" r:id="rId8"/>
    <p:sldLayoutId id="21474842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4" r:id="rId1"/>
    <p:sldLayoutId id="2147484295" r:id="rId2"/>
    <p:sldLayoutId id="2147484296" r:id="rId3"/>
    <p:sldLayoutId id="2147484297" r:id="rId4"/>
    <p:sldLayoutId id="2147484298" r:id="rId5"/>
    <p:sldLayoutId id="2147484299" r:id="rId6"/>
    <p:sldLayoutId id="2147484300" r:id="rId7"/>
    <p:sldLayoutId id="2147484301" r:id="rId8"/>
    <p:sldLayoutId id="21474843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4" r:id="rId1"/>
    <p:sldLayoutId id="2147484305" r:id="rId2"/>
    <p:sldLayoutId id="2147484306" r:id="rId3"/>
    <p:sldLayoutId id="2147484307" r:id="rId4"/>
    <p:sldLayoutId id="2147484308" r:id="rId5"/>
    <p:sldLayoutId id="2147484309" r:id="rId6"/>
    <p:sldLayoutId id="2147484310" r:id="rId7"/>
    <p:sldLayoutId id="2147484311" r:id="rId8"/>
    <p:sldLayoutId id="21474843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14" r:id="rId1"/>
    <p:sldLayoutId id="2147484315" r:id="rId2"/>
    <p:sldLayoutId id="2147484316" r:id="rId3"/>
    <p:sldLayoutId id="2147484317" r:id="rId4"/>
    <p:sldLayoutId id="2147484318" r:id="rId5"/>
    <p:sldLayoutId id="2147484319" r:id="rId6"/>
    <p:sldLayoutId id="2147484320" r:id="rId7"/>
    <p:sldLayoutId id="2147484321" r:id="rId8"/>
    <p:sldLayoutId id="21474843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25" r:id="rId2"/>
    <p:sldLayoutId id="2147484326" r:id="rId3"/>
    <p:sldLayoutId id="2147484327" r:id="rId4"/>
    <p:sldLayoutId id="2147484328" r:id="rId5"/>
    <p:sldLayoutId id="2147484329" r:id="rId6"/>
    <p:sldLayoutId id="2147484330" r:id="rId7"/>
    <p:sldLayoutId id="2147484331" r:id="rId8"/>
    <p:sldLayoutId id="21474843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4" r:id="rId1"/>
    <p:sldLayoutId id="2147484335" r:id="rId2"/>
    <p:sldLayoutId id="2147484336" r:id="rId3"/>
    <p:sldLayoutId id="2147484337" r:id="rId4"/>
    <p:sldLayoutId id="2147484338" r:id="rId5"/>
    <p:sldLayoutId id="2147484339" r:id="rId6"/>
    <p:sldLayoutId id="2147484340" r:id="rId7"/>
    <p:sldLayoutId id="2147484341" r:id="rId8"/>
    <p:sldLayoutId id="21474843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44" r:id="rId1"/>
    <p:sldLayoutId id="2147484345" r:id="rId2"/>
    <p:sldLayoutId id="2147484346" r:id="rId3"/>
    <p:sldLayoutId id="2147484347" r:id="rId4"/>
    <p:sldLayoutId id="2147484348" r:id="rId5"/>
    <p:sldLayoutId id="2147484349" r:id="rId6"/>
    <p:sldLayoutId id="2147484350" r:id="rId7"/>
    <p:sldLayoutId id="2147484351" r:id="rId8"/>
    <p:sldLayoutId id="21474843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  <p:sldLayoutId id="2147484358" r:id="rId5"/>
    <p:sldLayoutId id="2147484359" r:id="rId6"/>
    <p:sldLayoutId id="2147484360" r:id="rId7"/>
    <p:sldLayoutId id="2147484361" r:id="rId8"/>
    <p:sldLayoutId id="21474843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74" r:id="rId1"/>
    <p:sldLayoutId id="2147484375" r:id="rId2"/>
    <p:sldLayoutId id="2147484376" r:id="rId3"/>
    <p:sldLayoutId id="2147484377" r:id="rId4"/>
    <p:sldLayoutId id="2147484378" r:id="rId5"/>
    <p:sldLayoutId id="2147484379" r:id="rId6"/>
    <p:sldLayoutId id="2147484380" r:id="rId7"/>
    <p:sldLayoutId id="2147484381" r:id="rId8"/>
    <p:sldLayoutId id="21474843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4" r:id="rId1"/>
    <p:sldLayoutId id="2147484395" r:id="rId2"/>
    <p:sldLayoutId id="2147484396" r:id="rId3"/>
    <p:sldLayoutId id="2147484397" r:id="rId4"/>
    <p:sldLayoutId id="2147484398" r:id="rId5"/>
    <p:sldLayoutId id="2147484399" r:id="rId6"/>
    <p:sldLayoutId id="2147484400" r:id="rId7"/>
    <p:sldLayoutId id="2147484401" r:id="rId8"/>
    <p:sldLayoutId id="21474844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4" r:id="rId1"/>
    <p:sldLayoutId id="2147484405" r:id="rId2"/>
    <p:sldLayoutId id="2147484406" r:id="rId3"/>
    <p:sldLayoutId id="2147484407" r:id="rId4"/>
    <p:sldLayoutId id="2147484408" r:id="rId5"/>
    <p:sldLayoutId id="2147484409" r:id="rId6"/>
    <p:sldLayoutId id="2147484410" r:id="rId7"/>
    <p:sldLayoutId id="2147484411" r:id="rId8"/>
    <p:sldLayoutId id="21474844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15" r:id="rId2"/>
    <p:sldLayoutId id="2147484416" r:id="rId3"/>
    <p:sldLayoutId id="2147484417" r:id="rId4"/>
    <p:sldLayoutId id="2147484418" r:id="rId5"/>
    <p:sldLayoutId id="2147484419" r:id="rId6"/>
    <p:sldLayoutId id="2147484420" r:id="rId7"/>
    <p:sldLayoutId id="2147484421" r:id="rId8"/>
    <p:sldLayoutId id="21474844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4" r:id="rId1"/>
    <p:sldLayoutId id="2147484425" r:id="rId2"/>
    <p:sldLayoutId id="2147484426" r:id="rId3"/>
    <p:sldLayoutId id="2147484427" r:id="rId4"/>
    <p:sldLayoutId id="2147484428" r:id="rId5"/>
    <p:sldLayoutId id="2147484429" r:id="rId6"/>
    <p:sldLayoutId id="2147484430" r:id="rId7"/>
    <p:sldLayoutId id="2147484431" r:id="rId8"/>
    <p:sldLayoutId id="21474844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4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  <p:sldLayoutId id="2147484456" r:id="rId3"/>
    <p:sldLayoutId id="2147484457" r:id="rId4"/>
    <p:sldLayoutId id="2147484458" r:id="rId5"/>
    <p:sldLayoutId id="2147484459" r:id="rId6"/>
    <p:sldLayoutId id="2147484460" r:id="rId7"/>
    <p:sldLayoutId id="2147484461" r:id="rId8"/>
    <p:sldLayoutId id="21474844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4" r:id="rId1"/>
    <p:sldLayoutId id="2147484465" r:id="rId2"/>
    <p:sldLayoutId id="2147484466" r:id="rId3"/>
    <p:sldLayoutId id="2147484467" r:id="rId4"/>
    <p:sldLayoutId id="2147484468" r:id="rId5"/>
    <p:sldLayoutId id="2147484469" r:id="rId6"/>
    <p:sldLayoutId id="2147484470" r:id="rId7"/>
    <p:sldLayoutId id="2147484471" r:id="rId8"/>
    <p:sldLayoutId id="21474844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4" r:id="rId1"/>
    <p:sldLayoutId id="2147484475" r:id="rId2"/>
    <p:sldLayoutId id="2147484476" r:id="rId3"/>
    <p:sldLayoutId id="2147484477" r:id="rId4"/>
    <p:sldLayoutId id="2147484478" r:id="rId5"/>
    <p:sldLayoutId id="2147484479" r:id="rId6"/>
    <p:sldLayoutId id="2147484480" r:id="rId7"/>
    <p:sldLayoutId id="2147484481" r:id="rId8"/>
    <p:sldLayoutId id="21474844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84" r:id="rId1"/>
    <p:sldLayoutId id="2147484485" r:id="rId2"/>
    <p:sldLayoutId id="2147484486" r:id="rId3"/>
    <p:sldLayoutId id="2147484487" r:id="rId4"/>
    <p:sldLayoutId id="2147484488" r:id="rId5"/>
    <p:sldLayoutId id="2147484489" r:id="rId6"/>
    <p:sldLayoutId id="2147484490" r:id="rId7"/>
    <p:sldLayoutId id="2147484491" r:id="rId8"/>
    <p:sldLayoutId id="21474844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  <p:sldLayoutId id="2147484506" r:id="rId3"/>
    <p:sldLayoutId id="2147484507" r:id="rId4"/>
    <p:sldLayoutId id="2147484508" r:id="rId5"/>
    <p:sldLayoutId id="2147484509" r:id="rId6"/>
    <p:sldLayoutId id="2147484510" r:id="rId7"/>
    <p:sldLayoutId id="2147484511" r:id="rId8"/>
    <p:sldLayoutId id="21474845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4" r:id="rId1"/>
    <p:sldLayoutId id="2147484515" r:id="rId2"/>
    <p:sldLayoutId id="2147484516" r:id="rId3"/>
    <p:sldLayoutId id="2147484517" r:id="rId4"/>
    <p:sldLayoutId id="2147484518" r:id="rId5"/>
    <p:sldLayoutId id="2147484519" r:id="rId6"/>
    <p:sldLayoutId id="2147484520" r:id="rId7"/>
    <p:sldLayoutId id="2147484521" r:id="rId8"/>
    <p:sldLayoutId id="21474845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24" r:id="rId1"/>
    <p:sldLayoutId id="2147484525" r:id="rId2"/>
    <p:sldLayoutId id="2147484526" r:id="rId3"/>
    <p:sldLayoutId id="2147484527" r:id="rId4"/>
    <p:sldLayoutId id="2147484528" r:id="rId5"/>
    <p:sldLayoutId id="2147484529" r:id="rId6"/>
    <p:sldLayoutId id="2147484530" r:id="rId7"/>
    <p:sldLayoutId id="2147484531" r:id="rId8"/>
    <p:sldLayoutId id="21474845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4" r:id="rId1"/>
    <p:sldLayoutId id="2147484535" r:id="rId2"/>
    <p:sldLayoutId id="2147484536" r:id="rId3"/>
    <p:sldLayoutId id="2147484537" r:id="rId4"/>
    <p:sldLayoutId id="2147484538" r:id="rId5"/>
    <p:sldLayoutId id="2147484539" r:id="rId6"/>
    <p:sldLayoutId id="2147484540" r:id="rId7"/>
    <p:sldLayoutId id="2147484541" r:id="rId8"/>
    <p:sldLayoutId id="21474845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4" r:id="rId1"/>
    <p:sldLayoutId id="2147484555" r:id="rId2"/>
    <p:sldLayoutId id="2147484556" r:id="rId3"/>
    <p:sldLayoutId id="2147484557" r:id="rId4"/>
    <p:sldLayoutId id="2147484558" r:id="rId5"/>
    <p:sldLayoutId id="2147484559" r:id="rId6"/>
    <p:sldLayoutId id="2147484560" r:id="rId7"/>
    <p:sldLayoutId id="2147484561" r:id="rId8"/>
    <p:sldLayoutId id="21474845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64" r:id="rId1"/>
    <p:sldLayoutId id="2147484565" r:id="rId2"/>
    <p:sldLayoutId id="2147484566" r:id="rId3"/>
    <p:sldLayoutId id="2147484567" r:id="rId4"/>
    <p:sldLayoutId id="2147484568" r:id="rId5"/>
    <p:sldLayoutId id="2147484569" r:id="rId6"/>
    <p:sldLayoutId id="2147484570" r:id="rId7"/>
    <p:sldLayoutId id="2147484571" r:id="rId8"/>
    <p:sldLayoutId id="21474845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74" r:id="rId1"/>
    <p:sldLayoutId id="2147484575" r:id="rId2"/>
    <p:sldLayoutId id="2147484576" r:id="rId3"/>
    <p:sldLayoutId id="2147484577" r:id="rId4"/>
    <p:sldLayoutId id="2147484578" r:id="rId5"/>
    <p:sldLayoutId id="2147484579" r:id="rId6"/>
    <p:sldLayoutId id="2147484580" r:id="rId7"/>
    <p:sldLayoutId id="2147484581" r:id="rId8"/>
    <p:sldLayoutId id="21474845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84" r:id="rId1"/>
    <p:sldLayoutId id="2147484585" r:id="rId2"/>
    <p:sldLayoutId id="2147484586" r:id="rId3"/>
    <p:sldLayoutId id="2147484587" r:id="rId4"/>
    <p:sldLayoutId id="2147484588" r:id="rId5"/>
    <p:sldLayoutId id="2147484589" r:id="rId6"/>
    <p:sldLayoutId id="2147484590" r:id="rId7"/>
    <p:sldLayoutId id="2147484591" r:id="rId8"/>
    <p:sldLayoutId id="21474845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94" r:id="rId1"/>
    <p:sldLayoutId id="2147484595" r:id="rId2"/>
    <p:sldLayoutId id="2147484596" r:id="rId3"/>
    <p:sldLayoutId id="2147484597" r:id="rId4"/>
    <p:sldLayoutId id="2147484598" r:id="rId5"/>
    <p:sldLayoutId id="2147484599" r:id="rId6"/>
    <p:sldLayoutId id="2147484600" r:id="rId7"/>
    <p:sldLayoutId id="2147484601" r:id="rId8"/>
    <p:sldLayoutId id="21474846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04" r:id="rId1"/>
    <p:sldLayoutId id="2147484605" r:id="rId2"/>
    <p:sldLayoutId id="2147484606" r:id="rId3"/>
    <p:sldLayoutId id="2147484607" r:id="rId4"/>
    <p:sldLayoutId id="2147484608" r:id="rId5"/>
    <p:sldLayoutId id="2147484609" r:id="rId6"/>
    <p:sldLayoutId id="2147484610" r:id="rId7"/>
    <p:sldLayoutId id="2147484611" r:id="rId8"/>
    <p:sldLayoutId id="21474846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14" r:id="rId1"/>
    <p:sldLayoutId id="2147484615" r:id="rId2"/>
    <p:sldLayoutId id="2147484616" r:id="rId3"/>
    <p:sldLayoutId id="2147484617" r:id="rId4"/>
    <p:sldLayoutId id="2147484618" r:id="rId5"/>
    <p:sldLayoutId id="2147484619" r:id="rId6"/>
    <p:sldLayoutId id="2147484620" r:id="rId7"/>
    <p:sldLayoutId id="2147484621" r:id="rId8"/>
    <p:sldLayoutId id="21474846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4" r:id="rId1"/>
    <p:sldLayoutId id="2147484625" r:id="rId2"/>
    <p:sldLayoutId id="2147484626" r:id="rId3"/>
    <p:sldLayoutId id="2147484627" r:id="rId4"/>
    <p:sldLayoutId id="2147484628" r:id="rId5"/>
    <p:sldLayoutId id="2147484629" r:id="rId6"/>
    <p:sldLayoutId id="2147484630" r:id="rId7"/>
    <p:sldLayoutId id="2147484631" r:id="rId8"/>
    <p:sldLayoutId id="21474846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34" r:id="rId1"/>
    <p:sldLayoutId id="2147484635" r:id="rId2"/>
    <p:sldLayoutId id="2147484636" r:id="rId3"/>
    <p:sldLayoutId id="2147484637" r:id="rId4"/>
    <p:sldLayoutId id="2147484638" r:id="rId5"/>
    <p:sldLayoutId id="2147484639" r:id="rId6"/>
    <p:sldLayoutId id="2147484640" r:id="rId7"/>
    <p:sldLayoutId id="2147484641" r:id="rId8"/>
    <p:sldLayoutId id="21474846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44" r:id="rId1"/>
    <p:sldLayoutId id="2147484645" r:id="rId2"/>
    <p:sldLayoutId id="2147484646" r:id="rId3"/>
    <p:sldLayoutId id="2147484647" r:id="rId4"/>
    <p:sldLayoutId id="2147484648" r:id="rId5"/>
    <p:sldLayoutId id="2147484649" r:id="rId6"/>
    <p:sldLayoutId id="2147484650" r:id="rId7"/>
    <p:sldLayoutId id="2147484651" r:id="rId8"/>
    <p:sldLayoutId id="21474846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64" r:id="rId1"/>
    <p:sldLayoutId id="2147484665" r:id="rId2"/>
    <p:sldLayoutId id="2147484666" r:id="rId3"/>
    <p:sldLayoutId id="2147484667" r:id="rId4"/>
    <p:sldLayoutId id="2147484668" r:id="rId5"/>
    <p:sldLayoutId id="2147484669" r:id="rId6"/>
    <p:sldLayoutId id="2147484670" r:id="rId7"/>
    <p:sldLayoutId id="2147484671" r:id="rId8"/>
    <p:sldLayoutId id="21474846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74" r:id="rId1"/>
    <p:sldLayoutId id="2147484675" r:id="rId2"/>
    <p:sldLayoutId id="2147484676" r:id="rId3"/>
    <p:sldLayoutId id="2147484677" r:id="rId4"/>
    <p:sldLayoutId id="2147484678" r:id="rId5"/>
    <p:sldLayoutId id="2147484679" r:id="rId6"/>
    <p:sldLayoutId id="2147484680" r:id="rId7"/>
    <p:sldLayoutId id="2147484681" r:id="rId8"/>
    <p:sldLayoutId id="21474846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84" r:id="rId1"/>
    <p:sldLayoutId id="2147484685" r:id="rId2"/>
    <p:sldLayoutId id="2147484686" r:id="rId3"/>
    <p:sldLayoutId id="2147484687" r:id="rId4"/>
    <p:sldLayoutId id="2147484688" r:id="rId5"/>
    <p:sldLayoutId id="2147484689" r:id="rId6"/>
    <p:sldLayoutId id="2147484690" r:id="rId7"/>
    <p:sldLayoutId id="2147484691" r:id="rId8"/>
    <p:sldLayoutId id="21474846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  <p:sldLayoutId id="2147484696" r:id="rId3"/>
    <p:sldLayoutId id="2147484697" r:id="rId4"/>
    <p:sldLayoutId id="2147484698" r:id="rId5"/>
    <p:sldLayoutId id="2147484699" r:id="rId6"/>
    <p:sldLayoutId id="2147484700" r:id="rId7"/>
    <p:sldLayoutId id="2147484701" r:id="rId8"/>
    <p:sldLayoutId id="214748470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04" r:id="rId1"/>
    <p:sldLayoutId id="2147484705" r:id="rId2"/>
    <p:sldLayoutId id="2147484706" r:id="rId3"/>
    <p:sldLayoutId id="2147484707" r:id="rId4"/>
    <p:sldLayoutId id="2147484708" r:id="rId5"/>
    <p:sldLayoutId id="2147484709" r:id="rId6"/>
    <p:sldLayoutId id="2147484710" r:id="rId7"/>
    <p:sldLayoutId id="2147484711" r:id="rId8"/>
    <p:sldLayoutId id="214748471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4" r:id="rId1"/>
    <p:sldLayoutId id="2147484715" r:id="rId2"/>
    <p:sldLayoutId id="2147484716" r:id="rId3"/>
    <p:sldLayoutId id="2147484717" r:id="rId4"/>
    <p:sldLayoutId id="2147484718" r:id="rId5"/>
    <p:sldLayoutId id="2147484719" r:id="rId6"/>
    <p:sldLayoutId id="2147484720" r:id="rId7"/>
    <p:sldLayoutId id="2147484721" r:id="rId8"/>
    <p:sldLayoutId id="214748472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4" r:id="rId1"/>
    <p:sldLayoutId id="2147484725" r:id="rId2"/>
    <p:sldLayoutId id="2147484726" r:id="rId3"/>
    <p:sldLayoutId id="2147484727" r:id="rId4"/>
    <p:sldLayoutId id="2147484728" r:id="rId5"/>
    <p:sldLayoutId id="2147484729" r:id="rId6"/>
    <p:sldLayoutId id="2147484730" r:id="rId7"/>
    <p:sldLayoutId id="2147484731" r:id="rId8"/>
    <p:sldLayoutId id="214748473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34" r:id="rId1"/>
    <p:sldLayoutId id="2147484735" r:id="rId2"/>
    <p:sldLayoutId id="2147484736" r:id="rId3"/>
    <p:sldLayoutId id="2147484737" r:id="rId4"/>
    <p:sldLayoutId id="2147484738" r:id="rId5"/>
    <p:sldLayoutId id="2147484739" r:id="rId6"/>
    <p:sldLayoutId id="2147484740" r:id="rId7"/>
    <p:sldLayoutId id="2147484741" r:id="rId8"/>
    <p:sldLayoutId id="214748474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44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54" r:id="rId1"/>
    <p:sldLayoutId id="2147484755" r:id="rId2"/>
    <p:sldLayoutId id="2147484756" r:id="rId3"/>
    <p:sldLayoutId id="2147484757" r:id="rId4"/>
    <p:sldLayoutId id="2147484758" r:id="rId5"/>
    <p:sldLayoutId id="2147484759" r:id="rId6"/>
    <p:sldLayoutId id="2147484760" r:id="rId7"/>
    <p:sldLayoutId id="2147484761" r:id="rId8"/>
    <p:sldLayoutId id="214748476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64" r:id="rId1"/>
    <p:sldLayoutId id="2147484765" r:id="rId2"/>
    <p:sldLayoutId id="2147484766" r:id="rId3"/>
    <p:sldLayoutId id="2147484767" r:id="rId4"/>
    <p:sldLayoutId id="2147484768" r:id="rId5"/>
    <p:sldLayoutId id="2147484769" r:id="rId6"/>
    <p:sldLayoutId id="2147484770" r:id="rId7"/>
    <p:sldLayoutId id="2147484771" r:id="rId8"/>
    <p:sldLayoutId id="214748477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84" r:id="rId1"/>
    <p:sldLayoutId id="2147484785" r:id="rId2"/>
    <p:sldLayoutId id="2147484786" r:id="rId3"/>
    <p:sldLayoutId id="2147484787" r:id="rId4"/>
    <p:sldLayoutId id="2147484788" r:id="rId5"/>
    <p:sldLayoutId id="2147484789" r:id="rId6"/>
    <p:sldLayoutId id="2147484790" r:id="rId7"/>
    <p:sldLayoutId id="2147484791" r:id="rId8"/>
    <p:sldLayoutId id="2147484792" r:id="rId9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220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715.xml"/><Relationship Id="rId22" Type="http://schemas.openxmlformats.org/officeDocument/2006/relationships/hyperlink" Target="https://iwork.faw.cn/gq-0207_app_002/oneStrategy" TargetMode="Externa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9" Type="http://schemas.openxmlformats.org/officeDocument/2006/relationships/notesSlide" Target="../notesSlides/notesSlide9.xml"/><Relationship Id="rId28" Type="http://schemas.openxmlformats.org/officeDocument/2006/relationships/slideLayout" Target="../slideLayouts/slideLayout598.xml"/><Relationship Id="rId27" Type="http://schemas.openxmlformats.org/officeDocument/2006/relationships/tags" Target="../tags/tag64.xml"/><Relationship Id="rId26" Type="http://schemas.openxmlformats.org/officeDocument/2006/relationships/tags" Target="../tags/tag63.xml"/><Relationship Id="rId25" Type="http://schemas.openxmlformats.org/officeDocument/2006/relationships/tags" Target="../tags/tag62.xml"/><Relationship Id="rId24" Type="http://schemas.openxmlformats.org/officeDocument/2006/relationships/tags" Target="../tags/tag61.xml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40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slide" Target="slide29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1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0" Type="http://schemas.openxmlformats.org/officeDocument/2006/relationships/notesSlide" Target="../notesSlides/notesSlide11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589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958.xml"/><Relationship Id="rId23" Type="http://schemas.openxmlformats.org/officeDocument/2006/relationships/tags" Target="../tags/tag10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6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5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9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52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0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0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982.xml"/><Relationship Id="rId1" Type="http://schemas.openxmlformats.org/officeDocument/2006/relationships/tags" Target="../tags/tag10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6" Type="http://schemas.openxmlformats.org/officeDocument/2006/relationships/notesSlide" Target="../notesSlides/notesSlide20.xml"/><Relationship Id="rId35" Type="http://schemas.openxmlformats.org/officeDocument/2006/relationships/slideLayout" Target="../slideLayouts/slideLayout455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1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4.xml"/><Relationship Id="rId2" Type="http://schemas.openxmlformats.org/officeDocument/2006/relationships/image" Target="../media/image21.png"/><Relationship Id="rId1" Type="http://schemas.openxmlformats.org/officeDocument/2006/relationships/tags" Target="../tags/tag14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66.xml"/><Relationship Id="rId1" Type="http://schemas.openxmlformats.org/officeDocument/2006/relationships/tags" Target="../tags/tag1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42.xml"/><Relationship Id="rId2" Type="http://schemas.openxmlformats.org/officeDocument/2006/relationships/slide" Target="slide4.xml"/><Relationship Id="rId1" Type="http://schemas.openxmlformats.org/officeDocument/2006/relationships/tags" Target="../tags/tag14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1" Type="http://schemas.openxmlformats.org/officeDocument/2006/relationships/slideLayout" Target="../slideLayouts/slideLayout751.xml"/><Relationship Id="rId10" Type="http://schemas.openxmlformats.org/officeDocument/2006/relationships/tags" Target="../tags/tag154.xml"/><Relationship Id="rId1" Type="http://schemas.openxmlformats.org/officeDocument/2006/relationships/slide" Target="slide4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87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" Target="slide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1" Type="http://schemas.openxmlformats.org/officeDocument/2006/relationships/slideLayout" Target="../slideLayouts/slideLayout796.xml"/><Relationship Id="rId10" Type="http://schemas.openxmlformats.org/officeDocument/2006/relationships/tags" Target="../tags/tag168.xml"/><Relationship Id="rId1" Type="http://schemas.openxmlformats.org/officeDocument/2006/relationships/slide" Target="slide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60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922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" Target="slide1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69.xml"/><Relationship Id="rId2" Type="http://schemas.openxmlformats.org/officeDocument/2006/relationships/tags" Target="../tags/tag173.xml"/><Relationship Id="rId1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0" y="2644775"/>
            <a:ext cx="12192635" cy="1470025"/>
          </a:xfrm>
          <a:prstGeom prst="rect">
            <a:avLst/>
          </a:prstGeom>
        </p:spPr>
        <p:txBody>
          <a:bodyPr lIns="81750" tIns="40874" rIns="81750" bIns="40874" anchor="ctr"/>
          <a:lstStyle>
            <a:lvl1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656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313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6969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626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5400" kern="0" dirty="0" smtClean="0">
                <a:solidFill>
                  <a:srgbClr val="152A8C"/>
                </a:solidFill>
              </a:rPr>
              <a:t>一企一策管理流程优化方案</a:t>
            </a:r>
            <a:endParaRPr lang="zh-CN" altLang="en-US" sz="5400" kern="0" dirty="0" smtClean="0">
              <a:solidFill>
                <a:srgbClr val="152A8C"/>
              </a:solidFill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1786255" y="4884365"/>
            <a:ext cx="8534400" cy="1141898"/>
          </a:xfrm>
          <a:prstGeom prst="rect">
            <a:avLst/>
          </a:prstGeom>
        </p:spPr>
        <p:txBody>
          <a:bodyPr lIns="81750" tIns="40874" rIns="81750" bIns="40874"/>
          <a:lstStyle>
            <a:lvl1pPr marL="316865" indent="-31686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1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2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72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246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902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559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股权运营部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07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8"/>
          <p:cNvSpPr>
            <a:spLocks noChangeArrowheads="1"/>
          </p:cNvSpPr>
          <p:nvPr/>
        </p:nvSpPr>
        <p:spPr bwMode="auto">
          <a:xfrm>
            <a:off x="3282950" y="2037080"/>
            <a:ext cx="6205855" cy="1555115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1.</a:t>
            </a:r>
            <a:r>
              <a:rPr lang="zh-CN" altLang="en-US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总体</a:t>
            </a:r>
            <a:r>
              <a:rPr lang="zh-CN" altLang="en-US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回顾</a:t>
            </a:r>
            <a:endParaRPr lang="zh-CN" altLang="en-US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</a:t>
            </a:r>
            <a:r>
              <a:rPr lang="zh-CN" altLang="en-US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阶段</a:t>
            </a:r>
            <a:r>
              <a:rPr lang="zh-CN" altLang="en-US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回顾</a:t>
            </a:r>
            <a:endParaRPr lang="zh-CN" altLang="en-US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标题 5"/>
          <p:cNvSpPr txBox="1"/>
          <p:nvPr/>
        </p:nvSpPr>
        <p:spPr>
          <a:xfrm>
            <a:off x="536077" y="380846"/>
            <a:ext cx="10367010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2400" b="1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mtClean="0"/>
              <a:t>目  录</a:t>
            </a:r>
            <a:endParaRPr lang="zh-CN" altLang="en-US" dirty="0"/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3282657" y="1722907"/>
            <a:ext cx="6205855" cy="61214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</a:t>
            </a: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进展</a:t>
            </a:r>
            <a:endParaRPr lang="zh-CN" altLang="en-US" sz="20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3282658" y="3414009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优化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2633689" y="1723542"/>
            <a:ext cx="600075" cy="619125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一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41"/>
          <p:cNvSpPr>
            <a:spLocks noChangeArrowheads="1"/>
          </p:cNvSpPr>
          <p:nvPr/>
        </p:nvSpPr>
        <p:spPr bwMode="auto">
          <a:xfrm>
            <a:off x="2633980" y="3413125"/>
            <a:ext cx="600075" cy="617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二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3282658" y="4166484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运行模拟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41"/>
          <p:cNvSpPr>
            <a:spLocks noChangeArrowheads="1"/>
          </p:cNvSpPr>
          <p:nvPr/>
        </p:nvSpPr>
        <p:spPr bwMode="auto">
          <a:xfrm>
            <a:off x="2633689" y="4167118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2" name="矩形 8"/>
          <p:cNvSpPr>
            <a:spLocks noChangeArrowheads="1"/>
          </p:cNvSpPr>
          <p:nvPr/>
        </p:nvSpPr>
        <p:spPr bwMode="auto">
          <a:xfrm>
            <a:off x="3282658" y="4919594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后续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安排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41"/>
          <p:cNvSpPr>
            <a:spLocks noChangeArrowheads="1"/>
          </p:cNvSpPr>
          <p:nvPr/>
        </p:nvSpPr>
        <p:spPr bwMode="auto">
          <a:xfrm>
            <a:off x="2633689" y="4920228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Straight Connector 24"/>
          <p:cNvCxnSpPr/>
          <p:nvPr/>
        </p:nvCxnSpPr>
        <p:spPr>
          <a:xfrm flipH="1">
            <a:off x="8607096" y="2887838"/>
            <a:ext cx="6985" cy="1884045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4" name="标题 5"/>
          <p:cNvSpPr txBox="1"/>
          <p:nvPr/>
        </p:nvSpPr>
        <p:spPr>
          <a:xfrm>
            <a:off x="449580" y="306705"/>
            <a:ext cx="9872980" cy="509905"/>
          </a:xfrm>
          <a:prstGeom prst="rect">
            <a:avLst/>
          </a:prstGeom>
        </p:spPr>
        <p:txBody>
          <a:bodyPr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+mj-lt"/>
                <a:ea typeface="+mj-ea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1.1 </a:t>
            </a:r>
            <a:r>
              <a:rPr lang="zh-CN" altLang="en-US" sz="2400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总体回顾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9580" y="860916"/>
            <a:ext cx="11244700" cy="1414780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defRPr/>
            </a:pPr>
            <a:r>
              <a:rPr lang="zh-CN" altLang="en-US" sz="1600" kern="1200" dirty="0" smtClean="0">
                <a:latin typeface="微软雅黑" panose="020B0503020204020204" charset="-122"/>
                <a:ea typeface="微软雅黑" panose="020B0503020204020204" charset="-122"/>
              </a:rPr>
              <a:t>一企一策工作阶段回顾</a:t>
            </a:r>
            <a:endParaRPr lang="zh-CN" altLang="en-US" sz="1600" kern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14630" lvl="0" indent="-214630" algn="just" defTabSz="914400">
              <a:lnSpc>
                <a:spcPct val="13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</a:rPr>
              <a:t>1.0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阶段（筑基）：根据企业信息收集情况，完成管理策略方案制定，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实现从"均衡发力"到"各有侧重"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14630" lvl="0" indent="-214630" algn="just" defTabSz="914400">
              <a:lnSpc>
                <a:spcPct val="13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</a:rPr>
              <a:t>2.0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阶段（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数智）：数智化评审、模型进一步标准及细化、开发及工作台上线，实现从"经验驱动"到"数据驱动"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14630" lvl="0" indent="-214630" algn="just" defTabSz="914400">
              <a:lnSpc>
                <a:spcPct val="13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</a:rPr>
              <a:t>3.0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阶段（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优化）：工作台应用、问题发现及总结优化，实现从"单点试点"到"全公司闭环"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7" name="Straight Connector 24"/>
          <p:cNvCxnSpPr/>
          <p:nvPr/>
        </p:nvCxnSpPr>
        <p:spPr>
          <a:xfrm flipH="1">
            <a:off x="7394246" y="2866248"/>
            <a:ext cx="6985" cy="1884045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44" name="Straight Connector 24"/>
          <p:cNvCxnSpPr/>
          <p:nvPr/>
        </p:nvCxnSpPr>
        <p:spPr>
          <a:xfrm flipH="1">
            <a:off x="11326453" y="3019066"/>
            <a:ext cx="5715" cy="2085975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136" name="Straight Connector 24"/>
          <p:cNvCxnSpPr/>
          <p:nvPr/>
        </p:nvCxnSpPr>
        <p:spPr>
          <a:xfrm flipH="1">
            <a:off x="6144378" y="2866248"/>
            <a:ext cx="7620" cy="182499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cxnSp>
        <p:nvCxnSpPr>
          <p:cNvPr id="20" name="Straight Arrow Connector 12"/>
          <p:cNvCxnSpPr/>
          <p:nvPr/>
        </p:nvCxnSpPr>
        <p:spPr>
          <a:xfrm>
            <a:off x="383716" y="2953506"/>
            <a:ext cx="11370011" cy="0"/>
          </a:xfrm>
          <a:prstGeom prst="straightConnector1">
            <a:avLst/>
          </a:prstGeom>
          <a:noFill/>
          <a:ln w="19050" cap="flat" cmpd="sng" algn="ctr">
            <a:solidFill>
              <a:srgbClr val="0096FF"/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2" name="SplitText95"/>
          <p:cNvSpPr txBox="1"/>
          <p:nvPr/>
        </p:nvSpPr>
        <p:spPr>
          <a:xfrm>
            <a:off x="1479965" y="2624449"/>
            <a:ext cx="774700" cy="16573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cxnSp>
        <p:nvCxnSpPr>
          <p:cNvPr id="48" name="Straight Connector 24"/>
          <p:cNvCxnSpPr>
            <a:endCxn id="69" idx="2"/>
          </p:cNvCxnSpPr>
          <p:nvPr/>
        </p:nvCxnSpPr>
        <p:spPr>
          <a:xfrm>
            <a:off x="1825646" y="2866248"/>
            <a:ext cx="0" cy="111379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49" name="Oval 25"/>
          <p:cNvSpPr/>
          <p:nvPr/>
        </p:nvSpPr>
        <p:spPr>
          <a:xfrm>
            <a:off x="1764428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5" name="Straight Connector 27"/>
          <p:cNvCxnSpPr/>
          <p:nvPr/>
        </p:nvCxnSpPr>
        <p:spPr>
          <a:xfrm>
            <a:off x="1276655" y="3230060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cxnSp>
        <p:nvCxnSpPr>
          <p:cNvPr id="67" name="Straight Connector 30"/>
          <p:cNvCxnSpPr/>
          <p:nvPr/>
        </p:nvCxnSpPr>
        <p:spPr>
          <a:xfrm>
            <a:off x="1276655" y="4100510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sp>
        <p:nvSpPr>
          <p:cNvPr id="69" name="Rectangle 8"/>
          <p:cNvSpPr/>
          <p:nvPr/>
        </p:nvSpPr>
        <p:spPr>
          <a:xfrm>
            <a:off x="1285646" y="3292879"/>
            <a:ext cx="1080000" cy="687308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进行参股企业情况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收集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制作一企一策管理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方案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0" name="Isosceles Triangle 2"/>
          <p:cNvSpPr/>
          <p:nvPr/>
        </p:nvSpPr>
        <p:spPr>
          <a:xfrm flipV="1">
            <a:off x="1726220" y="3128714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1" name="RbLeanShape Arrow Option 1 54"/>
          <p:cNvSpPr/>
          <p:nvPr/>
        </p:nvSpPr>
        <p:spPr>
          <a:xfrm rot="5400000">
            <a:off x="381808" y="3229418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400" b="1" kern="0" dirty="0">
                <a:solidFill>
                  <a:srgbClr val="152A8C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筑基阶段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6" name="RbLeanShape Arrow Option 1 54"/>
          <p:cNvSpPr/>
          <p:nvPr/>
        </p:nvSpPr>
        <p:spPr>
          <a:xfrm rot="5400000">
            <a:off x="369531" y="4134984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zh-CN" altLang="en-US" sz="1400" b="1" kern="0" dirty="0">
                <a:solidFill>
                  <a:srgbClr val="152A8C"/>
                </a:solidFill>
                <a:latin typeface="RB Office"/>
                <a:ea typeface="微软雅黑" panose="020B0503020204020204" charset="-122"/>
                <a:cs typeface="Segoe UI" panose="020B0502040204020203"/>
              </a:rPr>
              <a:t>数智阶段</a:t>
            </a:r>
            <a:endParaRPr lang="zh-CN" altLang="en-US" sz="1400" b="1" kern="0" dirty="0">
              <a:solidFill>
                <a:srgbClr val="152A8C"/>
              </a:solidFill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7" name="RbLeanShape Arrow Option 1 54"/>
          <p:cNvSpPr/>
          <p:nvPr/>
        </p:nvSpPr>
        <p:spPr>
          <a:xfrm rot="5400000">
            <a:off x="367121" y="5040550"/>
            <a:ext cx="828000" cy="775661"/>
          </a:xfrm>
          <a:custGeom>
            <a:avLst/>
            <a:gdLst>
              <a:gd name="connsiteX0" fmla="*/ 0 w 635000"/>
              <a:gd name="connsiteY0" fmla="*/ 0 h 476250"/>
              <a:gd name="connsiteX1" fmla="*/ 352839 w 635000"/>
              <a:gd name="connsiteY1" fmla="*/ 0 h 476250"/>
              <a:gd name="connsiteX2" fmla="*/ 635000 w 635000"/>
              <a:gd name="connsiteY2" fmla="*/ 238125 h 476250"/>
              <a:gd name="connsiteX3" fmla="*/ 352839 w 635000"/>
              <a:gd name="connsiteY3" fmla="*/ 476250 h 476250"/>
              <a:gd name="connsiteX4" fmla="*/ 0 w 635000"/>
              <a:gd name="connsiteY4" fmla="*/ 476250 h 476250"/>
              <a:gd name="connsiteX0-1" fmla="*/ 0 w 571500"/>
              <a:gd name="connsiteY0-2" fmla="*/ 0 h 476250"/>
              <a:gd name="connsiteX1-3" fmla="*/ 352839 w 571500"/>
              <a:gd name="connsiteY1-4" fmla="*/ 0 h 476250"/>
              <a:gd name="connsiteX2-5" fmla="*/ 571500 w 571500"/>
              <a:gd name="connsiteY2-6" fmla="*/ 238125 h 476250"/>
              <a:gd name="connsiteX3-7" fmla="*/ 352839 w 571500"/>
              <a:gd name="connsiteY3-8" fmla="*/ 476250 h 476250"/>
              <a:gd name="connsiteX4-9" fmla="*/ 0 w 571500"/>
              <a:gd name="connsiteY4-10" fmla="*/ 476250 h 476250"/>
              <a:gd name="connsiteX0-11" fmla="*/ 0 w 514350"/>
              <a:gd name="connsiteY0-12" fmla="*/ 0 h 476250"/>
              <a:gd name="connsiteX1-13" fmla="*/ 352839 w 514350"/>
              <a:gd name="connsiteY1-14" fmla="*/ 0 h 476250"/>
              <a:gd name="connsiteX2-15" fmla="*/ 514350 w 514350"/>
              <a:gd name="connsiteY2-16" fmla="*/ 238125 h 476250"/>
              <a:gd name="connsiteX3-17" fmla="*/ 352839 w 514350"/>
              <a:gd name="connsiteY3-18" fmla="*/ 476250 h 476250"/>
              <a:gd name="connsiteX4-19" fmla="*/ 0 w 514350"/>
              <a:gd name="connsiteY4-20" fmla="*/ 476250 h 476250"/>
              <a:gd name="connsiteX0-21" fmla="*/ 0 w 462915"/>
              <a:gd name="connsiteY0-22" fmla="*/ 0 h 476250"/>
              <a:gd name="connsiteX1-23" fmla="*/ 352839 w 462915"/>
              <a:gd name="connsiteY1-24" fmla="*/ 0 h 476250"/>
              <a:gd name="connsiteX2-25" fmla="*/ 462915 w 462915"/>
              <a:gd name="connsiteY2-26" fmla="*/ 238125 h 476250"/>
              <a:gd name="connsiteX3-27" fmla="*/ 352839 w 462915"/>
              <a:gd name="connsiteY3-28" fmla="*/ 476250 h 476250"/>
              <a:gd name="connsiteX4-29" fmla="*/ 0 w 462915"/>
              <a:gd name="connsiteY4-30" fmla="*/ 476250 h 476250"/>
              <a:gd name="connsiteX0-31" fmla="*/ 0 w 416624"/>
              <a:gd name="connsiteY0-32" fmla="*/ 0 h 476250"/>
              <a:gd name="connsiteX1-33" fmla="*/ 352839 w 416624"/>
              <a:gd name="connsiteY1-34" fmla="*/ 0 h 476250"/>
              <a:gd name="connsiteX2-35" fmla="*/ 416624 w 416624"/>
              <a:gd name="connsiteY2-36" fmla="*/ 238125 h 476250"/>
              <a:gd name="connsiteX3-37" fmla="*/ 352839 w 416624"/>
              <a:gd name="connsiteY3-38" fmla="*/ 476250 h 476250"/>
              <a:gd name="connsiteX4-39" fmla="*/ 0 w 416624"/>
              <a:gd name="connsiteY4-40" fmla="*/ 476250 h 476250"/>
              <a:gd name="connsiteX0-41" fmla="*/ 0 w 374962"/>
              <a:gd name="connsiteY0-42" fmla="*/ 0 h 476250"/>
              <a:gd name="connsiteX1-43" fmla="*/ 352839 w 374962"/>
              <a:gd name="connsiteY1-44" fmla="*/ 0 h 476250"/>
              <a:gd name="connsiteX2-45" fmla="*/ 374962 w 374962"/>
              <a:gd name="connsiteY2-46" fmla="*/ 238125 h 476250"/>
              <a:gd name="connsiteX3-47" fmla="*/ 352839 w 374962"/>
              <a:gd name="connsiteY3-48" fmla="*/ 476250 h 476250"/>
              <a:gd name="connsiteX4-49" fmla="*/ 0 w 374962"/>
              <a:gd name="connsiteY4-50" fmla="*/ 476250 h 476250"/>
              <a:gd name="connsiteX0-51" fmla="*/ 0 w 412458"/>
              <a:gd name="connsiteY0-52" fmla="*/ 0 h 476250"/>
              <a:gd name="connsiteX1-53" fmla="*/ 352839 w 412458"/>
              <a:gd name="connsiteY1-54" fmla="*/ 0 h 476250"/>
              <a:gd name="connsiteX2-55" fmla="*/ 412458 w 412458"/>
              <a:gd name="connsiteY2-56" fmla="*/ 238125 h 476250"/>
              <a:gd name="connsiteX3-57" fmla="*/ 352839 w 412458"/>
              <a:gd name="connsiteY3-58" fmla="*/ 476250 h 476250"/>
              <a:gd name="connsiteX4-59" fmla="*/ 0 w 412458"/>
              <a:gd name="connsiteY4-60" fmla="*/ 476250 h 476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2458" h="476250">
                <a:moveTo>
                  <a:pt x="0" y="0"/>
                </a:moveTo>
                <a:lnTo>
                  <a:pt x="352839" y="0"/>
                </a:lnTo>
                <a:lnTo>
                  <a:pt x="412458" y="238125"/>
                </a:lnTo>
                <a:lnTo>
                  <a:pt x="352839" y="476250"/>
                </a:lnTo>
                <a:lnTo>
                  <a:pt x="0" y="476250"/>
                </a:lnTo>
              </a:path>
            </a:pathLst>
          </a:custGeom>
          <a:noFill/>
          <a:ln w="19050" cap="flat" cmpd="sng" algn="ctr">
            <a:solidFill>
              <a:srgbClr val="152A8C"/>
            </a:solidFill>
            <a:prstDash val="solid"/>
          </a:ln>
          <a:effectLst/>
        </p:spPr>
        <p:txBody>
          <a:bodyPr vert="vert270" lIns="0" tIns="72000" rIns="0" bIns="18000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优化阶段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19" name="Straight Connector 6"/>
          <p:cNvCxnSpPr/>
          <p:nvPr/>
        </p:nvCxnSpPr>
        <p:spPr>
          <a:xfrm>
            <a:off x="1276655" y="5841410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sp>
        <p:nvSpPr>
          <p:cNvPr id="121" name="SplitText95"/>
          <p:cNvSpPr txBox="1"/>
          <p:nvPr/>
        </p:nvSpPr>
        <p:spPr>
          <a:xfrm>
            <a:off x="2685613" y="2624449"/>
            <a:ext cx="774700" cy="16573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8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cxnSp>
        <p:nvCxnSpPr>
          <p:cNvPr id="122" name="Straight Connector 24"/>
          <p:cNvCxnSpPr>
            <a:endCxn id="66" idx="2"/>
          </p:cNvCxnSpPr>
          <p:nvPr/>
        </p:nvCxnSpPr>
        <p:spPr>
          <a:xfrm>
            <a:off x="3031294" y="2866248"/>
            <a:ext cx="0" cy="111379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123" name="Oval 25"/>
          <p:cNvSpPr/>
          <p:nvPr/>
        </p:nvSpPr>
        <p:spPr>
          <a:xfrm>
            <a:off x="2970076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2491294" y="3292879"/>
            <a:ext cx="1080000" cy="687308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完成一企一策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管理方案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从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六大管理维度形成管理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策略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Isosceles Triangle 2"/>
          <p:cNvSpPr/>
          <p:nvPr/>
        </p:nvSpPr>
        <p:spPr>
          <a:xfrm flipV="1">
            <a:off x="2931868" y="3128714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2" name="SplitText95"/>
          <p:cNvSpPr txBox="1"/>
          <p:nvPr/>
        </p:nvSpPr>
        <p:spPr>
          <a:xfrm>
            <a:off x="4083749" y="2624449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9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3717925" y="3302635"/>
            <a:ext cx="1301115" cy="67754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一阶段成果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一企一策方案在公司层面达成一致，并指导实际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工作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Isosceles Triangle 2"/>
          <p:cNvSpPr/>
          <p:nvPr/>
        </p:nvSpPr>
        <p:spPr>
          <a:xfrm flipV="1">
            <a:off x="4334256" y="3128330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1" name="SplitText95"/>
          <p:cNvSpPr txBox="1"/>
          <p:nvPr/>
        </p:nvSpPr>
        <p:spPr>
          <a:xfrm>
            <a:off x="5708758" y="2624449"/>
            <a:ext cx="875241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2025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12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77" name="Oval 25"/>
          <p:cNvSpPr/>
          <p:nvPr/>
        </p:nvSpPr>
        <p:spPr>
          <a:xfrm>
            <a:off x="6090780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4" name="Isosceles Triangle 2"/>
          <p:cNvSpPr/>
          <p:nvPr/>
        </p:nvSpPr>
        <p:spPr>
          <a:xfrm flipV="1">
            <a:off x="6052572" y="4049715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5" name="Rectangle 8"/>
          <p:cNvSpPr/>
          <p:nvPr/>
        </p:nvSpPr>
        <p:spPr>
          <a:xfrm>
            <a:off x="5531485" y="4217035"/>
            <a:ext cx="1242060" cy="61214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结合一阶段成果，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开展一企一策二阶段数智化方案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设计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8" name="SplitText95"/>
          <p:cNvSpPr txBox="1"/>
          <p:nvPr/>
        </p:nvSpPr>
        <p:spPr>
          <a:xfrm>
            <a:off x="7052568" y="2624449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39" name="Oval 25"/>
          <p:cNvSpPr/>
          <p:nvPr/>
        </p:nvSpPr>
        <p:spPr>
          <a:xfrm>
            <a:off x="7340013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0" name="Isosceles Triangle 2"/>
          <p:cNvSpPr/>
          <p:nvPr/>
        </p:nvSpPr>
        <p:spPr>
          <a:xfrm flipV="1">
            <a:off x="7301805" y="4050103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2" name="SplitText95"/>
          <p:cNvSpPr txBox="1"/>
          <p:nvPr/>
        </p:nvSpPr>
        <p:spPr>
          <a:xfrm>
            <a:off x="8228924" y="2624449"/>
            <a:ext cx="774700" cy="16573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3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46" name="Oval 25"/>
          <p:cNvSpPr/>
          <p:nvPr/>
        </p:nvSpPr>
        <p:spPr>
          <a:xfrm>
            <a:off x="8555055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9" name="SplitText95"/>
          <p:cNvSpPr txBox="1"/>
          <p:nvPr/>
        </p:nvSpPr>
        <p:spPr>
          <a:xfrm>
            <a:off x="9483659" y="2624449"/>
            <a:ext cx="774700" cy="16573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4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54" name="SplitText95"/>
          <p:cNvSpPr txBox="1"/>
          <p:nvPr/>
        </p:nvSpPr>
        <p:spPr>
          <a:xfrm>
            <a:off x="10944385" y="2624449"/>
            <a:ext cx="780663" cy="1661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algn="ctr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ct val="100000"/>
              <a:buNone/>
            </a:pPr>
            <a:r>
              <a:rPr 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2026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年</a:t>
            </a:r>
            <a:r>
              <a: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6</a:t>
            </a: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lt"/>
              </a:rPr>
              <a:t>月</a:t>
            </a:r>
            <a:endParaRPr lang="en-US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  <a:sym typeface="+mn-lt"/>
            </a:endParaRPr>
          </a:p>
        </p:txBody>
      </p:sp>
      <p:sp>
        <p:nvSpPr>
          <p:cNvPr id="156" name="Isosceles Triangle 2"/>
          <p:cNvSpPr/>
          <p:nvPr/>
        </p:nvSpPr>
        <p:spPr>
          <a:xfrm flipV="1">
            <a:off x="8516847" y="4216720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9" name="Oval 25"/>
          <p:cNvSpPr/>
          <p:nvPr/>
        </p:nvSpPr>
        <p:spPr>
          <a:xfrm>
            <a:off x="11273499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8" name="星形: 五角 8"/>
          <p:cNvSpPr/>
          <p:nvPr/>
        </p:nvSpPr>
        <p:spPr bwMode="auto">
          <a:xfrm>
            <a:off x="4762928" y="3293338"/>
            <a:ext cx="255669" cy="23551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Rectangle 8"/>
          <p:cNvSpPr/>
          <p:nvPr/>
        </p:nvSpPr>
        <p:spPr>
          <a:xfrm>
            <a:off x="6887210" y="4217035"/>
            <a:ext cx="1111250" cy="61214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方案经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主任级、总监级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评审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ea"/>
              </a:rPr>
              <a:t>通过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0" name="Rectangle 8"/>
          <p:cNvSpPr/>
          <p:nvPr/>
        </p:nvSpPr>
        <p:spPr>
          <a:xfrm>
            <a:off x="8088630" y="4217670"/>
            <a:ext cx="1111250" cy="61150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二阶段成果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数智化方案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ea"/>
              </a:rPr>
              <a:t>通过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公司评审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1" name="Isosceles Triangle 2"/>
          <p:cNvSpPr/>
          <p:nvPr/>
        </p:nvSpPr>
        <p:spPr>
          <a:xfrm flipV="1">
            <a:off x="11221025" y="5014668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2" name="星形: 五角 8"/>
          <p:cNvSpPr/>
          <p:nvPr/>
        </p:nvSpPr>
        <p:spPr bwMode="auto">
          <a:xfrm>
            <a:off x="8931703" y="4213453"/>
            <a:ext cx="255669" cy="23551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13" name="Straight Connector 6"/>
          <p:cNvCxnSpPr/>
          <p:nvPr/>
        </p:nvCxnSpPr>
        <p:spPr>
          <a:xfrm>
            <a:off x="1225855" y="4937805"/>
            <a:ext cx="10469450" cy="0"/>
          </a:xfrm>
          <a:prstGeom prst="line">
            <a:avLst/>
          </a:prstGeom>
          <a:noFill/>
          <a:ln w="63500" cap="flat" cmpd="sng" algn="ctr">
            <a:solidFill>
              <a:srgbClr val="787878">
                <a:lumMod val="20000"/>
                <a:lumOff val="80000"/>
              </a:srgbClr>
            </a:solidFill>
            <a:prstDash val="solid"/>
            <a:tailEnd type="triangle" w="sm" len="sm"/>
          </a:ln>
          <a:effectLst/>
        </p:spPr>
      </p:cxnSp>
      <p:sp>
        <p:nvSpPr>
          <p:cNvPr id="115" name="Isosceles Triangle 2"/>
          <p:cNvSpPr/>
          <p:nvPr/>
        </p:nvSpPr>
        <p:spPr>
          <a:xfrm flipV="1">
            <a:off x="8514655" y="4071693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3" name="Rectangle 8"/>
          <p:cNvSpPr/>
          <p:nvPr/>
        </p:nvSpPr>
        <p:spPr>
          <a:xfrm>
            <a:off x="10764520" y="5168265"/>
            <a:ext cx="1111250" cy="6121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一企一策应用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  <a:p>
            <a:pPr marL="0" marR="0" lvl="0" indent="0" algn="l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总结及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优化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61" name="Straight Connector 24"/>
          <p:cNvCxnSpPr/>
          <p:nvPr/>
        </p:nvCxnSpPr>
        <p:spPr>
          <a:xfrm flipH="1">
            <a:off x="9850426" y="2944988"/>
            <a:ext cx="6985" cy="1884045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164" name="Isosceles Triangle 2"/>
          <p:cNvSpPr/>
          <p:nvPr/>
        </p:nvSpPr>
        <p:spPr>
          <a:xfrm flipV="1">
            <a:off x="9757985" y="4057723"/>
            <a:ext cx="198852" cy="174141"/>
          </a:xfrm>
          <a:prstGeom prst="triangle">
            <a:avLst/>
          </a:prstGeom>
          <a:solidFill>
            <a:srgbClr val="0096FF"/>
          </a:solidFill>
          <a:ln w="1587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1" name="Rectangle 8"/>
          <p:cNvSpPr/>
          <p:nvPr/>
        </p:nvSpPr>
        <p:spPr>
          <a:xfrm>
            <a:off x="9332595" y="4223385"/>
            <a:ext cx="1043940" cy="605790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rgbClr val="77CDFF">
                <a:lumMod val="90000"/>
              </a:srgbClr>
            </a:solidFill>
            <a:prstDash val="solid"/>
          </a:ln>
          <a:effectLst/>
        </p:spPr>
        <p:txBody>
          <a:bodyPr vert="horz"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一企一策工作台正式上线运行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3" name="Oval 25"/>
          <p:cNvSpPr/>
          <p:nvPr/>
        </p:nvSpPr>
        <p:spPr>
          <a:xfrm>
            <a:off x="9809791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" name="Straight Connector 24"/>
          <p:cNvCxnSpPr/>
          <p:nvPr/>
        </p:nvCxnSpPr>
        <p:spPr>
          <a:xfrm flipH="1">
            <a:off x="4432418" y="2944988"/>
            <a:ext cx="3810" cy="219710"/>
          </a:xfrm>
          <a:prstGeom prst="line">
            <a:avLst/>
          </a:prstGeom>
          <a:noFill/>
          <a:ln w="6350" cap="flat" cmpd="sng" algn="ctr">
            <a:solidFill>
              <a:srgbClr val="77CDFF">
                <a:lumMod val="90000"/>
              </a:srgbClr>
            </a:solidFill>
            <a:prstDash val="dash"/>
          </a:ln>
          <a:effectLst/>
        </p:spPr>
      </p:cxnSp>
      <p:sp>
        <p:nvSpPr>
          <p:cNvPr id="74" name="Oval 25"/>
          <p:cNvSpPr/>
          <p:nvPr/>
        </p:nvSpPr>
        <p:spPr>
          <a:xfrm>
            <a:off x="4371194" y="2887927"/>
            <a:ext cx="122436" cy="131159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096FF"/>
            </a:solidFill>
            <a:prstDash val="solid"/>
          </a:ln>
          <a:effectLst/>
        </p:spPr>
        <p:txBody>
          <a:bodyPr lIns="72000" tIns="72000" rIns="72000" bIns="72000" rtlCol="0" anchor="t" anchorCtr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/>
          <p:nvPr/>
        </p:nvSpPr>
        <p:spPr>
          <a:xfrm>
            <a:off x="449580" y="306705"/>
            <a:ext cx="9872980" cy="509905"/>
          </a:xfrm>
          <a:prstGeom prst="rect">
            <a:avLst/>
          </a:prstGeom>
        </p:spPr>
        <p:txBody>
          <a:bodyPr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+mj-lt"/>
                <a:ea typeface="+mj-ea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1.2 </a:t>
            </a:r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阶段</a:t>
            </a:r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回顾</a:t>
            </a:r>
            <a:endParaRPr lang="zh-CN" altLang="en-US" sz="24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9580" y="782811"/>
            <a:ext cx="11244700" cy="460375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defRPr/>
            </a:pPr>
            <a:r>
              <a:rPr lang="en-US" altLang="zh-CN" sz="1600" kern="1200" dirty="0" smtClean="0">
                <a:latin typeface="微软雅黑" panose="020B0503020204020204" charset="-122"/>
                <a:ea typeface="微软雅黑" panose="020B0503020204020204" charset="-122"/>
              </a:rPr>
              <a:t>1.0</a:t>
            </a:r>
            <a:r>
              <a:rPr lang="zh-CN" altLang="en-US" sz="1600" kern="1200" dirty="0" smtClean="0"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zh-CN" altLang="en-US" sz="1600" kern="1200" dirty="0" smtClean="0">
                <a:latin typeface="微软雅黑" panose="020B0503020204020204" charset="-122"/>
                <a:ea typeface="微软雅黑" panose="020B0503020204020204" charset="-122"/>
              </a:rPr>
              <a:t>回顾</a:t>
            </a:r>
            <a:endParaRPr lang="zh-CN" altLang="en-US" sz="1600" kern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57200" y="3087574"/>
            <a:ext cx="11313372" cy="414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施策：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围绕参股管理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个方面，制定各类别参股企业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管理策略</a:t>
            </a:r>
            <a:endParaRPr lang="zh-CN" altLang="en-US" sz="14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58" name="表格 15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6895" y="3472180"/>
          <a:ext cx="7360285" cy="3067685"/>
        </p:xfrm>
        <a:graphic>
          <a:graphicData uri="http://schemas.openxmlformats.org/drawingml/2006/table">
            <a:tbl>
              <a:tblPr/>
              <a:tblGrid>
                <a:gridCol w="461645"/>
                <a:gridCol w="469265"/>
                <a:gridCol w="367665"/>
                <a:gridCol w="381000"/>
                <a:gridCol w="320040"/>
                <a:gridCol w="336550"/>
                <a:gridCol w="349250"/>
                <a:gridCol w="413385"/>
                <a:gridCol w="324485"/>
                <a:gridCol w="351790"/>
                <a:gridCol w="437515"/>
                <a:gridCol w="449580"/>
                <a:gridCol w="433705"/>
                <a:gridCol w="466090"/>
                <a:gridCol w="403860"/>
                <a:gridCol w="327660"/>
                <a:gridCol w="406400"/>
                <a:gridCol w="660400"/>
              </a:tblGrid>
              <a:tr h="257810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10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rowSpan="2"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战略协同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运营管理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人员管理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公司治理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监督控制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党建指导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366395">
                <a:tc vMerge="1" gridSpan="2"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战略管控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任务承接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短板赋能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指标承接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运营监控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赋能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投资回报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人员委派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履职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支撑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考核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评价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三会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规范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运作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重点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事项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审计监督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制度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建设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党建工作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8125">
                <a:tc row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战略协同</a:t>
                      </a:r>
                      <a:r>
                        <a:rPr lang="en-US" altLang="zh-CN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零部件布局类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成熟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党建共建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50190">
                <a:tc vMerge="1"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培育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建立基层党组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12725">
                <a:tc vMerge="1"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导入集团经验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8125">
                <a:tc rowSpan="3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战略协同</a:t>
                      </a:r>
                      <a:r>
                        <a:rPr lang="en-US" altLang="zh-CN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业态布局类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研发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攻坚技术攻关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63525">
                <a:tc vMerge="1"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生态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党建共建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8760">
                <a:tc vMerge="1"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党建共建</a:t>
                      </a:r>
                      <a:endParaRPr lang="zh-CN" altLang="en-US" sz="1000" b="0" i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65430"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财务收益类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gridSpan="16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结合参股股权实际，围绕管理定位、战略协同等方面进行差异化管理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2260"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cPr marL="6667" marR="6667" marT="6667" marB="0" anchor="ctr" anchorCtr="0">
                    <a:lnL w="1270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安置</a:t>
                      </a:r>
                      <a:r>
                        <a:rPr lang="zh-CN" altLang="en-US" sz="10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维稳</a:t>
                      </a:r>
                      <a:endParaRPr lang="zh-CN" altLang="en-US" sz="10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5" name="RbLeanShape Right U-Shape 36"/>
          <p:cNvSpPr/>
          <p:nvPr>
            <p:custDataLst>
              <p:tags r:id="rId2"/>
            </p:custDataLst>
          </p:nvPr>
        </p:nvSpPr>
        <p:spPr>
          <a:xfrm>
            <a:off x="9164320" y="1544955"/>
            <a:ext cx="2392680" cy="4792980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noFill/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6" name="Rectangle 46"/>
          <p:cNvSpPr/>
          <p:nvPr>
            <p:custDataLst>
              <p:tags r:id="rId3"/>
            </p:custDataLst>
          </p:nvPr>
        </p:nvSpPr>
        <p:spPr>
          <a:xfrm>
            <a:off x="8987024" y="2799619"/>
            <a:ext cx="396000" cy="233515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222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</a:rPr>
              <a:t>经验总结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Segoe UI" panose="020B0502040204020203"/>
            </a:endParaRPr>
          </a:p>
        </p:txBody>
      </p:sp>
      <p:sp>
        <p:nvSpPr>
          <p:cNvPr id="197" name="Rectangle 112"/>
          <p:cNvSpPr/>
          <p:nvPr>
            <p:custDataLst>
              <p:tags r:id="rId4"/>
            </p:custDataLst>
          </p:nvPr>
        </p:nvSpPr>
        <p:spPr>
          <a:xfrm>
            <a:off x="9487633" y="1986933"/>
            <a:ext cx="2069385" cy="2648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阶段成果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8" name="文本框 197"/>
          <p:cNvSpPr txBox="1"/>
          <p:nvPr>
            <p:custDataLst>
              <p:tags r:id="rId5"/>
            </p:custDataLst>
          </p:nvPr>
        </p:nvSpPr>
        <p:spPr>
          <a:xfrm>
            <a:off x="9472850" y="2287873"/>
            <a:ext cx="2084168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31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实现了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cs typeface="+mn-cs"/>
              </a:rPr>
              <a:t>覆盖六大维度，区分层级、各有侧重的管控模式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 marL="0" marR="0" lvl="0" indent="0" defTabSz="9131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>
              <a:lnSpc>
                <a:spcPct val="120000"/>
              </a:lnSpc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07" name="Rectangle 112"/>
          <p:cNvSpPr/>
          <p:nvPr>
            <p:custDataLst>
              <p:tags r:id="rId6"/>
            </p:custDataLst>
          </p:nvPr>
        </p:nvSpPr>
        <p:spPr>
          <a:xfrm>
            <a:off x="9515572" y="3764743"/>
            <a:ext cx="2069385" cy="2648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lvl="0" algn="ctr" fontAlgn="base">
              <a:spcBef>
                <a:spcPts val="400"/>
              </a:spcBef>
              <a:buClrTx/>
              <a:buSzTx/>
              <a:buFontTx/>
              <a:defRPr/>
            </a:pPr>
            <a:r>
              <a:rPr lang="zh-CN" altLang="en-US" sz="1200" b="1" kern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  <a:sym typeface="+mn-ea"/>
              </a:rPr>
              <a:t>待优化</a:t>
            </a:r>
            <a:endParaRPr lang="zh-CN" altLang="en-US" sz="1200" b="1" kern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  <a:sym typeface="+mn-ea"/>
            </a:endParaRPr>
          </a:p>
        </p:txBody>
      </p:sp>
      <p:cxnSp>
        <p:nvCxnSpPr>
          <p:cNvPr id="210" name="Straight Connector 276"/>
          <p:cNvCxnSpPr/>
          <p:nvPr/>
        </p:nvCxnSpPr>
        <p:spPr>
          <a:xfrm>
            <a:off x="8561483" y="3267896"/>
            <a:ext cx="0" cy="140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grpSp>
        <p:nvGrpSpPr>
          <p:cNvPr id="211" name="组合 210"/>
          <p:cNvGrpSpPr/>
          <p:nvPr>
            <p:custDataLst>
              <p:tags r:id="rId7"/>
            </p:custDataLst>
          </p:nvPr>
        </p:nvGrpSpPr>
        <p:grpSpPr>
          <a:xfrm>
            <a:off x="8166735" y="1908175"/>
            <a:ext cx="687705" cy="4388485"/>
            <a:chOff x="4855705" y="-4490500"/>
            <a:chExt cx="687762" cy="3320647"/>
          </a:xfrm>
        </p:grpSpPr>
        <p:sp>
          <p:nvSpPr>
            <p:cNvPr id="212" name="Freeform 4"/>
            <p:cNvSpPr/>
            <p:nvPr/>
          </p:nvSpPr>
          <p:spPr>
            <a:xfrm>
              <a:off x="4855705" y="-4490500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3" name="Freeform 93"/>
            <p:cNvSpPr/>
            <p:nvPr/>
          </p:nvSpPr>
          <p:spPr>
            <a:xfrm flipV="1">
              <a:off x="4855705" y="-1908492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cxnSp>
          <p:nvCxnSpPr>
            <p:cNvPr id="214" name="Straight Connector 256"/>
            <p:cNvCxnSpPr/>
            <p:nvPr>
              <p:custDataLst>
                <p:tags r:id="rId8"/>
              </p:custDataLst>
            </p:nvPr>
          </p:nvCxnSpPr>
          <p:spPr>
            <a:xfrm>
              <a:off x="5347275" y="-350644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5" name="Straight Connector 257"/>
            <p:cNvCxnSpPr/>
            <p:nvPr>
              <p:custDataLst>
                <p:tags r:id="rId9"/>
              </p:custDataLst>
            </p:nvPr>
          </p:nvCxnSpPr>
          <p:spPr>
            <a:xfrm>
              <a:off x="5347275" y="-324417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6" name="Straight Connector 258"/>
            <p:cNvCxnSpPr/>
            <p:nvPr>
              <p:custDataLst>
                <p:tags r:id="rId10"/>
              </p:custDataLst>
            </p:nvPr>
          </p:nvCxnSpPr>
          <p:spPr>
            <a:xfrm>
              <a:off x="5347275" y="-298190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7" name="Straight Connector 259"/>
            <p:cNvCxnSpPr/>
            <p:nvPr>
              <p:custDataLst>
                <p:tags r:id="rId11"/>
              </p:custDataLst>
            </p:nvPr>
          </p:nvCxnSpPr>
          <p:spPr>
            <a:xfrm>
              <a:off x="5347275" y="-271963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8" name="Straight Connector 260"/>
            <p:cNvCxnSpPr/>
            <p:nvPr>
              <p:custDataLst>
                <p:tags r:id="rId12"/>
              </p:custDataLst>
            </p:nvPr>
          </p:nvCxnSpPr>
          <p:spPr>
            <a:xfrm>
              <a:off x="5347275" y="-245736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9" name="Straight Connector 261"/>
            <p:cNvCxnSpPr/>
            <p:nvPr>
              <p:custDataLst>
                <p:tags r:id="rId13"/>
              </p:custDataLst>
            </p:nvPr>
          </p:nvCxnSpPr>
          <p:spPr>
            <a:xfrm>
              <a:off x="5347275" y="-219509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20" name="Straight Connector 267"/>
            <p:cNvCxnSpPr/>
            <p:nvPr>
              <p:custDataLst>
                <p:tags r:id="rId14"/>
              </p:custDataLst>
            </p:nvPr>
          </p:nvCxnSpPr>
          <p:spPr>
            <a:xfrm>
              <a:off x="5347275" y="-3751861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21" name="Straight Connector 268"/>
            <p:cNvCxnSpPr/>
            <p:nvPr>
              <p:custDataLst>
                <p:tags r:id="rId15"/>
              </p:custDataLst>
            </p:nvPr>
          </p:nvCxnSpPr>
          <p:spPr>
            <a:xfrm>
              <a:off x="5347275" y="-1908490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</p:grpSp>
      <p:sp>
        <p:nvSpPr>
          <p:cNvPr id="224" name="矩形 223"/>
          <p:cNvSpPr/>
          <p:nvPr>
            <p:custDataLst>
              <p:tags r:id="rId16"/>
            </p:custDataLst>
          </p:nvPr>
        </p:nvSpPr>
        <p:spPr>
          <a:xfrm>
            <a:off x="543560" y="1543050"/>
            <a:ext cx="7385685" cy="276860"/>
          </a:xfrm>
          <a:prstGeom prst="rect">
            <a:avLst/>
          </a:prstGeom>
          <a:noFill/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56895" y="1544955"/>
            <a:ext cx="50158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形成战略协同类、财务收益类、股权退出类三大类</a:t>
            </a:r>
            <a:r>
              <a: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小类的分类结果</a:t>
            </a:r>
            <a:endParaRPr lang="zh-CN" altLang="en-US" sz="1200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457200" y="1143635"/>
            <a:ext cx="11313160" cy="31813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分类：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结合股权现状及国资监管要求，会同其他业务部门，对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93家参股企业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进行初步分类</a:t>
            </a:r>
            <a:endParaRPr lang="zh-CN" altLang="en-US" sz="14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4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0" name="燕尾形箭头 239"/>
          <p:cNvSpPr/>
          <p:nvPr/>
        </p:nvSpPr>
        <p:spPr>
          <a:xfrm rot="5400000">
            <a:off x="107950" y="2285365"/>
            <a:ext cx="1210310" cy="527050"/>
          </a:xfrm>
          <a:prstGeom prst="notchedRightArrow">
            <a:avLst/>
          </a:prstGeom>
          <a:solidFill>
            <a:schemeClr val="accent1">
              <a:alpha val="1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976630" y="1878965"/>
            <a:ext cx="595376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成熟类：作为核心资产全面强管控，因体系成熟，审计与制度建设适度放权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培育类：放宽短期指标与回报要求，强化运营监控与制度输出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零部件调整类：非核心管理，管理强度降低，集中资源隔离风险、解决历史遗留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研发类：以技术突破为导向，放宽经营指标与任务，但把控战略方向与风控底线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生态类：给予市场化自主权，弱化赋能与指标要求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业态调整类：战略方向尚在变化，全面弱化干预，维持最低合规运转与人员管理底线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财务收益类：不介入日常经营，仅在股东层面关注战略方向与重大决策 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r>
              <a:rPr lang="en-US" altLang="zh-CN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8.</a:t>
            </a:r>
            <a:r>
              <a:rPr lang="zh-CN" altLang="en-US" sz="1000" b="0" i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退出类：目标为平稳退出，管理动作全面让位，成本最小化</a:t>
            </a:r>
            <a:endParaRPr lang="zh-CN" altLang="en-US" sz="1000" b="0" i="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/>
          <p:cNvSpPr txBox="1"/>
          <p:nvPr>
            <p:custDataLst>
              <p:tags r:id="rId17"/>
            </p:custDataLst>
          </p:nvPr>
        </p:nvSpPr>
        <p:spPr>
          <a:xfrm>
            <a:off x="9472850" y="4065873"/>
            <a:ext cx="2084168" cy="221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31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分类规则未固化</a:t>
            </a:r>
            <a:r>
              <a:rPr lang="zh-CN" altLang="en-US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：分类标准以定性判断为主，缺乏量化支撑</a:t>
            </a:r>
            <a:endParaRPr lang="zh-CN" altLang="en-US" sz="120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sym typeface="+mn-ea"/>
            </a:endParaRPr>
          </a:p>
          <a:p>
            <a:pPr marL="171450" marR="0" lvl="0" indent="-171450" algn="l" defTabSz="9131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策略执行难度大</a:t>
            </a:r>
            <a:r>
              <a:rPr lang="zh-CN" altLang="en-US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：策略覆盖六大方面，通过</a:t>
            </a:r>
            <a:r>
              <a:rPr lang="en-US" altLang="zh-CN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强中弱无</a:t>
            </a:r>
            <a:r>
              <a:rPr lang="en-US" altLang="zh-CN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进行程度区分，实操难度大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  <a:p>
            <a:pPr>
              <a:lnSpc>
                <a:spcPct val="120000"/>
              </a:lnSpc>
            </a:pP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/>
          <p:nvPr/>
        </p:nvSpPr>
        <p:spPr>
          <a:xfrm>
            <a:off x="449580" y="306705"/>
            <a:ext cx="9872980" cy="509905"/>
          </a:xfrm>
          <a:prstGeom prst="rect">
            <a:avLst/>
          </a:prstGeom>
        </p:spPr>
        <p:txBody>
          <a:bodyPr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+mj-lt"/>
                <a:ea typeface="+mj-ea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1.2 </a:t>
            </a:r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阶段</a:t>
            </a:r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回顾</a:t>
            </a:r>
            <a:endParaRPr lang="zh-CN" altLang="en-US" sz="24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9580" y="782811"/>
            <a:ext cx="11244700" cy="460375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defRPr/>
            </a:pPr>
            <a:r>
              <a:rPr lang="en-US" altLang="zh-CN" sz="1600" kern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2.0</a:t>
            </a:r>
            <a:r>
              <a:rPr lang="zh-CN" altLang="en-US" sz="1600" kern="1200" dirty="0" smtClean="0">
                <a:latin typeface="微软雅黑" panose="020B0503020204020204" charset="-122"/>
                <a:ea typeface="微软雅黑" panose="020B0503020204020204" charset="-122"/>
              </a:rPr>
              <a:t>阶段回顾</a:t>
            </a:r>
            <a:endParaRPr lang="zh-CN" altLang="en-US" sz="1000" b="0" kern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19100" y="5188789"/>
            <a:ext cx="11313372" cy="414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施策：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从六大模块全覆盖，调整至围绕偏差弱项有针对性的制定管理策略</a:t>
            </a:r>
            <a:endParaRPr lang="zh-CN" altLang="en-US" sz="14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5" name="RbLeanShape Right U-Shape 36"/>
          <p:cNvSpPr/>
          <p:nvPr>
            <p:custDataLst>
              <p:tags r:id="rId1"/>
            </p:custDataLst>
          </p:nvPr>
        </p:nvSpPr>
        <p:spPr>
          <a:xfrm>
            <a:off x="9164320" y="1206500"/>
            <a:ext cx="2392680" cy="5576570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noFill/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6" name="Rectangle 46"/>
          <p:cNvSpPr/>
          <p:nvPr>
            <p:custDataLst>
              <p:tags r:id="rId2"/>
            </p:custDataLst>
          </p:nvPr>
        </p:nvSpPr>
        <p:spPr>
          <a:xfrm>
            <a:off x="8987024" y="2825019"/>
            <a:ext cx="396000" cy="233515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2225" cap="flat" cmpd="sng" algn="ctr">
            <a:solidFill>
              <a:srgbClr val="FFFFFF"/>
            </a:solidFill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Segoe UI" panose="020B0502040204020203"/>
              </a:rPr>
              <a:t>经验总结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Segoe UI" panose="020B0502040204020203"/>
            </a:endParaRPr>
          </a:p>
        </p:txBody>
      </p:sp>
      <p:sp>
        <p:nvSpPr>
          <p:cNvPr id="197" name="Rectangle 112"/>
          <p:cNvSpPr/>
          <p:nvPr>
            <p:custDataLst>
              <p:tags r:id="rId3"/>
            </p:custDataLst>
          </p:nvPr>
        </p:nvSpPr>
        <p:spPr>
          <a:xfrm>
            <a:off x="9515475" y="2508885"/>
            <a:ext cx="2214880" cy="2647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问题及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应对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8" name="文本框 197"/>
          <p:cNvSpPr txBox="1"/>
          <p:nvPr>
            <p:custDataLst>
              <p:tags r:id="rId4"/>
            </p:custDataLst>
          </p:nvPr>
        </p:nvSpPr>
        <p:spPr>
          <a:xfrm>
            <a:off x="9515475" y="2720340"/>
            <a:ext cx="2359660" cy="385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313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体系构建不贯通</a:t>
            </a:r>
            <a:endParaRPr kumimoji="0" lang="zh-CN" altLang="en-US" sz="1200" b="1" i="0" u="none" strike="noStrike" kern="1200" cap="none" spc="0" normalizeH="0" baseline="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indent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strike="noStrike" kern="1200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问题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：未统筹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考虑投管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退端到端的全链路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贯通</a:t>
            </a:r>
            <a:endParaRPr kumimoji="0" lang="zh-CN" altLang="en-US" sz="1200" strike="noStrike" kern="1200" cap="none" spc="0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indent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应对措施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：全量梳理参股企业，打通</a:t>
            </a:r>
            <a:r>
              <a:rPr kumimoji="0" lang="zh-CN" altLang="en-US" sz="1200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投管退业务节点，构建一体化管控体系</a:t>
            </a:r>
            <a:endParaRPr kumimoji="0" lang="zh-CN" altLang="en-US" sz="1200" strike="noStrike" kern="1200" cap="none" spc="0" normalizeH="0" baseline="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313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功能定位不清晰</a:t>
            </a:r>
            <a:endParaRPr kumimoji="0" lang="zh-CN" altLang="en-US" sz="1200" b="1" i="0" strike="noStrike" kern="1200" cap="none" spc="0" normalizeH="0" baseline="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b="1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zh-CN" altLang="en-US" sz="12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：一企一策与日常投后管理边界模糊；分类与适配策略逻辑衔接存在断层</a:t>
            </a:r>
            <a:endParaRPr lang="zh-CN" altLang="en-US" sz="12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R="0" lvl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应对措施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：明确一企一策功能定位，分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类结论直接明确管理导向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marR="0" lvl="0" indent="-171450" algn="l" defTabSz="91313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价值发挥不凸显</a:t>
            </a:r>
            <a:endParaRPr kumimoji="0" lang="zh-CN" altLang="en-US" sz="1200" b="1" i="0" strike="noStrike" kern="1200" cap="none" spc="0" normalizeH="0" baseline="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b="1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zh-CN" altLang="en-US" sz="12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：一企一策偏流程推进，未体现管理价值</a:t>
            </a:r>
            <a:endParaRPr lang="zh-CN" altLang="en-US" sz="12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R="0" lvl="0" algn="l" defTabSz="9131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应对措施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：依据差异化管控策略明确专项任务，通过项目制推进达成目标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10" name="Straight Connector 276"/>
          <p:cNvCxnSpPr/>
          <p:nvPr/>
        </p:nvCxnSpPr>
        <p:spPr>
          <a:xfrm>
            <a:off x="8561483" y="3267896"/>
            <a:ext cx="0" cy="1404000"/>
          </a:xfrm>
          <a:prstGeom prst="line">
            <a:avLst/>
          </a:prstGeom>
          <a:noFill/>
          <a:ln w="12700" cap="flat" cmpd="sng" algn="ctr">
            <a:solidFill>
              <a:srgbClr val="C8C8C8">
                <a:lumMod val="90000"/>
              </a:srgbClr>
            </a:solidFill>
            <a:prstDash val="sysDot"/>
          </a:ln>
          <a:effectLst/>
        </p:spPr>
      </p:cxnSp>
      <p:grpSp>
        <p:nvGrpSpPr>
          <p:cNvPr id="211" name="组合 210"/>
          <p:cNvGrpSpPr/>
          <p:nvPr>
            <p:custDataLst>
              <p:tags r:id="rId5"/>
            </p:custDataLst>
          </p:nvPr>
        </p:nvGrpSpPr>
        <p:grpSpPr>
          <a:xfrm>
            <a:off x="8166735" y="1908175"/>
            <a:ext cx="687705" cy="4388485"/>
            <a:chOff x="4855705" y="-4490500"/>
            <a:chExt cx="687762" cy="3320647"/>
          </a:xfrm>
        </p:grpSpPr>
        <p:sp>
          <p:nvSpPr>
            <p:cNvPr id="212" name="Freeform 4"/>
            <p:cNvSpPr/>
            <p:nvPr/>
          </p:nvSpPr>
          <p:spPr>
            <a:xfrm>
              <a:off x="4855705" y="-4490500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3" name="Freeform 93"/>
            <p:cNvSpPr/>
            <p:nvPr/>
          </p:nvSpPr>
          <p:spPr>
            <a:xfrm flipV="1">
              <a:off x="4855705" y="-1908492"/>
              <a:ext cx="593896" cy="738639"/>
            </a:xfrm>
            <a:custGeom>
              <a:avLst/>
              <a:gdLst>
                <a:gd name="connsiteX0" fmla="*/ 0 w 1112520"/>
                <a:gd name="connsiteY0" fmla="*/ 0 h 830580"/>
                <a:gd name="connsiteX1" fmla="*/ 350520 w 1112520"/>
                <a:gd name="connsiteY1" fmla="*/ 0 h 830580"/>
                <a:gd name="connsiteX2" fmla="*/ 922020 w 1112520"/>
                <a:gd name="connsiteY2" fmla="*/ 830580 h 830580"/>
                <a:gd name="connsiteX3" fmla="*/ 1112520 w 1112520"/>
                <a:gd name="connsiteY3" fmla="*/ 83058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520" h="830580">
                  <a:moveTo>
                    <a:pt x="0" y="0"/>
                  </a:moveTo>
                  <a:lnTo>
                    <a:pt x="350520" y="0"/>
                  </a:lnTo>
                  <a:lnTo>
                    <a:pt x="922020" y="830580"/>
                  </a:lnTo>
                  <a:lnTo>
                    <a:pt x="1112520" y="830580"/>
                  </a:lnTo>
                </a:path>
              </a:pathLst>
            </a:custGeom>
            <a:noFill/>
            <a:ln w="12700" cap="flat" cmpd="sng" algn="ctr">
              <a:solidFill>
                <a:srgbClr val="C8C8C8">
                  <a:lumMod val="90000"/>
                </a:srgbClr>
              </a:solidFill>
              <a:prstDash val="solid"/>
              <a:tailEnd type="none" w="lg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endParaRPr>
            </a:p>
          </p:txBody>
        </p:sp>
        <p:cxnSp>
          <p:nvCxnSpPr>
            <p:cNvPr id="214" name="Straight Connector 256"/>
            <p:cNvCxnSpPr/>
            <p:nvPr>
              <p:custDataLst>
                <p:tags r:id="rId6"/>
              </p:custDataLst>
            </p:nvPr>
          </p:nvCxnSpPr>
          <p:spPr>
            <a:xfrm>
              <a:off x="5347275" y="-350644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5" name="Straight Connector 257"/>
            <p:cNvCxnSpPr/>
            <p:nvPr>
              <p:custDataLst>
                <p:tags r:id="rId7"/>
              </p:custDataLst>
            </p:nvPr>
          </p:nvCxnSpPr>
          <p:spPr>
            <a:xfrm>
              <a:off x="5347275" y="-324417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6" name="Straight Connector 258"/>
            <p:cNvCxnSpPr/>
            <p:nvPr>
              <p:custDataLst>
                <p:tags r:id="rId8"/>
              </p:custDataLst>
            </p:nvPr>
          </p:nvCxnSpPr>
          <p:spPr>
            <a:xfrm>
              <a:off x="5347275" y="-298190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7" name="Straight Connector 259"/>
            <p:cNvCxnSpPr/>
            <p:nvPr>
              <p:custDataLst>
                <p:tags r:id="rId9"/>
              </p:custDataLst>
            </p:nvPr>
          </p:nvCxnSpPr>
          <p:spPr>
            <a:xfrm>
              <a:off x="5347275" y="-271963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8" name="Straight Connector 260"/>
            <p:cNvCxnSpPr/>
            <p:nvPr>
              <p:custDataLst>
                <p:tags r:id="rId10"/>
              </p:custDataLst>
            </p:nvPr>
          </p:nvCxnSpPr>
          <p:spPr>
            <a:xfrm>
              <a:off x="5347275" y="-2457363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19" name="Straight Connector 261"/>
            <p:cNvCxnSpPr/>
            <p:nvPr>
              <p:custDataLst>
                <p:tags r:id="rId11"/>
              </p:custDataLst>
            </p:nvPr>
          </p:nvCxnSpPr>
          <p:spPr>
            <a:xfrm>
              <a:off x="5347275" y="-2195094"/>
              <a:ext cx="196192" cy="0"/>
            </a:xfrm>
            <a:prstGeom prst="line">
              <a:avLst/>
            </a:prstGeom>
            <a:noFill/>
            <a:ln w="12700" cap="flat" cmpd="sng" algn="ctr">
              <a:solidFill>
                <a:srgbClr val="000082"/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20" name="Straight Connector 267"/>
            <p:cNvCxnSpPr/>
            <p:nvPr>
              <p:custDataLst>
                <p:tags r:id="rId12"/>
              </p:custDataLst>
            </p:nvPr>
          </p:nvCxnSpPr>
          <p:spPr>
            <a:xfrm>
              <a:off x="5347275" y="-3751861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221" name="Straight Connector 268"/>
            <p:cNvCxnSpPr/>
            <p:nvPr>
              <p:custDataLst>
                <p:tags r:id="rId13"/>
              </p:custDataLst>
            </p:nvPr>
          </p:nvCxnSpPr>
          <p:spPr>
            <a:xfrm>
              <a:off x="5347275" y="-1908490"/>
              <a:ext cx="196192" cy="0"/>
            </a:xfrm>
            <a:prstGeom prst="line">
              <a:avLst/>
            </a:prstGeom>
            <a:noFill/>
            <a:ln w="15875" cap="flat" cmpd="sng" algn="ctr">
              <a:solidFill>
                <a:srgbClr val="C8C8C8">
                  <a:lumMod val="90000"/>
                </a:srgbClr>
              </a:solidFill>
              <a:prstDash val="solid"/>
              <a:tailEnd type="triangle" w="med" len="med"/>
            </a:ln>
            <a:effectLst/>
          </p:spPr>
        </p:cxnSp>
      </p:grpSp>
      <p:sp>
        <p:nvSpPr>
          <p:cNvPr id="224" name="矩形 223"/>
          <p:cNvSpPr/>
          <p:nvPr>
            <p:custDataLst>
              <p:tags r:id="rId14"/>
            </p:custDataLst>
          </p:nvPr>
        </p:nvSpPr>
        <p:spPr>
          <a:xfrm>
            <a:off x="573405" y="1642745"/>
            <a:ext cx="7385685" cy="2160905"/>
          </a:xfrm>
          <a:prstGeom prst="rect">
            <a:avLst/>
          </a:prstGeom>
          <a:noFill/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457200" y="1156335"/>
            <a:ext cx="7451090" cy="3740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algn="l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：从注重业态布局，调整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至突出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战略导向，以战略预期为判定标准，明确企业分类</a:t>
            </a:r>
            <a:r>
              <a:rPr lang="zh-CN" altLang="en-US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7-12</a:t>
            </a:r>
            <a:r>
              <a:rPr lang="zh-CN" altLang="en-US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分战略协同类、</a:t>
            </a:r>
            <a:r>
              <a:rPr lang="en-US" altLang="zh-CN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3-6</a:t>
            </a:r>
            <a:r>
              <a:rPr lang="zh-CN" altLang="en-US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分财务收益类、</a:t>
            </a:r>
            <a:r>
              <a:rPr lang="en-US" altLang="zh-CN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0-2</a:t>
            </a:r>
            <a:r>
              <a:rPr lang="zh-CN" altLang="en-US" sz="9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分股权退出类）</a:t>
            </a:r>
            <a:endParaRPr lang="zh-CN" altLang="en-US" sz="9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9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0" name="燕尾形箭头 239"/>
          <p:cNvSpPr/>
          <p:nvPr/>
        </p:nvSpPr>
        <p:spPr>
          <a:xfrm rot="5400000">
            <a:off x="142875" y="4363085"/>
            <a:ext cx="1307465" cy="438785"/>
          </a:xfrm>
          <a:prstGeom prst="notchedRightArrow">
            <a:avLst/>
          </a:prstGeom>
          <a:solidFill>
            <a:schemeClr val="accent1">
              <a:alpha val="1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112"/>
          <p:cNvSpPr/>
          <p:nvPr>
            <p:custDataLst>
              <p:tags r:id="rId15"/>
            </p:custDataLst>
          </p:nvPr>
        </p:nvSpPr>
        <p:spPr>
          <a:xfrm>
            <a:off x="9515475" y="1336040"/>
            <a:ext cx="2255520" cy="2647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试运行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RB Office"/>
                <a:ea typeface="微软雅黑" panose="020B0503020204020204" charset="-122"/>
                <a:cs typeface="Segoe UI" panose="020B0502040204020203"/>
              </a:rPr>
              <a:t>结果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RB Office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文本框 5"/>
          <p:cNvSpPr txBox="1"/>
          <p:nvPr>
            <p:custDataLst>
              <p:tags r:id="rId16"/>
            </p:custDataLst>
          </p:nvPr>
        </p:nvSpPr>
        <p:spPr>
          <a:xfrm>
            <a:off x="9514840" y="1586230"/>
            <a:ext cx="2178685" cy="567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algn="l" defTabSz="91313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34家参股企业全部运行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</a:t>
            </a:r>
            <a:r>
              <a:rPr kumimoji="0" lang="zh-CN" altLang="en-US" sz="1200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，其中</a:t>
            </a: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保留管控类</a:t>
            </a:r>
            <a:r>
              <a:rPr kumimoji="0" lang="en-US" altLang="zh-CN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23</a:t>
            </a: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家，保留赋能类</a:t>
            </a:r>
            <a:r>
              <a:rPr kumimoji="0" lang="en-US" altLang="zh-CN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6</a:t>
            </a: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家、调整类</a:t>
            </a:r>
            <a:r>
              <a:rPr kumimoji="0" lang="en-US" altLang="zh-CN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4</a:t>
            </a: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家、退出类</a:t>
            </a:r>
            <a:r>
              <a:rPr kumimoji="0" lang="en-US" altLang="zh-CN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</a:rPr>
              <a:t>家</a:t>
            </a:r>
            <a:endParaRPr kumimoji="0" lang="zh-CN" altLang="en-US" sz="1200" b="1" i="0" u="none" strike="noStrike" kern="1200" cap="none" spc="0" normalizeH="0" baseline="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662940" y="1758950"/>
          <a:ext cx="2284095" cy="2299970"/>
        </p:xfrm>
        <a:graphic>
          <a:graphicData uri="http://schemas.openxmlformats.org/drawingml/2006/table">
            <a:tbl>
              <a:tblPr/>
              <a:tblGrid>
                <a:gridCol w="222250"/>
                <a:gridCol w="269240"/>
                <a:gridCol w="1792605"/>
              </a:tblGrid>
              <a:tr h="191135"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lang="zh-CN" altLang="en-US" sz="80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29000"/>
                      </a:srgb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标签名称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战略预期</a:t>
                      </a:r>
                      <a:r>
                        <a:rPr lang="en-US" altLang="zh-CN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实际现状评价标准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1770">
                <a:tc rowSpan="8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战略定位（</a:t>
                      </a:r>
                      <a:r>
                        <a:rPr lang="en-US" altLang="zh-CN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分）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29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主业战略延伸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定性：与集团主业的业务重合程度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量化：参股企业与集团主业重合度</a:t>
                      </a:r>
                      <a:r>
                        <a:rPr lang="en-US" altLang="zh-CN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≥80%</a:t>
                      </a:r>
                      <a:endParaRPr lang="en-US" altLang="zh-CN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4470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战略合作层级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定性：在集团供应商体系中的合作等级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28905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量化：战略供应商</a:t>
                      </a:r>
                      <a:r>
                        <a:rPr lang="en-US" altLang="zh-CN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普通供应商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4310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产业补位价值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定性：补齐产业链短板、破解卡脖子技术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03200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量化：承担集团核心技术攻关</a:t>
                      </a:r>
                      <a:r>
                        <a:rPr lang="en-US" altLang="zh-CN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专利布局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166370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布局周期属性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定性：不属于短期变现，而是长期培育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45110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量化：退出周期＞</a:t>
                      </a:r>
                      <a:r>
                        <a:rPr lang="en-US" altLang="zh-CN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</a:t>
                      </a: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年，无盈利考核要求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3025140" y="1758950"/>
          <a:ext cx="2347595" cy="1950085"/>
        </p:xfrm>
        <a:graphic>
          <a:graphicData uri="http://schemas.openxmlformats.org/drawingml/2006/table">
            <a:tbl>
              <a:tblPr/>
              <a:tblGrid>
                <a:gridCol w="232410"/>
                <a:gridCol w="337185"/>
                <a:gridCol w="1778000"/>
              </a:tblGrid>
              <a:tr h="267335"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29000"/>
                      </a:srgb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战略预期</a:t>
                      </a:r>
                      <a:r>
                        <a:rPr lang="en-US" altLang="zh-CN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实际现状评价标准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4470">
                <a:tc rowSpan="8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战略执行（</a:t>
                      </a:r>
                      <a:r>
                        <a:rPr lang="en-US" altLang="zh-CN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分）</a:t>
                      </a:r>
                      <a:endParaRPr lang="zh-CN" altLang="en-US" sz="80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29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产品配套进度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定性：产品向集团配套落地的进展程度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9550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量化：已量产配套 / 定点待量产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18440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技术联合研发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定性：与集团开展技术协同开发的深度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37795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量化：深度联合攻关、常规项目合作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7645">
                <a:tc vMerge="1">
                  <a:tcPr marL="6667" marR="6667" marT="6667" marB="0" anchor="ctr" anchorCtr="0"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刚性任务承接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定性：刚性承接集团下达的协同任务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97815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量化：强制性协同任务承接率、完成率均≥80%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09550">
                <a:tc vMerge="1">
                  <a:tcPr marL="6667" marR="6667" marT="6667" marB="0" anchor="ctr" anchorCtr="0"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外派治理赋能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定性：通过外派董监高强化治理话语权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197485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量化：派驻核心高管、派驻董事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5471795" y="1755775"/>
          <a:ext cx="2436495" cy="1945005"/>
        </p:xfrm>
        <a:graphic>
          <a:graphicData uri="http://schemas.openxmlformats.org/drawingml/2006/table">
            <a:tbl>
              <a:tblPr/>
              <a:tblGrid>
                <a:gridCol w="257810"/>
                <a:gridCol w="368935"/>
                <a:gridCol w="1809750"/>
              </a:tblGrid>
              <a:tr h="27432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战略</a:t>
                      </a: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预期/实际现状评价标准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5105">
                <a:tc rowSpan="8"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战略成果（</a:t>
                      </a:r>
                      <a:r>
                        <a:rPr lang="en-US" altLang="zh-CN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80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分）</a:t>
                      </a:r>
                      <a:endParaRPr lang="zh-CN" altLang="en-US" sz="80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rgbClr val="92D050">
                        <a:alpha val="31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盈利目标达成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定性：年度利润预算指标完成情况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7485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量化：实际净利润≥年度考核指标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19075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技术溢出贡献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定性：技术成果向集团反向输出的数量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120"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量化：年共享知识产权 / 技术文档≥5项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08280">
                <a:tc vMerge="1">
                  <a:tcPr marL="6667" marR="6667" marT="6667" marB="0" anchor="ctr" anchorCtr="0"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经营质态稳健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定性：现金流、负债率等财务健康水平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66700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量化：资产负债率≤行业均值且经营性净现金流为正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154305">
                <a:tc vMerge="1">
                  <a:tcPr marL="6667" marR="6667" marT="6667" marB="0" anchor="ctr" anchorCtr="0"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协同效益产出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定性：产业配套、供应链协同有产出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  <a:tr h="221615">
                <a:tc vMerge="1">
                  <a:tcPr>
                    <a:lnL w="12700">
                      <a:solidFill>
                        <a:scrgbClr r="0" g="0" b="0"/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 vMerge="1">
                  <a:tcPr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量化：年协同交易额≥5000万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161790" y="4133850"/>
            <a:ext cx="2353945" cy="86042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buClrTx/>
              <a:buSzTx/>
              <a:buFontTx/>
            </a:pPr>
            <a:endParaRPr lang="zh-CN" altLang="en-US" sz="100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战略验证成功则巩固优势</a:t>
            </a:r>
            <a:endParaRPr lang="zh-CN" altLang="en-US" sz="100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战略正确但能力不足则赋能补短</a:t>
            </a:r>
            <a:endParaRPr lang="zh-CN" altLang="en-US" sz="100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战略或路径失效则重构校准</a:t>
            </a:r>
            <a:endParaRPr lang="zh-CN" altLang="en-US" sz="100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战略价值与管理效能双失果断退出</a:t>
            </a:r>
            <a:endParaRPr lang="zh-CN" altLang="en-US" sz="1000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62" name="表格 61"/>
          <p:cNvGraphicFramePr/>
          <p:nvPr>
            <p:custDataLst>
              <p:tags r:id="rId20"/>
            </p:custDataLst>
          </p:nvPr>
        </p:nvGraphicFramePr>
        <p:xfrm>
          <a:off x="1148080" y="3916680"/>
          <a:ext cx="3013075" cy="1360805"/>
        </p:xfrm>
        <a:graphic>
          <a:graphicData uri="http://schemas.openxmlformats.org/drawingml/2006/table">
            <a:tbl>
              <a:tblPr/>
              <a:tblGrid>
                <a:gridCol w="755650"/>
                <a:gridCol w="715010"/>
                <a:gridCol w="727710"/>
                <a:gridCol w="814705"/>
              </a:tblGrid>
              <a:tr h="224155">
                <a:tc>
                  <a:txBody>
                    <a:bodyPr/>
                    <a:p>
                      <a:pPr marL="0" algn="ctr" fontAlgn="ctr">
                        <a:lnSpc>
                          <a:spcPct val="8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</a:t>
                      </a:r>
                      <a:r>
                        <a:rPr lang="zh-CN" altLang="en-US" sz="8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800" b="1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8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战略执行</a:t>
                      </a:r>
                      <a:endParaRPr lang="zh-CN" altLang="en-US" sz="800" b="1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8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战略成果</a:t>
                      </a:r>
                      <a:endParaRPr lang="zh-CN" altLang="en-US" sz="800" b="1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8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形成策略分类</a:t>
                      </a:r>
                      <a:endParaRPr lang="zh-CN" altLang="en-US" sz="800" b="1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7005"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</a:t>
                      </a:r>
                      <a:endParaRPr lang="zh-CN" altLang="en-US" sz="800" b="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52400"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2875"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rowSpan="4"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23825"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9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3398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3271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</a:t>
                      </a:r>
                      <a:endParaRPr lang="zh-CN" altLang="en-US" sz="800" i="0">
                        <a:solidFill>
                          <a:schemeClr val="tx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>
            <p:custDataLst>
              <p:tags r:id="rId21"/>
            </p:custDataLst>
          </p:nvPr>
        </p:nvSpPr>
        <p:spPr>
          <a:xfrm>
            <a:off x="573405" y="5577205"/>
            <a:ext cx="7385685" cy="1086485"/>
          </a:xfrm>
          <a:prstGeom prst="rect">
            <a:avLst/>
          </a:prstGeom>
          <a:noFill/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2940" y="5564505"/>
            <a:ext cx="349758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保留管控策略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强化治理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派驻董事 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监事 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高管，参与决策监督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保留赋能策略</a:t>
            </a:r>
            <a:endParaRPr lang="zh-CN" altLang="en-US" sz="8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执行赋能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外派人员协助拆解任务，明确目标与责任人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订单倾斜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签订战略合作协议，推动业务协同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资金支持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申请国有资本金等，强化股权增值潜力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65295" y="5523230"/>
            <a:ext cx="3497580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调整策略</a:t>
            </a:r>
            <a:endParaRPr lang="zh-CN" altLang="en-US" sz="8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①定位重构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制定新业务定位，聚焦核心战略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②业务优化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协助剥离非协同业务，提升股权价值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③管理调整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调整六大管理手段，动态评估去向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8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退出策略</a:t>
            </a:r>
            <a:endParaRPr lang="zh-CN" altLang="en-US" sz="8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①资产划转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梳理协同资产，对接盘活 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划转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②资本运作</a:t>
            </a:r>
            <a:r>
              <a:rPr lang="en-US" altLang="zh-CN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通过股权转让、回购、清算等方式实现退出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5305" y="6616065"/>
            <a:ext cx="6096000" cy="245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000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0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案例展示：一汽中车</a:t>
            </a:r>
            <a:r>
              <a:rPr lang="en-US" altLang="zh-CN" sz="10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0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  <a:hlinkClick r:id="rId22" action="ppaction://hlinkfile"/>
              </a:rPr>
              <a:t>https://iwork.faw.cn/gq-0207_app_002/oneStrategy</a:t>
            </a:r>
            <a:r>
              <a:rPr lang="zh-CN" altLang="en-US" sz="1000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000" b="1" dirty="0" smtClean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3282950" y="3267075"/>
            <a:ext cx="6205855" cy="132588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、管理定位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、分类逻辑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、施策逻辑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、任务制定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、动态评估</a:t>
            </a:r>
            <a:endParaRPr lang="zh-CN" altLang="en-US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标题 5"/>
          <p:cNvSpPr txBox="1"/>
          <p:nvPr/>
        </p:nvSpPr>
        <p:spPr>
          <a:xfrm>
            <a:off x="536077" y="380846"/>
            <a:ext cx="10367010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2400" b="1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mtClean="0"/>
              <a:t>目  录</a:t>
            </a:r>
            <a:endParaRPr lang="zh-CN" altLang="en-US" dirty="0"/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3282658" y="1314602"/>
            <a:ext cx="6205855" cy="6121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进展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3282658" y="2108170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优化方案</a:t>
            </a:r>
            <a:endParaRPr lang="zh-CN" altLang="en-US" sz="20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2633689" y="1315237"/>
            <a:ext cx="600075" cy="619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一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41"/>
          <p:cNvSpPr>
            <a:spLocks noChangeArrowheads="1"/>
          </p:cNvSpPr>
          <p:nvPr/>
        </p:nvSpPr>
        <p:spPr bwMode="auto">
          <a:xfrm>
            <a:off x="2633689" y="2108804"/>
            <a:ext cx="600075" cy="6159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二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3282658" y="4799948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运行模拟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41"/>
          <p:cNvSpPr>
            <a:spLocks noChangeArrowheads="1"/>
          </p:cNvSpPr>
          <p:nvPr/>
        </p:nvSpPr>
        <p:spPr bwMode="auto">
          <a:xfrm>
            <a:off x="2633689" y="4800582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2" name="矩形 8"/>
          <p:cNvSpPr>
            <a:spLocks noChangeArrowheads="1"/>
          </p:cNvSpPr>
          <p:nvPr/>
        </p:nvSpPr>
        <p:spPr bwMode="auto">
          <a:xfrm>
            <a:off x="3282658" y="5566393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后续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安排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41"/>
          <p:cNvSpPr>
            <a:spLocks noChangeArrowheads="1"/>
          </p:cNvSpPr>
          <p:nvPr/>
        </p:nvSpPr>
        <p:spPr bwMode="auto">
          <a:xfrm>
            <a:off x="2633689" y="5567027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2"/>
          <p:cNvSpPr>
            <a:spLocks noChangeArrowheads="1"/>
          </p:cNvSpPr>
          <p:nvPr/>
        </p:nvSpPr>
        <p:spPr bwMode="auto">
          <a:xfrm>
            <a:off x="2405126" y="654852"/>
            <a:ext cx="9315976" cy="1050452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anchor="ctr"/>
          <a:lstStyle/>
          <a:p>
            <a:pPr marL="0" lvl="1" algn="just">
              <a:lnSpc>
                <a:spcPct val="125000"/>
              </a:lnSpc>
              <a:spcAft>
                <a:spcPts val="300"/>
              </a:spcAft>
              <a:buClr>
                <a:srgbClr val="152A8C"/>
              </a:buClr>
              <a:tabLst>
                <a:tab pos="0" algn="l"/>
              </a:tabLst>
            </a:pP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针对已进入投后管理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阶段</a:t>
            </a: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的参股企业，综合研判</a:t>
            </a:r>
            <a:r>
              <a:rPr lang="zh-CN" altLang="en-US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合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规管理</a:t>
            </a:r>
            <a:r>
              <a:rPr lang="zh-CN" altLang="en-US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要求、战略协同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情况、财务效益情况</a:t>
            </a: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，量身定制差异化管控策略，进而提升管理效能</a:t>
            </a:r>
            <a:endParaRPr lang="zh-CN" altLang="en-US" sz="1400" b="1" dirty="0" smtClean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" name="标题 5"/>
          <p:cNvSpPr txBox="1"/>
          <p:nvPr/>
        </p:nvSpPr>
        <p:spPr>
          <a:xfrm>
            <a:off x="449580" y="306705"/>
            <a:ext cx="9872980" cy="509905"/>
          </a:xfrm>
          <a:prstGeom prst="rect">
            <a:avLst/>
          </a:prstGeom>
        </p:spPr>
        <p:txBody>
          <a:bodyPr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+mj-lt"/>
                <a:ea typeface="+mj-ea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2.1 </a:t>
            </a:r>
            <a:r>
              <a:rPr lang="zh-CN" altLang="en-US" sz="24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管理定位</a:t>
            </a:r>
            <a:endParaRPr lang="zh-CN" altLang="en-US" sz="24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83"/>
          <p:cNvSpPr txBox="1"/>
          <p:nvPr/>
        </p:nvSpPr>
        <p:spPr>
          <a:xfrm>
            <a:off x="1040130" y="1010920"/>
            <a:ext cx="1546225" cy="366395"/>
          </a:xfrm>
          <a:prstGeom prst="rect">
            <a:avLst/>
          </a:prstGeom>
          <a:noFill/>
        </p:spPr>
        <p:txBody>
          <a:bodyPr wrap="square" lIns="121103" tIns="60584" rIns="121103" bIns="60584" rtlCol="0">
            <a:spAutoFit/>
          </a:bodyPr>
          <a:lstStyle/>
          <a:p>
            <a:pPr algn="ctr" defTabSz="1210945"/>
            <a:r>
              <a:rPr lang="zh-CN" altLang="en-US" sz="1600" b="1" u="sng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定义</a:t>
            </a:r>
            <a:endParaRPr lang="zh-CN" altLang="en-US" sz="1600" b="1" u="sng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92680" y="1505585"/>
            <a:ext cx="8716645" cy="84518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rtlCol="0" anchor="t" anchorCtr="0">
            <a:spAutoFit/>
          </a:bodyPr>
          <a:p>
            <a:pPr marL="0" lvl="1" algn="just">
              <a:lnSpc>
                <a:spcPct val="105000"/>
              </a:lnSpc>
              <a:spcAft>
                <a:spcPts val="300"/>
              </a:spcAft>
              <a:buClr>
                <a:srgbClr val="152A8C"/>
              </a:buClr>
              <a:buSzTx/>
              <a:buFontTx/>
              <a:tabLst>
                <a:tab pos="0" algn="l"/>
              </a:tabLst>
            </a:pP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①一企一策是投后工作起点，是日常投后管理的重要输入</a:t>
            </a:r>
            <a:endParaRPr lang="zh-CN" altLang="en-US" sz="1400" b="1" dirty="0" smtClean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lvl="1" algn="just">
              <a:lnSpc>
                <a:spcPct val="105000"/>
              </a:lnSpc>
              <a:spcAft>
                <a:spcPts val="300"/>
              </a:spcAft>
              <a:buClr>
                <a:srgbClr val="152A8C"/>
              </a:buClr>
              <a:buSzTx/>
              <a:buFontTx/>
              <a:tabLst>
                <a:tab pos="0" algn="l"/>
              </a:tabLst>
            </a:pP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②通过一企一策任务推进，可重新审视分类准确性</a:t>
            </a:r>
            <a:endParaRPr lang="zh-CN" altLang="en-US" sz="1400" b="1" dirty="0" smtClean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0" lvl="1" algn="just">
              <a:lnSpc>
                <a:spcPct val="105000"/>
              </a:lnSpc>
              <a:spcAft>
                <a:spcPts val="300"/>
              </a:spcAft>
              <a:buClr>
                <a:srgbClr val="152A8C"/>
              </a:buClr>
              <a:buSzTx/>
              <a:buFontTx/>
              <a:tabLst>
                <a:tab pos="0" algn="l"/>
              </a:tabLst>
            </a:pP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③通过动态优化，建立一企一策自循环</a:t>
            </a:r>
            <a:r>
              <a:rPr lang="zh-CN" altLang="en-US" sz="1400" b="1" dirty="0" smtClean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机制</a:t>
            </a:r>
            <a:endParaRPr lang="zh-CN" altLang="en-US" sz="1400" b="1" dirty="0" smtClean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24" name="Group 43"/>
          <p:cNvGrpSpPr>
            <a:grpSpLocks noChangeAspect="1"/>
          </p:cNvGrpSpPr>
          <p:nvPr/>
        </p:nvGrpSpPr>
        <p:grpSpPr bwMode="auto">
          <a:xfrm>
            <a:off x="896006" y="1708512"/>
            <a:ext cx="502999" cy="449681"/>
            <a:chOff x="904" y="179"/>
            <a:chExt cx="4434" cy="3964"/>
          </a:xfrm>
          <a:solidFill>
            <a:srgbClr val="152A8C"/>
          </a:solidFill>
        </p:grpSpPr>
        <p:sp>
          <p:nvSpPr>
            <p:cNvPr id="25" name="Freeform 44"/>
            <p:cNvSpPr/>
            <p:nvPr/>
          </p:nvSpPr>
          <p:spPr bwMode="auto">
            <a:xfrm>
              <a:off x="3333" y="1436"/>
              <a:ext cx="328" cy="316"/>
            </a:xfrm>
            <a:custGeom>
              <a:avLst/>
              <a:gdLst>
                <a:gd name="T0" fmla="*/ 139 w 139"/>
                <a:gd name="T1" fmla="*/ 83 h 134"/>
                <a:gd name="T2" fmla="*/ 0 w 139"/>
                <a:gd name="T3" fmla="*/ 0 h 134"/>
                <a:gd name="T4" fmla="*/ 74 w 139"/>
                <a:gd name="T5" fmla="*/ 134 h 134"/>
                <a:gd name="T6" fmla="*/ 139 w 139"/>
                <a:gd name="T7" fmla="*/ 8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34">
                  <a:moveTo>
                    <a:pt x="139" y="83"/>
                  </a:moveTo>
                  <a:cubicBezTo>
                    <a:pt x="100" y="44"/>
                    <a:pt x="53" y="16"/>
                    <a:pt x="0" y="0"/>
                  </a:cubicBezTo>
                  <a:cubicBezTo>
                    <a:pt x="32" y="41"/>
                    <a:pt x="57" y="86"/>
                    <a:pt x="74" y="134"/>
                  </a:cubicBezTo>
                  <a:cubicBezTo>
                    <a:pt x="97" y="120"/>
                    <a:pt x="119" y="103"/>
                    <a:pt x="139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6" name="Freeform 45"/>
            <p:cNvSpPr/>
            <p:nvPr/>
          </p:nvSpPr>
          <p:spPr bwMode="auto">
            <a:xfrm>
              <a:off x="3548" y="1750"/>
              <a:ext cx="371" cy="822"/>
            </a:xfrm>
            <a:custGeom>
              <a:avLst/>
              <a:gdLst>
                <a:gd name="T0" fmla="*/ 88 w 157"/>
                <a:gd name="T1" fmla="*/ 348 h 348"/>
                <a:gd name="T2" fmla="*/ 88 w 157"/>
                <a:gd name="T3" fmla="*/ 0 h 348"/>
                <a:gd name="T4" fmla="*/ 0 w 157"/>
                <a:gd name="T5" fmla="*/ 65 h 348"/>
                <a:gd name="T6" fmla="*/ 0 w 157"/>
                <a:gd name="T7" fmla="*/ 283 h 348"/>
                <a:gd name="T8" fmla="*/ 88 w 157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348">
                  <a:moveTo>
                    <a:pt x="88" y="348"/>
                  </a:moveTo>
                  <a:cubicBezTo>
                    <a:pt x="157" y="242"/>
                    <a:pt x="157" y="106"/>
                    <a:pt x="88" y="0"/>
                  </a:cubicBezTo>
                  <a:cubicBezTo>
                    <a:pt x="62" y="26"/>
                    <a:pt x="33" y="48"/>
                    <a:pt x="0" y="65"/>
                  </a:cubicBezTo>
                  <a:cubicBezTo>
                    <a:pt x="16" y="137"/>
                    <a:pt x="16" y="211"/>
                    <a:pt x="0" y="283"/>
                  </a:cubicBezTo>
                  <a:cubicBezTo>
                    <a:pt x="33" y="300"/>
                    <a:pt x="62" y="322"/>
                    <a:pt x="88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8" name="Freeform 46"/>
            <p:cNvSpPr/>
            <p:nvPr/>
          </p:nvSpPr>
          <p:spPr bwMode="auto">
            <a:xfrm>
              <a:off x="2877" y="2463"/>
              <a:ext cx="491" cy="430"/>
            </a:xfrm>
            <a:custGeom>
              <a:avLst/>
              <a:gdLst>
                <a:gd name="T0" fmla="*/ 104 w 208"/>
                <a:gd name="T1" fmla="*/ 0 h 182"/>
                <a:gd name="T2" fmla="*/ 0 w 208"/>
                <a:gd name="T3" fmla="*/ 18 h 182"/>
                <a:gd name="T4" fmla="*/ 104 w 208"/>
                <a:gd name="T5" fmla="*/ 182 h 182"/>
                <a:gd name="T6" fmla="*/ 208 w 208"/>
                <a:gd name="T7" fmla="*/ 17 h 182"/>
                <a:gd name="T8" fmla="*/ 104 w 208"/>
                <a:gd name="T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182">
                  <a:moveTo>
                    <a:pt x="104" y="0"/>
                  </a:moveTo>
                  <a:cubicBezTo>
                    <a:pt x="69" y="0"/>
                    <a:pt x="33" y="6"/>
                    <a:pt x="0" y="18"/>
                  </a:cubicBezTo>
                  <a:cubicBezTo>
                    <a:pt x="20" y="80"/>
                    <a:pt x="56" y="137"/>
                    <a:pt x="104" y="182"/>
                  </a:cubicBezTo>
                  <a:cubicBezTo>
                    <a:pt x="152" y="137"/>
                    <a:pt x="188" y="80"/>
                    <a:pt x="208" y="17"/>
                  </a:cubicBezTo>
                  <a:cubicBezTo>
                    <a:pt x="175" y="6"/>
                    <a:pt x="14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29" name="Freeform 47"/>
            <p:cNvSpPr/>
            <p:nvPr/>
          </p:nvSpPr>
          <p:spPr bwMode="auto">
            <a:xfrm>
              <a:off x="2586" y="2569"/>
              <a:ext cx="326" cy="317"/>
            </a:xfrm>
            <a:custGeom>
              <a:avLst/>
              <a:gdLst>
                <a:gd name="T0" fmla="*/ 0 w 138"/>
                <a:gd name="T1" fmla="*/ 51 h 134"/>
                <a:gd name="T2" fmla="*/ 138 w 138"/>
                <a:gd name="T3" fmla="*/ 134 h 134"/>
                <a:gd name="T4" fmla="*/ 65 w 138"/>
                <a:gd name="T5" fmla="*/ 0 h 134"/>
                <a:gd name="T6" fmla="*/ 0 w 138"/>
                <a:gd name="T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34">
                  <a:moveTo>
                    <a:pt x="0" y="51"/>
                  </a:moveTo>
                  <a:cubicBezTo>
                    <a:pt x="38" y="90"/>
                    <a:pt x="86" y="118"/>
                    <a:pt x="138" y="134"/>
                  </a:cubicBezTo>
                  <a:cubicBezTo>
                    <a:pt x="106" y="93"/>
                    <a:pt x="82" y="48"/>
                    <a:pt x="65" y="0"/>
                  </a:cubicBezTo>
                  <a:cubicBezTo>
                    <a:pt x="41" y="14"/>
                    <a:pt x="19" y="31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0" name="Freeform 48"/>
            <p:cNvSpPr/>
            <p:nvPr/>
          </p:nvSpPr>
          <p:spPr bwMode="auto">
            <a:xfrm>
              <a:off x="2877" y="1428"/>
              <a:ext cx="491" cy="430"/>
            </a:xfrm>
            <a:custGeom>
              <a:avLst/>
              <a:gdLst>
                <a:gd name="T0" fmla="*/ 104 w 208"/>
                <a:gd name="T1" fmla="*/ 182 h 182"/>
                <a:gd name="T2" fmla="*/ 208 w 208"/>
                <a:gd name="T3" fmla="*/ 165 h 182"/>
                <a:gd name="T4" fmla="*/ 104 w 208"/>
                <a:gd name="T5" fmla="*/ 0 h 182"/>
                <a:gd name="T6" fmla="*/ 0 w 208"/>
                <a:gd name="T7" fmla="*/ 164 h 182"/>
                <a:gd name="T8" fmla="*/ 104 w 208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182">
                  <a:moveTo>
                    <a:pt x="104" y="182"/>
                  </a:moveTo>
                  <a:cubicBezTo>
                    <a:pt x="140" y="182"/>
                    <a:pt x="175" y="176"/>
                    <a:pt x="208" y="165"/>
                  </a:cubicBezTo>
                  <a:cubicBezTo>
                    <a:pt x="188" y="102"/>
                    <a:pt x="152" y="45"/>
                    <a:pt x="104" y="0"/>
                  </a:cubicBezTo>
                  <a:cubicBezTo>
                    <a:pt x="56" y="45"/>
                    <a:pt x="20" y="102"/>
                    <a:pt x="0" y="164"/>
                  </a:cubicBezTo>
                  <a:cubicBezTo>
                    <a:pt x="33" y="176"/>
                    <a:pt x="69" y="182"/>
                    <a:pt x="104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1" name="Freeform 49"/>
            <p:cNvSpPr/>
            <p:nvPr/>
          </p:nvSpPr>
          <p:spPr bwMode="auto">
            <a:xfrm>
              <a:off x="2815" y="1965"/>
              <a:ext cx="617" cy="392"/>
            </a:xfrm>
            <a:custGeom>
              <a:avLst/>
              <a:gdLst>
                <a:gd name="T0" fmla="*/ 10 w 261"/>
                <a:gd name="T1" fmla="*/ 0 h 166"/>
                <a:gd name="T2" fmla="*/ 10 w 261"/>
                <a:gd name="T3" fmla="*/ 166 h 166"/>
                <a:gd name="T4" fmla="*/ 250 w 261"/>
                <a:gd name="T5" fmla="*/ 166 h 166"/>
                <a:gd name="T6" fmla="*/ 250 w 261"/>
                <a:gd name="T7" fmla="*/ 0 h 166"/>
                <a:gd name="T8" fmla="*/ 10 w 261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166">
                  <a:moveTo>
                    <a:pt x="10" y="0"/>
                  </a:moveTo>
                  <a:cubicBezTo>
                    <a:pt x="0" y="55"/>
                    <a:pt x="0" y="111"/>
                    <a:pt x="10" y="166"/>
                  </a:cubicBezTo>
                  <a:cubicBezTo>
                    <a:pt x="88" y="140"/>
                    <a:pt x="172" y="140"/>
                    <a:pt x="250" y="166"/>
                  </a:cubicBezTo>
                  <a:cubicBezTo>
                    <a:pt x="261" y="111"/>
                    <a:pt x="261" y="55"/>
                    <a:pt x="250" y="0"/>
                  </a:cubicBezTo>
                  <a:cubicBezTo>
                    <a:pt x="172" y="26"/>
                    <a:pt x="88" y="26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2" name="Freeform 50"/>
            <p:cNvSpPr/>
            <p:nvPr/>
          </p:nvSpPr>
          <p:spPr bwMode="auto">
            <a:xfrm>
              <a:off x="2326" y="1750"/>
              <a:ext cx="371" cy="822"/>
            </a:xfrm>
            <a:custGeom>
              <a:avLst/>
              <a:gdLst>
                <a:gd name="T0" fmla="*/ 69 w 157"/>
                <a:gd name="T1" fmla="*/ 0 h 348"/>
                <a:gd name="T2" fmla="*/ 69 w 157"/>
                <a:gd name="T3" fmla="*/ 348 h 348"/>
                <a:gd name="T4" fmla="*/ 157 w 157"/>
                <a:gd name="T5" fmla="*/ 283 h 348"/>
                <a:gd name="T6" fmla="*/ 157 w 157"/>
                <a:gd name="T7" fmla="*/ 65 h 348"/>
                <a:gd name="T8" fmla="*/ 69 w 157"/>
                <a:gd name="T9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348">
                  <a:moveTo>
                    <a:pt x="69" y="0"/>
                  </a:moveTo>
                  <a:cubicBezTo>
                    <a:pt x="0" y="106"/>
                    <a:pt x="0" y="242"/>
                    <a:pt x="69" y="348"/>
                  </a:cubicBezTo>
                  <a:cubicBezTo>
                    <a:pt x="95" y="322"/>
                    <a:pt x="125" y="300"/>
                    <a:pt x="157" y="283"/>
                  </a:cubicBezTo>
                  <a:cubicBezTo>
                    <a:pt x="142" y="211"/>
                    <a:pt x="142" y="137"/>
                    <a:pt x="157" y="65"/>
                  </a:cubicBezTo>
                  <a:cubicBezTo>
                    <a:pt x="125" y="48"/>
                    <a:pt x="95" y="26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3" name="Freeform 51"/>
            <p:cNvSpPr/>
            <p:nvPr/>
          </p:nvSpPr>
          <p:spPr bwMode="auto">
            <a:xfrm>
              <a:off x="2586" y="1436"/>
              <a:ext cx="326" cy="316"/>
            </a:xfrm>
            <a:custGeom>
              <a:avLst/>
              <a:gdLst>
                <a:gd name="T0" fmla="*/ 138 w 138"/>
                <a:gd name="T1" fmla="*/ 0 h 134"/>
                <a:gd name="T2" fmla="*/ 0 w 138"/>
                <a:gd name="T3" fmla="*/ 83 h 134"/>
                <a:gd name="T4" fmla="*/ 65 w 138"/>
                <a:gd name="T5" fmla="*/ 134 h 134"/>
                <a:gd name="T6" fmla="*/ 138 w 138"/>
                <a:gd name="T7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34">
                  <a:moveTo>
                    <a:pt x="138" y="0"/>
                  </a:moveTo>
                  <a:cubicBezTo>
                    <a:pt x="86" y="16"/>
                    <a:pt x="38" y="44"/>
                    <a:pt x="0" y="83"/>
                  </a:cubicBezTo>
                  <a:cubicBezTo>
                    <a:pt x="19" y="103"/>
                    <a:pt x="41" y="120"/>
                    <a:pt x="65" y="134"/>
                  </a:cubicBezTo>
                  <a:cubicBezTo>
                    <a:pt x="82" y="86"/>
                    <a:pt x="106" y="41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4" name="Freeform 52"/>
            <p:cNvSpPr/>
            <p:nvPr/>
          </p:nvSpPr>
          <p:spPr bwMode="auto">
            <a:xfrm>
              <a:off x="3335" y="2569"/>
              <a:ext cx="326" cy="317"/>
            </a:xfrm>
            <a:custGeom>
              <a:avLst/>
              <a:gdLst>
                <a:gd name="T0" fmla="*/ 32 w 138"/>
                <a:gd name="T1" fmla="*/ 87 h 134"/>
                <a:gd name="T2" fmla="*/ 0 w 138"/>
                <a:gd name="T3" fmla="*/ 134 h 134"/>
                <a:gd name="T4" fmla="*/ 56 w 138"/>
                <a:gd name="T5" fmla="*/ 111 h 134"/>
                <a:gd name="T6" fmla="*/ 87 w 138"/>
                <a:gd name="T7" fmla="*/ 93 h 134"/>
                <a:gd name="T8" fmla="*/ 138 w 138"/>
                <a:gd name="T9" fmla="*/ 51 h 134"/>
                <a:gd name="T10" fmla="*/ 73 w 138"/>
                <a:gd name="T11" fmla="*/ 0 h 134"/>
                <a:gd name="T12" fmla="*/ 32 w 138"/>
                <a:gd name="T13" fmla="*/ 8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134">
                  <a:moveTo>
                    <a:pt x="32" y="87"/>
                  </a:moveTo>
                  <a:cubicBezTo>
                    <a:pt x="22" y="103"/>
                    <a:pt x="11" y="119"/>
                    <a:pt x="0" y="134"/>
                  </a:cubicBezTo>
                  <a:cubicBezTo>
                    <a:pt x="19" y="128"/>
                    <a:pt x="38" y="121"/>
                    <a:pt x="56" y="111"/>
                  </a:cubicBezTo>
                  <a:cubicBezTo>
                    <a:pt x="66" y="106"/>
                    <a:pt x="77" y="100"/>
                    <a:pt x="87" y="93"/>
                  </a:cubicBezTo>
                  <a:cubicBezTo>
                    <a:pt x="105" y="81"/>
                    <a:pt x="122" y="67"/>
                    <a:pt x="138" y="51"/>
                  </a:cubicBezTo>
                  <a:cubicBezTo>
                    <a:pt x="118" y="31"/>
                    <a:pt x="96" y="14"/>
                    <a:pt x="73" y="0"/>
                  </a:cubicBezTo>
                  <a:cubicBezTo>
                    <a:pt x="62" y="30"/>
                    <a:pt x="48" y="59"/>
                    <a:pt x="32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  <p:sp>
          <p:nvSpPr>
            <p:cNvPr id="35" name="Freeform 53"/>
            <p:cNvSpPr>
              <a:spLocks noEditPoints="1"/>
            </p:cNvSpPr>
            <p:nvPr/>
          </p:nvSpPr>
          <p:spPr bwMode="auto">
            <a:xfrm>
              <a:off x="904" y="179"/>
              <a:ext cx="4434" cy="3964"/>
            </a:xfrm>
            <a:custGeom>
              <a:avLst/>
              <a:gdLst>
                <a:gd name="T0" fmla="*/ 1663 w 1877"/>
                <a:gd name="T1" fmla="*/ 686 h 1678"/>
                <a:gd name="T2" fmla="*/ 1467 w 1877"/>
                <a:gd name="T3" fmla="*/ 101 h 1678"/>
                <a:gd name="T4" fmla="*/ 1166 w 1877"/>
                <a:gd name="T5" fmla="*/ 136 h 1678"/>
                <a:gd name="T6" fmla="*/ 574 w 1877"/>
                <a:gd name="T7" fmla="*/ 8 h 1678"/>
                <a:gd name="T8" fmla="*/ 447 w 1877"/>
                <a:gd name="T9" fmla="*/ 285 h 1678"/>
                <a:gd name="T10" fmla="*/ 40 w 1877"/>
                <a:gd name="T11" fmla="*/ 746 h 1678"/>
                <a:gd name="T12" fmla="*/ 216 w 1877"/>
                <a:gd name="T13" fmla="*/ 992 h 1678"/>
                <a:gd name="T14" fmla="*/ 411 w 1877"/>
                <a:gd name="T15" fmla="*/ 1577 h 1678"/>
                <a:gd name="T16" fmla="*/ 712 w 1877"/>
                <a:gd name="T17" fmla="*/ 1542 h 1678"/>
                <a:gd name="T18" fmla="*/ 1304 w 1877"/>
                <a:gd name="T19" fmla="*/ 1670 h 1678"/>
                <a:gd name="T20" fmla="*/ 1431 w 1877"/>
                <a:gd name="T21" fmla="*/ 1393 h 1678"/>
                <a:gd name="T22" fmla="*/ 1828 w 1877"/>
                <a:gd name="T23" fmla="*/ 943 h 1678"/>
                <a:gd name="T24" fmla="*/ 1706 w 1877"/>
                <a:gd name="T25" fmla="*/ 679 h 1678"/>
                <a:gd name="T26" fmla="*/ 1276 w 1877"/>
                <a:gd name="T27" fmla="*/ 1358 h 1678"/>
                <a:gd name="T28" fmla="*/ 1102 w 1877"/>
                <a:gd name="T29" fmla="*/ 1186 h 1678"/>
                <a:gd name="T30" fmla="*/ 1166 w 1877"/>
                <a:gd name="T31" fmla="*/ 1478 h 1678"/>
                <a:gd name="T32" fmla="*/ 659 w 1877"/>
                <a:gd name="T33" fmla="*/ 1389 h 1678"/>
                <a:gd name="T34" fmla="*/ 721 w 1877"/>
                <a:gd name="T35" fmla="*/ 1154 h 1678"/>
                <a:gd name="T36" fmla="*/ 502 w 1877"/>
                <a:gd name="T37" fmla="*/ 1360 h 1678"/>
                <a:gd name="T38" fmla="*/ 329 w 1877"/>
                <a:gd name="T39" fmla="*/ 871 h 1678"/>
                <a:gd name="T40" fmla="*/ 556 w 1877"/>
                <a:gd name="T41" fmla="*/ 839 h 1678"/>
                <a:gd name="T42" fmla="*/ 329 w 1877"/>
                <a:gd name="T43" fmla="*/ 807 h 1678"/>
                <a:gd name="T44" fmla="*/ 502 w 1877"/>
                <a:gd name="T45" fmla="*/ 318 h 1678"/>
                <a:gd name="T46" fmla="*/ 721 w 1877"/>
                <a:gd name="T47" fmla="*/ 524 h 1678"/>
                <a:gd name="T48" fmla="*/ 659 w 1877"/>
                <a:gd name="T49" fmla="*/ 289 h 1678"/>
                <a:gd name="T50" fmla="*/ 1166 w 1877"/>
                <a:gd name="T51" fmla="*/ 200 h 1678"/>
                <a:gd name="T52" fmla="*/ 1102 w 1877"/>
                <a:gd name="T53" fmla="*/ 493 h 1678"/>
                <a:gd name="T54" fmla="*/ 1276 w 1877"/>
                <a:gd name="T55" fmla="*/ 320 h 1678"/>
                <a:gd name="T56" fmla="*/ 1606 w 1877"/>
                <a:gd name="T57" fmla="*/ 716 h 1678"/>
                <a:gd name="T58" fmla="*/ 1321 w 1877"/>
                <a:gd name="T59" fmla="*/ 807 h 1678"/>
                <a:gd name="T60" fmla="*/ 1321 w 1877"/>
                <a:gd name="T61" fmla="*/ 871 h 1678"/>
                <a:gd name="T62" fmla="*/ 1606 w 1877"/>
                <a:gd name="T63" fmla="*/ 963 h 1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77" h="1678">
                  <a:moveTo>
                    <a:pt x="1706" y="679"/>
                  </a:moveTo>
                  <a:cubicBezTo>
                    <a:pt x="1691" y="679"/>
                    <a:pt x="1677" y="682"/>
                    <a:pt x="1663" y="686"/>
                  </a:cubicBezTo>
                  <a:cubicBezTo>
                    <a:pt x="1431" y="285"/>
                    <a:pt x="1431" y="285"/>
                    <a:pt x="1431" y="285"/>
                  </a:cubicBezTo>
                  <a:cubicBezTo>
                    <a:pt x="1482" y="238"/>
                    <a:pt x="1496" y="164"/>
                    <a:pt x="1467" y="101"/>
                  </a:cubicBezTo>
                  <a:cubicBezTo>
                    <a:pt x="1439" y="38"/>
                    <a:pt x="1373" y="1"/>
                    <a:pt x="1304" y="9"/>
                  </a:cubicBezTo>
                  <a:cubicBezTo>
                    <a:pt x="1235" y="17"/>
                    <a:pt x="1180" y="68"/>
                    <a:pt x="1166" y="136"/>
                  </a:cubicBezTo>
                  <a:cubicBezTo>
                    <a:pt x="712" y="136"/>
                    <a:pt x="712" y="136"/>
                    <a:pt x="712" y="136"/>
                  </a:cubicBezTo>
                  <a:cubicBezTo>
                    <a:pt x="699" y="68"/>
                    <a:pt x="643" y="17"/>
                    <a:pt x="574" y="8"/>
                  </a:cubicBezTo>
                  <a:cubicBezTo>
                    <a:pt x="505" y="0"/>
                    <a:pt x="439" y="38"/>
                    <a:pt x="410" y="101"/>
                  </a:cubicBezTo>
                  <a:cubicBezTo>
                    <a:pt x="381" y="163"/>
                    <a:pt x="396" y="238"/>
                    <a:pt x="447" y="285"/>
                  </a:cubicBezTo>
                  <a:cubicBezTo>
                    <a:pt x="216" y="686"/>
                    <a:pt x="216" y="686"/>
                    <a:pt x="216" y="686"/>
                  </a:cubicBezTo>
                  <a:cubicBezTo>
                    <a:pt x="150" y="666"/>
                    <a:pt x="80" y="691"/>
                    <a:pt x="40" y="746"/>
                  </a:cubicBezTo>
                  <a:cubicBezTo>
                    <a:pt x="0" y="802"/>
                    <a:pt x="0" y="876"/>
                    <a:pt x="40" y="932"/>
                  </a:cubicBezTo>
                  <a:cubicBezTo>
                    <a:pt x="80" y="988"/>
                    <a:pt x="150" y="1012"/>
                    <a:pt x="216" y="992"/>
                  </a:cubicBezTo>
                  <a:cubicBezTo>
                    <a:pt x="447" y="1393"/>
                    <a:pt x="447" y="1393"/>
                    <a:pt x="447" y="1393"/>
                  </a:cubicBezTo>
                  <a:cubicBezTo>
                    <a:pt x="397" y="1440"/>
                    <a:pt x="382" y="1514"/>
                    <a:pt x="411" y="1577"/>
                  </a:cubicBezTo>
                  <a:cubicBezTo>
                    <a:pt x="440" y="1640"/>
                    <a:pt x="506" y="1677"/>
                    <a:pt x="574" y="1669"/>
                  </a:cubicBezTo>
                  <a:cubicBezTo>
                    <a:pt x="643" y="1661"/>
                    <a:pt x="699" y="1610"/>
                    <a:pt x="712" y="1542"/>
                  </a:cubicBezTo>
                  <a:cubicBezTo>
                    <a:pt x="1166" y="1542"/>
                    <a:pt x="1166" y="1542"/>
                    <a:pt x="1166" y="1542"/>
                  </a:cubicBezTo>
                  <a:cubicBezTo>
                    <a:pt x="1180" y="1610"/>
                    <a:pt x="1235" y="1662"/>
                    <a:pt x="1304" y="1670"/>
                  </a:cubicBezTo>
                  <a:cubicBezTo>
                    <a:pt x="1373" y="1678"/>
                    <a:pt x="1439" y="1641"/>
                    <a:pt x="1468" y="1578"/>
                  </a:cubicBezTo>
                  <a:cubicBezTo>
                    <a:pt x="1497" y="1515"/>
                    <a:pt x="1482" y="1440"/>
                    <a:pt x="1431" y="1393"/>
                  </a:cubicBezTo>
                  <a:cubicBezTo>
                    <a:pt x="1663" y="992"/>
                    <a:pt x="1663" y="992"/>
                    <a:pt x="1663" y="992"/>
                  </a:cubicBezTo>
                  <a:cubicBezTo>
                    <a:pt x="1723" y="1009"/>
                    <a:pt x="1787" y="990"/>
                    <a:pt x="1828" y="943"/>
                  </a:cubicBezTo>
                  <a:cubicBezTo>
                    <a:pt x="1868" y="895"/>
                    <a:pt x="1877" y="829"/>
                    <a:pt x="1851" y="772"/>
                  </a:cubicBezTo>
                  <a:cubicBezTo>
                    <a:pt x="1825" y="715"/>
                    <a:pt x="1768" y="679"/>
                    <a:pt x="1706" y="679"/>
                  </a:cubicBezTo>
                  <a:close/>
                  <a:moveTo>
                    <a:pt x="1376" y="1360"/>
                  </a:moveTo>
                  <a:cubicBezTo>
                    <a:pt x="1344" y="1348"/>
                    <a:pt x="1308" y="1347"/>
                    <a:pt x="1276" y="1358"/>
                  </a:cubicBezTo>
                  <a:cubicBezTo>
                    <a:pt x="1158" y="1154"/>
                    <a:pt x="1158" y="1154"/>
                    <a:pt x="1158" y="1154"/>
                  </a:cubicBezTo>
                  <a:cubicBezTo>
                    <a:pt x="1140" y="1166"/>
                    <a:pt x="1122" y="1177"/>
                    <a:pt x="1102" y="1186"/>
                  </a:cubicBezTo>
                  <a:cubicBezTo>
                    <a:pt x="1220" y="1389"/>
                    <a:pt x="1220" y="1389"/>
                    <a:pt x="1220" y="1389"/>
                  </a:cubicBezTo>
                  <a:cubicBezTo>
                    <a:pt x="1192" y="1412"/>
                    <a:pt x="1173" y="1443"/>
                    <a:pt x="1166" y="1478"/>
                  </a:cubicBezTo>
                  <a:cubicBezTo>
                    <a:pt x="712" y="1478"/>
                    <a:pt x="712" y="1478"/>
                    <a:pt x="712" y="1478"/>
                  </a:cubicBezTo>
                  <a:cubicBezTo>
                    <a:pt x="705" y="1443"/>
                    <a:pt x="686" y="1412"/>
                    <a:pt x="659" y="1389"/>
                  </a:cubicBezTo>
                  <a:cubicBezTo>
                    <a:pt x="776" y="1186"/>
                    <a:pt x="776" y="1186"/>
                    <a:pt x="776" y="1186"/>
                  </a:cubicBezTo>
                  <a:cubicBezTo>
                    <a:pt x="757" y="1176"/>
                    <a:pt x="738" y="1166"/>
                    <a:pt x="721" y="1154"/>
                  </a:cubicBezTo>
                  <a:cubicBezTo>
                    <a:pt x="603" y="1358"/>
                    <a:pt x="603" y="1358"/>
                    <a:pt x="603" y="1358"/>
                  </a:cubicBezTo>
                  <a:cubicBezTo>
                    <a:pt x="570" y="1347"/>
                    <a:pt x="534" y="1348"/>
                    <a:pt x="502" y="1360"/>
                  </a:cubicBezTo>
                  <a:cubicBezTo>
                    <a:pt x="272" y="963"/>
                    <a:pt x="272" y="963"/>
                    <a:pt x="272" y="963"/>
                  </a:cubicBezTo>
                  <a:cubicBezTo>
                    <a:pt x="301" y="939"/>
                    <a:pt x="321" y="907"/>
                    <a:pt x="329" y="871"/>
                  </a:cubicBezTo>
                  <a:cubicBezTo>
                    <a:pt x="557" y="871"/>
                    <a:pt x="557" y="871"/>
                    <a:pt x="557" y="871"/>
                  </a:cubicBezTo>
                  <a:cubicBezTo>
                    <a:pt x="556" y="860"/>
                    <a:pt x="556" y="850"/>
                    <a:pt x="556" y="839"/>
                  </a:cubicBezTo>
                  <a:cubicBezTo>
                    <a:pt x="556" y="828"/>
                    <a:pt x="556" y="818"/>
                    <a:pt x="557" y="807"/>
                  </a:cubicBezTo>
                  <a:cubicBezTo>
                    <a:pt x="329" y="807"/>
                    <a:pt x="329" y="807"/>
                    <a:pt x="329" y="807"/>
                  </a:cubicBezTo>
                  <a:cubicBezTo>
                    <a:pt x="321" y="771"/>
                    <a:pt x="301" y="739"/>
                    <a:pt x="272" y="716"/>
                  </a:cubicBezTo>
                  <a:cubicBezTo>
                    <a:pt x="502" y="318"/>
                    <a:pt x="502" y="318"/>
                    <a:pt x="502" y="318"/>
                  </a:cubicBezTo>
                  <a:cubicBezTo>
                    <a:pt x="534" y="330"/>
                    <a:pt x="570" y="331"/>
                    <a:pt x="603" y="320"/>
                  </a:cubicBezTo>
                  <a:cubicBezTo>
                    <a:pt x="721" y="524"/>
                    <a:pt x="721" y="524"/>
                    <a:pt x="721" y="524"/>
                  </a:cubicBezTo>
                  <a:cubicBezTo>
                    <a:pt x="738" y="512"/>
                    <a:pt x="757" y="501"/>
                    <a:pt x="776" y="492"/>
                  </a:cubicBezTo>
                  <a:cubicBezTo>
                    <a:pt x="659" y="289"/>
                    <a:pt x="659" y="289"/>
                    <a:pt x="659" y="289"/>
                  </a:cubicBezTo>
                  <a:cubicBezTo>
                    <a:pt x="686" y="266"/>
                    <a:pt x="705" y="235"/>
                    <a:pt x="712" y="200"/>
                  </a:cubicBezTo>
                  <a:cubicBezTo>
                    <a:pt x="1166" y="200"/>
                    <a:pt x="1166" y="200"/>
                    <a:pt x="1166" y="200"/>
                  </a:cubicBezTo>
                  <a:cubicBezTo>
                    <a:pt x="1173" y="235"/>
                    <a:pt x="1192" y="266"/>
                    <a:pt x="1220" y="289"/>
                  </a:cubicBezTo>
                  <a:cubicBezTo>
                    <a:pt x="1102" y="493"/>
                    <a:pt x="1102" y="493"/>
                    <a:pt x="1102" y="493"/>
                  </a:cubicBezTo>
                  <a:cubicBezTo>
                    <a:pt x="1122" y="502"/>
                    <a:pt x="1140" y="512"/>
                    <a:pt x="1158" y="525"/>
                  </a:cubicBezTo>
                  <a:cubicBezTo>
                    <a:pt x="1276" y="320"/>
                    <a:pt x="1276" y="320"/>
                    <a:pt x="1276" y="320"/>
                  </a:cubicBezTo>
                  <a:cubicBezTo>
                    <a:pt x="1308" y="331"/>
                    <a:pt x="1344" y="331"/>
                    <a:pt x="1376" y="318"/>
                  </a:cubicBezTo>
                  <a:cubicBezTo>
                    <a:pt x="1606" y="716"/>
                    <a:pt x="1606" y="716"/>
                    <a:pt x="1606" y="716"/>
                  </a:cubicBezTo>
                  <a:cubicBezTo>
                    <a:pt x="1577" y="739"/>
                    <a:pt x="1557" y="771"/>
                    <a:pt x="1550" y="807"/>
                  </a:cubicBezTo>
                  <a:cubicBezTo>
                    <a:pt x="1321" y="807"/>
                    <a:pt x="1321" y="807"/>
                    <a:pt x="1321" y="807"/>
                  </a:cubicBezTo>
                  <a:cubicBezTo>
                    <a:pt x="1322" y="818"/>
                    <a:pt x="1323" y="828"/>
                    <a:pt x="1323" y="839"/>
                  </a:cubicBezTo>
                  <a:cubicBezTo>
                    <a:pt x="1323" y="850"/>
                    <a:pt x="1322" y="860"/>
                    <a:pt x="1321" y="871"/>
                  </a:cubicBezTo>
                  <a:cubicBezTo>
                    <a:pt x="1550" y="871"/>
                    <a:pt x="1550" y="871"/>
                    <a:pt x="1550" y="871"/>
                  </a:cubicBezTo>
                  <a:cubicBezTo>
                    <a:pt x="1557" y="907"/>
                    <a:pt x="1577" y="939"/>
                    <a:pt x="1606" y="963"/>
                  </a:cubicBezTo>
                  <a:lnTo>
                    <a:pt x="1376" y="1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B Office"/>
                <a:cs typeface="Segoe UI" panose="020B0502040204020203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83729" y="948623"/>
            <a:ext cx="502152" cy="487743"/>
            <a:chOff x="4588737" y="1525192"/>
            <a:chExt cx="502152" cy="487743"/>
          </a:xfrm>
        </p:grpSpPr>
        <p:grpSp>
          <p:nvGrpSpPr>
            <p:cNvPr id="37" name="Group 28"/>
            <p:cNvGrpSpPr/>
            <p:nvPr/>
          </p:nvGrpSpPr>
          <p:grpSpPr bwMode="auto">
            <a:xfrm>
              <a:off x="4588737" y="1525192"/>
              <a:ext cx="502152" cy="487743"/>
              <a:chOff x="4452938" y="3930020"/>
              <a:chExt cx="2056229" cy="1997251"/>
            </a:xfrm>
            <a:solidFill>
              <a:srgbClr val="000050"/>
            </a:solidFill>
          </p:grpSpPr>
          <p:sp>
            <p:nvSpPr>
              <p:cNvPr id="144" name="Hexagon 30"/>
              <p:cNvSpPr/>
              <p:nvPr/>
            </p:nvSpPr>
            <p:spPr bwMode="auto">
              <a:xfrm>
                <a:off x="4502150" y="4063552"/>
                <a:ext cx="2007017" cy="1730187"/>
              </a:xfrm>
              <a:prstGeom prst="hexagon">
                <a:avLst>
                  <a:gd name="adj" fmla="val 29167"/>
                  <a:gd name="vf" fmla="val 115470"/>
                </a:avLst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5" name="Freeform: Shape 31"/>
              <p:cNvSpPr/>
              <p:nvPr/>
            </p:nvSpPr>
            <p:spPr bwMode="auto">
              <a:xfrm>
                <a:off x="4636594" y="3930020"/>
                <a:ext cx="1738128" cy="1997251"/>
              </a:xfrm>
              <a:custGeom>
                <a:avLst/>
                <a:gdLst>
                  <a:gd name="connsiteX0" fmla="*/ 869582 w 1738128"/>
                  <a:gd name="connsiteY0" fmla="*/ 0 h 1997251"/>
                  <a:gd name="connsiteX1" fmla="*/ 1733641 w 1738128"/>
                  <a:gd name="connsiteY1" fmla="*/ 498865 h 1997251"/>
                  <a:gd name="connsiteX2" fmla="*/ 1738128 w 1738128"/>
                  <a:gd name="connsiteY2" fmla="*/ 1500380 h 1997251"/>
                  <a:gd name="connsiteX3" fmla="*/ 868547 w 1738128"/>
                  <a:gd name="connsiteY3" fmla="*/ 1997251 h 1997251"/>
                  <a:gd name="connsiteX4" fmla="*/ 4488 w 1738128"/>
                  <a:gd name="connsiteY4" fmla="*/ 1498386 h 1997251"/>
                  <a:gd name="connsiteX5" fmla="*/ 0 w 1738128"/>
                  <a:gd name="connsiteY5" fmla="*/ 496871 h 199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8128" h="1997251">
                    <a:moveTo>
                      <a:pt x="869582" y="0"/>
                    </a:moveTo>
                    <a:lnTo>
                      <a:pt x="1733641" y="498865"/>
                    </a:lnTo>
                    <a:lnTo>
                      <a:pt x="1738128" y="1500380"/>
                    </a:lnTo>
                    <a:lnTo>
                      <a:pt x="868547" y="1997251"/>
                    </a:lnTo>
                    <a:lnTo>
                      <a:pt x="4488" y="1498386"/>
                    </a:lnTo>
                    <a:lnTo>
                      <a:pt x="0" y="496871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6" name="Freeform: Shape 32"/>
              <p:cNvSpPr/>
              <p:nvPr/>
            </p:nvSpPr>
            <p:spPr bwMode="auto">
              <a:xfrm>
                <a:off x="4452938" y="4233863"/>
                <a:ext cx="300037" cy="266700"/>
              </a:xfrm>
              <a:custGeom>
                <a:avLst/>
                <a:gdLst>
                  <a:gd name="connsiteX0" fmla="*/ 0 w 300037"/>
                  <a:gd name="connsiteY0" fmla="*/ 47625 h 266700"/>
                  <a:gd name="connsiteX1" fmla="*/ 300037 w 300037"/>
                  <a:gd name="connsiteY1" fmla="*/ 0 h 266700"/>
                  <a:gd name="connsiteX2" fmla="*/ 85725 w 300037"/>
                  <a:gd name="connsiteY2" fmla="*/ 114300 h 266700"/>
                  <a:gd name="connsiteX3" fmla="*/ 90487 w 300037"/>
                  <a:gd name="connsiteY3" fmla="*/ 266700 h 266700"/>
                  <a:gd name="connsiteX4" fmla="*/ 0 w 300037"/>
                  <a:gd name="connsiteY4" fmla="*/ 476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37" h="266700">
                    <a:moveTo>
                      <a:pt x="0" y="47625"/>
                    </a:moveTo>
                    <a:lnTo>
                      <a:pt x="300037" y="0"/>
                    </a:lnTo>
                    <a:lnTo>
                      <a:pt x="85725" y="114300"/>
                    </a:lnTo>
                    <a:lnTo>
                      <a:pt x="90487" y="26670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7" name="Freeform: Shape 33"/>
              <p:cNvSpPr/>
              <p:nvPr/>
            </p:nvSpPr>
            <p:spPr bwMode="auto">
              <a:xfrm>
                <a:off x="6276975" y="5281613"/>
                <a:ext cx="209550" cy="271462"/>
              </a:xfrm>
              <a:custGeom>
                <a:avLst/>
                <a:gdLst>
                  <a:gd name="connsiteX0" fmla="*/ 180975 w 209550"/>
                  <a:gd name="connsiteY0" fmla="*/ 0 h 271462"/>
                  <a:gd name="connsiteX1" fmla="*/ 209550 w 209550"/>
                  <a:gd name="connsiteY1" fmla="*/ 223837 h 271462"/>
                  <a:gd name="connsiteX2" fmla="*/ 0 w 209550"/>
                  <a:gd name="connsiteY2" fmla="*/ 271462 h 271462"/>
                  <a:gd name="connsiteX3" fmla="*/ 166688 w 209550"/>
                  <a:gd name="connsiteY3" fmla="*/ 157162 h 271462"/>
                  <a:gd name="connsiteX4" fmla="*/ 180975 w 209550"/>
                  <a:gd name="connsiteY4" fmla="*/ 0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0" h="271462">
                    <a:moveTo>
                      <a:pt x="180975" y="0"/>
                    </a:moveTo>
                    <a:lnTo>
                      <a:pt x="209550" y="223837"/>
                    </a:lnTo>
                    <a:lnTo>
                      <a:pt x="0" y="271462"/>
                    </a:lnTo>
                    <a:lnTo>
                      <a:pt x="166688" y="157162"/>
                    </a:lnTo>
                    <a:lnTo>
                      <a:pt x="180975" y="0"/>
                    </a:lnTo>
                    <a:close/>
                  </a:path>
                </a:pathLst>
              </a:custGeom>
              <a:solidFill>
                <a:srgbClr val="000082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>
                <a:no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38" name="Group 4"/>
            <p:cNvGrpSpPr>
              <a:grpSpLocks noChangeAspect="1"/>
            </p:cNvGrpSpPr>
            <p:nvPr/>
          </p:nvGrpSpPr>
          <p:grpSpPr bwMode="auto">
            <a:xfrm>
              <a:off x="4707849" y="1613844"/>
              <a:ext cx="263929" cy="305677"/>
              <a:chOff x="1975" y="0"/>
              <a:chExt cx="3730" cy="4320"/>
            </a:xfrm>
            <a:solidFill>
              <a:srgbClr val="FFFFFF"/>
            </a:solidFill>
          </p:grpSpPr>
          <p:sp>
            <p:nvSpPr>
              <p:cNvPr id="39" name="Oval 5"/>
              <p:cNvSpPr>
                <a:spLocks noChangeArrowheads="1"/>
              </p:cNvSpPr>
              <p:nvPr/>
            </p:nvSpPr>
            <p:spPr bwMode="auto">
              <a:xfrm>
                <a:off x="3389" y="0"/>
                <a:ext cx="903" cy="90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3070" y="1074"/>
                <a:ext cx="1540" cy="2791"/>
              </a:xfrm>
              <a:custGeom>
                <a:avLst/>
                <a:gdLst>
                  <a:gd name="T0" fmla="*/ 808 w 808"/>
                  <a:gd name="T1" fmla="*/ 636 h 1465"/>
                  <a:gd name="T2" fmla="*/ 808 w 808"/>
                  <a:gd name="T3" fmla="*/ 223 h 1465"/>
                  <a:gd name="T4" fmla="*/ 664 w 808"/>
                  <a:gd name="T5" fmla="*/ 24 h 1465"/>
                  <a:gd name="T6" fmla="*/ 664 w 808"/>
                  <a:gd name="T7" fmla="*/ 24 h 1465"/>
                  <a:gd name="T8" fmla="*/ 596 w 808"/>
                  <a:gd name="T9" fmla="*/ 4 h 1465"/>
                  <a:gd name="T10" fmla="*/ 570 w 808"/>
                  <a:gd name="T11" fmla="*/ 16 h 1465"/>
                  <a:gd name="T12" fmla="*/ 428 w 808"/>
                  <a:gd name="T13" fmla="*/ 406 h 1465"/>
                  <a:gd name="T14" fmla="*/ 380 w 808"/>
                  <a:gd name="T15" fmla="*/ 406 h 1465"/>
                  <a:gd name="T16" fmla="*/ 238 w 808"/>
                  <a:gd name="T17" fmla="*/ 16 h 1465"/>
                  <a:gd name="T18" fmla="*/ 218 w 808"/>
                  <a:gd name="T19" fmla="*/ 3 h 1465"/>
                  <a:gd name="T20" fmla="*/ 144 w 808"/>
                  <a:gd name="T21" fmla="*/ 24 h 1465"/>
                  <a:gd name="T22" fmla="*/ 0 w 808"/>
                  <a:gd name="T23" fmla="*/ 224 h 1465"/>
                  <a:gd name="T24" fmla="*/ 0 w 808"/>
                  <a:gd name="T25" fmla="*/ 636 h 1465"/>
                  <a:gd name="T26" fmla="*/ 4 w 808"/>
                  <a:gd name="T27" fmla="*/ 648 h 1465"/>
                  <a:gd name="T28" fmla="*/ 152 w 808"/>
                  <a:gd name="T29" fmla="*/ 873 h 1465"/>
                  <a:gd name="T30" fmla="*/ 152 w 808"/>
                  <a:gd name="T31" fmla="*/ 1444 h 1465"/>
                  <a:gd name="T32" fmla="*/ 173 w 808"/>
                  <a:gd name="T33" fmla="*/ 1465 h 1465"/>
                  <a:gd name="T34" fmla="*/ 635 w 808"/>
                  <a:gd name="T35" fmla="*/ 1465 h 1465"/>
                  <a:gd name="T36" fmla="*/ 656 w 808"/>
                  <a:gd name="T37" fmla="*/ 1444 h 1465"/>
                  <a:gd name="T38" fmla="*/ 656 w 808"/>
                  <a:gd name="T39" fmla="*/ 873 h 1465"/>
                  <a:gd name="T40" fmla="*/ 804 w 808"/>
                  <a:gd name="T41" fmla="*/ 648 h 1465"/>
                  <a:gd name="T42" fmla="*/ 808 w 808"/>
                  <a:gd name="T43" fmla="*/ 636 h 1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8" h="1465">
                    <a:moveTo>
                      <a:pt x="808" y="636"/>
                    </a:moveTo>
                    <a:cubicBezTo>
                      <a:pt x="808" y="223"/>
                      <a:pt x="808" y="223"/>
                      <a:pt x="808" y="223"/>
                    </a:cubicBezTo>
                    <a:cubicBezTo>
                      <a:pt x="808" y="132"/>
                      <a:pt x="750" y="53"/>
                      <a:pt x="664" y="24"/>
                    </a:cubicBezTo>
                    <a:cubicBezTo>
                      <a:pt x="664" y="24"/>
                      <a:pt x="664" y="24"/>
                      <a:pt x="664" y="24"/>
                    </a:cubicBezTo>
                    <a:cubicBezTo>
                      <a:pt x="596" y="4"/>
                      <a:pt x="596" y="4"/>
                      <a:pt x="596" y="4"/>
                    </a:cubicBezTo>
                    <a:cubicBezTo>
                      <a:pt x="585" y="0"/>
                      <a:pt x="574" y="6"/>
                      <a:pt x="570" y="16"/>
                    </a:cubicBezTo>
                    <a:cubicBezTo>
                      <a:pt x="428" y="406"/>
                      <a:pt x="428" y="406"/>
                      <a:pt x="428" y="406"/>
                    </a:cubicBezTo>
                    <a:cubicBezTo>
                      <a:pt x="420" y="429"/>
                      <a:pt x="388" y="429"/>
                      <a:pt x="380" y="406"/>
                    </a:cubicBezTo>
                    <a:cubicBezTo>
                      <a:pt x="238" y="16"/>
                      <a:pt x="238" y="16"/>
                      <a:pt x="238" y="16"/>
                    </a:cubicBezTo>
                    <a:cubicBezTo>
                      <a:pt x="235" y="8"/>
                      <a:pt x="227" y="3"/>
                      <a:pt x="218" y="3"/>
                    </a:cubicBezTo>
                    <a:cubicBezTo>
                      <a:pt x="216" y="3"/>
                      <a:pt x="144" y="24"/>
                      <a:pt x="144" y="24"/>
                    </a:cubicBezTo>
                    <a:cubicBezTo>
                      <a:pt x="58" y="53"/>
                      <a:pt x="0" y="133"/>
                      <a:pt x="0" y="224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640"/>
                      <a:pt x="2" y="644"/>
                      <a:pt x="4" y="648"/>
                    </a:cubicBezTo>
                    <a:cubicBezTo>
                      <a:pt x="152" y="873"/>
                      <a:pt x="152" y="873"/>
                      <a:pt x="152" y="873"/>
                    </a:cubicBezTo>
                    <a:cubicBezTo>
                      <a:pt x="152" y="1444"/>
                      <a:pt x="152" y="1444"/>
                      <a:pt x="152" y="1444"/>
                    </a:cubicBezTo>
                    <a:cubicBezTo>
                      <a:pt x="152" y="1456"/>
                      <a:pt x="162" y="1465"/>
                      <a:pt x="173" y="1465"/>
                    </a:cubicBezTo>
                    <a:cubicBezTo>
                      <a:pt x="635" y="1465"/>
                      <a:pt x="635" y="1465"/>
                      <a:pt x="635" y="1465"/>
                    </a:cubicBezTo>
                    <a:cubicBezTo>
                      <a:pt x="646" y="1465"/>
                      <a:pt x="656" y="1456"/>
                      <a:pt x="656" y="1444"/>
                    </a:cubicBezTo>
                    <a:cubicBezTo>
                      <a:pt x="656" y="873"/>
                      <a:pt x="656" y="873"/>
                      <a:pt x="656" y="873"/>
                    </a:cubicBezTo>
                    <a:cubicBezTo>
                      <a:pt x="804" y="648"/>
                      <a:pt x="804" y="648"/>
                      <a:pt x="804" y="648"/>
                    </a:cubicBezTo>
                    <a:cubicBezTo>
                      <a:pt x="806" y="644"/>
                      <a:pt x="808" y="640"/>
                      <a:pt x="808" y="6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41" name="Freeform 7"/>
              <p:cNvSpPr/>
              <p:nvPr/>
            </p:nvSpPr>
            <p:spPr bwMode="auto">
              <a:xfrm>
                <a:off x="1975" y="3337"/>
                <a:ext cx="1244" cy="930"/>
              </a:xfrm>
              <a:custGeom>
                <a:avLst/>
                <a:gdLst>
                  <a:gd name="T0" fmla="*/ 244 w 653"/>
                  <a:gd name="T1" fmla="*/ 104 h 488"/>
                  <a:gd name="T2" fmla="*/ 209 w 653"/>
                  <a:gd name="T3" fmla="*/ 15 h 488"/>
                  <a:gd name="T4" fmla="*/ 120 w 653"/>
                  <a:gd name="T5" fmla="*/ 50 h 488"/>
                  <a:gd name="T6" fmla="*/ 15 w 653"/>
                  <a:gd name="T7" fmla="*/ 289 h 488"/>
                  <a:gd name="T8" fmla="*/ 50 w 653"/>
                  <a:gd name="T9" fmla="*/ 378 h 488"/>
                  <a:gd name="T10" fmla="*/ 289 w 653"/>
                  <a:gd name="T11" fmla="*/ 483 h 488"/>
                  <a:gd name="T12" fmla="*/ 316 w 653"/>
                  <a:gd name="T13" fmla="*/ 488 h 488"/>
                  <a:gd name="T14" fmla="*/ 378 w 653"/>
                  <a:gd name="T15" fmla="*/ 448 h 488"/>
                  <a:gd name="T16" fmla="*/ 343 w 653"/>
                  <a:gd name="T17" fmla="*/ 359 h 488"/>
                  <a:gd name="T18" fmla="*/ 253 w 653"/>
                  <a:gd name="T19" fmla="*/ 320 h 488"/>
                  <a:gd name="T20" fmla="*/ 653 w 653"/>
                  <a:gd name="T21" fmla="*/ 164 h 488"/>
                  <a:gd name="T22" fmla="*/ 653 w 653"/>
                  <a:gd name="T23" fmla="*/ 19 h 488"/>
                  <a:gd name="T24" fmla="*/ 204 w 653"/>
                  <a:gd name="T25" fmla="*/ 194 h 488"/>
                  <a:gd name="T26" fmla="*/ 244 w 653"/>
                  <a:gd name="T27" fmla="*/ 10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244" y="104"/>
                    </a:moveTo>
                    <a:cubicBezTo>
                      <a:pt x="258" y="70"/>
                      <a:pt x="243" y="30"/>
                      <a:pt x="209" y="15"/>
                    </a:cubicBezTo>
                    <a:cubicBezTo>
                      <a:pt x="175" y="0"/>
                      <a:pt x="135" y="16"/>
                      <a:pt x="120" y="50"/>
                    </a:cubicBezTo>
                    <a:cubicBezTo>
                      <a:pt x="15" y="289"/>
                      <a:pt x="15" y="289"/>
                      <a:pt x="15" y="289"/>
                    </a:cubicBezTo>
                    <a:cubicBezTo>
                      <a:pt x="0" y="323"/>
                      <a:pt x="16" y="363"/>
                      <a:pt x="50" y="378"/>
                    </a:cubicBezTo>
                    <a:cubicBezTo>
                      <a:pt x="289" y="483"/>
                      <a:pt x="289" y="483"/>
                      <a:pt x="289" y="483"/>
                    </a:cubicBezTo>
                    <a:cubicBezTo>
                      <a:pt x="298" y="486"/>
                      <a:pt x="307" y="488"/>
                      <a:pt x="316" y="488"/>
                    </a:cubicBezTo>
                    <a:cubicBezTo>
                      <a:pt x="342" y="488"/>
                      <a:pt x="367" y="473"/>
                      <a:pt x="378" y="448"/>
                    </a:cubicBezTo>
                    <a:cubicBezTo>
                      <a:pt x="393" y="414"/>
                      <a:pt x="377" y="374"/>
                      <a:pt x="343" y="359"/>
                    </a:cubicBezTo>
                    <a:cubicBezTo>
                      <a:pt x="253" y="320"/>
                      <a:pt x="253" y="320"/>
                      <a:pt x="253" y="320"/>
                    </a:cubicBezTo>
                    <a:cubicBezTo>
                      <a:pt x="653" y="164"/>
                      <a:pt x="653" y="164"/>
                      <a:pt x="653" y="164"/>
                    </a:cubicBezTo>
                    <a:cubicBezTo>
                      <a:pt x="653" y="19"/>
                      <a:pt x="653" y="19"/>
                      <a:pt x="653" y="19"/>
                    </a:cubicBezTo>
                    <a:cubicBezTo>
                      <a:pt x="204" y="194"/>
                      <a:pt x="204" y="194"/>
                      <a:pt x="204" y="194"/>
                    </a:cubicBezTo>
                    <a:cubicBezTo>
                      <a:pt x="244" y="104"/>
                      <a:pt x="244" y="104"/>
                      <a:pt x="244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42" name="Freeform 8"/>
              <p:cNvSpPr/>
              <p:nvPr/>
            </p:nvSpPr>
            <p:spPr bwMode="auto">
              <a:xfrm>
                <a:off x="2005" y="2202"/>
                <a:ext cx="1214" cy="935"/>
              </a:xfrm>
              <a:custGeom>
                <a:avLst/>
                <a:gdLst>
                  <a:gd name="T0" fmla="*/ 344 w 637"/>
                  <a:gd name="T1" fmla="*/ 139 h 491"/>
                  <a:gd name="T2" fmla="*/ 383 w 637"/>
                  <a:gd name="T3" fmla="*/ 52 h 491"/>
                  <a:gd name="T4" fmla="*/ 295 w 637"/>
                  <a:gd name="T5" fmla="*/ 14 h 491"/>
                  <a:gd name="T6" fmla="*/ 52 w 637"/>
                  <a:gd name="T7" fmla="*/ 108 h 491"/>
                  <a:gd name="T8" fmla="*/ 14 w 637"/>
                  <a:gd name="T9" fmla="*/ 196 h 491"/>
                  <a:gd name="T10" fmla="*/ 109 w 637"/>
                  <a:gd name="T11" fmla="*/ 439 h 491"/>
                  <a:gd name="T12" fmla="*/ 171 w 637"/>
                  <a:gd name="T13" fmla="*/ 482 h 491"/>
                  <a:gd name="T14" fmla="*/ 196 w 637"/>
                  <a:gd name="T15" fmla="*/ 477 h 491"/>
                  <a:gd name="T16" fmla="*/ 234 w 637"/>
                  <a:gd name="T17" fmla="*/ 390 h 491"/>
                  <a:gd name="T18" fmla="*/ 198 w 637"/>
                  <a:gd name="T19" fmla="*/ 298 h 491"/>
                  <a:gd name="T20" fmla="*/ 637 w 637"/>
                  <a:gd name="T21" fmla="*/ 491 h 491"/>
                  <a:gd name="T22" fmla="*/ 637 w 637"/>
                  <a:gd name="T23" fmla="*/ 344 h 491"/>
                  <a:gd name="T24" fmla="*/ 252 w 637"/>
                  <a:gd name="T25" fmla="*/ 175 h 491"/>
                  <a:gd name="T26" fmla="*/ 344 w 637"/>
                  <a:gd name="T27" fmla="*/ 139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91">
                    <a:moveTo>
                      <a:pt x="344" y="139"/>
                    </a:moveTo>
                    <a:cubicBezTo>
                      <a:pt x="379" y="125"/>
                      <a:pt x="396" y="86"/>
                      <a:pt x="383" y="52"/>
                    </a:cubicBezTo>
                    <a:cubicBezTo>
                      <a:pt x="369" y="17"/>
                      <a:pt x="330" y="0"/>
                      <a:pt x="295" y="14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18" y="122"/>
                      <a:pt x="0" y="161"/>
                      <a:pt x="14" y="196"/>
                    </a:cubicBezTo>
                    <a:cubicBezTo>
                      <a:pt x="109" y="439"/>
                      <a:pt x="109" y="439"/>
                      <a:pt x="109" y="439"/>
                    </a:cubicBezTo>
                    <a:cubicBezTo>
                      <a:pt x="119" y="465"/>
                      <a:pt x="144" y="482"/>
                      <a:pt x="171" y="482"/>
                    </a:cubicBezTo>
                    <a:cubicBezTo>
                      <a:pt x="180" y="482"/>
                      <a:pt x="188" y="480"/>
                      <a:pt x="196" y="477"/>
                    </a:cubicBezTo>
                    <a:cubicBezTo>
                      <a:pt x="230" y="464"/>
                      <a:pt x="248" y="425"/>
                      <a:pt x="234" y="390"/>
                    </a:cubicBezTo>
                    <a:cubicBezTo>
                      <a:pt x="198" y="298"/>
                      <a:pt x="198" y="298"/>
                      <a:pt x="198" y="298"/>
                    </a:cubicBezTo>
                    <a:cubicBezTo>
                      <a:pt x="637" y="491"/>
                      <a:pt x="637" y="491"/>
                      <a:pt x="637" y="491"/>
                    </a:cubicBezTo>
                    <a:cubicBezTo>
                      <a:pt x="637" y="344"/>
                      <a:pt x="637" y="344"/>
                      <a:pt x="637" y="344"/>
                    </a:cubicBezTo>
                    <a:cubicBezTo>
                      <a:pt x="252" y="175"/>
                      <a:pt x="252" y="175"/>
                      <a:pt x="252" y="175"/>
                    </a:cubicBezTo>
                    <a:cubicBezTo>
                      <a:pt x="344" y="139"/>
                      <a:pt x="344" y="139"/>
                      <a:pt x="344" y="1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43" name="Freeform 9"/>
              <p:cNvSpPr/>
              <p:nvPr/>
            </p:nvSpPr>
            <p:spPr bwMode="auto">
              <a:xfrm>
                <a:off x="4461" y="3402"/>
                <a:ext cx="1214" cy="918"/>
              </a:xfrm>
              <a:custGeom>
                <a:avLst/>
                <a:gdLst>
                  <a:gd name="T0" fmla="*/ 528 w 637"/>
                  <a:gd name="T1" fmla="*/ 52 h 482"/>
                  <a:gd name="T2" fmla="*/ 441 w 637"/>
                  <a:gd name="T3" fmla="*/ 14 h 482"/>
                  <a:gd name="T4" fmla="*/ 403 w 637"/>
                  <a:gd name="T5" fmla="*/ 101 h 482"/>
                  <a:gd name="T6" fmla="*/ 439 w 637"/>
                  <a:gd name="T7" fmla="*/ 193 h 482"/>
                  <a:gd name="T8" fmla="*/ 0 w 637"/>
                  <a:gd name="T9" fmla="*/ 0 h 482"/>
                  <a:gd name="T10" fmla="*/ 0 w 637"/>
                  <a:gd name="T11" fmla="*/ 147 h 482"/>
                  <a:gd name="T12" fmla="*/ 385 w 637"/>
                  <a:gd name="T13" fmla="*/ 316 h 482"/>
                  <a:gd name="T14" fmla="*/ 293 w 637"/>
                  <a:gd name="T15" fmla="*/ 352 h 482"/>
                  <a:gd name="T16" fmla="*/ 254 w 637"/>
                  <a:gd name="T17" fmla="*/ 439 h 482"/>
                  <a:gd name="T18" fmla="*/ 317 w 637"/>
                  <a:gd name="T19" fmla="*/ 482 h 482"/>
                  <a:gd name="T20" fmla="*/ 342 w 637"/>
                  <a:gd name="T21" fmla="*/ 477 h 482"/>
                  <a:gd name="T22" fmla="*/ 585 w 637"/>
                  <a:gd name="T23" fmla="*/ 382 h 482"/>
                  <a:gd name="T24" fmla="*/ 623 w 637"/>
                  <a:gd name="T25" fmla="*/ 295 h 482"/>
                  <a:gd name="T26" fmla="*/ 528 w 637"/>
                  <a:gd name="T27" fmla="*/ 52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7" h="482">
                    <a:moveTo>
                      <a:pt x="528" y="52"/>
                    </a:moveTo>
                    <a:cubicBezTo>
                      <a:pt x="515" y="17"/>
                      <a:pt x="476" y="0"/>
                      <a:pt x="441" y="14"/>
                    </a:cubicBezTo>
                    <a:cubicBezTo>
                      <a:pt x="407" y="27"/>
                      <a:pt x="389" y="66"/>
                      <a:pt x="403" y="101"/>
                    </a:cubicBezTo>
                    <a:cubicBezTo>
                      <a:pt x="439" y="193"/>
                      <a:pt x="439" y="193"/>
                      <a:pt x="439" y="19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385" y="316"/>
                      <a:pt x="385" y="316"/>
                      <a:pt x="385" y="316"/>
                    </a:cubicBezTo>
                    <a:cubicBezTo>
                      <a:pt x="293" y="352"/>
                      <a:pt x="293" y="352"/>
                      <a:pt x="293" y="352"/>
                    </a:cubicBezTo>
                    <a:cubicBezTo>
                      <a:pt x="258" y="365"/>
                      <a:pt x="241" y="404"/>
                      <a:pt x="254" y="439"/>
                    </a:cubicBezTo>
                    <a:cubicBezTo>
                      <a:pt x="265" y="466"/>
                      <a:pt x="290" y="482"/>
                      <a:pt x="317" y="482"/>
                    </a:cubicBezTo>
                    <a:cubicBezTo>
                      <a:pt x="325" y="482"/>
                      <a:pt x="334" y="480"/>
                      <a:pt x="342" y="477"/>
                    </a:cubicBezTo>
                    <a:cubicBezTo>
                      <a:pt x="585" y="382"/>
                      <a:pt x="585" y="382"/>
                      <a:pt x="585" y="382"/>
                    </a:cubicBezTo>
                    <a:cubicBezTo>
                      <a:pt x="619" y="369"/>
                      <a:pt x="637" y="330"/>
                      <a:pt x="623" y="295"/>
                    </a:cubicBezTo>
                    <a:cubicBezTo>
                      <a:pt x="528" y="52"/>
                      <a:pt x="528" y="52"/>
                      <a:pt x="5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44" name="Freeform 10"/>
              <p:cNvSpPr/>
              <p:nvPr/>
            </p:nvSpPr>
            <p:spPr bwMode="auto">
              <a:xfrm>
                <a:off x="4461" y="2253"/>
                <a:ext cx="1244" cy="930"/>
              </a:xfrm>
              <a:custGeom>
                <a:avLst/>
                <a:gdLst>
                  <a:gd name="T0" fmla="*/ 603 w 653"/>
                  <a:gd name="T1" fmla="*/ 120 h 488"/>
                  <a:gd name="T2" fmla="*/ 364 w 653"/>
                  <a:gd name="T3" fmla="*/ 15 h 488"/>
                  <a:gd name="T4" fmla="*/ 275 w 653"/>
                  <a:gd name="T5" fmla="*/ 50 h 488"/>
                  <a:gd name="T6" fmla="*/ 310 w 653"/>
                  <a:gd name="T7" fmla="*/ 138 h 488"/>
                  <a:gd name="T8" fmla="*/ 400 w 653"/>
                  <a:gd name="T9" fmla="*/ 178 h 488"/>
                  <a:gd name="T10" fmla="*/ 0 w 653"/>
                  <a:gd name="T11" fmla="*/ 334 h 488"/>
                  <a:gd name="T12" fmla="*/ 0 w 653"/>
                  <a:gd name="T13" fmla="*/ 478 h 488"/>
                  <a:gd name="T14" fmla="*/ 449 w 653"/>
                  <a:gd name="T15" fmla="*/ 304 h 488"/>
                  <a:gd name="T16" fmla="*/ 409 w 653"/>
                  <a:gd name="T17" fmla="*/ 394 h 488"/>
                  <a:gd name="T18" fmla="*/ 444 w 653"/>
                  <a:gd name="T19" fmla="*/ 483 h 488"/>
                  <a:gd name="T20" fmla="*/ 471 w 653"/>
                  <a:gd name="T21" fmla="*/ 488 h 488"/>
                  <a:gd name="T22" fmla="*/ 533 w 653"/>
                  <a:gd name="T23" fmla="*/ 448 h 488"/>
                  <a:gd name="T24" fmla="*/ 638 w 653"/>
                  <a:gd name="T25" fmla="*/ 209 h 488"/>
                  <a:gd name="T26" fmla="*/ 603 w 653"/>
                  <a:gd name="T27" fmla="*/ 12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3" h="488">
                    <a:moveTo>
                      <a:pt x="603" y="120"/>
                    </a:moveTo>
                    <a:cubicBezTo>
                      <a:pt x="364" y="15"/>
                      <a:pt x="364" y="15"/>
                      <a:pt x="364" y="15"/>
                    </a:cubicBezTo>
                    <a:cubicBezTo>
                      <a:pt x="330" y="0"/>
                      <a:pt x="290" y="16"/>
                      <a:pt x="275" y="50"/>
                    </a:cubicBezTo>
                    <a:cubicBezTo>
                      <a:pt x="260" y="84"/>
                      <a:pt x="276" y="124"/>
                      <a:pt x="310" y="138"/>
                    </a:cubicBezTo>
                    <a:cubicBezTo>
                      <a:pt x="400" y="178"/>
                      <a:pt x="400" y="178"/>
                      <a:pt x="400" y="178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449" y="304"/>
                      <a:pt x="449" y="304"/>
                      <a:pt x="449" y="304"/>
                    </a:cubicBezTo>
                    <a:cubicBezTo>
                      <a:pt x="409" y="394"/>
                      <a:pt x="409" y="394"/>
                      <a:pt x="409" y="394"/>
                    </a:cubicBezTo>
                    <a:cubicBezTo>
                      <a:pt x="395" y="428"/>
                      <a:pt x="410" y="468"/>
                      <a:pt x="444" y="483"/>
                    </a:cubicBezTo>
                    <a:cubicBezTo>
                      <a:pt x="453" y="486"/>
                      <a:pt x="462" y="488"/>
                      <a:pt x="471" y="488"/>
                    </a:cubicBezTo>
                    <a:cubicBezTo>
                      <a:pt x="497" y="488"/>
                      <a:pt x="522" y="473"/>
                      <a:pt x="533" y="448"/>
                    </a:cubicBezTo>
                    <a:cubicBezTo>
                      <a:pt x="638" y="209"/>
                      <a:pt x="638" y="209"/>
                      <a:pt x="638" y="209"/>
                    </a:cubicBezTo>
                    <a:cubicBezTo>
                      <a:pt x="653" y="175"/>
                      <a:pt x="637" y="135"/>
                      <a:pt x="603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  <p:sp>
            <p:nvSpPr>
              <p:cNvPr id="143" name="Freeform 11"/>
              <p:cNvSpPr/>
              <p:nvPr/>
            </p:nvSpPr>
            <p:spPr bwMode="auto">
              <a:xfrm>
                <a:off x="3718" y="1078"/>
                <a:ext cx="244" cy="606"/>
              </a:xfrm>
              <a:custGeom>
                <a:avLst/>
                <a:gdLst>
                  <a:gd name="T0" fmla="*/ 118 w 128"/>
                  <a:gd name="T1" fmla="*/ 9 h 318"/>
                  <a:gd name="T2" fmla="*/ 95 w 128"/>
                  <a:gd name="T3" fmla="*/ 0 h 318"/>
                  <a:gd name="T4" fmla="*/ 33 w 128"/>
                  <a:gd name="T5" fmla="*/ 0 h 318"/>
                  <a:gd name="T6" fmla="*/ 10 w 128"/>
                  <a:gd name="T7" fmla="*/ 9 h 318"/>
                  <a:gd name="T8" fmla="*/ 6 w 128"/>
                  <a:gd name="T9" fmla="*/ 44 h 318"/>
                  <a:gd name="T10" fmla="*/ 40 w 128"/>
                  <a:gd name="T11" fmla="*/ 94 h 318"/>
                  <a:gd name="T12" fmla="*/ 24 w 128"/>
                  <a:gd name="T13" fmla="*/ 227 h 318"/>
                  <a:gd name="T14" fmla="*/ 55 w 128"/>
                  <a:gd name="T15" fmla="*/ 310 h 318"/>
                  <a:gd name="T16" fmla="*/ 73 w 128"/>
                  <a:gd name="T17" fmla="*/ 310 h 318"/>
                  <a:gd name="T18" fmla="*/ 104 w 128"/>
                  <a:gd name="T19" fmla="*/ 227 h 318"/>
                  <a:gd name="T20" fmla="*/ 88 w 128"/>
                  <a:gd name="T21" fmla="*/ 94 h 318"/>
                  <a:gd name="T22" fmla="*/ 122 w 128"/>
                  <a:gd name="T23" fmla="*/ 44 h 318"/>
                  <a:gd name="T24" fmla="*/ 118 w 128"/>
                  <a:gd name="T25" fmla="*/ 9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318">
                    <a:moveTo>
                      <a:pt x="118" y="9"/>
                    </a:moveTo>
                    <a:cubicBezTo>
                      <a:pt x="112" y="3"/>
                      <a:pt x="104" y="0"/>
                      <a:pt x="95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4" y="0"/>
                      <a:pt x="16" y="3"/>
                      <a:pt x="10" y="9"/>
                    </a:cubicBezTo>
                    <a:cubicBezTo>
                      <a:pt x="1" y="19"/>
                      <a:pt x="0" y="33"/>
                      <a:pt x="6" y="44"/>
                    </a:cubicBezTo>
                    <a:cubicBezTo>
                      <a:pt x="40" y="94"/>
                      <a:pt x="40" y="94"/>
                      <a:pt x="40" y="94"/>
                    </a:cubicBezTo>
                    <a:cubicBezTo>
                      <a:pt x="24" y="227"/>
                      <a:pt x="24" y="227"/>
                      <a:pt x="24" y="227"/>
                    </a:cubicBezTo>
                    <a:cubicBezTo>
                      <a:pt x="55" y="310"/>
                      <a:pt x="55" y="310"/>
                      <a:pt x="55" y="310"/>
                    </a:cubicBezTo>
                    <a:cubicBezTo>
                      <a:pt x="58" y="318"/>
                      <a:pt x="70" y="318"/>
                      <a:pt x="73" y="310"/>
                    </a:cubicBezTo>
                    <a:cubicBezTo>
                      <a:pt x="104" y="227"/>
                      <a:pt x="104" y="227"/>
                      <a:pt x="104" y="227"/>
                    </a:cubicBezTo>
                    <a:cubicBezTo>
                      <a:pt x="88" y="94"/>
                      <a:pt x="88" y="94"/>
                      <a:pt x="88" y="9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8" y="33"/>
                      <a:pt x="127" y="19"/>
                      <a:pt x="11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B Office"/>
                  <a:cs typeface="Segoe UI" panose="020B0502040204020203"/>
                </a:endParaRPr>
              </a:p>
            </p:txBody>
          </p:sp>
        </p:grpSp>
      </p:grpSp>
      <p:sp>
        <p:nvSpPr>
          <p:cNvPr id="45" name="TextBox 83"/>
          <p:cNvSpPr txBox="1"/>
          <p:nvPr/>
        </p:nvSpPr>
        <p:spPr>
          <a:xfrm>
            <a:off x="1057275" y="1731645"/>
            <a:ext cx="1546225" cy="366395"/>
          </a:xfrm>
          <a:prstGeom prst="rect">
            <a:avLst/>
          </a:prstGeom>
          <a:noFill/>
        </p:spPr>
        <p:txBody>
          <a:bodyPr wrap="square" lIns="121103" tIns="60584" rIns="121103" bIns="60584" rtlCol="0">
            <a:spAutoFit/>
          </a:bodyPr>
          <a:lstStyle/>
          <a:p>
            <a:pPr algn="ctr" defTabSz="1210945"/>
            <a:r>
              <a:rPr lang="zh-CN" altLang="en-US" sz="1600" b="1" u="sng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定</a:t>
            </a:r>
            <a:r>
              <a:rPr lang="zh-CN" altLang="en-US" sz="1600" b="1" u="sng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位</a:t>
            </a:r>
            <a:endParaRPr lang="zh-CN" altLang="en-US" sz="1600" b="1" u="sng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" name="五边形 263"/>
          <p:cNvSpPr/>
          <p:nvPr/>
        </p:nvSpPr>
        <p:spPr>
          <a:xfrm>
            <a:off x="928370" y="2396490"/>
            <a:ext cx="655955" cy="267335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燕尾形 265"/>
          <p:cNvSpPr/>
          <p:nvPr/>
        </p:nvSpPr>
        <p:spPr>
          <a:xfrm>
            <a:off x="11269980" y="2386965"/>
            <a:ext cx="635635" cy="27686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退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燕尾形 1"/>
          <p:cNvSpPr/>
          <p:nvPr/>
        </p:nvSpPr>
        <p:spPr>
          <a:xfrm>
            <a:off x="1520825" y="2386965"/>
            <a:ext cx="9799955" cy="28194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7950" y="2326640"/>
            <a:ext cx="101600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L3</a:t>
            </a: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级流程</a:t>
            </a:r>
            <a:endParaRPr lang="zh-CN" altLang="en-US" sz="10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0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（端到端）</a:t>
            </a:r>
            <a:endParaRPr lang="zh-CN" altLang="en-US" sz="10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7" name="流程图: 决策 86"/>
          <p:cNvSpPr/>
          <p:nvPr/>
        </p:nvSpPr>
        <p:spPr bwMode="auto">
          <a:xfrm>
            <a:off x="1819910" y="5783580"/>
            <a:ext cx="683260" cy="365760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600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流程图: 决策 20"/>
          <p:cNvSpPr/>
          <p:nvPr/>
        </p:nvSpPr>
        <p:spPr bwMode="auto">
          <a:xfrm>
            <a:off x="2052955" y="5126990"/>
            <a:ext cx="683260" cy="365760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60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直接箭头连接符 21"/>
          <p:cNvCxnSpPr>
            <a:endCxn id="121" idx="1"/>
          </p:cNvCxnSpPr>
          <p:nvPr/>
        </p:nvCxnSpPr>
        <p:spPr bwMode="auto">
          <a:xfrm flipV="1">
            <a:off x="8000365" y="3403600"/>
            <a:ext cx="1028065" cy="254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7" name="直接箭头连接符 26"/>
          <p:cNvCxnSpPr>
            <a:endCxn id="119" idx="1"/>
          </p:cNvCxnSpPr>
          <p:nvPr/>
        </p:nvCxnSpPr>
        <p:spPr bwMode="auto">
          <a:xfrm flipV="1">
            <a:off x="5690235" y="3403600"/>
            <a:ext cx="1028065" cy="254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0" name="Straight Connector 170"/>
          <p:cNvCxnSpPr/>
          <p:nvPr/>
        </p:nvCxnSpPr>
        <p:spPr>
          <a:xfrm flipV="1">
            <a:off x="852805" y="5092700"/>
            <a:ext cx="10584000" cy="5715"/>
          </a:xfrm>
          <a:prstGeom prst="line">
            <a:avLst/>
          </a:prstGeom>
          <a:solidFill>
            <a:schemeClr val="tx1">
              <a:lumMod val="95000"/>
            </a:scheme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46" name="矩形 45"/>
          <p:cNvSpPr/>
          <p:nvPr/>
        </p:nvSpPr>
        <p:spPr>
          <a:xfrm>
            <a:off x="377190" y="3244215"/>
            <a:ext cx="501650" cy="1832610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股权</a:t>
            </a: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运营部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81000" y="5489575"/>
            <a:ext cx="502920" cy="306705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投资部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81000" y="5841365"/>
            <a:ext cx="497205" cy="212725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红旗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75920" y="5126990"/>
            <a:ext cx="502920" cy="314960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股权交易</a:t>
            </a: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室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5" name="Straight Connector 170"/>
          <p:cNvCxnSpPr/>
          <p:nvPr/>
        </p:nvCxnSpPr>
        <p:spPr>
          <a:xfrm flipV="1">
            <a:off x="840105" y="3175000"/>
            <a:ext cx="10584000" cy="5715"/>
          </a:xfrm>
          <a:prstGeom prst="line">
            <a:avLst/>
          </a:prstGeom>
          <a:solidFill>
            <a:schemeClr val="tx1">
              <a:lumMod val="95000"/>
            </a:scheme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164" name="矩形 163"/>
          <p:cNvSpPr/>
          <p:nvPr/>
        </p:nvSpPr>
        <p:spPr>
          <a:xfrm>
            <a:off x="375920" y="6098540"/>
            <a:ext cx="502920" cy="325755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鼎佳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7" name="Rounded Rectangle 69"/>
          <p:cNvSpPr/>
          <p:nvPr/>
        </p:nvSpPr>
        <p:spPr>
          <a:xfrm>
            <a:off x="3145155" y="3249295"/>
            <a:ext cx="1184910" cy="282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vert="horz" wrap="square" lIns="72001" tIns="36001" rIns="72001" bIns="36001" numCol="1" spcCol="0" rtlCol="0" fromWordArt="0" anchor="ctr" anchorCtr="0" forceAA="0" compatLnSpc="0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判定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8" name="Rounded Rectangle 69"/>
          <p:cNvSpPr/>
          <p:nvPr/>
        </p:nvSpPr>
        <p:spPr>
          <a:xfrm>
            <a:off x="3219450" y="3623310"/>
            <a:ext cx="1007110" cy="219075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合规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判定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6" name="Rounded Rectangle 69"/>
          <p:cNvSpPr/>
          <p:nvPr/>
        </p:nvSpPr>
        <p:spPr>
          <a:xfrm>
            <a:off x="5478145" y="3627120"/>
            <a:ext cx="1040130" cy="20828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退出类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ABC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7" name="Rounded Rectangle 69"/>
          <p:cNvSpPr/>
          <p:nvPr/>
        </p:nvSpPr>
        <p:spPr>
          <a:xfrm>
            <a:off x="5478145" y="3869690"/>
            <a:ext cx="1031240" cy="19685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调整类</a:t>
            </a:r>
            <a:r>
              <a:rPr lang="en-US" altLang="zh-CN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AC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Rounded Rectangle 69"/>
          <p:cNvSpPr/>
          <p:nvPr/>
        </p:nvSpPr>
        <p:spPr>
          <a:xfrm>
            <a:off x="5478145" y="4106545"/>
            <a:ext cx="1030605" cy="2032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保留赋能类</a:t>
            </a:r>
            <a:r>
              <a:rPr lang="en-US" altLang="zh-CN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BC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9" name="Rounded Rectangle 69"/>
          <p:cNvSpPr/>
          <p:nvPr/>
        </p:nvSpPr>
        <p:spPr>
          <a:xfrm>
            <a:off x="5478145" y="4337050"/>
            <a:ext cx="1030605" cy="1778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保留管控类</a:t>
            </a:r>
            <a:r>
              <a:rPr lang="en-US" altLang="zh-CN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endParaRPr lang="en-US" altLang="zh-CN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3" name="Rounded Rectangle 69"/>
          <p:cNvSpPr/>
          <p:nvPr/>
        </p:nvSpPr>
        <p:spPr>
          <a:xfrm>
            <a:off x="6816725" y="4135120"/>
            <a:ext cx="1905000" cy="19558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强战略管理、强运营</a:t>
            </a: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管理、中资本运作</a:t>
            </a:r>
            <a:endParaRPr lang="zh-CN" altLang="en-US" sz="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4" name="Rounded Rectangle 69"/>
          <p:cNvSpPr/>
          <p:nvPr/>
        </p:nvSpPr>
        <p:spPr>
          <a:xfrm>
            <a:off x="6816725" y="4356735"/>
            <a:ext cx="1911350" cy="21717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强战略管理、强运营管理、中资本运作</a:t>
            </a:r>
            <a:endParaRPr lang="zh-CN" altLang="en-US" sz="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5" name="Rounded Rectangle 69"/>
          <p:cNvSpPr/>
          <p:nvPr/>
        </p:nvSpPr>
        <p:spPr>
          <a:xfrm>
            <a:off x="6816090" y="3878580"/>
            <a:ext cx="1905635" cy="224155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中战略管理</a:t>
            </a: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、强运营管理、</a:t>
            </a: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中资本运作</a:t>
            </a:r>
            <a:endParaRPr lang="zh-CN" altLang="en-US" sz="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6" name="Rounded Rectangle 69"/>
          <p:cNvSpPr/>
          <p:nvPr/>
        </p:nvSpPr>
        <p:spPr>
          <a:xfrm>
            <a:off x="6816090" y="3637280"/>
            <a:ext cx="1905000" cy="198755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中公司治理</a:t>
            </a:r>
            <a:r>
              <a:rPr lang="zh-CN" altLang="en-US" sz="8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、强监督控制、强资本运作</a:t>
            </a:r>
            <a:endParaRPr lang="zh-CN" altLang="en-US" sz="8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1" name="Rounded Rectangle 69"/>
          <p:cNvSpPr/>
          <p:nvPr/>
        </p:nvSpPr>
        <p:spPr>
          <a:xfrm>
            <a:off x="9107805" y="3627120"/>
            <a:ext cx="1413510" cy="2159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必选任务：资本运作、监督控制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可选任务：公司治理、增补任务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1" name="Rounded Rectangle 69"/>
          <p:cNvSpPr/>
          <p:nvPr/>
        </p:nvSpPr>
        <p:spPr>
          <a:xfrm>
            <a:off x="11345545" y="3256280"/>
            <a:ext cx="536575" cy="27971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推动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2560320" y="3395980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Y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流程图: 决策 55"/>
          <p:cNvSpPr/>
          <p:nvPr/>
        </p:nvSpPr>
        <p:spPr bwMode="auto">
          <a:xfrm>
            <a:off x="2062480" y="3214370"/>
            <a:ext cx="683260" cy="365760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 w="63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60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018030" y="3293745"/>
            <a:ext cx="775335" cy="241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纳入</a:t>
            </a:r>
            <a:r>
              <a:rPr lang="en-US" altLang="zh-CN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号文</a:t>
            </a:r>
            <a:endParaRPr lang="zh-CN" altLang="en-US" sz="60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600" b="1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8" name="直接箭头连接符 57"/>
          <p:cNvCxnSpPr/>
          <p:nvPr/>
        </p:nvCxnSpPr>
        <p:spPr bwMode="auto">
          <a:xfrm>
            <a:off x="1811655" y="3395980"/>
            <a:ext cx="241300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59" name="矩形 58"/>
          <p:cNvSpPr/>
          <p:nvPr/>
        </p:nvSpPr>
        <p:spPr>
          <a:xfrm>
            <a:off x="3134995" y="3517265"/>
            <a:ext cx="1194435" cy="108839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1" name="直接箭头连接符 60"/>
          <p:cNvCxnSpPr/>
          <p:nvPr/>
        </p:nvCxnSpPr>
        <p:spPr bwMode="auto">
          <a:xfrm>
            <a:off x="2745740" y="3390900"/>
            <a:ext cx="399415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2" name="Rounded Rectangle 69"/>
          <p:cNvSpPr/>
          <p:nvPr/>
        </p:nvSpPr>
        <p:spPr>
          <a:xfrm>
            <a:off x="3218815" y="3950970"/>
            <a:ext cx="1007110" cy="219075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B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战略判定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5" name="Rounded Rectangle 69"/>
          <p:cNvSpPr/>
          <p:nvPr/>
        </p:nvSpPr>
        <p:spPr>
          <a:xfrm>
            <a:off x="3218815" y="4295775"/>
            <a:ext cx="1007110" cy="219075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C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财务修正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68" name="直接箭头连接符 67"/>
          <p:cNvCxnSpPr/>
          <p:nvPr/>
        </p:nvCxnSpPr>
        <p:spPr bwMode="auto">
          <a:xfrm flipH="1">
            <a:off x="3722370" y="3842385"/>
            <a:ext cx="635" cy="108585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9" name="直接箭头连接符 68"/>
          <p:cNvCxnSpPr/>
          <p:nvPr/>
        </p:nvCxnSpPr>
        <p:spPr bwMode="auto">
          <a:xfrm flipH="1">
            <a:off x="3721735" y="4175760"/>
            <a:ext cx="635" cy="108585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0" name="Rounded Rectangle 69"/>
          <p:cNvSpPr/>
          <p:nvPr/>
        </p:nvSpPr>
        <p:spPr>
          <a:xfrm>
            <a:off x="5377180" y="3249295"/>
            <a:ext cx="1184910" cy="282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vert="horz" wrap="square" lIns="72001" tIns="36001" rIns="72001" bIns="36001" numCol="1" spcCol="0" rtlCol="0" fromWordArt="0" anchor="ctr" anchorCtr="0" forceAA="0" compatLnSpc="0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完成分类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377180" y="3526155"/>
            <a:ext cx="1194435" cy="108839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4" name="直接箭头连接符 73"/>
          <p:cNvCxnSpPr>
            <a:stCxn id="168" idx="3"/>
            <a:endCxn id="176" idx="1"/>
          </p:cNvCxnSpPr>
          <p:nvPr/>
        </p:nvCxnSpPr>
        <p:spPr bwMode="auto">
          <a:xfrm flipV="1">
            <a:off x="4226560" y="3731260"/>
            <a:ext cx="1251585" cy="1905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85" name="肘形连接符 84"/>
          <p:cNvCxnSpPr>
            <a:stCxn id="168" idx="3"/>
            <a:endCxn id="177" idx="1"/>
          </p:cNvCxnSpPr>
          <p:nvPr/>
        </p:nvCxnSpPr>
        <p:spPr bwMode="auto">
          <a:xfrm>
            <a:off x="4226560" y="3733165"/>
            <a:ext cx="1251585" cy="234950"/>
          </a:xfrm>
          <a:prstGeom prst="bentConnector3">
            <a:avLst>
              <a:gd name="adj1" fmla="val 50025"/>
            </a:avLst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0" name="肘形连接符 99"/>
          <p:cNvCxnSpPr>
            <a:stCxn id="62" idx="3"/>
          </p:cNvCxnSpPr>
          <p:nvPr/>
        </p:nvCxnSpPr>
        <p:spPr bwMode="auto">
          <a:xfrm flipV="1">
            <a:off x="4225925" y="3768725"/>
            <a:ext cx="1247140" cy="292100"/>
          </a:xfrm>
          <a:prstGeom prst="bentConnector3">
            <a:avLst>
              <a:gd name="adj1" fmla="val 68329"/>
            </a:avLst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1" name="肘形连接符 100"/>
          <p:cNvCxnSpPr/>
          <p:nvPr/>
        </p:nvCxnSpPr>
        <p:spPr bwMode="auto">
          <a:xfrm>
            <a:off x="5086985" y="4058920"/>
            <a:ext cx="387985" cy="367030"/>
          </a:xfrm>
          <a:prstGeom prst="bentConnector3">
            <a:avLst>
              <a:gd name="adj1" fmla="val -2291"/>
            </a:avLst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2" name="直接箭头连接符 101"/>
          <p:cNvCxnSpPr/>
          <p:nvPr/>
        </p:nvCxnSpPr>
        <p:spPr bwMode="auto">
          <a:xfrm>
            <a:off x="5079365" y="4200525"/>
            <a:ext cx="391795" cy="3175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6" name="肘形连接符 105"/>
          <p:cNvCxnSpPr/>
          <p:nvPr/>
        </p:nvCxnSpPr>
        <p:spPr bwMode="auto">
          <a:xfrm flipV="1">
            <a:off x="4237355" y="4256405"/>
            <a:ext cx="1232535" cy="149225"/>
          </a:xfrm>
          <a:prstGeom prst="bentConnector3">
            <a:avLst>
              <a:gd name="adj1" fmla="val 61617"/>
            </a:avLst>
          </a:prstGeom>
          <a:noFill/>
          <a:ln w="6350" cap="flat" cmpd="sng" algn="ctr">
            <a:solidFill>
              <a:schemeClr val="accent6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6" name="肘形连接符 115"/>
          <p:cNvCxnSpPr/>
          <p:nvPr/>
        </p:nvCxnSpPr>
        <p:spPr bwMode="auto">
          <a:xfrm flipV="1">
            <a:off x="4996180" y="3812540"/>
            <a:ext cx="482600" cy="262890"/>
          </a:xfrm>
          <a:prstGeom prst="bentConnector3">
            <a:avLst>
              <a:gd name="adj1" fmla="val 131"/>
            </a:avLst>
          </a:prstGeom>
          <a:noFill/>
          <a:ln w="6350" cap="flat" cmpd="sng" algn="ctr">
            <a:solidFill>
              <a:schemeClr val="accent6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7" name="肘形连接符 116"/>
          <p:cNvCxnSpPr/>
          <p:nvPr/>
        </p:nvCxnSpPr>
        <p:spPr bwMode="auto">
          <a:xfrm flipV="1">
            <a:off x="4997450" y="4055110"/>
            <a:ext cx="482600" cy="262890"/>
          </a:xfrm>
          <a:prstGeom prst="bentConnector3">
            <a:avLst>
              <a:gd name="adj1" fmla="val 0"/>
            </a:avLst>
          </a:prstGeom>
          <a:noFill/>
          <a:ln w="6350" cap="flat" cmpd="sng" algn="ctr">
            <a:solidFill>
              <a:schemeClr val="accent6">
                <a:lumMod val="50000"/>
                <a:lumOff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8" name="直接箭头连接符 117"/>
          <p:cNvCxnSpPr/>
          <p:nvPr/>
        </p:nvCxnSpPr>
        <p:spPr bwMode="auto">
          <a:xfrm flipV="1">
            <a:off x="4349115" y="3390900"/>
            <a:ext cx="1028065" cy="254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9" name="Rounded Rectangle 69"/>
          <p:cNvSpPr/>
          <p:nvPr/>
        </p:nvSpPr>
        <p:spPr>
          <a:xfrm>
            <a:off x="6718300" y="3261995"/>
            <a:ext cx="2113280" cy="282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vert="horz" wrap="square" lIns="72001" tIns="36001" rIns="72001" bIns="36001" numCol="1" spcCol="0" rtlCol="0" fromWordArt="0" anchor="ctr" anchorCtr="0" forceAA="0" compatLnSpc="0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708775" y="3538855"/>
            <a:ext cx="2123440" cy="108839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Rounded Rectangle 69"/>
          <p:cNvSpPr/>
          <p:nvPr/>
        </p:nvSpPr>
        <p:spPr>
          <a:xfrm>
            <a:off x="9028430" y="3261995"/>
            <a:ext cx="1579245" cy="282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vert="horz" wrap="square" lIns="72001" tIns="36001" rIns="72001" bIns="36001" numCol="1" spcCol="0" rtlCol="0" fromWordArt="0" anchor="ctr" anchorCtr="0" forceAA="0" compatLnSpc="0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定</a:t>
            </a: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018905" y="3538855"/>
            <a:ext cx="1567815" cy="1095375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3" name="肘形连接符 122"/>
          <p:cNvCxnSpPr>
            <a:endCxn id="65" idx="1"/>
          </p:cNvCxnSpPr>
          <p:nvPr/>
        </p:nvCxnSpPr>
        <p:spPr>
          <a:xfrm rot="10800000" flipV="1">
            <a:off x="3218815" y="2983230"/>
            <a:ext cx="68580" cy="1421765"/>
          </a:xfrm>
          <a:prstGeom prst="bentConnector3">
            <a:avLst>
              <a:gd name="adj1" fmla="val 385185"/>
            </a:avLst>
          </a:prstGeom>
          <a:solidFill>
            <a:schemeClr val="accent1"/>
          </a:solidFill>
          <a:ln w="317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4" name="直接箭头连接符 123"/>
          <p:cNvCxnSpPr>
            <a:endCxn id="119" idx="0"/>
          </p:cNvCxnSpPr>
          <p:nvPr/>
        </p:nvCxnSpPr>
        <p:spPr>
          <a:xfrm flipH="1">
            <a:off x="7774940" y="3122930"/>
            <a:ext cx="7620" cy="139065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5" name="文本框 124"/>
          <p:cNvSpPr txBox="1"/>
          <p:nvPr/>
        </p:nvSpPr>
        <p:spPr>
          <a:xfrm>
            <a:off x="2018030" y="5200015"/>
            <a:ext cx="775335" cy="241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纳入</a:t>
            </a:r>
            <a:r>
              <a:rPr lang="en-US" altLang="zh-CN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号文</a:t>
            </a:r>
            <a:endParaRPr lang="zh-CN" altLang="en-US" sz="60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600" b="1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6" name="直接箭头连接符 125"/>
          <p:cNvCxnSpPr/>
          <p:nvPr/>
        </p:nvCxnSpPr>
        <p:spPr bwMode="auto">
          <a:xfrm>
            <a:off x="1811655" y="5311775"/>
            <a:ext cx="241300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7" name="直接箭头连接符 126"/>
          <p:cNvCxnSpPr/>
          <p:nvPr/>
        </p:nvCxnSpPr>
        <p:spPr bwMode="auto">
          <a:xfrm>
            <a:off x="1129030" y="5756275"/>
            <a:ext cx="241300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48" name="椭圆 147"/>
          <p:cNvSpPr/>
          <p:nvPr/>
        </p:nvSpPr>
        <p:spPr>
          <a:xfrm>
            <a:off x="941705" y="5628323"/>
            <a:ext cx="260350" cy="2533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1624330" y="3268028"/>
            <a:ext cx="260350" cy="2533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1649730" y="5183823"/>
            <a:ext cx="260350" cy="2533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1784985" y="5882005"/>
            <a:ext cx="775335" cy="241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纳入</a:t>
            </a:r>
            <a:r>
              <a:rPr lang="en-US" altLang="zh-CN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号文</a:t>
            </a:r>
            <a:endParaRPr lang="zh-CN" altLang="en-US" sz="60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0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600" b="1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52" name="直接箭头连接符 151"/>
          <p:cNvCxnSpPr/>
          <p:nvPr/>
        </p:nvCxnSpPr>
        <p:spPr bwMode="auto">
          <a:xfrm>
            <a:off x="1578610" y="5973445"/>
            <a:ext cx="241300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53" name="Rounded Rectangle 69"/>
          <p:cNvSpPr/>
          <p:nvPr/>
        </p:nvSpPr>
        <p:spPr>
          <a:xfrm>
            <a:off x="1357630" y="5650230"/>
            <a:ext cx="266700" cy="79819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投资</a:t>
            </a:r>
            <a:endParaRPr lang="zh-CN" altLang="en-US" sz="10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0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</a:t>
            </a:r>
            <a:endParaRPr lang="zh-CN" altLang="en-US" sz="10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54" name="Straight Connector 170"/>
          <p:cNvCxnSpPr/>
          <p:nvPr/>
        </p:nvCxnSpPr>
        <p:spPr>
          <a:xfrm flipV="1">
            <a:off x="878205" y="5499100"/>
            <a:ext cx="10452735" cy="3175"/>
          </a:xfrm>
          <a:prstGeom prst="line">
            <a:avLst/>
          </a:prstGeom>
          <a:solidFill>
            <a:schemeClr val="tx1">
              <a:lumMod val="95000"/>
            </a:schemeClr>
          </a:solidFill>
          <a:ln w="6350" cap="flat" cmpd="sng" algn="ctr">
            <a:solidFill>
              <a:schemeClr val="tx1">
                <a:lumMod val="65000"/>
              </a:schemeClr>
            </a:solidFill>
            <a:prstDash val="dash"/>
          </a:ln>
          <a:effectLst/>
        </p:spPr>
      </p:cxnSp>
      <p:sp>
        <p:nvSpPr>
          <p:cNvPr id="155" name="文本框 154"/>
          <p:cNvSpPr txBox="1"/>
          <p:nvPr/>
        </p:nvSpPr>
        <p:spPr>
          <a:xfrm>
            <a:off x="2611120" y="5076190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2427605" y="5756275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7" name="Rounded Rectangle 69"/>
          <p:cNvSpPr/>
          <p:nvPr/>
        </p:nvSpPr>
        <p:spPr>
          <a:xfrm>
            <a:off x="3219450" y="583438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判定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Rounded Rectangle 69"/>
          <p:cNvSpPr/>
          <p:nvPr/>
        </p:nvSpPr>
        <p:spPr>
          <a:xfrm>
            <a:off x="3218815" y="517144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判定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Rounded Rectangle 69"/>
          <p:cNvSpPr/>
          <p:nvPr/>
        </p:nvSpPr>
        <p:spPr>
          <a:xfrm>
            <a:off x="9685655" y="582168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1" name="Rounded Rectangle 69"/>
          <p:cNvSpPr/>
          <p:nvPr/>
        </p:nvSpPr>
        <p:spPr>
          <a:xfrm>
            <a:off x="9685020" y="515874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62" name="直接箭头连接符 161"/>
          <p:cNvCxnSpPr/>
          <p:nvPr/>
        </p:nvCxnSpPr>
        <p:spPr bwMode="auto">
          <a:xfrm flipV="1">
            <a:off x="4155440" y="5310505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3" name="直接箭头连接符 162"/>
          <p:cNvCxnSpPr/>
          <p:nvPr/>
        </p:nvCxnSpPr>
        <p:spPr bwMode="auto">
          <a:xfrm flipV="1">
            <a:off x="4142105" y="5955030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5" name="直接箭头连接符 164"/>
          <p:cNvCxnSpPr/>
          <p:nvPr/>
        </p:nvCxnSpPr>
        <p:spPr bwMode="auto">
          <a:xfrm flipV="1">
            <a:off x="6271260" y="5314315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6" name="直接箭头连接符 165"/>
          <p:cNvCxnSpPr/>
          <p:nvPr/>
        </p:nvCxnSpPr>
        <p:spPr bwMode="auto">
          <a:xfrm flipV="1">
            <a:off x="6271260" y="5951220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69" name="Rounded Rectangle 69"/>
          <p:cNvSpPr/>
          <p:nvPr/>
        </p:nvSpPr>
        <p:spPr>
          <a:xfrm>
            <a:off x="5478780" y="583438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完成分类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0" name="Rounded Rectangle 69"/>
          <p:cNvSpPr/>
          <p:nvPr/>
        </p:nvSpPr>
        <p:spPr>
          <a:xfrm>
            <a:off x="5478145" y="517144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</a:t>
            </a: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71" name="直接箭头连接符 170"/>
          <p:cNvCxnSpPr/>
          <p:nvPr/>
        </p:nvCxnSpPr>
        <p:spPr bwMode="auto">
          <a:xfrm flipV="1">
            <a:off x="8362950" y="5318125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72" name="直接箭头连接符 171"/>
          <p:cNvCxnSpPr/>
          <p:nvPr/>
        </p:nvCxnSpPr>
        <p:spPr bwMode="auto">
          <a:xfrm flipV="1">
            <a:off x="8362950" y="5955030"/>
            <a:ext cx="1322705" cy="381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3" name="Rounded Rectangle 69"/>
          <p:cNvSpPr/>
          <p:nvPr/>
        </p:nvSpPr>
        <p:spPr>
          <a:xfrm>
            <a:off x="7594600" y="582041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5" name="Rounded Rectangle 69"/>
          <p:cNvSpPr/>
          <p:nvPr/>
        </p:nvSpPr>
        <p:spPr>
          <a:xfrm>
            <a:off x="7593965" y="5157470"/>
            <a:ext cx="922655" cy="27813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8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80" name="直接箭头连接符 179"/>
          <p:cNvCxnSpPr/>
          <p:nvPr/>
        </p:nvCxnSpPr>
        <p:spPr bwMode="auto">
          <a:xfrm flipV="1">
            <a:off x="2507615" y="5963285"/>
            <a:ext cx="721995" cy="508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81" name="直接箭头连接符 180"/>
          <p:cNvCxnSpPr>
            <a:endCxn id="158" idx="1"/>
          </p:cNvCxnSpPr>
          <p:nvPr/>
        </p:nvCxnSpPr>
        <p:spPr bwMode="auto">
          <a:xfrm flipV="1">
            <a:off x="2706370" y="5310505"/>
            <a:ext cx="512445" cy="635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82" name="肘形连接符 181"/>
          <p:cNvCxnSpPr/>
          <p:nvPr/>
        </p:nvCxnSpPr>
        <p:spPr>
          <a:xfrm rot="16200000" flipV="1">
            <a:off x="1593850" y="5226685"/>
            <a:ext cx="198755" cy="935355"/>
          </a:xfrm>
          <a:prstGeom prst="bentConnector2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连接符 182"/>
          <p:cNvCxnSpPr/>
          <p:nvPr/>
        </p:nvCxnSpPr>
        <p:spPr>
          <a:xfrm flipV="1">
            <a:off x="1230630" y="4919980"/>
            <a:ext cx="1270" cy="677545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5" name="文本框 184"/>
          <p:cNvSpPr txBox="1"/>
          <p:nvPr/>
        </p:nvSpPr>
        <p:spPr>
          <a:xfrm>
            <a:off x="2062480" y="5594985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Y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86" name="直接箭头连接符 185"/>
          <p:cNvCxnSpPr>
            <a:stCxn id="21" idx="0"/>
          </p:cNvCxnSpPr>
          <p:nvPr/>
        </p:nvCxnSpPr>
        <p:spPr>
          <a:xfrm flipH="1" flipV="1">
            <a:off x="2392045" y="4932680"/>
            <a:ext cx="2540" cy="194310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88" name="肘形连接符 187"/>
          <p:cNvCxnSpPr/>
          <p:nvPr/>
        </p:nvCxnSpPr>
        <p:spPr>
          <a:xfrm rot="5400000" flipV="1">
            <a:off x="1465580" y="4500245"/>
            <a:ext cx="2379345" cy="5232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chemeClr val="accent6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89" name="文本框 188"/>
          <p:cNvSpPr txBox="1"/>
          <p:nvPr/>
        </p:nvSpPr>
        <p:spPr>
          <a:xfrm>
            <a:off x="2160905" y="3544570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90" name="直接箭头连接符 189"/>
          <p:cNvCxnSpPr/>
          <p:nvPr/>
        </p:nvCxnSpPr>
        <p:spPr bwMode="auto">
          <a:xfrm>
            <a:off x="10608310" y="3399155"/>
            <a:ext cx="123190" cy="6985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1" name="直接箭头连接符 190"/>
          <p:cNvCxnSpPr/>
          <p:nvPr/>
        </p:nvCxnSpPr>
        <p:spPr bwMode="auto">
          <a:xfrm>
            <a:off x="10607675" y="5310505"/>
            <a:ext cx="737870" cy="635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2" name="直接箭头连接符 191"/>
          <p:cNvCxnSpPr/>
          <p:nvPr/>
        </p:nvCxnSpPr>
        <p:spPr bwMode="auto">
          <a:xfrm>
            <a:off x="10608310" y="5963285"/>
            <a:ext cx="737870" cy="635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7" name="直接箭头连接符 196"/>
          <p:cNvCxnSpPr/>
          <p:nvPr/>
        </p:nvCxnSpPr>
        <p:spPr bwMode="auto">
          <a:xfrm>
            <a:off x="6518275" y="3731260"/>
            <a:ext cx="281940" cy="5715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98" name="Rounded Rectangle 69"/>
          <p:cNvSpPr/>
          <p:nvPr/>
        </p:nvSpPr>
        <p:spPr>
          <a:xfrm>
            <a:off x="9113520" y="3886835"/>
            <a:ext cx="1413510" cy="2159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必选任务：运营管理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可选任务：资本运作、战略纠偏、增补任务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9" name="Rounded Rectangle 69"/>
          <p:cNvSpPr/>
          <p:nvPr/>
        </p:nvSpPr>
        <p:spPr>
          <a:xfrm>
            <a:off x="9113520" y="4121150"/>
            <a:ext cx="1413510" cy="2159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必选任务：战略赋能、运营赋能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可选任务：资本运作、增补任务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Rounded Rectangle 69"/>
          <p:cNvSpPr/>
          <p:nvPr/>
        </p:nvSpPr>
        <p:spPr>
          <a:xfrm>
            <a:off x="9113520" y="4356735"/>
            <a:ext cx="1413510" cy="215900"/>
          </a:xfrm>
          <a:prstGeom prst="rect">
            <a:avLst/>
          </a:prstGeom>
          <a:solidFill>
            <a:srgbClr val="00B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必选任务：战略对齐、运营监控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5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可选任务：资本运作、增补任务</a:t>
            </a:r>
            <a:endParaRPr lang="zh-CN" altLang="en-US" sz="5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01" name="直接箭头连接符 200"/>
          <p:cNvCxnSpPr/>
          <p:nvPr/>
        </p:nvCxnSpPr>
        <p:spPr bwMode="auto">
          <a:xfrm flipV="1">
            <a:off x="8732520" y="3733165"/>
            <a:ext cx="375285" cy="5080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2" name="直接箭头连接符 201"/>
          <p:cNvCxnSpPr/>
          <p:nvPr/>
        </p:nvCxnSpPr>
        <p:spPr bwMode="auto">
          <a:xfrm>
            <a:off x="6508750" y="3983990"/>
            <a:ext cx="281940" cy="5715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3" name="直接箭头连接符 202"/>
          <p:cNvCxnSpPr/>
          <p:nvPr/>
        </p:nvCxnSpPr>
        <p:spPr bwMode="auto">
          <a:xfrm>
            <a:off x="6508750" y="4209415"/>
            <a:ext cx="281940" cy="5715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4" name="直接箭头连接符 203"/>
          <p:cNvCxnSpPr/>
          <p:nvPr/>
        </p:nvCxnSpPr>
        <p:spPr bwMode="auto">
          <a:xfrm>
            <a:off x="6518275" y="4420235"/>
            <a:ext cx="281940" cy="5715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5" name="直接箭头连接符 204"/>
          <p:cNvCxnSpPr/>
          <p:nvPr/>
        </p:nvCxnSpPr>
        <p:spPr bwMode="auto">
          <a:xfrm flipV="1">
            <a:off x="8721725" y="3989705"/>
            <a:ext cx="375285" cy="5080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6" name="直接箭头连接符 205"/>
          <p:cNvCxnSpPr/>
          <p:nvPr/>
        </p:nvCxnSpPr>
        <p:spPr bwMode="auto">
          <a:xfrm flipV="1">
            <a:off x="8738235" y="4215130"/>
            <a:ext cx="375285" cy="5080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7" name="直接箭头连接符 206"/>
          <p:cNvCxnSpPr/>
          <p:nvPr/>
        </p:nvCxnSpPr>
        <p:spPr bwMode="auto">
          <a:xfrm flipV="1">
            <a:off x="8721090" y="4450715"/>
            <a:ext cx="375285" cy="5080"/>
          </a:xfrm>
          <a:prstGeom prst="straightConnector1">
            <a:avLst/>
          </a:prstGeom>
          <a:noFill/>
          <a:ln w="6350" cap="flat" cmpd="sng" algn="ctr">
            <a:solidFill>
              <a:schemeClr val="bg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9" name="直接箭头连接符 208"/>
          <p:cNvCxnSpPr/>
          <p:nvPr/>
        </p:nvCxnSpPr>
        <p:spPr bwMode="auto">
          <a:xfrm>
            <a:off x="11222990" y="3406140"/>
            <a:ext cx="123190" cy="6985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12" name="矩形 211"/>
          <p:cNvSpPr/>
          <p:nvPr/>
        </p:nvSpPr>
        <p:spPr>
          <a:xfrm>
            <a:off x="375920" y="2804795"/>
            <a:ext cx="506730" cy="379095"/>
          </a:xfrm>
          <a:prstGeom prst="rect">
            <a:avLst/>
          </a:prstGeom>
          <a:gradFill flip="none" rotWithShape="1">
            <a:gsLst>
              <a:gs pos="0">
                <a:srgbClr val="548DD4">
                  <a:lumMod val="80000"/>
                  <a:lumOff val="20000"/>
                </a:srgbClr>
              </a:gs>
              <a:gs pos="98000">
                <a:srgbClr val="548DD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88900" dir="5400000" algn="t" rotWithShape="0">
              <a:srgbClr val="548DD4">
                <a:alpha val="35000"/>
              </a:srgbClr>
            </a:outerShdw>
          </a:effectLst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输入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6" name="Rounded Rectangle 69"/>
          <p:cNvSpPr/>
          <p:nvPr/>
        </p:nvSpPr>
        <p:spPr>
          <a:xfrm>
            <a:off x="3287395" y="2842895"/>
            <a:ext cx="868045" cy="2813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大司</a:t>
            </a:r>
            <a:r>
              <a:rPr lang="zh-CN" altLang="en-US" sz="9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</a:t>
            </a:r>
            <a:endParaRPr lang="zh-CN" altLang="en-US" sz="9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3" name="Rounded Rectangle 69"/>
          <p:cNvSpPr/>
          <p:nvPr/>
        </p:nvSpPr>
        <p:spPr>
          <a:xfrm>
            <a:off x="7346950" y="2842895"/>
            <a:ext cx="868045" cy="2813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产权管理</a:t>
            </a:r>
            <a:r>
              <a:rPr lang="zh-CN" altLang="en-US" sz="9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endParaRPr lang="zh-CN" altLang="en-US" sz="9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4" name="Rounded Rectangle 69"/>
          <p:cNvSpPr/>
          <p:nvPr/>
        </p:nvSpPr>
        <p:spPr>
          <a:xfrm>
            <a:off x="1856740" y="2744470"/>
            <a:ext cx="635000" cy="1866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集团产业链规划需求输入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5" name="Rounded Rectangle 69"/>
          <p:cNvSpPr/>
          <p:nvPr/>
        </p:nvSpPr>
        <p:spPr>
          <a:xfrm>
            <a:off x="1183005" y="2744470"/>
            <a:ext cx="647065" cy="1866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参股企业规划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6" name="Rounded Rectangle 69"/>
          <p:cNvSpPr/>
          <p:nvPr/>
        </p:nvSpPr>
        <p:spPr>
          <a:xfrm>
            <a:off x="1183005" y="2951480"/>
            <a:ext cx="647065" cy="1854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公司战略规划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分解输入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7" name="Rounded Rectangle 69"/>
          <p:cNvSpPr/>
          <p:nvPr/>
        </p:nvSpPr>
        <p:spPr>
          <a:xfrm>
            <a:off x="1856740" y="2951480"/>
            <a:ext cx="635000" cy="182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72001" tIns="36001" rIns="72001" bIns="36001" numCol="1" spcCol="0" rtlCol="0" fromWordArt="0" anchor="ctr" anchorCtr="0" forceAA="0" compatLnSpc="1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日常管理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需求输入</a:t>
            </a:r>
            <a:endParaRPr lang="zh-CN" altLang="en-US" sz="600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21" name="肘形连接符 220"/>
          <p:cNvCxnSpPr/>
          <p:nvPr/>
        </p:nvCxnSpPr>
        <p:spPr>
          <a:xfrm>
            <a:off x="2501900" y="3042920"/>
            <a:ext cx="727075" cy="1017905"/>
          </a:xfrm>
          <a:prstGeom prst="bentConnector3">
            <a:avLst>
              <a:gd name="adj1" fmla="val 50044"/>
            </a:avLst>
          </a:prstGeom>
          <a:solidFill>
            <a:schemeClr val="accent1"/>
          </a:solidFill>
          <a:ln w="317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22" name="矩形 221"/>
          <p:cNvSpPr/>
          <p:nvPr/>
        </p:nvSpPr>
        <p:spPr>
          <a:xfrm>
            <a:off x="1143635" y="2722880"/>
            <a:ext cx="1363980" cy="43815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594735" y="632269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7377430" y="632269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9366250" y="632269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27" name="直接连接符 226"/>
          <p:cNvCxnSpPr/>
          <p:nvPr/>
        </p:nvCxnSpPr>
        <p:spPr>
          <a:xfrm>
            <a:off x="6809740" y="6330950"/>
            <a:ext cx="0" cy="342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228" name="直接连接符 227"/>
          <p:cNvCxnSpPr/>
          <p:nvPr/>
        </p:nvCxnSpPr>
        <p:spPr>
          <a:xfrm>
            <a:off x="8999220" y="6330950"/>
            <a:ext cx="0" cy="342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232" name="肘形连接符 231"/>
          <p:cNvCxnSpPr/>
          <p:nvPr/>
        </p:nvCxnSpPr>
        <p:spPr>
          <a:xfrm rot="10800000" flipV="1">
            <a:off x="3732530" y="3531235"/>
            <a:ext cx="7242810" cy="1073785"/>
          </a:xfrm>
          <a:prstGeom prst="bentConnector4">
            <a:avLst>
              <a:gd name="adj1" fmla="val 289"/>
              <a:gd name="adj2" fmla="val 122176"/>
            </a:avLst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235" name="直接连接符 234"/>
          <p:cNvCxnSpPr/>
          <p:nvPr/>
        </p:nvCxnSpPr>
        <p:spPr>
          <a:xfrm>
            <a:off x="1231900" y="4936490"/>
            <a:ext cx="2091690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8" name="Rounded Rectangle 69"/>
          <p:cNvSpPr/>
          <p:nvPr/>
        </p:nvSpPr>
        <p:spPr>
          <a:xfrm>
            <a:off x="10731500" y="3256915"/>
            <a:ext cx="487680" cy="27495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vert="horz" wrap="square" lIns="72001" tIns="36001" rIns="72001" bIns="36001" numCol="1" spcCol="0" rtlCol="0" fromWordArt="0" anchor="ctr" anchorCtr="0" forceAA="0" compatLnSpc="0">
            <a:noAutofit/>
          </a:bodyPr>
          <a:lstStyle/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defTabSz="51435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评估</a:t>
            </a:r>
            <a:endParaRPr lang="zh-CN" altLang="en-US" sz="9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36" name="直接箭头连接符 235"/>
          <p:cNvCxnSpPr/>
          <p:nvPr/>
        </p:nvCxnSpPr>
        <p:spPr>
          <a:xfrm flipV="1">
            <a:off x="3318510" y="4618355"/>
            <a:ext cx="8255" cy="321310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38" name="文本框 237"/>
          <p:cNvSpPr txBox="1"/>
          <p:nvPr/>
        </p:nvSpPr>
        <p:spPr>
          <a:xfrm>
            <a:off x="2319655" y="4985385"/>
            <a:ext cx="318135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AFF7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Y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192"/>
          <p:cNvSpPr txBox="1"/>
          <p:nvPr/>
        </p:nvSpPr>
        <p:spPr>
          <a:xfrm>
            <a:off x="352425" y="838200"/>
            <a:ext cx="11522710" cy="39560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全量梳理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107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户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参股企业，通过分类、施策、定任务提升管理标准化水平，打造一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汽股权管理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范式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kern="0" dirty="0" smtClean="0">
                <a:sym typeface="+mn-ea"/>
              </a:rPr>
              <a:t>2.2 </a:t>
            </a:r>
            <a:r>
              <a:rPr kern="0" dirty="0">
                <a:sym typeface="+mn-ea"/>
              </a:rPr>
              <a:t>分类逻辑</a:t>
            </a:r>
            <a:r>
              <a:rPr lang="en-US" altLang="zh-CN" kern="0" dirty="0">
                <a:sym typeface="+mn-ea"/>
              </a:rPr>
              <a:t> </a:t>
            </a:r>
            <a:r>
              <a:rPr lang="en-US" altLang="zh-CN" kern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cs typeface="微软雅黑" panose="020B0503020204020204" charset="-122"/>
                <a:sym typeface="Arial" panose="020B0604020202020204" pitchFamily="34" charset="0"/>
              </a:rPr>
              <a:t>| </a:t>
            </a:r>
            <a:r>
              <a:rPr sz="1800" kern="0" dirty="0">
                <a:sym typeface="+mn-ea"/>
              </a:rPr>
              <a:t>整体思路</a:t>
            </a:r>
            <a:endParaRPr sz="1800" kern="0" dirty="0">
              <a:sym typeface="+mn-ea"/>
            </a:endParaRPr>
          </a:p>
        </p:txBody>
      </p:sp>
      <p:sp>
        <p:nvSpPr>
          <p:cNvPr id="50" name="流程图: 终止 49"/>
          <p:cNvSpPr/>
          <p:nvPr/>
        </p:nvSpPr>
        <p:spPr bwMode="auto">
          <a:xfrm>
            <a:off x="388620" y="3491230"/>
            <a:ext cx="876300" cy="70421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参股企业</a:t>
            </a:r>
            <a:endParaRPr lang="zh-CN" altLang="en-US" sz="1200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107</a:t>
            </a: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家）</a:t>
            </a:r>
            <a:endParaRPr lang="zh-CN" altLang="en-US" sz="1200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 bwMode="auto">
          <a:xfrm>
            <a:off x="2687320" y="2493645"/>
            <a:ext cx="2004060" cy="5784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纳入管理范畴（</a:t>
            </a:r>
            <a:r>
              <a:rPr lang="en-US" altLang="zh-CN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家）</a:t>
            </a:r>
            <a:endParaRPr lang="zh-CN" altLang="en-US" sz="1200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1146175" y="3312795"/>
            <a:ext cx="1217295" cy="4133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按照是否纳入国资委</a:t>
            </a:r>
            <a:r>
              <a:rPr lang="en-US" altLang="zh-CN" sz="9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号文管理分类</a:t>
            </a:r>
            <a:endParaRPr lang="zh-CN" altLang="en-US" sz="9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277620" y="3844925"/>
            <a:ext cx="960755" cy="127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圆角矩形 9"/>
          <p:cNvSpPr/>
          <p:nvPr/>
        </p:nvSpPr>
        <p:spPr bwMode="auto">
          <a:xfrm>
            <a:off x="2687320" y="3981450"/>
            <a:ext cx="2003425" cy="63627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未纳入管理范畴（</a:t>
            </a:r>
            <a:r>
              <a:rPr lang="en-US" altLang="zh-CN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57</a:t>
            </a:r>
            <a:r>
              <a:rPr lang="zh-CN" altLang="en-US" sz="12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家）</a:t>
            </a:r>
            <a:endParaRPr lang="zh-CN" altLang="en-US" sz="1200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肘形连接符 10"/>
          <p:cNvCxnSpPr>
            <a:endCxn id="73" idx="1"/>
          </p:cNvCxnSpPr>
          <p:nvPr/>
        </p:nvCxnSpPr>
        <p:spPr>
          <a:xfrm rot="16200000">
            <a:off x="1923415" y="3102610"/>
            <a:ext cx="1083310" cy="44450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3" name="肘形连接符 12"/>
          <p:cNvCxnSpPr/>
          <p:nvPr/>
        </p:nvCxnSpPr>
        <p:spPr>
          <a:xfrm rot="5400000" flipV="1">
            <a:off x="2247265" y="3872865"/>
            <a:ext cx="440055" cy="44005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4" name="圆角矩形 13"/>
          <p:cNvSpPr/>
          <p:nvPr/>
        </p:nvSpPr>
        <p:spPr bwMode="auto">
          <a:xfrm>
            <a:off x="2160270" y="2493645"/>
            <a:ext cx="252730" cy="4133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lang="zh-CN" altLang="en-US" sz="12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2172970" y="4208145"/>
            <a:ext cx="252730" cy="4133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lang="zh-CN" altLang="en-US" sz="12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9420" y="4312920"/>
            <a:ext cx="1169035" cy="694055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股权所管：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84</a:t>
            </a:r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家</a:t>
            </a:r>
            <a:endParaRPr lang="zh-CN" altLang="en-US" sz="1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基金所管：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家</a:t>
            </a:r>
            <a:endParaRPr lang="zh-CN" altLang="en-US" sz="1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代管企业：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家</a:t>
            </a:r>
            <a:endParaRPr lang="zh-CN" altLang="en-US" sz="1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5504180" y="6000115"/>
            <a:ext cx="5520055" cy="49657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l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基金类（</a:t>
            </a:r>
            <a:r>
              <a:rPr lang="en-US" altLang="zh-CN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家）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自主发起设立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基金：绿色动力基金、一汽创新基金、一汽产业基金、旗挚创投基金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参与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基金：中央企业乡村基金、国家制造业转型升级基金、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国创基金、力合基金、</a:t>
            </a:r>
            <a:r>
              <a:rPr lang="en-US" altLang="zh-CN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T3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出行基金</a:t>
            </a:r>
            <a:endParaRPr lang="zh-CN" altLang="en-US" sz="100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5455920" y="4456430"/>
            <a:ext cx="916940" cy="69342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交易性金融资产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45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家）</a:t>
            </a:r>
            <a:endParaRPr lang="zh-CN" altLang="en-US" sz="100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5455920" y="3663315"/>
            <a:ext cx="1949450" cy="4445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l" fontAlgn="ctr"/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集团内控股（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家）</a:t>
            </a:r>
            <a:endParaRPr lang="zh-CN" altLang="en-US" sz="1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4708525" y="4313555"/>
            <a:ext cx="275590" cy="8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肘形连接符 28"/>
          <p:cNvCxnSpPr/>
          <p:nvPr/>
        </p:nvCxnSpPr>
        <p:spPr>
          <a:xfrm rot="16200000">
            <a:off x="4986655" y="3881755"/>
            <a:ext cx="471805" cy="45212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0" name="肘形连接符 29"/>
          <p:cNvCxnSpPr/>
          <p:nvPr/>
        </p:nvCxnSpPr>
        <p:spPr>
          <a:xfrm rot="5400000" flipV="1">
            <a:off x="4996180" y="4331335"/>
            <a:ext cx="440055" cy="44005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肘形连接符 31"/>
          <p:cNvCxnSpPr>
            <a:endCxn id="20" idx="1"/>
          </p:cNvCxnSpPr>
          <p:nvPr/>
        </p:nvCxnSpPr>
        <p:spPr>
          <a:xfrm rot="5400000" flipV="1">
            <a:off x="4509135" y="5252720"/>
            <a:ext cx="1476375" cy="51435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3" name="流程图: 决策 32"/>
          <p:cNvSpPr/>
          <p:nvPr/>
        </p:nvSpPr>
        <p:spPr>
          <a:xfrm>
            <a:off x="5354955" y="2461895"/>
            <a:ext cx="1489075" cy="667385"/>
          </a:xfrm>
          <a:prstGeom prst="flowChartDecision">
            <a:avLst/>
          </a:prstGeom>
          <a:solidFill>
            <a:srgbClr val="FFC000">
              <a:alpha val="37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normalizeH="0" baseline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r>
              <a:rPr kumimoji="0" lang="en-US" altLang="zh-CN" sz="1400" b="1" i="0" u="none" strike="noStrike" cap="none" normalizeH="0" baseline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endParaRPr kumimoji="0" lang="en-US" altLang="zh-CN" sz="1400" b="1" i="0" u="none" strike="noStrike" cap="none" normalizeH="0" baseline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7377430" y="5078730"/>
            <a:ext cx="826135" cy="4133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8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被动退出</a:t>
            </a:r>
            <a:endParaRPr lang="zh-CN" altLang="en-US" sz="8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8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endParaRPr lang="zh-CN" altLang="en-US" sz="8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直接连接符 34"/>
          <p:cNvCxnSpPr>
            <a:stCxn id="82" idx="3"/>
          </p:cNvCxnSpPr>
          <p:nvPr/>
        </p:nvCxnSpPr>
        <p:spPr>
          <a:xfrm flipV="1">
            <a:off x="7475855" y="5269865"/>
            <a:ext cx="353060" cy="16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圆角矩形 40"/>
          <p:cNvSpPr/>
          <p:nvPr/>
        </p:nvSpPr>
        <p:spPr bwMode="auto">
          <a:xfrm>
            <a:off x="8270240" y="4834255"/>
            <a:ext cx="915670" cy="37719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进入上会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ctr">
              <a:buClrTx/>
              <a:buSzTx/>
              <a:buFontTx/>
            </a:pP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决策程序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流程图: 决策 41"/>
          <p:cNvSpPr/>
          <p:nvPr/>
        </p:nvSpPr>
        <p:spPr>
          <a:xfrm>
            <a:off x="8270240" y="5494655"/>
            <a:ext cx="979805" cy="346075"/>
          </a:xfrm>
          <a:prstGeom prst="flowChartDecision">
            <a:avLst/>
          </a:prstGeom>
          <a:solidFill>
            <a:srgbClr val="FFC000">
              <a:alpha val="37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900" b="1" i="0" u="none" strike="noStrike" cap="none" normalizeH="0" baseline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endParaRPr kumimoji="0" lang="en-US" altLang="zh-CN" sz="900" b="1" i="0" u="none" strike="noStrike" cap="none" normalizeH="0" baseline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肘形连接符 42"/>
          <p:cNvCxnSpPr/>
          <p:nvPr/>
        </p:nvCxnSpPr>
        <p:spPr>
          <a:xfrm flipV="1">
            <a:off x="7815580" y="4975225"/>
            <a:ext cx="441960" cy="296545"/>
          </a:xfrm>
          <a:prstGeom prst="bentConnector3">
            <a:avLst>
              <a:gd name="adj1" fmla="val 50144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4" name="肘形连接符 43"/>
          <p:cNvCxnSpPr/>
          <p:nvPr/>
        </p:nvCxnSpPr>
        <p:spPr>
          <a:xfrm rot="5400000" flipV="1">
            <a:off x="7969250" y="5349240"/>
            <a:ext cx="374650" cy="24574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5" name="圆角矩形 44"/>
          <p:cNvSpPr/>
          <p:nvPr/>
        </p:nvSpPr>
        <p:spPr bwMode="auto">
          <a:xfrm>
            <a:off x="7944485" y="5006975"/>
            <a:ext cx="414655" cy="19113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8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触发</a:t>
            </a:r>
            <a:endParaRPr lang="zh-CN" altLang="en-US" sz="8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7944485" y="5443855"/>
            <a:ext cx="541020" cy="19113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8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未触发</a:t>
            </a:r>
            <a:endParaRPr lang="zh-CN" altLang="en-US" sz="8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肘形连接符 46"/>
          <p:cNvCxnSpPr>
            <a:endCxn id="52" idx="1"/>
          </p:cNvCxnSpPr>
          <p:nvPr/>
        </p:nvCxnSpPr>
        <p:spPr>
          <a:xfrm flipV="1">
            <a:off x="9182100" y="4845050"/>
            <a:ext cx="441960" cy="208280"/>
          </a:xfrm>
          <a:prstGeom prst="bentConnector3">
            <a:avLst>
              <a:gd name="adj1" fmla="val 50144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肘形连接符 47"/>
          <p:cNvCxnSpPr/>
          <p:nvPr/>
        </p:nvCxnSpPr>
        <p:spPr>
          <a:xfrm>
            <a:off x="9391015" y="5065395"/>
            <a:ext cx="233045" cy="212725"/>
          </a:xfrm>
          <a:prstGeom prst="bentConnector3">
            <a:avLst>
              <a:gd name="adj1" fmla="val 5449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1" name="圆角矩形 50"/>
          <p:cNvSpPr/>
          <p:nvPr/>
        </p:nvSpPr>
        <p:spPr bwMode="auto">
          <a:xfrm>
            <a:off x="9311005" y="5075555"/>
            <a:ext cx="541020" cy="19113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8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 bwMode="auto">
          <a:xfrm>
            <a:off x="9624060" y="4718050"/>
            <a:ext cx="1088390" cy="25336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9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执行退出协议</a:t>
            </a:r>
            <a:endParaRPr lang="zh-CN" altLang="en-US" sz="9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 bwMode="auto">
          <a:xfrm>
            <a:off x="9624060" y="5121910"/>
            <a:ext cx="1088390" cy="25336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9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不执行退出协议</a:t>
            </a:r>
            <a:endParaRPr lang="zh-CN" altLang="en-US" sz="9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 bwMode="auto">
          <a:xfrm>
            <a:off x="9521825" y="5520055"/>
            <a:ext cx="722630" cy="305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6" name="直接箭头连接符 55"/>
          <p:cNvCxnSpPr>
            <a:endCxn id="55" idx="1"/>
          </p:cNvCxnSpPr>
          <p:nvPr/>
        </p:nvCxnSpPr>
        <p:spPr>
          <a:xfrm>
            <a:off x="9250045" y="5668010"/>
            <a:ext cx="271780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7" name="圆角矩形 56"/>
          <p:cNvSpPr/>
          <p:nvPr/>
        </p:nvSpPr>
        <p:spPr bwMode="auto">
          <a:xfrm>
            <a:off x="7500620" y="3077210"/>
            <a:ext cx="783590" cy="333375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12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流程图: 数据 59"/>
          <p:cNvSpPr/>
          <p:nvPr/>
        </p:nvSpPr>
        <p:spPr bwMode="auto">
          <a:xfrm>
            <a:off x="10452735" y="5531485"/>
            <a:ext cx="722630" cy="305435"/>
          </a:xfrm>
          <a:prstGeom prst="flowChartInputOutpu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9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9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1" name="直接箭头连接符 60"/>
          <p:cNvCxnSpPr>
            <a:endCxn id="60" idx="2"/>
          </p:cNvCxnSpPr>
          <p:nvPr/>
        </p:nvCxnSpPr>
        <p:spPr>
          <a:xfrm>
            <a:off x="10253345" y="5679440"/>
            <a:ext cx="271780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2" name="肘形连接符 61"/>
          <p:cNvCxnSpPr>
            <a:stCxn id="53" idx="3"/>
            <a:endCxn id="55" idx="0"/>
          </p:cNvCxnSpPr>
          <p:nvPr/>
        </p:nvCxnSpPr>
        <p:spPr>
          <a:xfrm flipH="1">
            <a:off x="9883140" y="5248910"/>
            <a:ext cx="829310" cy="271145"/>
          </a:xfrm>
          <a:prstGeom prst="bentConnector4">
            <a:avLst>
              <a:gd name="adj1" fmla="val -28714"/>
              <a:gd name="adj2" fmla="val 73302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圆角矩形 62"/>
          <p:cNvSpPr/>
          <p:nvPr/>
        </p:nvSpPr>
        <p:spPr bwMode="auto">
          <a:xfrm>
            <a:off x="7677150" y="3663315"/>
            <a:ext cx="1010285" cy="389255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保留赋能类</a:t>
            </a:r>
            <a:endParaRPr lang="zh-CN" altLang="en-US" sz="12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7405370" y="3895090"/>
            <a:ext cx="271780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直接连接符 64"/>
          <p:cNvCxnSpPr/>
          <p:nvPr/>
        </p:nvCxnSpPr>
        <p:spPr>
          <a:xfrm>
            <a:off x="6857365" y="2790825"/>
            <a:ext cx="2203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肘形连接符 66"/>
          <p:cNvCxnSpPr/>
          <p:nvPr/>
        </p:nvCxnSpPr>
        <p:spPr>
          <a:xfrm rot="5400000" flipV="1">
            <a:off x="7077710" y="2797810"/>
            <a:ext cx="440055" cy="44005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直接箭头连接符 70"/>
          <p:cNvCxnSpPr>
            <a:stCxn id="95" idx="5"/>
            <a:endCxn id="3" idx="1"/>
          </p:cNvCxnSpPr>
          <p:nvPr/>
        </p:nvCxnSpPr>
        <p:spPr>
          <a:xfrm flipV="1">
            <a:off x="10906125" y="2899410"/>
            <a:ext cx="476885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5" name="圆角矩形 74"/>
          <p:cNvSpPr/>
          <p:nvPr/>
        </p:nvSpPr>
        <p:spPr bwMode="auto">
          <a:xfrm>
            <a:off x="7495540" y="2611755"/>
            <a:ext cx="783590" cy="355600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调整类</a:t>
            </a:r>
            <a:endParaRPr lang="zh-CN" altLang="en-US" sz="12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圆角矩形 75"/>
          <p:cNvSpPr/>
          <p:nvPr/>
        </p:nvSpPr>
        <p:spPr bwMode="auto">
          <a:xfrm>
            <a:off x="7500620" y="2131060"/>
            <a:ext cx="783590" cy="362585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保留类</a:t>
            </a:r>
            <a:endParaRPr lang="zh-CN" altLang="en-US" sz="12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79" name="肘形连接符 78"/>
          <p:cNvCxnSpPr/>
          <p:nvPr/>
        </p:nvCxnSpPr>
        <p:spPr>
          <a:xfrm rot="16200000">
            <a:off x="6859905" y="2507615"/>
            <a:ext cx="862330" cy="41910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0" name="直接箭头连接符 79"/>
          <p:cNvCxnSpPr>
            <a:endCxn id="75" idx="1"/>
          </p:cNvCxnSpPr>
          <p:nvPr/>
        </p:nvCxnSpPr>
        <p:spPr>
          <a:xfrm>
            <a:off x="7076440" y="2789555"/>
            <a:ext cx="4191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1" name="圆角矩形 80"/>
          <p:cNvSpPr/>
          <p:nvPr/>
        </p:nvSpPr>
        <p:spPr bwMode="auto">
          <a:xfrm>
            <a:off x="6638290" y="4234180"/>
            <a:ext cx="845820" cy="56261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同意启动退出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家）</a:t>
            </a:r>
            <a:endParaRPr lang="zh-CN" altLang="en-US" sz="100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/>
        </p:nvSpPr>
        <p:spPr bwMode="auto">
          <a:xfrm>
            <a:off x="6630035" y="5005070"/>
            <a:ext cx="845820" cy="56261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未启动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fontAlgn="ctr"/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37</a:t>
            </a: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家）</a:t>
            </a:r>
            <a:endParaRPr lang="zh-CN" altLang="en-US" sz="100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4" name="直接连接符 83"/>
          <p:cNvCxnSpPr>
            <a:stCxn id="21" idx="3"/>
          </p:cNvCxnSpPr>
          <p:nvPr/>
        </p:nvCxnSpPr>
        <p:spPr>
          <a:xfrm flipV="1">
            <a:off x="6372860" y="4800600"/>
            <a:ext cx="165100" cy="25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肘形连接符 84"/>
          <p:cNvCxnSpPr>
            <a:endCxn id="81" idx="1"/>
          </p:cNvCxnSpPr>
          <p:nvPr/>
        </p:nvCxnSpPr>
        <p:spPr>
          <a:xfrm rot="16200000">
            <a:off x="6426200" y="4613910"/>
            <a:ext cx="310515" cy="11303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肘形连接符 86"/>
          <p:cNvCxnSpPr>
            <a:endCxn id="82" idx="1"/>
          </p:cNvCxnSpPr>
          <p:nvPr/>
        </p:nvCxnSpPr>
        <p:spPr bwMode="auto">
          <a:xfrm rot="5400000" flipV="1">
            <a:off x="6330950" y="4987290"/>
            <a:ext cx="495300" cy="10223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  <a:alpha val="7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8" name="流程图: 决策 87"/>
          <p:cNvSpPr/>
          <p:nvPr/>
        </p:nvSpPr>
        <p:spPr>
          <a:xfrm>
            <a:off x="8034020" y="4283075"/>
            <a:ext cx="979805" cy="346075"/>
          </a:xfrm>
          <a:prstGeom prst="flowChartDecision">
            <a:avLst/>
          </a:prstGeom>
          <a:solidFill>
            <a:srgbClr val="FFC000">
              <a:alpha val="37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900" b="1" i="0" u="none" strike="noStrike" cap="none" normalizeH="0" baseline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endParaRPr kumimoji="0" lang="en-US" altLang="zh-CN" sz="900" b="1" i="0" u="none" strike="noStrike" cap="none" normalizeH="0" baseline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 bwMode="auto">
          <a:xfrm>
            <a:off x="9250045" y="4312920"/>
            <a:ext cx="722630" cy="305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10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10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0" name="直接箭头连接符 89"/>
          <p:cNvCxnSpPr>
            <a:endCxn id="89" idx="1"/>
          </p:cNvCxnSpPr>
          <p:nvPr/>
        </p:nvCxnSpPr>
        <p:spPr>
          <a:xfrm>
            <a:off x="8978265" y="4460875"/>
            <a:ext cx="271780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91" name="流程图: 数据 90"/>
          <p:cNvSpPr/>
          <p:nvPr/>
        </p:nvSpPr>
        <p:spPr bwMode="auto">
          <a:xfrm>
            <a:off x="10182860" y="4312920"/>
            <a:ext cx="722630" cy="305435"/>
          </a:xfrm>
          <a:prstGeom prst="flowChartInputOutpu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9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9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2" name="直接箭头连接符 91"/>
          <p:cNvCxnSpPr>
            <a:endCxn id="91" idx="2"/>
          </p:cNvCxnSpPr>
          <p:nvPr/>
        </p:nvCxnSpPr>
        <p:spPr>
          <a:xfrm>
            <a:off x="9983470" y="4460875"/>
            <a:ext cx="271780" cy="5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直接箭头连接符 92"/>
          <p:cNvCxnSpPr>
            <a:endCxn id="88" idx="1"/>
          </p:cNvCxnSpPr>
          <p:nvPr/>
        </p:nvCxnSpPr>
        <p:spPr>
          <a:xfrm flipV="1">
            <a:off x="7484110" y="4456430"/>
            <a:ext cx="549910" cy="9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94" name="右大括号 93"/>
          <p:cNvSpPr/>
          <p:nvPr/>
        </p:nvSpPr>
        <p:spPr>
          <a:xfrm>
            <a:off x="9505315" y="1903730"/>
            <a:ext cx="670560" cy="2107565"/>
          </a:xfrm>
          <a:prstGeom prst="rightBrace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流程图: 数据 94"/>
          <p:cNvSpPr/>
          <p:nvPr/>
        </p:nvSpPr>
        <p:spPr bwMode="auto">
          <a:xfrm>
            <a:off x="10255885" y="2751455"/>
            <a:ext cx="722630" cy="305435"/>
          </a:xfrm>
          <a:prstGeom prst="flowChartInputOutpu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9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endParaRPr lang="zh-CN" altLang="en-US" sz="9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流程图: 过程 2"/>
          <p:cNvSpPr/>
          <p:nvPr/>
        </p:nvSpPr>
        <p:spPr bwMode="auto">
          <a:xfrm>
            <a:off x="11383010" y="2750185"/>
            <a:ext cx="520065" cy="2984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0838180" y="4464050"/>
            <a:ext cx="274955" cy="3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" name="流程图: 过程 6"/>
          <p:cNvSpPr/>
          <p:nvPr/>
        </p:nvSpPr>
        <p:spPr bwMode="auto">
          <a:xfrm>
            <a:off x="11113770" y="4319270"/>
            <a:ext cx="520065" cy="2984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1108055" y="5675630"/>
            <a:ext cx="274955" cy="3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8" name="圆角矩形 17"/>
          <p:cNvSpPr/>
          <p:nvPr/>
        </p:nvSpPr>
        <p:spPr bwMode="auto">
          <a:xfrm>
            <a:off x="9037955" y="3946525"/>
            <a:ext cx="1800225" cy="413385"/>
          </a:xfrm>
          <a:prstGeom prst="roundRect">
            <a:avLst/>
          </a:prstGeom>
          <a:solidFill>
            <a:srgbClr val="000000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sz="10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4705350" y="2787650"/>
            <a:ext cx="626745" cy="82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2205990" y="3148330"/>
            <a:ext cx="4064000" cy="914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流程图: 过程 22"/>
          <p:cNvSpPr/>
          <p:nvPr/>
        </p:nvSpPr>
        <p:spPr bwMode="auto">
          <a:xfrm>
            <a:off x="11383010" y="5542280"/>
            <a:ext cx="520065" cy="2984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 fontAlgn="ctr">
              <a:buClrTx/>
              <a:buSzTx/>
              <a:buFontTx/>
            </a:pPr>
            <a:r>
              <a:rPr lang="zh-CN" altLang="en-US" sz="8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endParaRPr lang="zh-CN" altLang="en-US" sz="80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 bwMode="auto">
          <a:xfrm>
            <a:off x="8606790" y="1839595"/>
            <a:ext cx="783590" cy="362585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9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</a:t>
            </a:r>
            <a:endParaRPr lang="zh-CN" altLang="en-US" sz="9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ctr">
              <a:buClrTx/>
              <a:buSzTx/>
              <a:buFontTx/>
            </a:pPr>
            <a:r>
              <a:rPr lang="zh-CN" altLang="en-US" sz="9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管控类</a:t>
            </a:r>
            <a:endParaRPr lang="zh-CN" altLang="en-US" sz="9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8606790" y="2286000"/>
            <a:ext cx="783590" cy="362585"/>
          </a:xfrm>
          <a:prstGeom prst="roundRect">
            <a:avLst/>
          </a:prstGeom>
          <a:solidFill>
            <a:srgbClr val="92D050">
              <a:alpha val="5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9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</a:t>
            </a:r>
            <a:endParaRPr lang="zh-CN" altLang="en-US" sz="9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ctr">
              <a:buClrTx/>
              <a:buSzTx/>
              <a:buFontTx/>
            </a:pPr>
            <a:r>
              <a:rPr lang="zh-CN" altLang="en-US" sz="9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赋能类</a:t>
            </a:r>
            <a:endParaRPr lang="zh-CN" altLang="en-US" sz="900" b="1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7" name="肘形连接符 36"/>
          <p:cNvCxnSpPr>
            <a:stCxn id="76" idx="3"/>
            <a:endCxn id="31" idx="1"/>
          </p:cNvCxnSpPr>
          <p:nvPr/>
        </p:nvCxnSpPr>
        <p:spPr>
          <a:xfrm flipV="1">
            <a:off x="8284210" y="2021205"/>
            <a:ext cx="322580" cy="29146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8" name="肘形连接符 37"/>
          <p:cNvCxnSpPr>
            <a:stCxn id="76" idx="3"/>
            <a:endCxn id="36" idx="1"/>
          </p:cNvCxnSpPr>
          <p:nvPr/>
        </p:nvCxnSpPr>
        <p:spPr>
          <a:xfrm>
            <a:off x="8284210" y="2312670"/>
            <a:ext cx="322580" cy="1549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250190" y="1546860"/>
            <a:ext cx="9890125" cy="4377690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4663440" y="138874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17315" y="6000115"/>
            <a:ext cx="1000125" cy="35052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按照基金相关管理办法执行</a:t>
            </a:r>
            <a:endParaRPr lang="zh-CN" altLang="en-US" sz="1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128250" y="1546860"/>
            <a:ext cx="1047750" cy="4377690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10128250" y="138493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施策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178540" y="1546860"/>
            <a:ext cx="890905" cy="4377690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11061065" y="1396365"/>
            <a:ext cx="1066165" cy="30670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5B9BD5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定任务</a:t>
            </a:r>
            <a:r>
              <a:rPr lang="en-US" altLang="zh-CN" sz="1400" b="1" i="1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endParaRPr lang="en-US" altLang="zh-CN" sz="1400" b="1" i="1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2" name="Rectangle 98"/>
          <p:cNvSpPr/>
          <p:nvPr/>
        </p:nvSpPr>
        <p:spPr bwMode="auto">
          <a:xfrm>
            <a:off x="7944485" y="4208145"/>
            <a:ext cx="4090670" cy="1716405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6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待相关业务部门细化</a:t>
            </a:r>
            <a:endParaRPr lang="zh-CN" sz="1600" b="1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kern="0" dirty="0" smtClean="0">
                <a:sym typeface="+mn-ea"/>
              </a:rPr>
              <a:t>2.2 </a:t>
            </a:r>
            <a:r>
              <a:rPr kern="0" dirty="0">
                <a:sym typeface="+mn-ea"/>
              </a:rPr>
              <a:t>分类逻辑</a:t>
            </a:r>
            <a:r>
              <a:rPr lang="en-US" altLang="zh-CN" kern="0" dirty="0">
                <a:sym typeface="+mn-ea"/>
              </a:rPr>
              <a:t> </a:t>
            </a:r>
            <a:r>
              <a:rPr lang="en-US" altLang="zh-CN" kern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cs typeface="微软雅黑" panose="020B0503020204020204" charset="-122"/>
                <a:sym typeface="Arial" panose="020B0604020202020204" pitchFamily="34" charset="0"/>
              </a:rPr>
              <a:t>| </a:t>
            </a:r>
            <a:r>
              <a:rPr sz="1800" kern="0" dirty="0">
                <a:sym typeface="+mn-ea"/>
              </a:rPr>
              <a:t>分类模型</a:t>
            </a:r>
            <a:r>
              <a:rPr lang="en-US" altLang="zh-CN" sz="1800" kern="0" dirty="0">
                <a:sym typeface="+mn-ea"/>
              </a:rPr>
              <a:t>*</a:t>
            </a:r>
            <a:endParaRPr lang="en-US" altLang="zh-CN" sz="1800" kern="0" dirty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分类：将纳入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号文管理的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家参股企业，从合规、战略、财务三个维度进行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判定，确定公司类别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64795" y="3450590"/>
            <a:ext cx="313690" cy="1043305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9525" cap="flat" cmpd="sng" algn="ctr">
            <a:solidFill>
              <a:srgbClr val="152A8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参股企业</a:t>
            </a: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Rectangle 45"/>
          <p:cNvSpPr/>
          <p:nvPr/>
        </p:nvSpPr>
        <p:spPr bwMode="auto">
          <a:xfrm>
            <a:off x="786130" y="1275080"/>
            <a:ext cx="3487420" cy="311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步：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合规判定</a:t>
            </a:r>
            <a:endParaRPr lang="zh-CN" altLang="en-US" sz="13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894715" y="1938020"/>
          <a:ext cx="3237865" cy="3981450"/>
        </p:xfrm>
        <a:graphic>
          <a:graphicData uri="http://schemas.openxmlformats.org/drawingml/2006/table">
            <a:tbl>
              <a:tblPr/>
              <a:tblGrid>
                <a:gridCol w="313055"/>
                <a:gridCol w="1084580"/>
                <a:gridCol w="1840230"/>
              </a:tblGrid>
              <a:tr h="21336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检查项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判定标准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8135">
                <a:tc rowSpan="5">
                  <a:txBody>
                    <a:bodyPr/>
                    <a:p>
                      <a:pPr algn="ctr" fontAlgn="ctr"/>
                      <a:r>
                        <a:rPr lang="zh-CN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调整类检查项</a:t>
                      </a:r>
                      <a:endParaRPr lang="zh-CN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非主业及培育期且EOE不达标、同时满足三种情形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1.非集团主业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2.不在培育期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3.净资产收益率连续两年低于集团预算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73050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参股无实控人且为第一大股东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参股无实控人且为第一大股东（参与国家科技攻关、前瞻布局未来产业除外）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55930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治理失效、存在以下任一情形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1.无法掌握经营情况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2.无法正常参与公司治理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3.无法行使查阅权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4.国有股东表决</a:t>
                      </a: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分红权与出资比例不对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88315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出资/表决/人员违规、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存在以下任一情形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1.国有股东提供超比例担保或违规借款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2.先于其他股东</a:t>
                      </a: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其他股东未依规出资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3.将表决权委托给非国有股东行使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4.派出人员未按国有股东要求发表意见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71780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违规使用国有企业名称字号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是否违规使用国有企业名称字号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3540">
                <a:tc row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退出类检查项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低效无效股权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（战略持有或培育期除外）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存在任一情形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1.连续5年及以上未分红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2.连续3年及以上亏损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3.连续2年及以上非持续经营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24180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违法违规与参股企业开展同业竞争业务和关联交易行为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1.涉及利益输送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2.违规占用资金 </a:t>
                      </a:r>
                      <a:endParaRPr lang="zh-CN" altLang="en-US" sz="8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3.转移掏空核心业务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57200">
                <a:tc vMerge="1"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未在规定时间完成整改的“调整”范围内的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8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制定方案（6个月）后1年内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45"/>
          <p:cNvSpPr/>
          <p:nvPr/>
        </p:nvSpPr>
        <p:spPr bwMode="auto">
          <a:xfrm>
            <a:off x="4507865" y="1275080"/>
            <a:ext cx="3827145" cy="311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第二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步：战略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判定</a:t>
            </a:r>
            <a:endParaRPr lang="zh-CN" altLang="en-US" sz="13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08500" y="1671955"/>
            <a:ext cx="3877310" cy="4618355"/>
          </a:xfrm>
          <a:prstGeom prst="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45"/>
          <p:cNvSpPr/>
          <p:nvPr/>
        </p:nvSpPr>
        <p:spPr bwMode="auto">
          <a:xfrm>
            <a:off x="8601710" y="1275080"/>
            <a:ext cx="1724025" cy="311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步：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财务修正</a:t>
            </a:r>
            <a:endParaRPr lang="zh-CN" altLang="en-US" sz="13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45"/>
          <p:cNvSpPr/>
          <p:nvPr/>
        </p:nvSpPr>
        <p:spPr bwMode="auto">
          <a:xfrm>
            <a:off x="10694035" y="3830955"/>
            <a:ext cx="976630" cy="537210"/>
          </a:xfrm>
          <a:prstGeom prst="rect">
            <a:avLst/>
          </a:prstGeom>
          <a:solidFill>
            <a:srgbClr val="FFC000">
              <a:alpha val="22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Rectangle 45"/>
          <p:cNvSpPr/>
          <p:nvPr/>
        </p:nvSpPr>
        <p:spPr bwMode="auto">
          <a:xfrm>
            <a:off x="10694670" y="2360295"/>
            <a:ext cx="977900" cy="565785"/>
          </a:xfrm>
          <a:prstGeom prst="rect">
            <a:avLst/>
          </a:prstGeom>
          <a:solidFill>
            <a:srgbClr val="92D050">
              <a:alpha val="3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</a:t>
            </a:r>
            <a:endParaRPr lang="en-US" altLang="zh-CN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管控类</a:t>
            </a:r>
            <a:endParaRPr lang="zh-CN" altLang="en-US" sz="800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Rectangle 45"/>
          <p:cNvSpPr/>
          <p:nvPr/>
        </p:nvSpPr>
        <p:spPr bwMode="auto">
          <a:xfrm>
            <a:off x="10694035" y="4611370"/>
            <a:ext cx="975360" cy="52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900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Rectangle 45"/>
          <p:cNvSpPr/>
          <p:nvPr/>
        </p:nvSpPr>
        <p:spPr bwMode="auto">
          <a:xfrm>
            <a:off x="10694670" y="3150870"/>
            <a:ext cx="981075" cy="522605"/>
          </a:xfrm>
          <a:prstGeom prst="rect">
            <a:avLst/>
          </a:prstGeom>
          <a:solidFill>
            <a:srgbClr val="92D050">
              <a:alpha val="3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</a:t>
            </a:r>
            <a:endParaRPr lang="en-US" altLang="zh-CN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赋能类</a:t>
            </a:r>
            <a:endParaRPr lang="zh-CN" altLang="en-US" sz="800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611870" y="1672590"/>
            <a:ext cx="1712595" cy="4617720"/>
          </a:xfrm>
          <a:prstGeom prst="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10694035" y="2378075"/>
            <a:ext cx="210185" cy="15748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9BBB59"/>
          </a:solidFill>
        </p:spPr>
      </p:sp>
      <p:sp>
        <p:nvSpPr>
          <p:cNvPr id="26" name="Shape 17"/>
          <p:cNvSpPr/>
          <p:nvPr/>
        </p:nvSpPr>
        <p:spPr>
          <a:xfrm>
            <a:off x="10708640" y="3837305"/>
            <a:ext cx="182880" cy="177165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28"/>
                  <a:pt x="359172" y="63500"/>
                  <a:pt x="254000" y="63500"/>
                </a:cubicBezTo>
                <a:lnTo>
                  <a:pt x="254000" y="444500"/>
                </a:lnTo>
                <a:cubicBezTo>
                  <a:pt x="359172" y="444500"/>
                  <a:pt x="444500" y="359172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</a:path>
            </a:pathLst>
          </a:custGeom>
          <a:solidFill>
            <a:srgbClr val="F79646"/>
          </a:solidFill>
        </p:spPr>
      </p:sp>
      <p:sp>
        <p:nvSpPr>
          <p:cNvPr id="28" name="Shape 21"/>
          <p:cNvSpPr/>
          <p:nvPr/>
        </p:nvSpPr>
        <p:spPr>
          <a:xfrm>
            <a:off x="10694035" y="4642485"/>
            <a:ext cx="214630" cy="203835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C0504D"/>
          </a:solidFill>
        </p:spPr>
      </p:sp>
      <p:sp>
        <p:nvSpPr>
          <p:cNvPr id="29" name="Shape 13"/>
          <p:cNvSpPr/>
          <p:nvPr/>
        </p:nvSpPr>
        <p:spPr>
          <a:xfrm>
            <a:off x="10694035" y="3151505"/>
            <a:ext cx="191135" cy="1651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9BBB59"/>
          </a:solidFill>
        </p:spPr>
      </p:sp>
      <p:sp>
        <p:nvSpPr>
          <p:cNvPr id="30" name="Rectangle 45"/>
          <p:cNvSpPr/>
          <p:nvPr/>
        </p:nvSpPr>
        <p:spPr bwMode="auto">
          <a:xfrm>
            <a:off x="10507345" y="1275080"/>
            <a:ext cx="1227455" cy="311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zh-CN" altLang="en-US" sz="13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</a:t>
            </a:r>
            <a:endParaRPr lang="zh-CN" altLang="en-US" sz="13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560705" y="3977005"/>
            <a:ext cx="224790" cy="10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606040" y="5617210"/>
            <a:ext cx="766445" cy="42608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900" dirty="0" smtClean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触发调整</a:t>
            </a:r>
            <a:endParaRPr lang="zh-CN" altLang="en-US" sz="900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484630" y="5603240"/>
            <a:ext cx="766445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/>
            <a:r>
              <a:rPr lang="zh-CN" altLang="en-US" sz="900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触发退出</a:t>
            </a:r>
            <a:endParaRPr lang="zh-CN" altLang="en-US" sz="900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10311765" y="3412490"/>
            <a:ext cx="332105" cy="1016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10311765" y="4099560"/>
            <a:ext cx="331470" cy="254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0507980" y="1672590"/>
            <a:ext cx="1227455" cy="4617720"/>
          </a:xfrm>
          <a:prstGeom prst="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5"/>
          <p:cNvSpPr/>
          <p:nvPr/>
        </p:nvSpPr>
        <p:spPr bwMode="auto">
          <a:xfrm>
            <a:off x="215265" y="1275080"/>
            <a:ext cx="504190" cy="311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</a:t>
            </a:r>
            <a:endParaRPr lang="zh-CN" altLang="en-US" sz="12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Rectangle 45"/>
          <p:cNvSpPr/>
          <p:nvPr>
            <p:custDataLst>
              <p:tags r:id="rId4"/>
            </p:custDataLst>
          </p:nvPr>
        </p:nvSpPr>
        <p:spPr bwMode="auto">
          <a:xfrm>
            <a:off x="2267585" y="5825490"/>
            <a:ext cx="696595" cy="421640"/>
          </a:xfrm>
          <a:prstGeom prst="rect">
            <a:avLst/>
          </a:prstGeom>
          <a:solidFill>
            <a:srgbClr val="FFC000">
              <a:alpha val="22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Rectangle 45"/>
          <p:cNvSpPr/>
          <p:nvPr>
            <p:custDataLst>
              <p:tags r:id="rId5"/>
            </p:custDataLst>
          </p:nvPr>
        </p:nvSpPr>
        <p:spPr bwMode="auto">
          <a:xfrm>
            <a:off x="1139825" y="5811520"/>
            <a:ext cx="692150" cy="422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6"/>
            </p:custDataLst>
          </p:nvPr>
        </p:nvCxnSpPr>
        <p:spPr>
          <a:xfrm flipH="1">
            <a:off x="2616200" y="5680710"/>
            <a:ext cx="1270" cy="14478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7"/>
            </p:custDataLst>
          </p:nvPr>
        </p:nvCxnSpPr>
        <p:spPr>
          <a:xfrm flipH="1">
            <a:off x="3637280" y="5685155"/>
            <a:ext cx="1270" cy="14478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8"/>
            </p:custDataLst>
          </p:nvPr>
        </p:nvCxnSpPr>
        <p:spPr>
          <a:xfrm flipH="1">
            <a:off x="1484630" y="5671185"/>
            <a:ext cx="1270" cy="14478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3678555" y="5617210"/>
            <a:ext cx="766445" cy="21209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900" dirty="0" smtClean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未触发</a:t>
            </a:r>
            <a:endParaRPr lang="zh-CN" altLang="en-US" sz="900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4609465" y="1691640"/>
            <a:ext cx="3628390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buFont typeface="Wingdings" panose="05000000000000000000" charset="0"/>
              <a:buChar char="Ø"/>
            </a:pPr>
            <a:r>
              <a:rPr lang="zh-CN" altLang="en-US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以战略目标达成为核心判定基础</a:t>
            </a: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60" name="表格 59"/>
          <p:cNvGraphicFramePr/>
          <p:nvPr>
            <p:custDataLst>
              <p:tags r:id="rId11"/>
            </p:custDataLst>
          </p:nvPr>
        </p:nvGraphicFramePr>
        <p:xfrm>
          <a:off x="4735195" y="2030095"/>
          <a:ext cx="3504565" cy="2037080"/>
        </p:xfrm>
        <a:graphic>
          <a:graphicData uri="http://schemas.openxmlformats.org/drawingml/2006/table">
            <a:tbl>
              <a:tblPr/>
              <a:tblGrid>
                <a:gridCol w="442595"/>
                <a:gridCol w="773430"/>
                <a:gridCol w="2288540"/>
              </a:tblGrid>
              <a:tr h="1987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战略预期</a:t>
                      </a:r>
                      <a:r>
                        <a:rPr lang="en-US" altLang="zh-CN" sz="8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8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  <a:hlinkClick r:id="rId12" action="ppaction://hlinksldjump"/>
                        </a:rPr>
                        <a:t>现实状况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rowSpan="3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战略规划适配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是否纳入集团中长期规划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产业补位价值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是否属于前瞻、短板、卡脖子等关键领域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战略合作层级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是否纳入集团供应商体系或生态合作伙伴体系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rowSpan="3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研发投入强度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资源投入强度是否处于行业合理水平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120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试验试制资质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是否具备行业认可的核心资质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产能规划能力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现有能力是否匹配集团需求与交付节奏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rowSpan="3"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战略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成果</a:t>
                      </a:r>
                      <a:endParaRPr lang="zh-CN" altLang="en-US" sz="8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技术联合研发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是否与集团展开技术/服务等交流合作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8755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产品配套进度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是否向集团稳定</a:t>
                      </a: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交付产品/服务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8920">
                <a:tc vMerge="1"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专项任务承接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8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是否承接并按期完成集团下达的专项协同任务</a:t>
                      </a:r>
                      <a:endParaRPr lang="zh-CN" altLang="en-US" sz="8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4609465" y="4092575"/>
            <a:ext cx="3725545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以预期与现状偏差情况，判断管理失效环节，精准施策</a:t>
            </a: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文本框 62"/>
          <p:cNvSpPr txBox="1"/>
          <p:nvPr>
            <p:custDataLst>
              <p:tags r:id="rId14"/>
            </p:custDataLst>
          </p:nvPr>
        </p:nvSpPr>
        <p:spPr>
          <a:xfrm>
            <a:off x="8611870" y="1697990"/>
            <a:ext cx="1713230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buFont typeface="Wingdings" panose="05000000000000000000" charset="0"/>
              <a:buChar char="Ø"/>
            </a:pPr>
            <a:r>
              <a:rPr lang="zh-CN" altLang="en-US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以经营现状、未来经营发展趋势为修正</a:t>
            </a:r>
            <a:r>
              <a:rPr lang="zh-CN" altLang="en-US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依据</a:t>
            </a: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>
            <p:custDataLst>
              <p:tags r:id="rId15"/>
            </p:custDataLst>
          </p:nvPr>
        </p:nvSpPr>
        <p:spPr>
          <a:xfrm>
            <a:off x="8583295" y="3222625"/>
            <a:ext cx="1645285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buFont typeface="Wingdings" panose="05000000000000000000" charset="0"/>
              <a:buChar char="Ø"/>
            </a:pP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修正规则</a:t>
            </a: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净资产收益率</a:t>
            </a:r>
            <a:r>
              <a:rPr lang="en-US" altLang="zh-CN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≥8%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，分类上调一级</a:t>
            </a: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净资产收益率＜</a:t>
            </a:r>
            <a:r>
              <a:rPr lang="en-US" altLang="zh-CN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8%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，销售（营业）增长率</a:t>
            </a:r>
            <a:r>
              <a:rPr lang="zh-CN" altLang="en-US" sz="10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高于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行业均值，分类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维持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现状</a:t>
            </a: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净资产收益率＜</a:t>
            </a:r>
            <a:r>
              <a:rPr lang="en-US" altLang="zh-CN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8%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，销售（营业）增长率</a:t>
            </a:r>
            <a:r>
              <a:rPr lang="zh-CN" altLang="en-US" sz="10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低于</a:t>
            </a:r>
            <a:r>
              <a:rPr lang="zh-CN" altLang="en-US" sz="10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行业均值，分类下调一级</a:t>
            </a: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zh-CN" altLang="en-US" sz="10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66" name="表格 65"/>
          <p:cNvGraphicFramePr/>
          <p:nvPr>
            <p:custDataLst>
              <p:tags r:id="rId16"/>
            </p:custDataLst>
          </p:nvPr>
        </p:nvGraphicFramePr>
        <p:xfrm>
          <a:off x="8710295" y="2115185"/>
          <a:ext cx="1529715" cy="916940"/>
        </p:xfrm>
        <a:graphic>
          <a:graphicData uri="http://schemas.openxmlformats.org/drawingml/2006/table">
            <a:tbl>
              <a:tblPr/>
              <a:tblGrid>
                <a:gridCol w="630555"/>
                <a:gridCol w="899160"/>
              </a:tblGrid>
              <a:tr h="18542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修正指标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161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经营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现状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净资产收益率</a:t>
                      </a:r>
                      <a:endParaRPr lang="zh-CN" altLang="en-US" sz="9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555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未来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趋势</a:t>
                      </a:r>
                      <a:endParaRPr lang="zh-CN" altLang="en-US" sz="9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营收增速</a:t>
                      </a:r>
                      <a:endParaRPr lang="zh-CN" altLang="en-US" sz="9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904240" y="1677670"/>
            <a:ext cx="3369945" cy="391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buFont typeface="Wingdings" panose="05000000000000000000" charset="0"/>
              <a:buChar char="Ø"/>
            </a:pPr>
            <a:r>
              <a:rPr lang="zh-CN" altLang="en-US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1000" b="1" dirty="0" smtClean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号文为判定标准</a:t>
            </a:r>
            <a:endParaRPr lang="zh-CN" altLang="en-US" sz="1000" b="1" dirty="0" smtClean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Rectangle 45"/>
          <p:cNvSpPr/>
          <p:nvPr>
            <p:custDataLst>
              <p:tags r:id="rId18"/>
            </p:custDataLst>
          </p:nvPr>
        </p:nvSpPr>
        <p:spPr bwMode="auto">
          <a:xfrm>
            <a:off x="4812030" y="5811520"/>
            <a:ext cx="705485" cy="417830"/>
          </a:xfrm>
          <a:prstGeom prst="rect">
            <a:avLst/>
          </a:prstGeom>
          <a:solidFill>
            <a:srgbClr val="92D050">
              <a:alpha val="3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Rectangle 45"/>
          <p:cNvSpPr/>
          <p:nvPr>
            <p:custDataLst>
              <p:tags r:id="rId19"/>
            </p:custDataLst>
          </p:nvPr>
        </p:nvSpPr>
        <p:spPr bwMode="auto">
          <a:xfrm>
            <a:off x="7364730" y="5811520"/>
            <a:ext cx="696595" cy="421640"/>
          </a:xfrm>
          <a:prstGeom prst="rect">
            <a:avLst/>
          </a:prstGeom>
          <a:solidFill>
            <a:srgbClr val="FFC000">
              <a:alpha val="22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拟调整类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Rectangle 45"/>
          <p:cNvSpPr/>
          <p:nvPr>
            <p:custDataLst>
              <p:tags r:id="rId20"/>
            </p:custDataLst>
          </p:nvPr>
        </p:nvSpPr>
        <p:spPr bwMode="auto">
          <a:xfrm>
            <a:off x="6127115" y="5821045"/>
            <a:ext cx="692150" cy="422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74" name="直接箭头连接符 73"/>
          <p:cNvCxnSpPr>
            <a:stCxn id="91" idx="2"/>
            <a:endCxn id="70" idx="0"/>
          </p:cNvCxnSpPr>
          <p:nvPr>
            <p:custDataLst>
              <p:tags r:id="rId21"/>
            </p:custDataLst>
          </p:nvPr>
        </p:nvCxnSpPr>
        <p:spPr>
          <a:xfrm>
            <a:off x="7710805" y="5218430"/>
            <a:ext cx="2540" cy="59309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22"/>
            </p:custDataLst>
          </p:nvPr>
        </p:nvCxnSpPr>
        <p:spPr>
          <a:xfrm>
            <a:off x="5170805" y="5003800"/>
            <a:ext cx="5080" cy="80772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" idx="2"/>
          </p:cNvCxnSpPr>
          <p:nvPr>
            <p:custDataLst>
              <p:tags r:id="rId23"/>
            </p:custDataLst>
          </p:nvPr>
        </p:nvCxnSpPr>
        <p:spPr>
          <a:xfrm>
            <a:off x="6481445" y="4718685"/>
            <a:ext cx="15240" cy="110109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85" name="表格 84"/>
          <p:cNvGraphicFramePr/>
          <p:nvPr>
            <p:custDataLst>
              <p:tags r:id="rId24"/>
            </p:custDataLst>
          </p:nvPr>
        </p:nvGraphicFramePr>
        <p:xfrm>
          <a:off x="4582795" y="4389120"/>
          <a:ext cx="1283970" cy="623570"/>
        </p:xfrm>
        <a:graphic>
          <a:graphicData uri="http://schemas.openxmlformats.org/drawingml/2006/table">
            <a:tbl>
              <a:tblPr/>
              <a:tblGrid>
                <a:gridCol w="452755"/>
                <a:gridCol w="399415"/>
                <a:gridCol w="431800"/>
              </a:tblGrid>
              <a:tr h="0">
                <a:tc>
                  <a:txBody>
                    <a:bodyPr/>
                    <a:p>
                      <a:pPr marL="0"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2875"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0970"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4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/>
          <p:nvPr>
            <p:custDataLst>
              <p:tags r:id="rId25"/>
            </p:custDataLst>
          </p:nvPr>
        </p:nvGraphicFramePr>
        <p:xfrm>
          <a:off x="7068820" y="4377055"/>
          <a:ext cx="1283970" cy="841375"/>
        </p:xfrm>
        <a:graphic>
          <a:graphicData uri="http://schemas.openxmlformats.org/drawingml/2006/table">
            <a:tbl>
              <a:tblPr/>
              <a:tblGrid>
                <a:gridCol w="452755"/>
                <a:gridCol w="399415"/>
                <a:gridCol w="431800"/>
              </a:tblGrid>
              <a:tr h="0"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2875"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56845"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不偏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104" name="肘形连接符 103"/>
          <p:cNvCxnSpPr/>
          <p:nvPr/>
        </p:nvCxnSpPr>
        <p:spPr>
          <a:xfrm rot="5400000" flipH="1" flipV="1">
            <a:off x="5850255" y="408305"/>
            <a:ext cx="1344930" cy="10305415"/>
          </a:xfrm>
          <a:prstGeom prst="bentConnector4">
            <a:avLst>
              <a:gd name="adj1" fmla="val -17682"/>
              <a:gd name="adj2" fmla="val 101574"/>
            </a:avLst>
          </a:prstGeom>
          <a:solidFill>
            <a:schemeClr val="accent1"/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06" name="直接连接符 105"/>
          <p:cNvCxnSpPr/>
          <p:nvPr/>
        </p:nvCxnSpPr>
        <p:spPr>
          <a:xfrm>
            <a:off x="6491605" y="6247765"/>
            <a:ext cx="9525" cy="218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11" name="肘形连接符 110"/>
          <p:cNvCxnSpPr/>
          <p:nvPr/>
        </p:nvCxnSpPr>
        <p:spPr>
          <a:xfrm flipV="1">
            <a:off x="8030210" y="3987165"/>
            <a:ext cx="553085" cy="2057400"/>
          </a:xfrm>
          <a:prstGeom prst="bentConnector3">
            <a:avLst>
              <a:gd name="adj1" fmla="val 77841"/>
            </a:avLst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12" name="直接箭头连接符 111"/>
          <p:cNvCxnSpPr/>
          <p:nvPr/>
        </p:nvCxnSpPr>
        <p:spPr>
          <a:xfrm flipV="1">
            <a:off x="10311765" y="4862830"/>
            <a:ext cx="331470" cy="254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7" idx="2"/>
          </p:cNvCxnSpPr>
          <p:nvPr/>
        </p:nvCxnSpPr>
        <p:spPr>
          <a:xfrm rot="5400000" flipH="1" flipV="1">
            <a:off x="6054725" y="626110"/>
            <a:ext cx="2181860" cy="9059545"/>
          </a:xfrm>
          <a:prstGeom prst="bentConnector4">
            <a:avLst>
              <a:gd name="adj1" fmla="val -21231"/>
              <a:gd name="adj2" fmla="val 104251"/>
            </a:avLst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15" name="肘形连接符 114"/>
          <p:cNvCxnSpPr>
            <a:stCxn id="69" idx="2"/>
          </p:cNvCxnSpPr>
          <p:nvPr/>
        </p:nvCxnSpPr>
        <p:spPr>
          <a:xfrm rot="5400000" flipH="1" flipV="1">
            <a:off x="7009765" y="1577975"/>
            <a:ext cx="2806700" cy="6496050"/>
          </a:xfrm>
          <a:prstGeom prst="bentConnector4">
            <a:avLst>
              <a:gd name="adj1" fmla="val -12307"/>
              <a:gd name="adj2" fmla="val 103939"/>
            </a:avLst>
          </a:prstGeom>
          <a:solidFill>
            <a:schemeClr val="accent1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16" name="肘形连接符 115"/>
          <p:cNvCxnSpPr>
            <a:endCxn id="17" idx="3"/>
          </p:cNvCxnSpPr>
          <p:nvPr/>
        </p:nvCxnSpPr>
        <p:spPr>
          <a:xfrm rot="16200000" flipV="1">
            <a:off x="11405235" y="2910205"/>
            <a:ext cx="774065" cy="24066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5" name="文本框 4"/>
          <p:cNvSpPr txBox="1"/>
          <p:nvPr/>
        </p:nvSpPr>
        <p:spPr>
          <a:xfrm>
            <a:off x="8710295" y="5685155"/>
            <a:ext cx="1601470" cy="35941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/>
            <a:r>
              <a:rPr lang="zh-CN" altLang="en-US" sz="1000" dirty="0" smtClean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注：行业均值参考最新版《企业绩效评价标准值》</a:t>
            </a:r>
            <a:endParaRPr lang="zh-CN" altLang="en-US" sz="1000" b="1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6"/>
            </p:custDataLst>
          </p:nvPr>
        </p:nvGraphicFramePr>
        <p:xfrm>
          <a:off x="5926455" y="4385310"/>
          <a:ext cx="1109345" cy="333375"/>
        </p:xfrm>
        <a:graphic>
          <a:graphicData uri="http://schemas.openxmlformats.org/drawingml/2006/table">
            <a:tbl>
              <a:tblPr/>
              <a:tblGrid>
                <a:gridCol w="389890"/>
                <a:gridCol w="359410"/>
                <a:gridCol w="360045"/>
              </a:tblGrid>
              <a:tr h="0"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ctr" anchorCtr="0">
                    <a:lnL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6">
                          <a:lumMod val="10000"/>
                          <a:lumOff val="9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2875"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偏差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70000"/>
                        </a:lnSpc>
                        <a:buClrTx/>
                        <a:buSzTx/>
                        <a:buFontTx/>
                      </a:pP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45"/>
          <p:cNvSpPr/>
          <p:nvPr>
            <p:custDataLst>
              <p:tags r:id="rId27"/>
            </p:custDataLst>
          </p:nvPr>
        </p:nvSpPr>
        <p:spPr bwMode="auto">
          <a:xfrm>
            <a:off x="3350260" y="5829935"/>
            <a:ext cx="705485" cy="417830"/>
          </a:xfrm>
          <a:prstGeom prst="rect">
            <a:avLst/>
          </a:prstGeom>
          <a:solidFill>
            <a:srgbClr val="92D050">
              <a:alpha val="3300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拟保留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4" name="肘形连接符 13"/>
          <p:cNvCxnSpPr>
            <a:stCxn id="4" idx="3"/>
            <a:endCxn id="11" idx="1"/>
          </p:cNvCxnSpPr>
          <p:nvPr/>
        </p:nvCxnSpPr>
        <p:spPr>
          <a:xfrm flipV="1">
            <a:off x="4055745" y="3981450"/>
            <a:ext cx="452755" cy="2057400"/>
          </a:xfrm>
          <a:prstGeom prst="bentConnector3">
            <a:avLst>
              <a:gd name="adj1" fmla="val 72510"/>
            </a:avLst>
          </a:prstGeom>
          <a:solidFill>
            <a:schemeClr val="accent1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21" name="文本框 20"/>
          <p:cNvSpPr txBox="1"/>
          <p:nvPr/>
        </p:nvSpPr>
        <p:spPr>
          <a:xfrm>
            <a:off x="5655310" y="4497070"/>
            <a:ext cx="309880" cy="24511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p>
            <a:pPr algn="l"/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①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658485" y="4636135"/>
            <a:ext cx="239395" cy="17907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  <a:sym typeface="+mn-ea"/>
              </a:rPr>
              <a:t>②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55310" y="4789170"/>
            <a:ext cx="411480" cy="36830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  <a:sym typeface="+mn-ea"/>
              </a:rPr>
              <a:t>③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359515" y="2643505"/>
            <a:ext cx="309880" cy="24511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p>
            <a:pPr algn="l"/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①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327130" y="3380740"/>
            <a:ext cx="239395" cy="17907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  <a:sym typeface="+mn-ea"/>
              </a:rPr>
              <a:t>②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1455400" y="3380740"/>
            <a:ext cx="411480" cy="36830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dirty="0" smtClean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  <a:sym typeface="+mn-ea"/>
              </a:rPr>
              <a:t>③</a:t>
            </a:r>
            <a:endParaRPr lang="zh-CN" altLang="en-US" sz="1000" dirty="0" smtClean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266700" y="3890010"/>
            <a:ext cx="5654040" cy="2080895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6080760" y="1509395"/>
            <a:ext cx="5654040" cy="2284730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266700" y="1510030"/>
            <a:ext cx="5654040" cy="2284730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477860" y="33809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 smtClean="0">
                <a:sym typeface="+mn-ea"/>
              </a:rPr>
              <a:t>2.2 </a:t>
            </a:r>
            <a:r>
              <a:rPr sz="2400" kern="0" dirty="0" smtClean="0">
                <a:sym typeface="+mn-ea"/>
              </a:rPr>
              <a:t>分类逻辑</a:t>
            </a:r>
            <a:r>
              <a:rPr lang="en-US" altLang="zh-CN" sz="2400" kern="0" dirty="0">
                <a:sym typeface="+mn-ea"/>
              </a:rPr>
              <a:t> 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Arial" panose="020B0604020202020204" pitchFamily="34" charset="0"/>
              </a:rPr>
              <a:t>| </a:t>
            </a:r>
            <a:r>
              <a:rPr lang="zh-CN" altLang="en-US" sz="1800" kern="0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Arial" panose="020B0604020202020204" pitchFamily="34" charset="0"/>
              </a:rPr>
              <a:t>信息</a:t>
            </a:r>
            <a:r>
              <a:rPr lang="zh-CN" sz="1800" kern="0" dirty="0">
                <a:sym typeface="+mn-ea"/>
              </a:rPr>
              <a:t>输入</a:t>
            </a:r>
            <a:endParaRPr lang="en-US" altLang="zh-CN" sz="1800" kern="0" dirty="0">
              <a:sym typeface="+mn-ea"/>
            </a:endParaRPr>
          </a:p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300" b="1" i="0" u="none" strike="noStrike" kern="1200" cap="none" spc="0" normalizeH="0" baseline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390191" y="899795"/>
            <a:ext cx="11323949" cy="6751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defPPr>
              <a:defRPr lang="zh-CN"/>
            </a:defPPr>
            <a:lvl1pPr marL="381000" indent="-381000" defTabSz="1219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600" ker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14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1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11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Char char="p"/>
              <a:defRPr/>
            </a:pP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对接6大平台，形成</a:t>
            </a:r>
            <a:r>
              <a:rPr lang="en-US" altLang="zh-CN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4</a:t>
            </a: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类数据</a:t>
            </a: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源，支撑</a:t>
            </a:r>
            <a:r>
              <a:rPr lang="zh-CN" altLang="en-US" sz="1600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1个模型、</a:t>
            </a: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2个规则运行，完成分类、施策、定任务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0" name="Rounded Rectangle 9"/>
          <p:cNvSpPr/>
          <p:nvPr/>
        </p:nvSpPr>
        <p:spPr>
          <a:xfrm>
            <a:off x="502920" y="1667637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"/>
          <p:cNvSpPr txBox="1"/>
          <p:nvPr/>
        </p:nvSpPr>
        <p:spPr>
          <a:xfrm>
            <a:off x="502920" y="168592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🏢</a:t>
            </a:r>
          </a:p>
        </p:txBody>
      </p:sp>
      <p:sp>
        <p:nvSpPr>
          <p:cNvPr id="102" name="TextBox 11"/>
          <p:cNvSpPr txBox="1"/>
          <p:nvPr/>
        </p:nvSpPr>
        <p:spPr>
          <a:xfrm>
            <a:off x="1005840" y="1701927"/>
            <a:ext cx="2286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基础信息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4" name="Rounded Rectangle 13"/>
          <p:cNvSpPr/>
          <p:nvPr/>
        </p:nvSpPr>
        <p:spPr>
          <a:xfrm>
            <a:off x="4937760" y="1685925"/>
            <a:ext cx="77724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治理层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05" name="Rounded Rectangle 14"/>
          <p:cNvSpPr/>
          <p:nvPr/>
        </p:nvSpPr>
        <p:spPr>
          <a:xfrm>
            <a:off x="502920" y="2162175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股东情况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07" name="Rounded Rectangle 15"/>
          <p:cNvSpPr/>
          <p:nvPr/>
        </p:nvSpPr>
        <p:spPr>
          <a:xfrm>
            <a:off x="2295144" y="2162175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股比结构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08" name="Rounded Rectangle 16"/>
          <p:cNvSpPr/>
          <p:nvPr/>
        </p:nvSpPr>
        <p:spPr>
          <a:xfrm>
            <a:off x="4087368" y="2162175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第一大股东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09" name="Rounded Rectangle 17"/>
          <p:cNvSpPr/>
          <p:nvPr/>
        </p:nvSpPr>
        <p:spPr>
          <a:xfrm>
            <a:off x="502920" y="2454783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表决权委托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0" name="Rounded Rectangle 18"/>
          <p:cNvSpPr/>
          <p:nvPr/>
        </p:nvSpPr>
        <p:spPr>
          <a:xfrm>
            <a:off x="2295144" y="2454783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经营状态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1" name="Rounded Rectangle 19"/>
          <p:cNvSpPr/>
          <p:nvPr/>
        </p:nvSpPr>
        <p:spPr>
          <a:xfrm>
            <a:off x="4087368" y="2454783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关联交易清单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2" name="Rounded Rectangle 20"/>
          <p:cNvSpPr/>
          <p:nvPr/>
        </p:nvSpPr>
        <p:spPr>
          <a:xfrm>
            <a:off x="502920" y="2747391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实际产能规划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3" name="Rounded Rectangle 21"/>
          <p:cNvSpPr/>
          <p:nvPr/>
        </p:nvSpPr>
        <p:spPr>
          <a:xfrm>
            <a:off x="2295144" y="2747391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</a:rPr>
              <a:t>试制</a:t>
            </a:r>
            <a:r>
              <a:rPr lang="en-US" altLang="zh-CN" sz="1200">
                <a:ea typeface="微软雅黑" panose="020B0503020204020204" charset="-122"/>
              </a:rPr>
              <a:t>/</a:t>
            </a:r>
            <a:r>
              <a:rPr lang="zh-CN" sz="1200">
                <a:ea typeface="微软雅黑" panose="020B0503020204020204" charset="-122"/>
              </a:rPr>
              <a:t>验资质国家证书</a:t>
            </a:r>
            <a:endParaRPr lang="zh-CN" sz="1200">
              <a:ea typeface="微软雅黑" panose="020B0503020204020204" charset="-122"/>
            </a:endParaRPr>
          </a:p>
        </p:txBody>
      </p:sp>
      <p:sp>
        <p:nvSpPr>
          <p:cNvPr id="114" name="Rounded Rectangle 22"/>
          <p:cNvSpPr/>
          <p:nvPr/>
        </p:nvSpPr>
        <p:spPr>
          <a:xfrm>
            <a:off x="502920" y="3051810"/>
            <a:ext cx="3584575" cy="23749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  <a:sym typeface="+mn-ea"/>
              </a:rPr>
              <a:t>试制</a:t>
            </a:r>
            <a:r>
              <a:rPr lang="en-US" altLang="zh-CN" sz="1200">
                <a:ea typeface="微软雅黑" panose="020B0503020204020204" charset="-122"/>
                <a:sym typeface="+mn-ea"/>
              </a:rPr>
              <a:t>/</a:t>
            </a:r>
            <a:r>
              <a:rPr lang="zh-CN" sz="1200">
                <a:ea typeface="微软雅黑" panose="020B0503020204020204" charset="-122"/>
                <a:sym typeface="+mn-ea"/>
              </a:rPr>
              <a:t>验资质</a:t>
            </a:r>
            <a:r>
              <a:rPr sz="1200">
                <a:ea typeface="微软雅黑" panose="020B0503020204020204" charset="-122"/>
              </a:rPr>
              <a:t>客户认可证明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6" name="TextBox 24"/>
          <p:cNvSpPr txBox="1"/>
          <p:nvPr/>
        </p:nvSpPr>
        <p:spPr>
          <a:xfrm>
            <a:off x="594360" y="3333623"/>
            <a:ext cx="5212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来源：产权管理平台、</a:t>
            </a:r>
            <a:r>
              <a:rPr lang="zh-CN" sz="1200">
                <a:ea typeface="微软雅黑" panose="020B0503020204020204" charset="-122"/>
              </a:rPr>
              <a:t>投资业务平台、股权运营平台、</a:t>
            </a:r>
            <a:r>
              <a:rPr sz="1200">
                <a:ea typeface="微软雅黑" panose="020B0503020204020204" charset="-122"/>
                <a:sym typeface="+mn-ea"/>
              </a:rPr>
              <a:t>股权交易平台、基金管理平台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8" name="Rounded Rectangle 28"/>
          <p:cNvSpPr/>
          <p:nvPr/>
        </p:nvSpPr>
        <p:spPr>
          <a:xfrm>
            <a:off x="6400800" y="1661922"/>
            <a:ext cx="41148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TextBox 29"/>
          <p:cNvSpPr txBox="1"/>
          <p:nvPr/>
        </p:nvSpPr>
        <p:spPr>
          <a:xfrm>
            <a:off x="6400800" y="168021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🎯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30"/>
          <p:cNvSpPr txBox="1"/>
          <p:nvPr/>
        </p:nvSpPr>
        <p:spPr>
          <a:xfrm>
            <a:off x="6903720" y="17419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战略信息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2" name="Rounded Rectangle 32"/>
          <p:cNvSpPr/>
          <p:nvPr/>
        </p:nvSpPr>
        <p:spPr>
          <a:xfrm>
            <a:off x="10835640" y="1680210"/>
            <a:ext cx="77724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战略层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3" name="Rounded Rectangle 33"/>
          <p:cNvSpPr/>
          <p:nvPr/>
        </p:nvSpPr>
        <p:spPr>
          <a:xfrm>
            <a:off x="6400800" y="2228850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主责主业清单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4" name="Rounded Rectangle 34"/>
          <p:cNvSpPr/>
          <p:nvPr/>
        </p:nvSpPr>
        <p:spPr>
          <a:xfrm>
            <a:off x="8193024" y="2228850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531产业链规划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Rounded Rectangle 35"/>
          <p:cNvSpPr/>
          <p:nvPr/>
        </p:nvSpPr>
        <p:spPr>
          <a:xfrm>
            <a:off x="9985248" y="2228850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前瞻产业名录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6" name="Rounded Rectangle 36"/>
          <p:cNvSpPr/>
          <p:nvPr/>
        </p:nvSpPr>
        <p:spPr>
          <a:xfrm>
            <a:off x="6400800" y="2521458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培育期定义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7" name="Rounded Rectangle 37"/>
          <p:cNvSpPr/>
          <p:nvPr/>
        </p:nvSpPr>
        <p:spPr>
          <a:xfrm>
            <a:off x="8193024" y="2521458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卡脖子技术清单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8" name="Rounded Rectangle 38"/>
          <p:cNvSpPr/>
          <p:nvPr/>
        </p:nvSpPr>
        <p:spPr>
          <a:xfrm>
            <a:off x="9985248" y="2521458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</a:rPr>
              <a:t>国家</a:t>
            </a:r>
            <a:r>
              <a:rPr sz="1200">
                <a:ea typeface="微软雅黑" panose="020B0503020204020204" charset="-122"/>
              </a:rPr>
              <a:t>科技攻关名录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29" name="Rounded Rectangle 39"/>
          <p:cNvSpPr/>
          <p:nvPr/>
        </p:nvSpPr>
        <p:spPr>
          <a:xfrm>
            <a:off x="6400800" y="2814066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集团产能需求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30" name="Rounded Rectangle 40"/>
          <p:cNvSpPr/>
          <p:nvPr/>
        </p:nvSpPr>
        <p:spPr>
          <a:xfrm>
            <a:off x="8193024" y="2814066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战略/核心供应商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Rounded Rectangle 41"/>
          <p:cNvSpPr/>
          <p:nvPr/>
        </p:nvSpPr>
        <p:spPr>
          <a:xfrm>
            <a:off x="9985248" y="2814066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产品定点情况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33" name="TextBox 43"/>
          <p:cNvSpPr txBox="1"/>
          <p:nvPr/>
        </p:nvSpPr>
        <p:spPr>
          <a:xfrm>
            <a:off x="6400800" y="3363468"/>
            <a:ext cx="52120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  <a:defRPr sz="10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sym typeface="+mn-ea"/>
              </a:rPr>
              <a:t>来源：投资业务平台、股权运营平台</a:t>
            </a:r>
            <a:r>
              <a:rPr lang="zh-CN" sz="1200">
                <a:ea typeface="微软雅黑" panose="020B0503020204020204" charset="-122"/>
                <a:sym typeface="+mn-ea"/>
              </a:rPr>
              <a:t>、</a:t>
            </a:r>
            <a:r>
              <a:rPr sz="1200">
                <a:ea typeface="微软雅黑" panose="020B0503020204020204" charset="-122"/>
                <a:sym typeface="+mn-ea"/>
              </a:rPr>
              <a:t>股权交易平台</a:t>
            </a:r>
            <a:endParaRPr lang="zh-CN" sz="1200">
              <a:ea typeface="微软雅黑" panose="020B0503020204020204" charset="-122"/>
              <a:sym typeface="+mn-ea"/>
            </a:endParaRPr>
          </a:p>
        </p:txBody>
      </p:sp>
      <p:sp>
        <p:nvSpPr>
          <p:cNvPr id="135" name="Rectangle 46"/>
          <p:cNvSpPr/>
          <p:nvPr/>
        </p:nvSpPr>
        <p:spPr>
          <a:xfrm>
            <a:off x="274320" y="3863340"/>
            <a:ext cx="56692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47"/>
          <p:cNvSpPr/>
          <p:nvPr/>
        </p:nvSpPr>
        <p:spPr>
          <a:xfrm>
            <a:off x="502920" y="4016502"/>
            <a:ext cx="41148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TextBox 48"/>
          <p:cNvSpPr txBox="1"/>
          <p:nvPr/>
        </p:nvSpPr>
        <p:spPr>
          <a:xfrm>
            <a:off x="502920" y="403479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💰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TextBox 49"/>
          <p:cNvSpPr txBox="1"/>
          <p:nvPr/>
        </p:nvSpPr>
        <p:spPr>
          <a:xfrm>
            <a:off x="1005840" y="4050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财务信息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0" name="Rounded Rectangle 51"/>
          <p:cNvSpPr/>
          <p:nvPr/>
        </p:nvSpPr>
        <p:spPr>
          <a:xfrm>
            <a:off x="4937760" y="4034790"/>
            <a:ext cx="7772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财务层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1" name="Rounded Rectangle 52"/>
          <p:cNvSpPr/>
          <p:nvPr/>
        </p:nvSpPr>
        <p:spPr>
          <a:xfrm>
            <a:off x="502920" y="4583430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ROE（集团预算值）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Rounded Rectangle 53"/>
          <p:cNvSpPr/>
          <p:nvPr/>
        </p:nvSpPr>
        <p:spPr>
          <a:xfrm>
            <a:off x="2295144" y="4583430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营收增长率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3" name="Rounded Rectangle 54"/>
          <p:cNvSpPr/>
          <p:nvPr/>
        </p:nvSpPr>
        <p:spPr>
          <a:xfrm>
            <a:off x="4087368" y="4583430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研发投入强度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4" name="Rounded Rectangle 55"/>
          <p:cNvSpPr/>
          <p:nvPr/>
        </p:nvSpPr>
        <p:spPr>
          <a:xfrm>
            <a:off x="502920" y="4876038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净利润值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5" name="Rounded Rectangle 56"/>
          <p:cNvSpPr/>
          <p:nvPr/>
        </p:nvSpPr>
        <p:spPr>
          <a:xfrm>
            <a:off x="2295144" y="4876038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分红金额/比例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Rounded Rectangle 57"/>
          <p:cNvSpPr/>
          <p:nvPr/>
        </p:nvSpPr>
        <p:spPr>
          <a:xfrm>
            <a:off x="4087368" y="4876038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借款金额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7" name="Rounded Rectangle 58"/>
          <p:cNvSpPr/>
          <p:nvPr/>
        </p:nvSpPr>
        <p:spPr>
          <a:xfrm>
            <a:off x="502920" y="5168646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担保金额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8" name="Rounded Rectangle 59"/>
          <p:cNvSpPr/>
          <p:nvPr/>
        </p:nvSpPr>
        <p:spPr>
          <a:xfrm>
            <a:off x="2295144" y="5168646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研发投入强度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49" name="Rounded Rectangle 60"/>
          <p:cNvSpPr/>
          <p:nvPr/>
        </p:nvSpPr>
        <p:spPr>
          <a:xfrm>
            <a:off x="4087368" y="5168646"/>
            <a:ext cx="1719072" cy="237744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6653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资产负债结构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51" name="TextBox 62"/>
          <p:cNvSpPr txBox="1"/>
          <p:nvPr/>
        </p:nvSpPr>
        <p:spPr>
          <a:xfrm>
            <a:off x="502920" y="5695188"/>
            <a:ext cx="521208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  <a:defRPr sz="10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sym typeface="+mn-ea"/>
              </a:rPr>
              <a:t>来源：大司库</a:t>
            </a:r>
            <a:endParaRPr sz="1200">
              <a:ea typeface="微软雅黑" panose="020B0503020204020204" charset="-122"/>
              <a:sym typeface="+mn-ea"/>
            </a:endParaRPr>
          </a:p>
        </p:txBody>
      </p:sp>
      <p:sp>
        <p:nvSpPr>
          <p:cNvPr id="154" name="Rounded Rectangle 66"/>
          <p:cNvSpPr/>
          <p:nvPr/>
        </p:nvSpPr>
        <p:spPr>
          <a:xfrm>
            <a:off x="6400800" y="4016502"/>
            <a:ext cx="41148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TextBox 67"/>
          <p:cNvSpPr txBox="1"/>
          <p:nvPr/>
        </p:nvSpPr>
        <p:spPr>
          <a:xfrm>
            <a:off x="6400800" y="4114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📎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TextBox 68"/>
          <p:cNvSpPr txBox="1"/>
          <p:nvPr/>
        </p:nvSpPr>
        <p:spPr>
          <a:xfrm>
            <a:off x="6903720" y="41650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其他</a:t>
            </a:r>
            <a:endParaRPr>
              <a:ea typeface="微软雅黑" panose="020B0503020204020204" charset="-122"/>
            </a:endParaRPr>
          </a:p>
        </p:txBody>
      </p:sp>
      <p:sp>
        <p:nvSpPr>
          <p:cNvPr id="158" name="Rounded Rectangle 70"/>
          <p:cNvSpPr/>
          <p:nvPr/>
        </p:nvSpPr>
        <p:spPr>
          <a:xfrm>
            <a:off x="10835640" y="4096385"/>
            <a:ext cx="77724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37415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参考层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59" name="Rounded Rectangle 71"/>
          <p:cNvSpPr/>
          <p:nvPr/>
        </p:nvSpPr>
        <p:spPr>
          <a:xfrm>
            <a:off x="6400800" y="4663440"/>
            <a:ext cx="1719072" cy="23774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37415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行业均值外部参考数据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60" name="Rounded Rectangle 72"/>
          <p:cNvSpPr/>
          <p:nvPr/>
        </p:nvSpPr>
        <p:spPr>
          <a:xfrm>
            <a:off x="8193024" y="4663440"/>
            <a:ext cx="1719072" cy="23774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37415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对标企业公开信息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61" name="Rounded Rectangle 73"/>
          <p:cNvSpPr/>
          <p:nvPr/>
        </p:nvSpPr>
        <p:spPr>
          <a:xfrm>
            <a:off x="9985248" y="4663440"/>
            <a:ext cx="1719072" cy="23774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37415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宏观经济指标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63" name="TextBox 75"/>
          <p:cNvSpPr txBox="1"/>
          <p:nvPr/>
        </p:nvSpPr>
        <p:spPr>
          <a:xfrm>
            <a:off x="6316980" y="5726303"/>
            <a:ext cx="52120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  <a:defRPr sz="10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sym typeface="+mn-ea"/>
              </a:rPr>
              <a:t>来源：外部数据库、行业研报</a:t>
            </a:r>
            <a:endParaRPr sz="1200">
              <a:ea typeface="微软雅黑" panose="020B0503020204020204" charset="-122"/>
              <a:sym typeface="+mn-ea"/>
            </a:endParaRPr>
          </a:p>
        </p:txBody>
      </p:sp>
      <p:sp>
        <p:nvSpPr>
          <p:cNvPr id="170" name="Rectangle 8"/>
          <p:cNvSpPr/>
          <p:nvPr/>
        </p:nvSpPr>
        <p:spPr>
          <a:xfrm>
            <a:off x="251460" y="1477645"/>
            <a:ext cx="5669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27"/>
          <p:cNvSpPr/>
          <p:nvPr/>
        </p:nvSpPr>
        <p:spPr>
          <a:xfrm>
            <a:off x="6080760" y="1477645"/>
            <a:ext cx="566928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矩形 176"/>
          <p:cNvSpPr/>
          <p:nvPr/>
        </p:nvSpPr>
        <p:spPr>
          <a:xfrm>
            <a:off x="6096000" y="3917950"/>
            <a:ext cx="5654040" cy="2080895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" name="Rectangle 65"/>
          <p:cNvSpPr/>
          <p:nvPr/>
        </p:nvSpPr>
        <p:spPr>
          <a:xfrm>
            <a:off x="6115050" y="3863340"/>
            <a:ext cx="56692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20"/>
          <p:cNvSpPr/>
          <p:nvPr/>
        </p:nvSpPr>
        <p:spPr>
          <a:xfrm>
            <a:off x="4087495" y="2758821"/>
            <a:ext cx="1719072" cy="23774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solidFill>
                  <a:srgbClr val="1E40AF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</a:rPr>
              <a:t>字号</a:t>
            </a:r>
            <a:endParaRPr lang="zh-CN" sz="1200"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kern="0" dirty="0" smtClean="0">
                <a:sym typeface="+mn-ea"/>
              </a:rPr>
              <a:t>2.3 </a:t>
            </a:r>
            <a:r>
              <a:rPr kern="0" dirty="0" smtClean="0">
                <a:sym typeface="+mn-ea"/>
              </a:rPr>
              <a:t>施策逻辑</a:t>
            </a:r>
            <a:r>
              <a:rPr lang="en-US" altLang="zh-CN" kern="0" dirty="0">
                <a:sym typeface="+mn-ea"/>
              </a:rPr>
              <a:t> </a:t>
            </a:r>
            <a:endParaRPr sz="1800" kern="0"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745" y="836930"/>
            <a:ext cx="11395075" cy="39560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围绕 “战略协同、指标达成、风险可控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三大管理目标，统筹考虑六大管理维度与资本运作工具，重点聚焦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战略、运营、监督控制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维度精准施策，支撑各项目标落地；同时发挥资本运作赋能补位作用，弥补运营亏损、保障战略目标如期实现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保留、调整类突出战略、运营、资本运作，退出类突出</a:t>
            </a:r>
            <a:r>
              <a:rPr lang="zh-CN" altLang="en-US" sz="1600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公司治理、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监督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控制、资本运作，并明确强、中两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层管理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深度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1828800" y="1718310"/>
            <a:ext cx="7969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分类</a:t>
            </a:r>
            <a:endParaRPr kumimoji="0" lang="zh-CN" altLang="en-US" sz="1800" b="1" i="1" u="none" strike="noStrike" kern="1200" cap="none" spc="0" normalizeH="0" baseline="0" noProof="0" dirty="0" err="1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7"/>
          <p:cNvSpPr/>
          <p:nvPr>
            <p:custDataLst>
              <p:tags r:id="rId2"/>
            </p:custDataLst>
          </p:nvPr>
        </p:nvSpPr>
        <p:spPr>
          <a:xfrm>
            <a:off x="6778625" y="1729105"/>
            <a:ext cx="7969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施策</a:t>
            </a:r>
            <a:endParaRPr kumimoji="0" lang="zh-CN" altLang="en-US" sz="1800" b="1" i="1" u="none" strike="noStrike" kern="1200" cap="none" spc="0" normalizeH="0" baseline="0" noProof="0" dirty="0" err="1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Rectangle 45"/>
          <p:cNvSpPr/>
          <p:nvPr>
            <p:custDataLst>
              <p:tags r:id="rId3"/>
            </p:custDataLst>
          </p:nvPr>
        </p:nvSpPr>
        <p:spPr bwMode="auto">
          <a:xfrm>
            <a:off x="870585" y="2309495"/>
            <a:ext cx="2281555" cy="876935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保留管控类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Rectangle 45"/>
          <p:cNvSpPr/>
          <p:nvPr>
            <p:custDataLst>
              <p:tags r:id="rId4"/>
            </p:custDataLst>
          </p:nvPr>
        </p:nvSpPr>
        <p:spPr bwMode="auto">
          <a:xfrm>
            <a:off x="870585" y="3486785"/>
            <a:ext cx="2280920" cy="897890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保留赋能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45"/>
          <p:cNvSpPr/>
          <p:nvPr>
            <p:custDataLst>
              <p:tags r:id="rId5"/>
            </p:custDataLst>
          </p:nvPr>
        </p:nvSpPr>
        <p:spPr bwMode="auto">
          <a:xfrm>
            <a:off x="870585" y="4685030"/>
            <a:ext cx="2281555" cy="892810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00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Rectangle 45"/>
          <p:cNvSpPr/>
          <p:nvPr>
            <p:custDataLst>
              <p:tags r:id="rId6"/>
            </p:custDataLst>
          </p:nvPr>
        </p:nvSpPr>
        <p:spPr bwMode="auto">
          <a:xfrm>
            <a:off x="859790" y="5748020"/>
            <a:ext cx="2291715" cy="909955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圆角矩形 38"/>
          <p:cNvSpPr/>
          <p:nvPr>
            <p:custDataLst>
              <p:tags r:id="rId7"/>
            </p:custDataLst>
          </p:nvPr>
        </p:nvSpPr>
        <p:spPr bwMode="auto">
          <a:xfrm>
            <a:off x="3824605" y="2193925"/>
            <a:ext cx="7469505" cy="104013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974725" y="2110105"/>
            <a:ext cx="2150745" cy="114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5" name="直接连接符 4"/>
          <p:cNvCxnSpPr/>
          <p:nvPr/>
        </p:nvCxnSpPr>
        <p:spPr>
          <a:xfrm>
            <a:off x="3824605" y="2110105"/>
            <a:ext cx="7195185" cy="107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9" name="等腰三角形 8"/>
          <p:cNvSpPr/>
          <p:nvPr/>
        </p:nvSpPr>
        <p:spPr>
          <a:xfrm rot="5400000">
            <a:off x="3429635" y="2644775"/>
            <a:ext cx="302260" cy="24447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3444875" y="3818890"/>
            <a:ext cx="302260" cy="244475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3460115" y="4993005"/>
            <a:ext cx="243840" cy="1325245"/>
            <a:chOff x="5447" y="7935"/>
            <a:chExt cx="384" cy="2087"/>
          </a:xfrm>
        </p:grpSpPr>
        <p:sp>
          <p:nvSpPr>
            <p:cNvPr id="13" name="等腰三角形 12"/>
            <p:cNvSpPr/>
            <p:nvPr/>
          </p:nvSpPr>
          <p:spPr>
            <a:xfrm rot="5400000">
              <a:off x="5401" y="7981"/>
              <a:ext cx="476" cy="385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5400000">
              <a:off x="5401" y="9592"/>
              <a:ext cx="476" cy="385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流程图: 终止 18"/>
          <p:cNvSpPr/>
          <p:nvPr/>
        </p:nvSpPr>
        <p:spPr>
          <a:xfrm>
            <a:off x="4010025" y="2564130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强战略管理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8"/>
            </p:custDataLst>
          </p:nvPr>
        </p:nvSpPr>
        <p:spPr>
          <a:xfrm>
            <a:off x="4010025" y="2212340"/>
            <a:ext cx="4061460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管理目标：保障企业健康发展，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实现优质资产价值最大化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None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4126230" y="2505075"/>
            <a:ext cx="6793865" cy="9525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84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52" name="文本框 51"/>
          <p:cNvSpPr txBox="1"/>
          <p:nvPr>
            <p:custDataLst>
              <p:tags r:id="rId9"/>
            </p:custDataLst>
          </p:nvPr>
        </p:nvSpPr>
        <p:spPr>
          <a:xfrm>
            <a:off x="4018915" y="2993390"/>
            <a:ext cx="6442075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逻辑：体系成熟、经营健康，战略与运营双强驱动，审计与制度建设适度放权，资本运作辅助结构优化</a:t>
            </a: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None/>
            </a:pP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流程图: 终止 52"/>
          <p:cNvSpPr/>
          <p:nvPr/>
        </p:nvSpPr>
        <p:spPr>
          <a:xfrm>
            <a:off x="5126355" y="2569845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运营管理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流程图: 终止 54"/>
          <p:cNvSpPr/>
          <p:nvPr/>
        </p:nvSpPr>
        <p:spPr>
          <a:xfrm>
            <a:off x="6242685" y="2569845"/>
            <a:ext cx="974725" cy="37211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</a:t>
            </a: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4" name="圆角矩形 63"/>
          <p:cNvSpPr/>
          <p:nvPr>
            <p:custDataLst>
              <p:tags r:id="rId10"/>
            </p:custDataLst>
          </p:nvPr>
        </p:nvSpPr>
        <p:spPr bwMode="auto">
          <a:xfrm>
            <a:off x="3824605" y="3391535"/>
            <a:ext cx="7469505" cy="104394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流程图: 终止 64"/>
          <p:cNvSpPr/>
          <p:nvPr/>
        </p:nvSpPr>
        <p:spPr>
          <a:xfrm>
            <a:off x="4010025" y="3761740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强战略管理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1"/>
            </p:custDataLst>
          </p:nvPr>
        </p:nvSpPr>
        <p:spPr>
          <a:xfrm>
            <a:off x="4010025" y="3409950"/>
            <a:ext cx="4061460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管理目标：赋能经营提效，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赋能战略目标如期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4126230" y="3702685"/>
            <a:ext cx="6793865" cy="9525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84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68" name="文本框 67"/>
          <p:cNvSpPr txBox="1"/>
          <p:nvPr>
            <p:custDataLst>
              <p:tags r:id="rId12"/>
            </p:custDataLst>
          </p:nvPr>
        </p:nvSpPr>
        <p:spPr>
          <a:xfrm>
            <a:off x="4018915" y="4191000"/>
            <a:ext cx="6442075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逻辑：有战略价值但需支持，战略、运营双赋能助力参股企业战略协同、指标</a:t>
            </a: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达成</a:t>
            </a: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None/>
            </a:pP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流程图: 终止 68"/>
          <p:cNvSpPr/>
          <p:nvPr/>
        </p:nvSpPr>
        <p:spPr>
          <a:xfrm>
            <a:off x="5126355" y="3767455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运营管理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流程图: 终止 69"/>
          <p:cNvSpPr/>
          <p:nvPr/>
        </p:nvSpPr>
        <p:spPr>
          <a:xfrm>
            <a:off x="6242685" y="3767455"/>
            <a:ext cx="974725" cy="37211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</a:t>
            </a: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8" name="圆角矩形 77"/>
          <p:cNvSpPr/>
          <p:nvPr>
            <p:custDataLst>
              <p:tags r:id="rId13"/>
            </p:custDataLst>
          </p:nvPr>
        </p:nvSpPr>
        <p:spPr bwMode="auto">
          <a:xfrm>
            <a:off x="3824605" y="4611370"/>
            <a:ext cx="7469505" cy="103124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流程图: 终止 78"/>
          <p:cNvSpPr/>
          <p:nvPr/>
        </p:nvSpPr>
        <p:spPr>
          <a:xfrm>
            <a:off x="4010025" y="4981575"/>
            <a:ext cx="974725" cy="37211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中战略管理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4"/>
            </p:custDataLst>
          </p:nvPr>
        </p:nvSpPr>
        <p:spPr>
          <a:xfrm>
            <a:off x="4010025" y="4629785"/>
            <a:ext cx="4061460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管理目标：强运营纠偏，改善经营、优化结构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4126230" y="4922520"/>
            <a:ext cx="6793865" cy="9525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84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82" name="文本框 81"/>
          <p:cNvSpPr txBox="1"/>
          <p:nvPr>
            <p:custDataLst>
              <p:tags r:id="rId15"/>
            </p:custDataLst>
          </p:nvPr>
        </p:nvSpPr>
        <p:spPr>
          <a:xfrm>
            <a:off x="4018915" y="5410835"/>
            <a:ext cx="6442075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逻辑：优先解决运营问题，一定时间内无改善，</a:t>
            </a: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重新调整</a:t>
            </a: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流程图: 终止 82"/>
          <p:cNvSpPr/>
          <p:nvPr/>
        </p:nvSpPr>
        <p:spPr>
          <a:xfrm>
            <a:off x="5126355" y="4987290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运营管理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流程图: 终止 83"/>
          <p:cNvSpPr/>
          <p:nvPr/>
        </p:nvSpPr>
        <p:spPr>
          <a:xfrm>
            <a:off x="6242685" y="4987290"/>
            <a:ext cx="974725" cy="37211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</a:t>
            </a: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圆角矩形 84"/>
          <p:cNvSpPr/>
          <p:nvPr>
            <p:custDataLst>
              <p:tags r:id="rId16"/>
            </p:custDataLst>
          </p:nvPr>
        </p:nvSpPr>
        <p:spPr bwMode="auto">
          <a:xfrm>
            <a:off x="3824605" y="5744210"/>
            <a:ext cx="7469505" cy="992505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流程图: 终止 85"/>
          <p:cNvSpPr/>
          <p:nvPr/>
        </p:nvSpPr>
        <p:spPr>
          <a:xfrm>
            <a:off x="4010025" y="6114415"/>
            <a:ext cx="974725" cy="372110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中公司</a:t>
            </a: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治理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文本框 86"/>
          <p:cNvSpPr txBox="1"/>
          <p:nvPr>
            <p:custDataLst>
              <p:tags r:id="rId17"/>
            </p:custDataLst>
          </p:nvPr>
        </p:nvSpPr>
        <p:spPr>
          <a:xfrm>
            <a:off x="4010025" y="5762625"/>
            <a:ext cx="4061460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管理目标：推动平稳、有序退出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4126230" y="6055360"/>
            <a:ext cx="6793865" cy="9525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7961" dir="84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89" name="文本框 88"/>
          <p:cNvSpPr txBox="1"/>
          <p:nvPr>
            <p:custDataLst>
              <p:tags r:id="rId18"/>
            </p:custDataLst>
          </p:nvPr>
        </p:nvSpPr>
        <p:spPr>
          <a:xfrm>
            <a:off x="4018915" y="6515100"/>
            <a:ext cx="6442075" cy="3060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r>
              <a:rPr lang="zh-CN" altLang="en-US" sz="100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逻辑：强监督控制严守合规底线，强资本运作推动退出方案落地，治理确保程序合规</a:t>
            </a:r>
            <a:endParaRPr lang="zh-CN" altLang="en-US" sz="100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流程图: 终止 89"/>
          <p:cNvSpPr/>
          <p:nvPr/>
        </p:nvSpPr>
        <p:spPr>
          <a:xfrm>
            <a:off x="5126355" y="6120130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强监督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流程图: 终止 90"/>
          <p:cNvSpPr/>
          <p:nvPr/>
        </p:nvSpPr>
        <p:spPr>
          <a:xfrm>
            <a:off x="6242685" y="6120130"/>
            <a:ext cx="974725" cy="372110"/>
          </a:xfrm>
          <a:prstGeom prst="flowChartTerminator">
            <a:avLst/>
          </a:prstGeom>
          <a:solidFill>
            <a:srgbClr val="152A8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强资本</a:t>
            </a:r>
            <a:r>
              <a:rPr lang="zh-CN" altLang="en-US" sz="100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000" smtClean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kern="0" dirty="0" smtClean="0">
                <a:sym typeface="+mn-ea"/>
              </a:rPr>
              <a:t>2.4 </a:t>
            </a:r>
            <a:r>
              <a:rPr kern="0" dirty="0" smtClean="0">
                <a:sym typeface="+mn-ea"/>
              </a:rPr>
              <a:t>任务</a:t>
            </a:r>
            <a:r>
              <a:rPr kern="0" dirty="0" smtClean="0">
                <a:sym typeface="+mn-ea"/>
              </a:rPr>
              <a:t>制定</a:t>
            </a:r>
            <a:endParaRPr kern="0"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745" y="836930"/>
            <a:ext cx="11395075" cy="39560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定任务原则：针对强度管理作为任务必选项，针对中度管理作为任务可选项，并通过项目制推进任务落地，达成管理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闭环管理：将任务分解及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落地纳入管户“一口清”能力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建设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1703070" y="1577975"/>
            <a:ext cx="7969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分类</a:t>
            </a:r>
            <a:endParaRPr kumimoji="0" lang="zh-CN" altLang="en-US" sz="1800" b="1" i="1" u="none" strike="noStrike" kern="1200" cap="none" spc="0" normalizeH="0" baseline="0" noProof="0" dirty="0" err="1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7"/>
          <p:cNvSpPr/>
          <p:nvPr>
            <p:custDataLst>
              <p:tags r:id="rId2"/>
            </p:custDataLst>
          </p:nvPr>
        </p:nvSpPr>
        <p:spPr>
          <a:xfrm>
            <a:off x="3990975" y="1586230"/>
            <a:ext cx="7969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施策</a:t>
            </a:r>
            <a:endParaRPr kumimoji="0" lang="zh-CN" altLang="en-US" sz="1800" b="1" i="1" u="none" strike="noStrike" kern="1200" cap="none" spc="0" normalizeH="0" baseline="0" noProof="0" dirty="0" err="1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Rectangle 45"/>
          <p:cNvSpPr/>
          <p:nvPr>
            <p:custDataLst>
              <p:tags r:id="rId3"/>
            </p:custDataLst>
          </p:nvPr>
        </p:nvSpPr>
        <p:spPr bwMode="auto">
          <a:xfrm>
            <a:off x="744855" y="1972945"/>
            <a:ext cx="2281555" cy="1004570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保留管控类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Rectangle 45"/>
          <p:cNvSpPr/>
          <p:nvPr>
            <p:custDataLst>
              <p:tags r:id="rId4"/>
            </p:custDataLst>
          </p:nvPr>
        </p:nvSpPr>
        <p:spPr bwMode="auto">
          <a:xfrm>
            <a:off x="744855" y="3074670"/>
            <a:ext cx="2280920" cy="1029335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保留赋能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45"/>
          <p:cNvSpPr/>
          <p:nvPr>
            <p:custDataLst>
              <p:tags r:id="rId5"/>
            </p:custDataLst>
          </p:nvPr>
        </p:nvSpPr>
        <p:spPr bwMode="auto">
          <a:xfrm>
            <a:off x="744855" y="4222115"/>
            <a:ext cx="2281555" cy="1023620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Rectangle 45"/>
          <p:cNvSpPr/>
          <p:nvPr>
            <p:custDataLst>
              <p:tags r:id="rId6"/>
            </p:custDataLst>
          </p:nvPr>
        </p:nvSpPr>
        <p:spPr bwMode="auto">
          <a:xfrm>
            <a:off x="734060" y="5329555"/>
            <a:ext cx="2291715" cy="1043305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</a:t>
            </a:r>
            <a:r>
              <a:rPr lang="zh-CN" altLang="en-US" sz="1600" b="1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 bwMode="auto">
          <a:xfrm>
            <a:off x="5121275" y="1989455"/>
            <a:ext cx="5861050" cy="97853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8"/>
            </p:custDataLst>
          </p:nvPr>
        </p:nvSpPr>
        <p:spPr bwMode="auto">
          <a:xfrm>
            <a:off x="5121910" y="3084195"/>
            <a:ext cx="5861050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9"/>
            </p:custDataLst>
          </p:nvPr>
        </p:nvSpPr>
        <p:spPr bwMode="auto">
          <a:xfrm>
            <a:off x="5121275" y="4220210"/>
            <a:ext cx="5861050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 bwMode="auto">
          <a:xfrm>
            <a:off x="5121275" y="5346700"/>
            <a:ext cx="5857875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5121275" y="2001520"/>
            <a:ext cx="5834380" cy="89535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战略对齐：识别年度重点战略任务并监督落地（必选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运营监控：监控经营质量，提高投资回报（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必选项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资本运作：设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计合适的资本运作路径，并形成方案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（可选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项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增补任务：根据重要/紧急事项所需，临时动态增补任务（可选项）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1000" b="1" i="1" dirty="0" smtClean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121275" y="3096260"/>
            <a:ext cx="5854700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战略赋能：识别协同机会，提升战略协同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度（必选项）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运营赋能：支持经营质效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持续改善（必选项）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资本运作：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设计合适的资本运作路径，并形成方案（可选项）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增补任务：根据重要/紧急事项所需，临时动态增补任务（可选项）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1200" dirty="0" smtClean="0">
              <a:ln>
                <a:noFill/>
              </a:ln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13"/>
            </p:custDataLst>
          </p:nvPr>
        </p:nvSpPr>
        <p:spPr>
          <a:xfrm>
            <a:off x="5159375" y="4274185"/>
            <a:ext cx="5854700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lvl="0" indent="-1714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战略纠偏：分析偏差原因，寻找战略对齐路径（可选项）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运营管理：监控经营质量，督促增利</a:t>
            </a:r>
            <a:r>
              <a:rPr lang="en-US" altLang="zh-CN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减亏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（必选项）</a:t>
            </a:r>
            <a:endParaRPr lang="en-US" altLang="zh-CN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资本运作：设计合适的资本运作路径，并形成方案（可选项）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增补任务：根据重要/紧急事项所需，临时动态增补任务（可选项）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5133975" y="5371465"/>
            <a:ext cx="5854700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171450" lvl="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公司治理：行权依法合规，保障股东权利（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监督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控制：建立预警机制，制定风险应对方案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（必选项）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资本运作：设计合适的资本运作路径，并形成方案</a:t>
            </a: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（必选项）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增补任务：根据重要/紧急事项所需，临时动态增补任务（可选项）</a:t>
            </a: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5"/>
            </p:custDataLst>
          </p:nvPr>
        </p:nvSpPr>
        <p:spPr bwMode="auto">
          <a:xfrm>
            <a:off x="3133090" y="1985645"/>
            <a:ext cx="1863725" cy="97599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6"/>
            </p:custDataLst>
          </p:nvPr>
        </p:nvSpPr>
        <p:spPr bwMode="auto">
          <a:xfrm>
            <a:off x="3133725" y="3080385"/>
            <a:ext cx="1846580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17"/>
            </p:custDataLst>
          </p:nvPr>
        </p:nvSpPr>
        <p:spPr bwMode="auto">
          <a:xfrm>
            <a:off x="3133090" y="4216400"/>
            <a:ext cx="1846580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18"/>
            </p:custDataLst>
          </p:nvPr>
        </p:nvSpPr>
        <p:spPr bwMode="auto">
          <a:xfrm>
            <a:off x="3133090" y="5342890"/>
            <a:ext cx="1845310" cy="101790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 sz="16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19"/>
            </p:custDataLst>
          </p:nvPr>
        </p:nvSpPr>
        <p:spPr>
          <a:xfrm>
            <a:off x="3201035" y="5493385"/>
            <a:ext cx="1736725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中公司治理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强监督控制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强资本运作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4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20"/>
            </p:custDataLst>
          </p:nvPr>
        </p:nvSpPr>
        <p:spPr>
          <a:xfrm>
            <a:off x="3200400" y="4380230"/>
            <a:ext cx="1736725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中战略管理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强运营管理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中资本运作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4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21"/>
            </p:custDataLst>
          </p:nvPr>
        </p:nvSpPr>
        <p:spPr>
          <a:xfrm>
            <a:off x="3200400" y="1946275"/>
            <a:ext cx="1736725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l">
              <a:buNone/>
            </a:pPr>
            <a:endParaRPr lang="zh-CN" altLang="en-US" sz="12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强战略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强运营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None/>
            </a:pP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22"/>
            </p:custDataLst>
          </p:nvPr>
        </p:nvSpPr>
        <p:spPr>
          <a:xfrm>
            <a:off x="3200400" y="3211195"/>
            <a:ext cx="1734820" cy="6838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indent="0" algn="ctr">
              <a:lnSpc>
                <a:spcPct val="110000"/>
              </a:lnSpc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强战略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lnSpc>
                <a:spcPct val="110000"/>
              </a:lnSpc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强运营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lnSpc>
                <a:spcPct val="110000"/>
              </a:lnSpc>
              <a:buNone/>
            </a:pP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中资本</a:t>
            </a:r>
            <a:r>
              <a:rPr lang="zh-CN" altLang="en-US" sz="1400" dirty="0" smtClean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运作</a:t>
            </a:r>
            <a:endParaRPr lang="zh-CN" altLang="en-US" sz="1400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ctr">
              <a:buNone/>
            </a:pPr>
            <a:endParaRPr lang="zh-CN" altLang="en-US" sz="1400" b="1" dirty="0" smtClean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AutoShape 7"/>
          <p:cNvSpPr/>
          <p:nvPr>
            <p:custDataLst>
              <p:tags r:id="rId23"/>
            </p:custDataLst>
          </p:nvPr>
        </p:nvSpPr>
        <p:spPr>
          <a:xfrm>
            <a:off x="7844155" y="1600835"/>
            <a:ext cx="7969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定任务</a:t>
            </a:r>
            <a:endParaRPr kumimoji="0" lang="zh-CN" altLang="en-US" sz="1800" b="1" i="1" u="none" strike="noStrike" kern="1200" cap="none" spc="0" normalizeH="0" baseline="0" noProof="0" dirty="0" err="1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kern="0" dirty="0" smtClean="0">
                <a:sym typeface="+mn-ea"/>
              </a:rPr>
              <a:t>2.5 </a:t>
            </a:r>
            <a:r>
              <a:rPr kern="0" dirty="0" smtClean="0">
                <a:sym typeface="+mn-ea"/>
              </a:rPr>
              <a:t>动态</a:t>
            </a:r>
            <a:r>
              <a:rPr kern="0" dirty="0" smtClean="0">
                <a:sym typeface="+mn-ea"/>
              </a:rPr>
              <a:t>评估</a:t>
            </a:r>
            <a:endParaRPr kern="0"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745" y="836930"/>
            <a:ext cx="11395075" cy="39560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施策原则：保留、调整类突出战略、运营、资本运作，退出类突出监督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控制、资本运作、公司治理，并明确强、中两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层管理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深度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定任务原则：针对强度管理作为任务必选项，针对中度管理作为任务可选项，并通过项目制推进任务落地，达成管理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闭环管理：将任务分解及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落地纳入管户“一口清”能力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建设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3180080" y="4084320"/>
            <a:ext cx="6205855" cy="132588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、示范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、分类结果</a:t>
            </a:r>
            <a:endParaRPr lang="en-US" altLang="zh-CN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、策略任务</a:t>
            </a: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标题 5"/>
          <p:cNvSpPr txBox="1"/>
          <p:nvPr/>
        </p:nvSpPr>
        <p:spPr>
          <a:xfrm>
            <a:off x="536077" y="380846"/>
            <a:ext cx="10367010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2400" b="1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mtClean="0"/>
              <a:t>目  录</a:t>
            </a:r>
            <a:endParaRPr lang="zh-CN" altLang="en-US" dirty="0"/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3282658" y="1675917"/>
            <a:ext cx="6205855" cy="6121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进展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3282658" y="2469485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>
            <a:noAutofit/>
          </a:bodyPr>
          <a:lstStyle/>
          <a:p>
            <a:pPr lvl="0" algn="l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优化方案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2633689" y="1676552"/>
            <a:ext cx="600075" cy="619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一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41"/>
          <p:cNvSpPr>
            <a:spLocks noChangeArrowheads="1"/>
          </p:cNvSpPr>
          <p:nvPr/>
        </p:nvSpPr>
        <p:spPr bwMode="auto">
          <a:xfrm>
            <a:off x="2633689" y="2470119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二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3282658" y="3260073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>
            <a:noAutofit/>
          </a:bodyPr>
          <a:lstStyle/>
          <a:p>
            <a:pPr lvl="0" algn="l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运行</a:t>
            </a: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模拟</a:t>
            </a:r>
            <a:endParaRPr lang="zh-CN" altLang="en-US" sz="20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41"/>
          <p:cNvSpPr>
            <a:spLocks noChangeArrowheads="1"/>
          </p:cNvSpPr>
          <p:nvPr/>
        </p:nvSpPr>
        <p:spPr bwMode="auto">
          <a:xfrm>
            <a:off x="2633689" y="3260707"/>
            <a:ext cx="600075" cy="6159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三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矩形 8"/>
          <p:cNvSpPr>
            <a:spLocks noChangeArrowheads="1"/>
          </p:cNvSpPr>
          <p:nvPr/>
        </p:nvSpPr>
        <p:spPr bwMode="auto">
          <a:xfrm>
            <a:off x="3282658" y="5346035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>
            <a:noAutofit/>
          </a:bodyPr>
          <a:lstStyle/>
          <a:p>
            <a:pPr lvl="0" algn="l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后续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安排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41"/>
          <p:cNvSpPr>
            <a:spLocks noChangeArrowheads="1"/>
          </p:cNvSpPr>
          <p:nvPr/>
        </p:nvSpPr>
        <p:spPr bwMode="auto">
          <a:xfrm>
            <a:off x="2633689" y="5346669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四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3.1 </a:t>
            </a:r>
            <a:r>
              <a:rPr dirty="0">
                <a:sym typeface="+mn-ea"/>
              </a:rPr>
              <a:t>示范</a:t>
            </a:r>
            <a:r>
              <a:rPr dirty="0">
                <a:sym typeface="+mn-ea"/>
              </a:rPr>
              <a:t>案例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</p:txBody>
      </p:sp>
      <p:sp>
        <p:nvSpPr>
          <p:cNvPr id="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14020" y="819785"/>
            <a:ext cx="11562715" cy="460375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以富奥公司为示范案例，展示分类、施策、定任务对应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结果</a:t>
            </a:r>
            <a:endParaRPr lang="zh-CN" altLang="en-US" sz="1600" dirty="0">
              <a:latin typeface="+mj-ea"/>
              <a:ea typeface="+mj-ea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3.2 </a:t>
            </a:r>
            <a:r>
              <a:rPr dirty="0">
                <a:sym typeface="+mn-ea"/>
              </a:rPr>
              <a:t>分类结果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</p:txBody>
      </p:sp>
      <p:sp>
        <p:nvSpPr>
          <p:cNvPr id="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14020" y="819785"/>
            <a:ext cx="11562715" cy="460375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股权运营部符合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21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号文管理的参股企业有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29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家，模拟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运行后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分类符合管理预期</a:t>
            </a:r>
            <a:endParaRPr lang="zh-CN" altLang="en-US" sz="1600" dirty="0">
              <a:latin typeface="+mj-ea"/>
              <a:ea typeface="+mj-ea"/>
              <a:cs typeface="微软雅黑" panose="020B0503020204020204" pitchFamily="34" charset="-120"/>
            </a:endParaRPr>
          </a:p>
        </p:txBody>
      </p:sp>
      <p:graphicFrame>
        <p:nvGraphicFramePr>
          <p:cNvPr id="56" name="表格 5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7040" y="1376680"/>
          <a:ext cx="5326380" cy="5598160"/>
        </p:xfrm>
        <a:graphic>
          <a:graphicData uri="http://schemas.openxmlformats.org/drawingml/2006/table">
            <a:tbl>
              <a:tblPr/>
              <a:tblGrid>
                <a:gridCol w="731520"/>
                <a:gridCol w="673735"/>
                <a:gridCol w="3921125"/>
              </a:tblGrid>
              <a:tr h="33591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参股企业名称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59080"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管控类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富奥汽车零部件股份有限公司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3083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富赛汽车电子有限公司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067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长春富维集团汽车零部件股份有限公司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7340">
                <a:tc rowSpan="1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赋能类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富奥智能悬架系统（长春）有限公司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448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富奥智能转向系统（长春）有限公司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544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国联汽车动力电池研究院有限责任公司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654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长春一东离合器股份有限公司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321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成都丰田纺汽车部件有限公司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384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天津爱信自动变速器有限公司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2067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一汽旗翼（深圳）科技有限公司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797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联合燃料电池系统研发（北京）有限公司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5971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国汽（北京）智能网联汽车研究院有限公司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321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机械工业第九设计研究院股份有限公司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7020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联通一汽通信科技（长春）有限公司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1785">
                <a:tc vMerge="1">
                  <a:tcPr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羿动科技新能源有限公司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6830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南京领行股权投资管理有限公司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8" name="表格 5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911215" y="1376680"/>
          <a:ext cx="5703570" cy="4593590"/>
        </p:xfrm>
        <a:graphic>
          <a:graphicData uri="http://schemas.openxmlformats.org/drawingml/2006/table">
            <a:tbl>
              <a:tblPr/>
              <a:tblGrid>
                <a:gridCol w="934085"/>
                <a:gridCol w="746760"/>
                <a:gridCol w="4022725"/>
              </a:tblGrid>
              <a:tr h="35496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分类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参股企业</a:t>
                      </a:r>
                      <a:r>
                        <a:rPr lang="zh-CN" altLang="en-US" sz="16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名称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7025">
                <a:tc rowSpan="1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</a:t>
                      </a:r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黑体" panose="02010609060101010101" pitchFamily="49" charset="-122"/>
                        </a:rPr>
                        <a:t>类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长春富晟集团有限公司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163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中汽创智科技有限公司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432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时代一汽动力电池有限公司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892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一汽弗迪新能源科技有限公司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988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一汽中车电驱动系统有限公司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607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华大半导体有限公司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797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开迈斯新能源科技有限公司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083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天津丰田模具有限公司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416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中发联投资有限公司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496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山东蓬翔汽车有限公司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2702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长春一汽延锋伟世通电子有限公司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5179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国汽（北京）汽车轻量化技术研究院有限公司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7401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联合富士半导体有限公司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3.3 </a:t>
            </a:r>
            <a:r>
              <a:rPr dirty="0">
                <a:sym typeface="+mn-ea"/>
              </a:rPr>
              <a:t>策略任务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</p:txBody>
      </p:sp>
      <p:sp>
        <p:nvSpPr>
          <p:cNvPr id="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14020" y="819785"/>
            <a:ext cx="11562715" cy="460375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股权运营部符合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21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号文管理的参股企业有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29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家，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施策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对应任务具备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可操作性</a:t>
            </a:r>
            <a:endParaRPr lang="zh-CN" altLang="en-US" sz="1600" dirty="0">
              <a:latin typeface="+mj-ea"/>
              <a:ea typeface="+mj-ea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/>
          <p:cNvSpPr txBox="1"/>
          <p:nvPr/>
        </p:nvSpPr>
        <p:spPr>
          <a:xfrm>
            <a:off x="536077" y="380846"/>
            <a:ext cx="10367010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2400" b="1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mtClean="0"/>
              <a:t>目  录</a:t>
            </a:r>
            <a:endParaRPr lang="zh-CN" altLang="en-US" dirty="0"/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3282658" y="2082317"/>
            <a:ext cx="6205855" cy="6121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进展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3282658" y="2875885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>
            <a:noAutofit/>
          </a:bodyPr>
          <a:lstStyle/>
          <a:p>
            <a:pPr lvl="0" algn="l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优化方案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2633689" y="2082952"/>
            <a:ext cx="600075" cy="619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一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41"/>
          <p:cNvSpPr>
            <a:spLocks noChangeArrowheads="1"/>
          </p:cNvSpPr>
          <p:nvPr/>
        </p:nvSpPr>
        <p:spPr bwMode="auto">
          <a:xfrm>
            <a:off x="2633689" y="2876519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二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3282658" y="3666473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运行模拟</a:t>
            </a:r>
            <a:endParaRPr lang="zh-CN" altLang="en-US" sz="20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41"/>
          <p:cNvSpPr>
            <a:spLocks noChangeArrowheads="1"/>
          </p:cNvSpPr>
          <p:nvPr/>
        </p:nvSpPr>
        <p:spPr bwMode="auto">
          <a:xfrm>
            <a:off x="2633689" y="3667107"/>
            <a:ext cx="600075" cy="615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三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矩形 8"/>
          <p:cNvSpPr>
            <a:spLocks noChangeArrowheads="1"/>
          </p:cNvSpPr>
          <p:nvPr/>
        </p:nvSpPr>
        <p:spPr bwMode="auto">
          <a:xfrm>
            <a:off x="3282658" y="4457035"/>
            <a:ext cx="6205855" cy="621665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>
            <a:noAutofit/>
          </a:bodyPr>
          <a:lstStyle/>
          <a:p>
            <a:pPr lvl="0" algn="l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后续安排</a:t>
            </a:r>
            <a:endParaRPr lang="zh-CN" altLang="en-US" sz="20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41"/>
          <p:cNvSpPr>
            <a:spLocks noChangeArrowheads="1"/>
          </p:cNvSpPr>
          <p:nvPr/>
        </p:nvSpPr>
        <p:spPr bwMode="auto">
          <a:xfrm>
            <a:off x="2633689" y="4457669"/>
            <a:ext cx="600075" cy="6159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>
            <a:noAutofit/>
          </a:bodyPr>
          <a:lstStyle/>
          <a:p>
            <a:pPr lvl="0" algn="ctr" eaLnBrk="0" fontAlgn="base" hangingPunct="0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四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/>
        </p:nvSpPr>
        <p:spPr>
          <a:xfrm>
            <a:off x="477860" y="33809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152A8C"/>
                </a:solidFill>
                <a:sym typeface="微软雅黑" panose="020B0503020204020204" charset="-122"/>
              </a:rPr>
              <a:t>4.1 </a:t>
            </a:r>
            <a:r>
              <a:rPr lang="zh-CN" altLang="en-US" sz="2300" dirty="0">
                <a:solidFill>
                  <a:srgbClr val="152A8C"/>
                </a:solidFill>
                <a:sym typeface="+mn-ea"/>
              </a:rPr>
              <a:t>迭代计划</a:t>
            </a:r>
            <a:endParaRPr lang="zh-CN" altLang="en-US" sz="23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5625" y="1606550"/>
          <a:ext cx="11172825" cy="4177030"/>
        </p:xfrm>
        <a:graphic>
          <a:graphicData uri="http://schemas.openxmlformats.org/drawingml/2006/table">
            <a:tbl>
              <a:tblPr/>
              <a:tblGrid>
                <a:gridCol w="789305"/>
                <a:gridCol w="1426845"/>
                <a:gridCol w="3792855"/>
                <a:gridCol w="5163820"/>
              </a:tblGrid>
              <a:tr h="49530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迭代方向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横向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拓展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纵向沉淀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</a:tr>
              <a:tr h="133159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动态修正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建立季度滚动更新机制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建立分类调整机制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①临时</a:t>
                      </a:r>
                      <a:r>
                        <a:rPr lang="en-US" altLang="zh-CN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重要变化项，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触发分类更新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②根据任务推进状况，重新评估分类准确性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5570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1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1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经验复用</a:t>
                      </a:r>
                      <a:endParaRPr lang="en-US" altLang="zh-CN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推动同类企业实施策略在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公司内复用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沉淀共性策略，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建立最优策略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组合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9443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400" b="1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1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AI增强</a:t>
                      </a:r>
                      <a:endParaRPr lang="en-US" altLang="zh-CN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基于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历史数据积累，AI自动完成战略、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财务判定标准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优化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基于历史数据积累，</a:t>
                      </a:r>
                      <a:r>
                        <a:rPr lang="en-US" altLang="zh-CN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r>
                        <a:rPr lang="zh-CN" altLang="en-US" sz="1400" b="0" i="0" dirty="0">
                          <a:solidFill>
                            <a:srgbClr val="18171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自动生成施策方案与任务清单</a:t>
                      </a:r>
                      <a:endParaRPr lang="zh-CN" altLang="en-US" sz="1400" b="0" i="0" dirty="0">
                        <a:solidFill>
                          <a:srgbClr val="18171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L>
                    <a:lnR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R>
                    <a:lnT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T>
                    <a:lnB w="12700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占位符 6"/>
          <p:cNvSpPr txBox="1"/>
          <p:nvPr/>
        </p:nvSpPr>
        <p:spPr>
          <a:xfrm>
            <a:off x="474787" y="862876"/>
            <a:ext cx="11402575" cy="90518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noAutofit/>
          </a:bodyPr>
          <a:lstStyle>
            <a:defPPr>
              <a:defRPr lang="zh-CN"/>
            </a:defPPr>
            <a:lvl1pPr marL="381000" indent="-381000" defTabSz="1219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600" ker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14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1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 algn="l" defTabSz="844550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11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285750" lvl="0" indent="-285750" algn="l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Char char="p"/>
              <a:defRPr/>
            </a:pP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后续聚焦战略使命履行、国有股东行权、国有权益维护、重大风险等事项，健全动态评估调整机制，</a:t>
            </a: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并从横向拓宽和纵向沉淀两个维度，推动一企</a:t>
            </a:r>
            <a:r>
              <a:rPr lang="zh-CN" altLang="en-US" b="1" kern="12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sym typeface="+mn-ea"/>
              </a:rPr>
              <a:t>一策从自动化向智能化升级</a:t>
            </a:r>
            <a:endParaRPr lang="zh-CN" altLang="en-US" b="1" kern="120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/>
          <p:nvPr/>
        </p:nvSpPr>
        <p:spPr>
          <a:xfrm>
            <a:off x="359601" y="273783"/>
            <a:ext cx="9872980" cy="509905"/>
          </a:xfrm>
          <a:prstGeom prst="rect">
            <a:avLst/>
          </a:prstGeom>
        </p:spPr>
        <p:txBody>
          <a:bodyPr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+mj-lt"/>
                <a:ea typeface="+mj-ea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en-US" altLang="zh-CN" sz="2400" dirty="0" smtClean="0">
                <a:solidFill>
                  <a:srgbClr val="152A8C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4.2 </a:t>
            </a:r>
            <a:r>
              <a:rPr lang="zh-CN" altLang="en-US" sz="2400" dirty="0" smtClean="0">
                <a:solidFill>
                  <a:srgbClr val="152A8C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后续</a:t>
            </a:r>
            <a:r>
              <a:rPr lang="zh-CN" altLang="en-US" sz="2400" dirty="0" smtClean="0">
                <a:solidFill>
                  <a:srgbClr val="152A8C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</a:rPr>
              <a:t>安排</a:t>
            </a:r>
            <a:endParaRPr lang="zh-CN" altLang="en-US" sz="2400" dirty="0" smtClean="0">
              <a:solidFill>
                <a:srgbClr val="152A8C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59410" y="839470"/>
            <a:ext cx="11370310" cy="1123950"/>
          </a:xfrm>
        </p:spPr>
        <p:txBody>
          <a:bodyPr wrap="square"/>
          <a:lstStyle/>
          <a:p>
            <a:pPr algn="l">
              <a:lnSpc>
                <a:spcPct val="140000"/>
              </a:lnSpc>
              <a:buClrTx/>
              <a:buSzTx/>
            </a:pP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纳入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21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号文管理对应的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一企一策工作台，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8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月完成开发，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</a:rPr>
              <a:t>9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月开始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</a:rPr>
              <a:t>试运行</a:t>
            </a:r>
            <a:endParaRPr lang="zh-CN" altLang="en-US" sz="1600" dirty="0">
              <a:latin typeface="+mj-ea"/>
              <a:ea typeface="+mj-ea"/>
              <a:cs typeface="微软雅黑" panose="020B0503020204020204" pitchFamily="34" charset="-120"/>
            </a:endParaRPr>
          </a:p>
          <a:p>
            <a:pPr algn="l">
              <a:lnSpc>
                <a:spcPct val="140000"/>
              </a:lnSpc>
              <a:buClrTx/>
              <a:buSzTx/>
            </a:pP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未纳入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21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号文管理对应的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一企一策工作台，区分两个流程由相关业务部门推进，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8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月中旬完成业务梳理，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9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月中旬完成开发，</a:t>
            </a:r>
            <a:r>
              <a:rPr lang="en-US" altLang="zh-CN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10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月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中旬正式</a:t>
            </a:r>
            <a:r>
              <a:rPr lang="zh-CN" altLang="en-US" sz="1600" dirty="0">
                <a:latin typeface="+mj-ea"/>
                <a:ea typeface="+mj-ea"/>
                <a:cs typeface="微软雅黑" panose="020B0503020204020204" pitchFamily="34" charset="-120"/>
                <a:sym typeface="+mn-ea"/>
              </a:rPr>
              <a:t>运行</a:t>
            </a:r>
            <a:endParaRPr lang="zh-CN" altLang="en-US" sz="1600" dirty="0">
              <a:latin typeface="+mj-ea"/>
              <a:ea typeface="+mj-ea"/>
              <a:cs typeface="微软雅黑" panose="020B0503020204020204" pitchFamily="34" charset="-120"/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9105" y="2001520"/>
          <a:ext cx="11221085" cy="4547235"/>
        </p:xfrm>
        <a:graphic>
          <a:graphicData uri="http://schemas.openxmlformats.org/drawingml/2006/table">
            <a:tbl>
              <a:tblPr/>
              <a:tblGrid>
                <a:gridCol w="605790"/>
                <a:gridCol w="1431290"/>
                <a:gridCol w="1112520"/>
                <a:gridCol w="3073400"/>
                <a:gridCol w="624840"/>
                <a:gridCol w="634365"/>
                <a:gridCol w="615315"/>
                <a:gridCol w="624205"/>
                <a:gridCol w="596265"/>
                <a:gridCol w="653415"/>
                <a:gridCol w="624840"/>
                <a:gridCol w="624840"/>
              </a:tblGrid>
              <a:tr h="372110">
                <a:tc gridSpan="2">
                  <a:txBody>
                    <a:bodyPr/>
                    <a:lstStyle/>
                    <a:p>
                      <a:pPr marL="0" algn="ctr" defTabSz="913130" rtl="0" eaLnBrk="1" fontAlgn="ctr" latinLnBrk="0" hangingPunct="1"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工作内容</a:t>
                      </a:r>
                      <a:endParaRPr lang="zh-CN" altLang="en-US" sz="1400" b="1" kern="1200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负责科室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具体内容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2027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</a:tr>
              <a:tr h="690245">
                <a:tc row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纳入</a:t>
                      </a:r>
                      <a:r>
                        <a:rPr lang="en-US" altLang="zh-CN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号文管理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数据夯实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股权运营部</a:t>
                      </a:r>
                      <a:endParaRPr lang="zh-CN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完成多源数据治理与标准化对接，明确分红/负债/产品/技术/配套等核心指标的数据来源、更新频率及质量校验规则，夯实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数据基础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0245"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开发及测试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综合部</a:t>
                      </a:r>
                      <a:r>
                        <a:rPr lang="en-US" altLang="zh-CN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股权运营部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基于“一个平台”理念，开展数智化工作台的系统开发、模块集成及全链路穿透测试，确保分类标准、管理动作与系统流程闭环贯通，并完成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问题收集及调整优化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5645"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上线运行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各相关部门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新系统宣贯培训、正式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上线运行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未纳入</a:t>
                      </a:r>
                      <a:r>
                        <a:rPr lang="en-US" altLang="zh-CN" sz="120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21</a:t>
                      </a:r>
                      <a:r>
                        <a:rPr lang="zh-CN" altLang="en-US" sz="120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号文管理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同意启动退出类的相关模型优化（分类、施策、定任务）</a:t>
                      </a:r>
                      <a:endParaRPr lang="zh-CN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股权交易室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细化分类标准，确认准确性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0">
                <a:tc vMerge="1">
                  <a:tcPr/>
                </a:tc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开发测试及上线</a:t>
                      </a: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运行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0375"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未</a:t>
                      </a:r>
                      <a:r>
                        <a:rPr lang="zh-CN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启动退出类的相关模型优化（分类、施策、定任务）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投资部、红旗基金、鼎佳基金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细化分类标准，确认准确性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60"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开发测试及上线运行</a:t>
                      </a:r>
                      <a:endParaRPr lang="zh-CN" altLang="en-US" sz="1200" b="0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050" b="0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星形: 五角 40"/>
          <p:cNvSpPr/>
          <p:nvPr>
            <p:custDataLst>
              <p:tags r:id="rId2"/>
            </p:custDataLst>
          </p:nvPr>
        </p:nvSpPr>
        <p:spPr bwMode="auto">
          <a:xfrm>
            <a:off x="8818880" y="4148359"/>
            <a:ext cx="190499" cy="195272"/>
          </a:xfrm>
          <a:prstGeom prst="star5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"/>
            </p:custDataLst>
          </p:nvPr>
        </p:nvSpPr>
        <p:spPr>
          <a:xfrm>
            <a:off x="8613140" y="4344035"/>
            <a:ext cx="834390" cy="21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正式上线运行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等腰三角形 72"/>
          <p:cNvSpPr/>
          <p:nvPr>
            <p:custDataLst>
              <p:tags r:id="rId4"/>
            </p:custDataLst>
          </p:nvPr>
        </p:nvSpPr>
        <p:spPr>
          <a:xfrm flipV="1">
            <a:off x="7903986" y="3287955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5"/>
            </p:custDataLst>
          </p:nvPr>
        </p:nvSpPr>
        <p:spPr>
          <a:xfrm>
            <a:off x="7746280" y="3467290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开发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5" name="直接箭头连接符 74"/>
          <p:cNvCxnSpPr/>
          <p:nvPr>
            <p:custDataLst>
              <p:tags r:id="rId6"/>
            </p:custDataLst>
          </p:nvPr>
        </p:nvCxnSpPr>
        <p:spPr>
          <a:xfrm flipV="1">
            <a:off x="7941224" y="3466757"/>
            <a:ext cx="619760" cy="508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6" name="等腰三角形 75"/>
          <p:cNvSpPr/>
          <p:nvPr>
            <p:custDataLst>
              <p:tags r:id="rId7"/>
            </p:custDataLst>
          </p:nvPr>
        </p:nvSpPr>
        <p:spPr>
          <a:xfrm flipV="1">
            <a:off x="8450721" y="328859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8"/>
            </p:custDataLst>
          </p:nvPr>
        </p:nvSpPr>
        <p:spPr>
          <a:xfrm>
            <a:off x="8171095" y="3467925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试运行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flipV="1">
            <a:off x="7320421" y="2583307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151285" y="2762642"/>
            <a:ext cx="720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557651" y="2744227"/>
            <a:ext cx="720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362105" y="2748774"/>
            <a:ext cx="578485" cy="254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等腰三角形 13"/>
          <p:cNvSpPr/>
          <p:nvPr/>
        </p:nvSpPr>
        <p:spPr>
          <a:xfrm flipV="1">
            <a:off x="7849037" y="2579586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等腰三角形 10"/>
          <p:cNvSpPr/>
          <p:nvPr>
            <p:custDataLst>
              <p:tags r:id="rId11"/>
            </p:custDataLst>
          </p:nvPr>
        </p:nvSpPr>
        <p:spPr>
          <a:xfrm flipV="1">
            <a:off x="7554101" y="461701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12"/>
            </p:custDataLst>
          </p:nvPr>
        </p:nvCxnSpPr>
        <p:spPr>
          <a:xfrm flipV="1">
            <a:off x="7591339" y="4795812"/>
            <a:ext cx="619760" cy="508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10955534" y="4027988"/>
            <a:ext cx="7245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常态化工作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等腰三角形 21"/>
          <p:cNvSpPr/>
          <p:nvPr>
            <p:custDataLst>
              <p:tags r:id="rId13"/>
            </p:custDataLst>
          </p:nvPr>
        </p:nvSpPr>
        <p:spPr>
          <a:xfrm flipV="1">
            <a:off x="8100836" y="4617645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7821210" y="4796980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等腰三角形 24"/>
          <p:cNvSpPr/>
          <p:nvPr>
            <p:custDataLst>
              <p:tags r:id="rId15"/>
            </p:custDataLst>
          </p:nvPr>
        </p:nvSpPr>
        <p:spPr>
          <a:xfrm flipV="1">
            <a:off x="7554101" y="5634915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16"/>
            </p:custDataLst>
          </p:nvPr>
        </p:nvCxnSpPr>
        <p:spPr>
          <a:xfrm flipV="1">
            <a:off x="7591339" y="5813717"/>
            <a:ext cx="619760" cy="508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等腰三角形 27"/>
          <p:cNvSpPr/>
          <p:nvPr>
            <p:custDataLst>
              <p:tags r:id="rId17"/>
            </p:custDataLst>
          </p:nvPr>
        </p:nvSpPr>
        <p:spPr>
          <a:xfrm flipV="1">
            <a:off x="8100836" y="563555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7821210" y="5814885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9033620" y="4243332"/>
            <a:ext cx="2646680" cy="17145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7274475" y="4793805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启动工作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>
            <a:off x="7296700" y="5814250"/>
            <a:ext cx="6070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启动工作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等腰三角形 33"/>
          <p:cNvSpPr/>
          <p:nvPr>
            <p:custDataLst>
              <p:tags r:id="rId21"/>
            </p:custDataLst>
          </p:nvPr>
        </p:nvSpPr>
        <p:spPr>
          <a:xfrm flipV="1">
            <a:off x="8328801" y="5170095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2"/>
            </p:custDataLst>
          </p:nvPr>
        </p:nvSpPr>
        <p:spPr>
          <a:xfrm>
            <a:off x="8171095" y="5349430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开发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直接箭头连接符 35"/>
          <p:cNvCxnSpPr/>
          <p:nvPr>
            <p:custDataLst>
              <p:tags r:id="rId23"/>
            </p:custDataLst>
          </p:nvPr>
        </p:nvCxnSpPr>
        <p:spPr>
          <a:xfrm flipV="1">
            <a:off x="8366039" y="5348897"/>
            <a:ext cx="619760" cy="508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等腰三角形 36"/>
          <p:cNvSpPr/>
          <p:nvPr>
            <p:custDataLst>
              <p:tags r:id="rId24"/>
            </p:custDataLst>
          </p:nvPr>
        </p:nvSpPr>
        <p:spPr>
          <a:xfrm flipV="1">
            <a:off x="8875536" y="517073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5"/>
            </p:custDataLst>
          </p:nvPr>
        </p:nvSpPr>
        <p:spPr>
          <a:xfrm>
            <a:off x="8595910" y="5350065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试运行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等腰三角形 38"/>
          <p:cNvSpPr/>
          <p:nvPr>
            <p:custDataLst>
              <p:tags r:id="rId26"/>
            </p:custDataLst>
          </p:nvPr>
        </p:nvSpPr>
        <p:spPr>
          <a:xfrm flipV="1">
            <a:off x="8329436" y="6156885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7"/>
            </p:custDataLst>
          </p:nvPr>
        </p:nvSpPr>
        <p:spPr>
          <a:xfrm>
            <a:off x="8171730" y="6336220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开发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28"/>
            </p:custDataLst>
          </p:nvPr>
        </p:nvCxnSpPr>
        <p:spPr>
          <a:xfrm flipV="1">
            <a:off x="8366674" y="6335687"/>
            <a:ext cx="619760" cy="5080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等腰三角形 43"/>
          <p:cNvSpPr/>
          <p:nvPr>
            <p:custDataLst>
              <p:tags r:id="rId29"/>
            </p:custDataLst>
          </p:nvPr>
        </p:nvSpPr>
        <p:spPr>
          <a:xfrm flipV="1">
            <a:off x="8876171" y="6157520"/>
            <a:ext cx="110569" cy="106741"/>
          </a:xfrm>
          <a:prstGeom prst="triangle">
            <a:avLst/>
          </a:prstGeom>
          <a:solidFill>
            <a:srgbClr val="C00000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800" b="1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0"/>
            </p:custDataLst>
          </p:nvPr>
        </p:nvSpPr>
        <p:spPr>
          <a:xfrm>
            <a:off x="8596545" y="6336855"/>
            <a:ext cx="60705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试运行</a:t>
            </a:r>
            <a:endParaRPr lang="zh-CN" altLang="en-US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星形: 五角 40"/>
          <p:cNvSpPr/>
          <p:nvPr>
            <p:custDataLst>
              <p:tags r:id="rId31"/>
            </p:custDataLst>
          </p:nvPr>
        </p:nvSpPr>
        <p:spPr bwMode="auto">
          <a:xfrm>
            <a:off x="9409430" y="5225954"/>
            <a:ext cx="190499" cy="195272"/>
          </a:xfrm>
          <a:prstGeom prst="star5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2"/>
            </p:custDataLst>
          </p:nvPr>
        </p:nvSpPr>
        <p:spPr>
          <a:xfrm>
            <a:off x="9203690" y="5421630"/>
            <a:ext cx="834390" cy="21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正式上线运行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星形: 五角 40"/>
          <p:cNvSpPr/>
          <p:nvPr>
            <p:custDataLst>
              <p:tags r:id="rId33"/>
            </p:custDataLst>
          </p:nvPr>
        </p:nvSpPr>
        <p:spPr bwMode="auto">
          <a:xfrm>
            <a:off x="9399905" y="6120669"/>
            <a:ext cx="190499" cy="195272"/>
          </a:xfrm>
          <a:prstGeom prst="star5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4"/>
            </p:custDataLst>
          </p:nvPr>
        </p:nvSpPr>
        <p:spPr>
          <a:xfrm>
            <a:off x="9194165" y="6316345"/>
            <a:ext cx="834390" cy="21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正式上线运行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965694" y="5139238"/>
            <a:ext cx="7245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常态化工作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9620360" y="5347597"/>
            <a:ext cx="2070100" cy="6985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7" name="文本框 56"/>
          <p:cNvSpPr txBox="1"/>
          <p:nvPr/>
        </p:nvSpPr>
        <p:spPr>
          <a:xfrm>
            <a:off x="10946009" y="6049193"/>
            <a:ext cx="7245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800" kern="0" dirty="0">
                <a:solidFill>
                  <a:srgbClr val="112C96"/>
                </a:solidFill>
                <a:latin typeface="微软雅黑" panose="020B0503020204020204" charset="-122"/>
                <a:ea typeface="微软雅黑" panose="020B0503020204020204" charset="-122"/>
              </a:rPr>
              <a:t>常态化工作</a:t>
            </a:r>
            <a:endParaRPr lang="en-US" altLang="zh-CN" sz="800" kern="0" dirty="0">
              <a:solidFill>
                <a:srgbClr val="112C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9600675" y="6257552"/>
            <a:ext cx="2070100" cy="6985"/>
          </a:xfrm>
          <a:prstGeom prst="straightConnector1">
            <a:avLst/>
          </a:prstGeom>
          <a:noFill/>
          <a:ln w="9525" cap="flat" cmpd="sng" algn="ctr">
            <a:solidFill>
              <a:srgbClr val="112C96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6425" y="5588022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（禁止未经脱密，未经审核，扩大知悉范围）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70" y="2026798"/>
            <a:ext cx="9553260" cy="2804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7859" y="327918"/>
            <a:ext cx="9850832" cy="548571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Backup-</a:t>
            </a:r>
            <a:r>
              <a:rPr dirty="0" smtClean="0">
                <a:sym typeface="+mn-ea"/>
              </a:rPr>
              <a:t>参股企业</a:t>
            </a:r>
            <a:r>
              <a:rPr dirty="0" smtClean="0">
                <a:sym typeface="+mn-ea"/>
              </a:rPr>
              <a:t>清单</a:t>
            </a:r>
            <a:endParaRPr dirty="0" smtClean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7859" y="971379"/>
            <a:ext cx="11222729" cy="621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管理企业范围：</a:t>
            </a:r>
            <a:r>
              <a:rPr lang="zh-CN" altLang="en-US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全口径管理企业范围1</a:t>
            </a:r>
            <a:r>
              <a:rPr lang="en-US" altLang="zh-CN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07</a:t>
            </a:r>
            <a:r>
              <a:rPr lang="zh-CN" altLang="en-US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家，排除基金</a:t>
            </a:r>
            <a:r>
              <a:rPr lang="en-US" altLang="zh-CN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家、非基金类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交易性金融资产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家、集团控股类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家、基金所管参股公司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</a:t>
            </a: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lang="zh-CN" altLang="en-US" b="1" noProof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适用</a:t>
            </a: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国资委文件做出分类的参股企业</a:t>
            </a: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50</a:t>
            </a: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</a:t>
            </a:r>
            <a:endParaRPr kumimoji="0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95325" y="1705610"/>
          <a:ext cx="11155682" cy="4754245"/>
        </p:xfrm>
        <a:graphic>
          <a:graphicData uri="http://schemas.openxmlformats.org/drawingml/2006/table">
            <a:tbl>
              <a:tblPr/>
              <a:tblGrid>
                <a:gridCol w="720725"/>
                <a:gridCol w="1049655"/>
                <a:gridCol w="599758"/>
                <a:gridCol w="1018540"/>
                <a:gridCol w="7767004"/>
              </a:tblGrid>
              <a:tr h="30988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公司简称</a:t>
                      </a:r>
                      <a:endParaRPr lang="zh-CN" altLang="en-US" sz="12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</a:tr>
              <a:tr h="1017270">
                <a:tc rowSpan="3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文件管理范围内参股公司（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rgbClr r="0" g="0" b="0"/>
                      </a:solidFill>
                    </a:lnT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保留（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44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中汽创智、国汽智能网联、羿动新能源、华大半导体、富赛电子、富奥公司、富奥智能悬架、富奥智能转向、联合燃料电池、联通一汽通信、长春一东、山东蓬翔、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出行基金管理公司、天津爱信、九院、富维公司、成都丰田纺、富晟公司、联通智网、国汽轻量化院、国联汽车动力电池、交通银行、联合富士半导体、天津丰田模具、一旗力合深圳、</a:t>
                      </a: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旗翼科技、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开迈斯、鼎盛驿成、中发联、时代一汽、一汽弗迪、一汽中车、一汽名仕房地产、哈尔滨一汽变速箱、吉林汽车、无锡中车、花园酒店、大连氢锋客车、靖烨发动机、保洁公司、国泰君安、长安马自达、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一汽延边现通、华夏证券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370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2"/>
                      </a:solidFill>
                      <a:prstDash val="solid"/>
                    </a:lnT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 fontAlgn="b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调整（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一汽综合利用、一汽延锋伟世通、索迪斯（长投）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退出（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南京盛腾、拜腾公司、丝尔科跑车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455">
                <a:tc rowSpan="6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文件管理范围外参股公司（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rgbClr r="0" g="0" b="0"/>
                      </a:solidFill>
                    </a:lnT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集团内控股（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家）</a:t>
                      </a:r>
                      <a:endParaRPr lang="zh-CN" altLang="en-US" sz="1200" b="0" i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一汽富华、鑫安保险、奔腾</a:t>
                      </a:r>
                      <a:endParaRPr lang="zh-CN" altLang="en-US" sz="1200" b="0" i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2"/>
                      </a:solidFill>
                      <a:prstDash val="solid"/>
                    </a:lnT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非基金且记账科目为交易性金融资产（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同意启动退出（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物业公司、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华工汽车、汽贸城、嘉信公司、浦东专用车、宏鼎公司、川专公司、凌源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510">
                <a:tc vMerge="1">
                  <a:tcPr/>
                </a:tc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未启动退出（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直投（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中联电子、融通高科、芯旺微电子、江苏泽景、千顾科技、芯擎科技、博泰车联网、惠强新材、润鹏半导体、神经元、途虎养车、中国电信、国信证券、豪森智能、中国移动、国创新能源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110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红旗（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富奥智慧、卡尔动力、元视芯；</a:t>
                      </a:r>
                      <a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旗翼科技（已统计）</a:t>
                      </a:r>
                      <a:endParaRPr lang="zh-CN" altLang="en-US" sz="1200" b="0" i="0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855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鼎佳（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经纬恒润、地平线、田中机械、挚途科技、亿马先锋、货车之家、鱼快创领、瑞修得、菲格瑞特、武汉元丰、长春合心、哲弗智能、地通控股、旗禾科技、欧菲车联、八维通、斑马网络、北斗智联；</a:t>
                      </a:r>
                      <a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融通高科（已统计）、</a:t>
                      </a:r>
                      <a:r>
                        <a:rPr lang="zh-CN" altLang="en-US" sz="1200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南京领行</a:t>
                      </a:r>
                      <a:r>
                        <a:rPr lang="zh-CN" altLang="en-US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（虽已统计，核算科目不一致）</a:t>
                      </a:r>
                      <a:endParaRPr lang="zh-CN" altLang="en-US" sz="1200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110">
                <a:tc vMerge="1">
                  <a:tcPr marL="5557" marR="5557" marT="5557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solidFill>
                        <a:schemeClr val="tx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基金（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国创基金、力合基金、绿色动力基金、一汽创新基金、一汽产业基金、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T3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出行基金、旗挚创投基金、中央企业乡村基金、国家制造业转型升级基金</a:t>
                      </a:r>
                      <a:endParaRPr lang="zh-CN" altLang="en-US" sz="1200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95325" y="6558280"/>
            <a:ext cx="776795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注：交叉重复统计：</a:t>
            </a:r>
            <a:r>
              <a:rPr lang="en-US" altLang="zh-CN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家（同时纳入股权直接管理+基金间接管理口径）</a:t>
            </a:r>
            <a:endParaRPr lang="zh-CN" altLang="en-US" sz="14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7859" y="327918"/>
            <a:ext cx="9850832" cy="548571"/>
          </a:xfrm>
        </p:spPr>
        <p:txBody>
          <a:bodyPr/>
          <a:lstStyle/>
          <a:p>
            <a:r>
              <a:rPr lang="en-US" altLang="zh-CN" dirty="0" smtClean="0"/>
              <a:t>Backup-1.0</a:t>
            </a:r>
            <a:r>
              <a:rPr dirty="0" smtClean="0"/>
              <a:t>阶段</a:t>
            </a:r>
            <a:r>
              <a:rPr lang="en-US" altLang="zh-CN" dirty="0" smtClean="0"/>
              <a:t>93</a:t>
            </a:r>
            <a:r>
              <a:rPr dirty="0" smtClean="0"/>
              <a:t>家</a:t>
            </a:r>
            <a:r>
              <a:rPr lang="zh-CN" altLang="en-US" dirty="0" smtClean="0"/>
              <a:t>参股企业分类</a:t>
            </a:r>
            <a:r>
              <a:rPr lang="zh-CN" altLang="en-US" dirty="0" smtClean="0"/>
              <a:t>情况</a:t>
            </a:r>
            <a:endParaRPr lang="zh-CN" altLang="en-US" dirty="0" smtClean="0"/>
          </a:p>
        </p:txBody>
      </p:sp>
      <p:grpSp>
        <p:nvGrpSpPr>
          <p:cNvPr id="41" name="组合 40"/>
          <p:cNvGrpSpPr/>
          <p:nvPr/>
        </p:nvGrpSpPr>
        <p:grpSpPr>
          <a:xfrm>
            <a:off x="550756" y="1381158"/>
            <a:ext cx="11133059" cy="331670"/>
            <a:chOff x="2394411" y="1648633"/>
            <a:chExt cx="9254792" cy="431757"/>
          </a:xfrm>
        </p:grpSpPr>
        <p:sp>
          <p:nvSpPr>
            <p:cNvPr id="42" name="矩形: 圆角 183"/>
            <p:cNvSpPr/>
            <p:nvPr/>
          </p:nvSpPr>
          <p:spPr>
            <a:xfrm>
              <a:off x="2394411" y="1658619"/>
              <a:ext cx="9254792" cy="421771"/>
            </a:xfrm>
            <a:prstGeom prst="roundRect">
              <a:avLst>
                <a:gd name="adj" fmla="val 50000"/>
              </a:avLst>
            </a:prstGeom>
            <a:solidFill>
              <a:srgbClr val="152A8C"/>
            </a:solidFill>
            <a:ln w="20066" cap="flat" cmpd="sng" algn="ctr">
              <a:noFill/>
              <a:prstDash val="solid"/>
              <a:miter lim="800000"/>
            </a:ln>
            <a:effectLst>
              <a:outerShdw blurRad="254000" dist="114300" dir="5400000" sx="95000" sy="95000" algn="t" rotWithShape="0">
                <a:srgbClr val="377AF3">
                  <a:alpha val="25000"/>
                </a:srgbClr>
              </a:outerShdw>
            </a:effectLst>
          </p:spPr>
          <p:txBody>
            <a:bodyPr lIns="14630" tIns="7315" rIns="14630" bIns="7315" rtlCol="0" anchor="ctr"/>
            <a:lstStyle/>
            <a:p>
              <a:pPr marL="0" marR="0" lvl="0" indent="0" algn="ctr" defTabSz="609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libaba PuHuiTi 2.0 55 Regular" pitchFamily="18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178076" y="1648633"/>
              <a:ext cx="7636501" cy="425712"/>
            </a:xfrm>
            <a:prstGeom prst="rect">
              <a:avLst/>
            </a:prstGeom>
            <a:noFill/>
            <a:effectLst/>
          </p:spPr>
          <p:txBody>
            <a:bodyPr wrap="square" lIns="82296" tIns="41148" rIns="82296" bIns="41148" rtlCol="0">
              <a:spAutoFit/>
            </a:bodyPr>
            <a:lstStyle/>
            <a:p>
              <a:pPr algn="ctr"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参股股权分类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93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家）</a:t>
              </a:r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&amp;</a:t>
              </a: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一汽产业发展基金项目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18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家）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44" name="表格 43"/>
          <p:cNvGraphicFramePr/>
          <p:nvPr>
            <p:custDataLst>
              <p:tags r:id="rId1"/>
            </p:custDataLst>
          </p:nvPr>
        </p:nvGraphicFramePr>
        <p:xfrm>
          <a:off x="550704" y="1733135"/>
          <a:ext cx="11090548" cy="449436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  <a:gridCol w="792182"/>
              </a:tblGrid>
              <a:tr h="22481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战略协同类（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财务收益类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rowSpan="3" hMerge="1">
                  <a:tcPr/>
                </a:tc>
                <a:tc rowSpan="3" hMerge="1"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股权退出类（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hMerge="1">
                  <a:tcPr/>
                </a:tc>
                <a:tc rowSpan="2" hMerge="1">
                  <a:tcPr/>
                </a:tc>
              </a:tr>
              <a:tr h="22481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零部件布局类（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/>
                </a:tc>
                <a:tc hMerge="1">
                  <a:tcPr marL="6667" marR="6667" marT="6667" anchor="ctr">
                    <a:solidFill>
                      <a:srgbClr val="152A8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业态布局类（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/>
                </a:tc>
                <a:tc hMerge="1">
                  <a:tcPr marL="6667" marR="6667" marT="6667" anchor="ctr">
                    <a:solidFill>
                      <a:srgbClr val="152A8C"/>
                    </a:solidFill>
                  </a:tcPr>
                </a:tc>
                <a:tc vMerge="1" gridSpan="3"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vMerge="1" hMerge="1">
                  <a:tcPr/>
                </a:tc>
                <a:tc vMerge="1" hMerge="1">
                  <a:tcPr/>
                </a:tc>
                <a:tc vMerge="1" gridSpan="5"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vMerge="1" hMerge="1">
                  <a:tcPr/>
                </a:tc>
                <a:tc vMerge="1" hMerge="1"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 marL="6667" marR="6667" marT="6667" anchor="ctr"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vMerge="1" hMerge="1">
                  <a:tcPr marL="6667" marR="6667" marT="6667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</a:tr>
              <a:tr h="3704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成熟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(9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培育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(2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调整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(7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研发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(2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生态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(3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调整</a:t>
                      </a:r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(8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vMerge="1" gridSpan="3"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52A8C"/>
                    </a:solidFill>
                  </a:tcPr>
                </a:tc>
                <a:tc vMerge="1" h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战略调整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(3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高价减持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(13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低效无效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(34</a:t>
                      </a: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家）</a:t>
                      </a:r>
                      <a:endParaRPr lang="zh-CN" altLang="en-US" sz="10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 marL="6667" marR="6667" marT="6667" anchor="ctr"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8C"/>
                    </a:solidFill>
                  </a:tcPr>
                </a:tc>
                <a:tc hMerge="1">
                  <a:tcPr/>
                </a:tc>
              </a:tr>
              <a:tr h="3003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富奥公司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智能悬架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一汽中车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联合燃料电池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通信公司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羿动科技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联通智网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国家制造业基金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融通高科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大众发动机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中国电信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锦程物业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环卫保洁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天奇工装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03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富维公司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智能转向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联合富士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中汽创智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南京领行（有限合伙）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九院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交通银行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鼎盛译成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地通工业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田中科技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途虎养车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国泰君安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普雷特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综合利用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0364"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时代一汽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山东蓬翔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313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南京领行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algn="ctr" defTabSz="91313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GP</a:t>
                      </a: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鑫安保险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乡村基金</a:t>
                      </a:r>
                      <a:endParaRPr lang="zh-CN" altLang="en-US" sz="1000" b="1" kern="1200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+mn-ea"/>
                        </a:rPr>
                        <a:t>一汽产业发展基金</a:t>
                      </a:r>
                      <a:endParaRPr lang="zh-CN" altLang="en-US" sz="1000" b="1" kern="1200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元丰电控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菲格瑞特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潍柴动力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索迪斯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华阳建工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拜腾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富赛电子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延锋伟世通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国联动力电池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国创基金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润鹏半导体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哲弗智能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力合深圳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盛腾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长安马自达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浦东专用车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富晟公司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奔腾公司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国汽轻量化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芯擎科技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芯旺微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斑马网络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创新基金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花园酒店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川专汽车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无锡中车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天津爱信</a:t>
                      </a:r>
                      <a:r>
                        <a:rPr lang="zh-CN" altLang="en-US" sz="1000" b="1" i="0" u="none" strike="noStrike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1000" b="1" i="0" u="none" strike="noStrike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一汽弗迪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国汽智联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融通高科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国创新能源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苏州挚途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国信证券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吉林汽车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延边现通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靖烨发动机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成都丰田坊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长春一东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华大半导体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江苏泽景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博泰车联网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鱼快创领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中国移动</a:t>
                      </a:r>
                      <a:endParaRPr lang="zh-CN" altLang="en-US" sz="10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汽贸城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丝尔科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名仕房地产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121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丰田模具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开迈斯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千顾科技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神经元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八维通</a:t>
                      </a:r>
                      <a:endParaRPr lang="zh-CN" altLang="en-US" sz="1000" b="1" i="0" u="none" strike="noStrike" kern="1200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中联电子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旗智创新中心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嘉信热处理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同方环球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121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中发联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algn="l" eaLnBrk="0" hangingPunct="0">
                        <a:buClr>
                          <a:srgbClr val="152A8C"/>
                        </a:buClr>
                        <a:tabLst>
                          <a:tab pos="0" algn="l"/>
                        </a:tabLst>
                        <a:defRPr/>
                      </a:pPr>
                      <a:endParaRPr lang="zh-CN" altLang="en-US" sz="1000" b="1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惠强新材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合心机械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货车之家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力合基金</a:t>
                      </a: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氢锋客车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哈变公司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华夏证券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112D98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绿色动力</a:t>
                      </a:r>
                      <a:endParaRPr lang="zh-CN" altLang="en-US" sz="1000" b="1" dirty="0">
                        <a:solidFill>
                          <a:srgbClr val="112D98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旗挚基金</a:t>
                      </a: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3130" rtl="0" eaLnBrk="1" fontAlgn="ctr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欧菲车联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小马智行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红鼎公司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凌源汽车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一汽三友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152A8C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豪森智能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华工汽车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亿马先锋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旗禾科技</a:t>
                      </a:r>
                      <a:endParaRPr lang="zh-CN" altLang="en-US" sz="1000" b="1" i="0" u="none" strike="noStrike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地平线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瑞修得</a:t>
                      </a: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1237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经纬恒润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550705" y="6185423"/>
            <a:ext cx="5114990" cy="624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0" lvl="1" eaLnBrk="0" hangingPunct="0">
              <a:buClr>
                <a:srgbClr val="152A8C"/>
              </a:buClr>
              <a:buSzPct val="100000"/>
              <a:tabLst>
                <a:tab pos="0" algn="l"/>
              </a:tabLst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注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：未纳入分类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家公司如下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lvl="1" eaLnBrk="0" hangingPunct="0">
              <a:buClr>
                <a:srgbClr val="152A8C"/>
              </a:buClr>
              <a:buSzPct val="100000"/>
              <a:tabLst>
                <a:tab pos="0" algn="l"/>
              </a:tabLst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①股权公司全资3家：资产公司、招标公司、夏利运营公司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lvl="1" eaLnBrk="0" hangingPunct="0">
              <a:buClr>
                <a:srgbClr val="152A8C"/>
              </a:buClr>
              <a:buSzPct val="100000"/>
              <a:tabLst>
                <a:tab pos="0" algn="l"/>
              </a:tabLst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②股权公司控制公司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Arial" panose="020B0604020202020204" pitchFamily="34" charset="0"/>
              </a:rPr>
              <a:t>家：红旗私募、鼎佳私募、飞行汽车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9949406" y="6266528"/>
            <a:ext cx="1219200" cy="381195"/>
          </a:xfrm>
          <a:prstGeom prst="rect">
            <a:avLst/>
          </a:prstGeom>
          <a:noFill/>
          <a:ln>
            <a:solidFill>
              <a:srgbClr val="112D9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蓝色字体：</a:t>
            </a:r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152A8C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年尚未成立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rgbClr val="152A8C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929185" y="6266528"/>
            <a:ext cx="1219200" cy="3811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红色字体：</a:t>
            </a:r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年亏损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908965" y="6266528"/>
            <a:ext cx="1219200" cy="381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绿色字体：</a:t>
            </a:r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年盈利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4582" y="6282804"/>
            <a:ext cx="914400" cy="31157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64470" y="6282804"/>
            <a:ext cx="914400" cy="31157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59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994359" y="6282804"/>
            <a:ext cx="914400" cy="31157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 dirty="0">
              <a:solidFill>
                <a:srgbClr val="0F298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9895" y="872066"/>
            <a:ext cx="11313372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2" action="ppaction://hlinksldjump"/>
              </a:rPr>
              <a:t>93</a:t>
            </a:r>
            <a:r>
              <a:rPr lang="zh-CN" altLang="en-US" sz="16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2" action="ppaction://hlinksldjump"/>
              </a:rPr>
              <a:t>家</a:t>
            </a:r>
            <a:r>
              <a:rPr lang="zh-CN" altLang="en-US" sz="16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参股企业及一汽产业发展基金</a:t>
            </a:r>
            <a:r>
              <a:rPr lang="en-US" altLang="zh-CN" sz="16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18</a:t>
            </a:r>
            <a:r>
              <a:rPr lang="zh-CN" altLang="en-US" sz="16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家公司按照参股股权类别初步划分为以下结果：</a:t>
            </a:r>
            <a:endParaRPr lang="zh-CN" altLang="en-US" sz="16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7859" y="327918"/>
            <a:ext cx="9850832" cy="548571"/>
          </a:xfrm>
        </p:spPr>
        <p:txBody>
          <a:bodyPr/>
          <a:lstStyle/>
          <a:p>
            <a:r>
              <a:rPr lang="en-US" altLang="zh-CN" dirty="0" smtClean="0"/>
              <a:t>Backup-</a:t>
            </a:r>
            <a:r>
              <a:rPr lang="en-US" altLang="zh-CN" dirty="0" smtClean="0">
                <a:sym typeface="+mn-ea"/>
              </a:rPr>
              <a:t>1.0</a:t>
            </a:r>
            <a:r>
              <a:rPr dirty="0" smtClean="0"/>
              <a:t>阶段成果示例（</a:t>
            </a:r>
            <a:r>
              <a:rPr dirty="0">
                <a:sym typeface="+mn-ea"/>
              </a:rPr>
              <a:t>零部件布局类</a:t>
            </a:r>
            <a:r>
              <a:rPr lang="en-US" altLang="zh-CN" dirty="0">
                <a:sym typeface="+mn-ea"/>
              </a:rPr>
              <a:t>-</a:t>
            </a:r>
            <a:r>
              <a:rPr dirty="0">
                <a:sym typeface="+mn-ea"/>
              </a:rPr>
              <a:t>成熟</a:t>
            </a:r>
            <a:r>
              <a:rPr lang="en-US" altLang="zh-CN" dirty="0">
                <a:sym typeface="+mn-ea"/>
              </a:rPr>
              <a:t>—</a:t>
            </a:r>
            <a:r>
              <a:rPr dirty="0">
                <a:sym typeface="+mn-ea"/>
                <a:hlinkClick r:id="rId1" action="ppaction://hlinksldjump"/>
              </a:rPr>
              <a:t>富奥公司</a:t>
            </a:r>
            <a:r>
              <a:rPr dirty="0" smtClean="0"/>
              <a:t>）</a:t>
            </a:r>
            <a:endParaRPr dirty="0" smtClean="0"/>
          </a:p>
        </p:txBody>
      </p:sp>
      <p:grpSp>
        <p:nvGrpSpPr>
          <p:cNvPr id="35" name="组合 34"/>
          <p:cNvGrpSpPr/>
          <p:nvPr/>
        </p:nvGrpSpPr>
        <p:grpSpPr>
          <a:xfrm>
            <a:off x="448956" y="858016"/>
            <a:ext cx="11195619" cy="731721"/>
            <a:chOff x="7270345" y="1917575"/>
            <a:chExt cx="4492902" cy="731721"/>
          </a:xfrm>
        </p:grpSpPr>
        <p:sp>
          <p:nvSpPr>
            <p:cNvPr id="36" name="矩形 86"/>
            <p:cNvSpPr/>
            <p:nvPr>
              <p:custDataLst>
                <p:tags r:id="rId2"/>
              </p:custDataLst>
            </p:nvPr>
          </p:nvSpPr>
          <p:spPr>
            <a:xfrm>
              <a:off x="7270345" y="1917575"/>
              <a:ext cx="4489953" cy="288000"/>
            </a:xfrm>
            <a:prstGeom prst="rect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179705" indent="-179705">
                <a:buFont typeface="Wingdings" panose="05000000000000000000" pitchFamily="2" charset="2"/>
                <a:buChar char="p"/>
              </a:pP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战略定位</a:t>
              </a:r>
              <a:r>
                <a:rPr lang="en-US" altLang="zh-CN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打造汽车底盘国家队</a:t>
              </a:r>
              <a:endParaRPr lang="zh-CN" altLang="en-US" sz="1400" b="1" kern="0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272356" y="2217296"/>
              <a:ext cx="4490891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9705" indent="-179705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初始定位：落实完成国资委主辅分离辅业改制要求，完成企业改制</a:t>
              </a:r>
              <a:endPara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  <a:p>
              <a:pPr marL="179705" indent="-179705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当前定位：集团公司以富奥底盘事业部为主体，通过科技成果转化、集成制动并购项目，</a:t>
              </a:r>
              <a:r>
                <a:rPr lang="zh-CN" altLang="en-US" sz="12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实现悬架、转向、制动三大系统布局，打造汽车底盘国家队</a:t>
              </a:r>
              <a:endPara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8956" y="1701706"/>
            <a:ext cx="11195410" cy="543956"/>
            <a:chOff x="7270345" y="1917575"/>
            <a:chExt cx="4492818" cy="543956"/>
          </a:xfrm>
        </p:grpSpPr>
        <p:sp>
          <p:nvSpPr>
            <p:cNvPr id="34" name="矩形 86"/>
            <p:cNvSpPr/>
            <p:nvPr>
              <p:custDataLst>
                <p:tags r:id="rId3"/>
              </p:custDataLst>
            </p:nvPr>
          </p:nvSpPr>
          <p:spPr>
            <a:xfrm>
              <a:off x="7270345" y="1917575"/>
              <a:ext cx="4489953" cy="288000"/>
            </a:xfrm>
            <a:prstGeom prst="rect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179705" indent="-179705">
                <a:buFont typeface="Wingdings" panose="05000000000000000000" pitchFamily="2" charset="2"/>
                <a:buChar char="p"/>
              </a:pP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企业画像</a:t>
              </a:r>
              <a:r>
                <a:rPr lang="en-US" altLang="zh-CN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国有控股上市公司、聚焦底盘零部件产品、投资回报稳定、影响力较强、制动领域存有空白</a:t>
              </a:r>
              <a:endParaRPr lang="zh-CN" altLang="en-US" sz="1400" b="1" kern="0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272293" y="2217364"/>
              <a:ext cx="4490870" cy="2441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9705" indent="-179705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国有控股上市公司，聚焦提供底盘零部件产品，公司经营稳定、协同作用明显、投资回报较为稳定，股权公司对其经营管理影响力较强</a:t>
              </a:r>
              <a:endParaRPr lang="en-US" altLang="zh-CN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1532" y="2353436"/>
            <a:ext cx="11195410" cy="1301511"/>
            <a:chOff x="448957" y="1813470"/>
            <a:chExt cx="11204439" cy="1301511"/>
          </a:xfrm>
        </p:grpSpPr>
        <p:grpSp>
          <p:nvGrpSpPr>
            <p:cNvPr id="22" name="组合 21"/>
            <p:cNvGrpSpPr/>
            <p:nvPr/>
          </p:nvGrpSpPr>
          <p:grpSpPr>
            <a:xfrm>
              <a:off x="448957" y="1813470"/>
              <a:ext cx="5557396" cy="1301511"/>
              <a:chOff x="7270345" y="1719455"/>
              <a:chExt cx="4492818" cy="1301511"/>
            </a:xfrm>
          </p:grpSpPr>
          <p:sp>
            <p:nvSpPr>
              <p:cNvPr id="39" name="矩形 86"/>
              <p:cNvSpPr/>
              <p:nvPr>
                <p:custDataLst>
                  <p:tags r:id="rId4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战略协同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强战略管控、强任务承接、强短板赋能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272293" y="2012966"/>
                <a:ext cx="449087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联合集团战略部等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5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个部门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审核“十五五”规划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，确保满足集团公司智能底盘发展需求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解构集团智能底盘工作任务，推动富奥承接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填补制动领域空白、掌控热管理系统核心资源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等战略任务，及时点检任务进展，保障任务按期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100%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落实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联合集团公司战略部、投资部、基金等单位围绕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优秀标的筛选、资本运作能力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等短板弱项协同赋能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096000" y="1813470"/>
              <a:ext cx="5557396" cy="1301511"/>
              <a:chOff x="7270345" y="1719455"/>
              <a:chExt cx="4492818" cy="1301511"/>
            </a:xfrm>
          </p:grpSpPr>
          <p:sp>
            <p:nvSpPr>
              <p:cNvPr id="2" name="矩形 86"/>
              <p:cNvSpPr/>
              <p:nvPr>
                <p:custDataLst>
                  <p:tags r:id="rId5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运营管控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强指标承接、强运营监控、强管理赋能、强投资回报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272293" y="2012966"/>
                <a:ext cx="449087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依托三会议题审议，推动富奥承接归母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必达</a:t>
                </a:r>
                <a:r>
                  <a:rPr lang="en-US" altLang="zh-CN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7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亿元，挑战</a:t>
                </a:r>
                <a:r>
                  <a:rPr lang="en-US" altLang="zh-CN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7.93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亿元</a:t>
                </a:r>
                <a:endParaRPr lang="en-US" altLang="zh-CN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12D98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跟进滚动预测数据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，深入分析偏差原因，协调相关资源解决，助力归母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7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亿元指标必达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赋能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模块化发包、低效无效股权处置、深挖资本运作增利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项目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加强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资金监测及推动参股内部协同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，助力降低运营成本，促进投资回报提升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34485" y="3695248"/>
            <a:ext cx="11195410" cy="1193511"/>
            <a:chOff x="429895" y="3419755"/>
            <a:chExt cx="11204439" cy="1193511"/>
          </a:xfrm>
        </p:grpSpPr>
        <p:grpSp>
          <p:nvGrpSpPr>
            <p:cNvPr id="8" name="组合 7"/>
            <p:cNvGrpSpPr/>
            <p:nvPr/>
          </p:nvGrpSpPr>
          <p:grpSpPr>
            <a:xfrm>
              <a:off x="429895" y="3419755"/>
              <a:ext cx="5557396" cy="1193511"/>
              <a:chOff x="7270345" y="1719455"/>
              <a:chExt cx="4492818" cy="1193511"/>
            </a:xfrm>
          </p:grpSpPr>
          <p:sp>
            <p:nvSpPr>
              <p:cNvPr id="46" name="矩形 86"/>
              <p:cNvSpPr/>
              <p:nvPr>
                <p:custDataLst>
                  <p:tags r:id="rId6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人员管理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强人员选派、强履职支持、强考核评价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272293" y="2012966"/>
                <a:ext cx="4490870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梳理东机工等重要下属公司关键岗位配备情况，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穿透财务、研发等领域人员委派</a:t>
                </a:r>
                <a:r>
                  <a:rPr lang="en-US" altLang="zh-CN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2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人</a:t>
                </a:r>
                <a:endParaRPr lang="en-US" altLang="zh-CN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通过加强议题内容相关背景、政策新规要求、股权工作要求沟通，支撑董监高履职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建立委派高管课题攻关机制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，推动委派高管承接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“十五五”规划编制、人才体系构建、经营指标达成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攻关课题，通过季度跟踪点检及挂钩年度绩效，确保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100%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076938" y="3419755"/>
              <a:ext cx="5557396" cy="1193511"/>
              <a:chOff x="7270345" y="1719455"/>
              <a:chExt cx="4492818" cy="1193511"/>
            </a:xfrm>
          </p:grpSpPr>
          <p:sp>
            <p:nvSpPr>
              <p:cNvPr id="10" name="矩形 86"/>
              <p:cNvSpPr/>
              <p:nvPr>
                <p:custDataLst>
                  <p:tags r:id="rId7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公司治理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强三会管理、强规范运作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7272293" y="2012966"/>
                <a:ext cx="4490870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1450" indent="-1714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规范三会议题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提报流程</a:t>
                </a:r>
                <a:r>
                  <a:rPr lang="en-US" altLang="zh-CN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100%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合规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，跟进富奥智慧增资等议案落实情况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1450" indent="-1714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监事会取消、调整董事会人员结构及议事规则修订</a:t>
                </a:r>
                <a:endParaRPr lang="en-US" altLang="zh-CN" sz="1100" b="1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448957" y="4919282"/>
            <a:ext cx="11195410" cy="941512"/>
            <a:chOff x="429895" y="5006508"/>
            <a:chExt cx="11204439" cy="941512"/>
          </a:xfrm>
        </p:grpSpPr>
        <p:grpSp>
          <p:nvGrpSpPr>
            <p:cNvPr id="49" name="组合 48"/>
            <p:cNvGrpSpPr/>
            <p:nvPr/>
          </p:nvGrpSpPr>
          <p:grpSpPr>
            <a:xfrm>
              <a:off x="429895" y="5006508"/>
              <a:ext cx="5557396" cy="941512"/>
              <a:chOff x="7270345" y="1719455"/>
              <a:chExt cx="4492818" cy="941512"/>
            </a:xfrm>
          </p:grpSpPr>
          <p:sp>
            <p:nvSpPr>
              <p:cNvPr id="53" name="矩形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监督控制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强重大事项报告、中审计监督、无制度建设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7272293" y="2012967"/>
                <a:ext cx="449087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输出重大报告事项清单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，重点聚焦战略任务落实拖期、指标达成等风险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配合审计风控与法务部</a:t>
                </a:r>
                <a:r>
                  <a:rPr lang="zh-CN" altLang="en-US" sz="11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专项审计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，推动审计问题整改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100%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落实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6076938" y="5006508"/>
              <a:ext cx="5557396" cy="941512"/>
              <a:chOff x="7270345" y="1719455"/>
              <a:chExt cx="4492818" cy="941512"/>
            </a:xfrm>
          </p:grpSpPr>
          <p:sp>
            <p:nvSpPr>
              <p:cNvPr id="51" name="矩形 86"/>
              <p:cNvSpPr/>
              <p:nvPr>
                <p:custDataLst>
                  <p:tags r:id="rId9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党建管理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聚焦党建引领作风建设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7272293" y="2012967"/>
                <a:ext cx="449087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聚焦强化富奥经营团队转思想、优作风，筑牢市场化竞争意识、严防旱涝保收意识，切实发挥思想引领作用，协同党群工作部围绕市场开拓、深化改革、向智向新、做强研发等方面开展系列工作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5" name="矩形 86"/>
          <p:cNvSpPr/>
          <p:nvPr>
            <p:custDataLst>
              <p:tags r:id="rId10"/>
            </p:custDataLst>
          </p:nvPr>
        </p:nvSpPr>
        <p:spPr>
          <a:xfrm>
            <a:off x="448956" y="5941395"/>
            <a:ext cx="426943" cy="819050"/>
          </a:xfrm>
          <a:prstGeom prst="rect">
            <a:avLst/>
          </a:prstGeom>
          <a:solidFill>
            <a:srgbClr val="2796D4"/>
          </a:solidFill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27000" tIns="27000" rIns="27000" bIns="27000" rtlCol="0" anchor="ctr">
            <a:noAutofit/>
          </a:bodyPr>
          <a:lstStyle/>
          <a:p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股权运营策略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04773" y="5963859"/>
            <a:ext cx="10732169" cy="7965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dash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9705" indent="-17970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富奥内部资本运作：</a:t>
            </a:r>
            <a:r>
              <a:rPr lang="en-US" altLang="zh-CN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1.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发挥富奥上市平台优势，聚焦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集团战略任务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及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年度指标识别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资本运作机会，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填补制动领域空白、完成年度必达指标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，助力集团及股权效益提升；</a:t>
            </a:r>
            <a:r>
              <a:rPr lang="en-US" altLang="zh-CN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2.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推动富奥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内部低效无效股权加快整合退出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，减亏控亏；</a:t>
            </a:r>
            <a:r>
              <a:rPr lang="en-US" altLang="zh-CN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3.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赋能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富奥可转债项目落地</a:t>
            </a:r>
            <a:endParaRPr lang="en-US" altLang="zh-CN" sz="11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179705" indent="-17970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富奥市值管理：</a:t>
            </a:r>
            <a:r>
              <a:rPr lang="en-US" altLang="zh-CN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1.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从股东层面</a:t>
            </a:r>
            <a:r>
              <a:rPr lang="zh-CN" altLang="en-US" sz="11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联合大股东择机增持股票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，推动市值提升；</a:t>
            </a:r>
            <a:r>
              <a:rPr lang="en-US" altLang="zh-CN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2.</a:t>
            </a: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推动富奥公司聚焦主业，提升经营效率和盈利能力，合理运用员工持股计划、加强现金分红、强化投资者管理、信息披露等方式提升公司投资价值</a:t>
            </a:r>
            <a:endParaRPr lang="en-US" altLang="zh-CN" sz="11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7859" y="327918"/>
            <a:ext cx="9850832" cy="548571"/>
          </a:xfrm>
        </p:spPr>
        <p:txBody>
          <a:bodyPr/>
          <a:lstStyle/>
          <a:p>
            <a:r>
              <a:rPr lang="en-US" altLang="zh-CN" dirty="0" smtClean="0"/>
              <a:t>Backup-</a:t>
            </a:r>
            <a:r>
              <a:rPr lang="en-US" altLang="zh-CN" dirty="0" smtClean="0">
                <a:sym typeface="+mn-ea"/>
              </a:rPr>
              <a:t>1.0</a:t>
            </a:r>
            <a:r>
              <a:rPr dirty="0" smtClean="0"/>
              <a:t>阶段成果示例（</a:t>
            </a:r>
            <a:r>
              <a:rPr dirty="0">
                <a:sym typeface="+mn-ea"/>
              </a:rPr>
              <a:t>财务收益类</a:t>
            </a:r>
            <a:r>
              <a:rPr lang="en-US" altLang="zh-CN" dirty="0">
                <a:sym typeface="+mn-ea"/>
              </a:rPr>
              <a:t>—</a:t>
            </a:r>
            <a:r>
              <a:rPr dirty="0">
                <a:sym typeface="+mn-ea"/>
                <a:hlinkClick r:id="rId1" action="ppaction://hlinksldjump"/>
              </a:rPr>
              <a:t>联通智网</a:t>
            </a:r>
            <a:r>
              <a:rPr dirty="0" smtClean="0"/>
              <a:t>）</a:t>
            </a:r>
            <a:endParaRPr dirty="0" smtClean="0"/>
          </a:p>
        </p:txBody>
      </p:sp>
      <p:grpSp>
        <p:nvGrpSpPr>
          <p:cNvPr id="6" name="组合 5"/>
          <p:cNvGrpSpPr/>
          <p:nvPr/>
        </p:nvGrpSpPr>
        <p:grpSpPr>
          <a:xfrm>
            <a:off x="448957" y="985012"/>
            <a:ext cx="11195410" cy="543956"/>
            <a:chOff x="7270345" y="1917575"/>
            <a:chExt cx="4492818" cy="543956"/>
          </a:xfrm>
        </p:grpSpPr>
        <p:sp>
          <p:nvSpPr>
            <p:cNvPr id="4" name="矩形 86"/>
            <p:cNvSpPr/>
            <p:nvPr>
              <p:custDataLst>
                <p:tags r:id="rId2"/>
              </p:custDataLst>
            </p:nvPr>
          </p:nvSpPr>
          <p:spPr>
            <a:xfrm>
              <a:off x="7270345" y="1917575"/>
              <a:ext cx="4489953" cy="288000"/>
            </a:xfrm>
            <a:prstGeom prst="rect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179705" marR="0" lvl="0" indent="-17970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F298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企业画像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F298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——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F298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车联网头部公司之一，聚焦车联网、智慧交通产品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F298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272293" y="2217364"/>
              <a:ext cx="4490870" cy="2441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中国联通控股，聚焦车联网领域，形成车联网联接、运营及创新应用三大业务板块，与一汽合作逐步深入，上市目标明确，择机退出获取财务收益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41325" y="1594936"/>
            <a:ext cx="11238994" cy="1481455"/>
            <a:chOff x="7270345" y="1719455"/>
            <a:chExt cx="4492818" cy="1481511"/>
          </a:xfrm>
        </p:grpSpPr>
        <p:sp>
          <p:nvSpPr>
            <p:cNvPr id="13" name="矩形 86"/>
            <p:cNvSpPr/>
            <p:nvPr>
              <p:custDataLst>
                <p:tags r:id="rId3"/>
              </p:custDataLst>
            </p:nvPr>
          </p:nvSpPr>
          <p:spPr>
            <a:xfrm>
              <a:off x="7270345" y="1719455"/>
              <a:ext cx="4489953" cy="288000"/>
            </a:xfrm>
            <a:prstGeom prst="rect">
              <a:avLst/>
            </a:prstGeom>
            <a:solidFill>
              <a:srgbClr val="2796D4"/>
            </a:solidFill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管理定位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——</a:t>
              </a: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择机退出、获取财务收益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272293" y="2012966"/>
              <a:ext cx="449087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公司经营发展良好， 车辆联网引领者，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70%+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前装联接份额，国家级专精特新“小巨人”企业、工信部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5G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行业安全应用推广中心、北京市企业技术中心。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  <a:p>
              <a:pPr marL="171450" marR="0" lvl="0" indent="-171450" algn="just" defTabSz="914400" rtl="0" eaLnBrk="1" fontAlgn="auto" latinLnBrk="0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联通集团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2021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月联通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A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股发布公告，拟分拆智网科技在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A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股上市，公司于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2025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月赴深交所沟通创业板上市事宜，深交所回应积极，公司目前按照上市要求推进各项工作，预计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2026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月前递交上市申报材料，现阶段重点工作为密切关注上市进展；同时继续跟踪公司经营业绩、海外拓展等情况。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34340" y="3195136"/>
            <a:ext cx="11238994" cy="1391285"/>
            <a:chOff x="7270345" y="1719455"/>
            <a:chExt cx="4492818" cy="1391471"/>
          </a:xfrm>
        </p:grpSpPr>
        <p:sp>
          <p:nvSpPr>
            <p:cNvPr id="18" name="矩形 86"/>
            <p:cNvSpPr/>
            <p:nvPr>
              <p:custDataLst>
                <p:tags r:id="rId4"/>
              </p:custDataLst>
            </p:nvPr>
          </p:nvSpPr>
          <p:spPr>
            <a:xfrm>
              <a:off x="7270345" y="1719455"/>
              <a:ext cx="4489953" cy="288000"/>
            </a:xfrm>
            <a:prstGeom prst="rect">
              <a:avLst/>
            </a:prstGeom>
            <a:solidFill>
              <a:srgbClr val="2796D4"/>
            </a:solidFill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股权配置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——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按照长期股权投资管理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272293" y="2012966"/>
              <a:ext cx="4490870" cy="1097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1450" lvl="0" indent="-171450" algn="just">
                <a:lnSpc>
                  <a:spcPct val="150000"/>
                </a:lnSpc>
                <a:buFontTx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当前阶段管理策略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：股权公司持股比例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11.02%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，派驻董事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1</a:t>
              </a: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名参与公司重大事项决策，并任审计及监督委员会委员行使监督权利，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关注公司治理并推动其与一汽集团战略协同。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  <a:p>
              <a:pPr marL="171450" marR="0" lvl="0" indent="-1714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‌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长期策略规划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：若公司按计划成功实现上市，则转为二级市场股票管理模式，实时跟踪股价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变动情况，待解禁期满后，综合考虑股权公司投资成本与收益目标，择机减持，获取财务收益。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41960" y="4662621"/>
            <a:ext cx="11238359" cy="725805"/>
            <a:chOff x="7270345" y="1719455"/>
            <a:chExt cx="4492818" cy="725512"/>
          </a:xfrm>
        </p:grpSpPr>
        <p:sp>
          <p:nvSpPr>
            <p:cNvPr id="28" name="矩形 86"/>
            <p:cNvSpPr/>
            <p:nvPr>
              <p:custDataLst>
                <p:tags r:id="rId5"/>
              </p:custDataLst>
            </p:nvPr>
          </p:nvSpPr>
          <p:spPr>
            <a:xfrm>
              <a:off x="7270345" y="1719455"/>
              <a:ext cx="4489953" cy="288000"/>
            </a:xfrm>
            <a:prstGeom prst="rect">
              <a:avLst/>
            </a:prstGeom>
            <a:solidFill>
              <a:srgbClr val="2796D4"/>
            </a:solidFill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战略协同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——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做好一汽产品配套和联合开发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272293" y="2012967"/>
              <a:ext cx="449087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目前为一汽红旗、一汽奔腾、一汽解放、一汽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2A8C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大众、一汽丰田等车企提供优质的车联网连接服务；为一汽红旗、一汽奔腾提供优质的呼叫中心、用户运营等服务；为一汽奔腾提供智能座舱开发，与一汽大众开展数据联合实验室合作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9" name="矩形 86"/>
          <p:cNvSpPr/>
          <p:nvPr>
            <p:custDataLst>
              <p:tags r:id="rId6"/>
            </p:custDataLst>
          </p:nvPr>
        </p:nvSpPr>
        <p:spPr>
          <a:xfrm>
            <a:off x="448956" y="5441355"/>
            <a:ext cx="426943" cy="819050"/>
          </a:xfrm>
          <a:prstGeom prst="rect">
            <a:avLst/>
          </a:prstGeom>
          <a:solidFill>
            <a:srgbClr val="2796D4"/>
          </a:solidFill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27000" tIns="27000" rIns="27000" bIns="27000" rtlCol="0" anchor="ctr">
            <a:noAutofit/>
          </a:bodyPr>
          <a:lstStyle/>
          <a:p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股权运营策略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04773" y="5463819"/>
            <a:ext cx="10732169" cy="7965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dash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跟踪企业上市进展，如成功发行，择机减持，为股权公司获取投资收益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7859" y="327918"/>
            <a:ext cx="9850832" cy="548571"/>
          </a:xfrm>
        </p:spPr>
        <p:txBody>
          <a:bodyPr/>
          <a:lstStyle/>
          <a:p>
            <a:r>
              <a:rPr lang="en-US" altLang="zh-CN" dirty="0" smtClean="0"/>
              <a:t>Backup-</a:t>
            </a:r>
            <a:r>
              <a:rPr lang="en-US" altLang="zh-CN" dirty="0" smtClean="0">
                <a:sym typeface="+mn-ea"/>
              </a:rPr>
              <a:t>1.0</a:t>
            </a:r>
            <a:r>
              <a:rPr dirty="0" smtClean="0"/>
              <a:t>阶段成果示例（</a:t>
            </a:r>
            <a:r>
              <a:rPr dirty="0">
                <a:solidFill>
                  <a:srgbClr val="0F298E"/>
                </a:solidFill>
                <a:sym typeface="+mn-ea"/>
              </a:rPr>
              <a:t>股权退出类</a:t>
            </a:r>
            <a:r>
              <a:rPr lang="en-US" altLang="zh-CN" dirty="0">
                <a:solidFill>
                  <a:srgbClr val="0F298E"/>
                </a:solidFill>
                <a:sym typeface="+mn-ea"/>
              </a:rPr>
              <a:t>—</a:t>
            </a:r>
            <a:r>
              <a:rPr dirty="0">
                <a:solidFill>
                  <a:srgbClr val="0F298E"/>
                </a:solidFill>
                <a:sym typeface="+mn-ea"/>
                <a:hlinkClick r:id="rId1" action="ppaction://hlinksldjump"/>
              </a:rPr>
              <a:t>瑞修得</a:t>
            </a:r>
            <a:r>
              <a:rPr dirty="0" smtClean="0"/>
              <a:t>）</a:t>
            </a:r>
            <a:endParaRPr dirty="0" smtClean="0"/>
          </a:p>
        </p:txBody>
      </p:sp>
      <p:grpSp>
        <p:nvGrpSpPr>
          <p:cNvPr id="7" name="组合 6"/>
          <p:cNvGrpSpPr/>
          <p:nvPr/>
        </p:nvGrpSpPr>
        <p:grpSpPr>
          <a:xfrm>
            <a:off x="448956" y="865636"/>
            <a:ext cx="11195619" cy="731721"/>
            <a:chOff x="7270345" y="1917575"/>
            <a:chExt cx="4492902" cy="731721"/>
          </a:xfrm>
        </p:grpSpPr>
        <p:sp>
          <p:nvSpPr>
            <p:cNvPr id="8" name="矩形 86"/>
            <p:cNvSpPr/>
            <p:nvPr>
              <p:custDataLst>
                <p:tags r:id="rId2"/>
              </p:custDataLst>
            </p:nvPr>
          </p:nvSpPr>
          <p:spPr>
            <a:xfrm>
              <a:off x="7270345" y="1917575"/>
              <a:ext cx="4489953" cy="288000"/>
            </a:xfrm>
            <a:prstGeom prst="rect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179705" indent="-179705">
                <a:buFont typeface="Wingdings" panose="05000000000000000000" pitchFamily="2" charset="2"/>
                <a:buChar char="p"/>
              </a:pP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战略定位</a:t>
              </a:r>
              <a:r>
                <a:rPr lang="en-US" altLang="zh-CN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打造云管端智能诊修体系</a:t>
              </a:r>
              <a:endParaRPr lang="zh-CN" altLang="en-US" sz="1400" b="1" kern="0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272356" y="2217296"/>
              <a:ext cx="4490891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9705" indent="-179705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初始定位：与哥伦布计划开展合作，内外形成合力共同促进保外业务发展</a:t>
              </a:r>
              <a:endPara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  <a:p>
              <a:pPr marL="179705" indent="-179705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当前定位：打造“云管端</a:t>
              </a:r>
              <a:r>
                <a:rPr lang="en-US" altLang="zh-CN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-</a:t>
              </a: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智能诊修”和“车辆健康监护”的整体解决方案及配套软硬件产品</a:t>
              </a:r>
              <a:endPara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8956" y="1709326"/>
            <a:ext cx="11195410" cy="543956"/>
            <a:chOff x="7270345" y="1917575"/>
            <a:chExt cx="4492818" cy="543956"/>
          </a:xfrm>
        </p:grpSpPr>
        <p:sp>
          <p:nvSpPr>
            <p:cNvPr id="11" name="矩形 86"/>
            <p:cNvSpPr/>
            <p:nvPr>
              <p:custDataLst>
                <p:tags r:id="rId3"/>
              </p:custDataLst>
            </p:nvPr>
          </p:nvSpPr>
          <p:spPr>
            <a:xfrm>
              <a:off x="7270345" y="1917575"/>
              <a:ext cx="4489953" cy="288000"/>
            </a:xfrm>
            <a:prstGeom prst="rect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27000" tIns="27000" rIns="27000" bIns="27000" rtlCol="0" anchor="ctr">
              <a:noAutofit/>
            </a:bodyPr>
            <a:lstStyle/>
            <a:p>
              <a:pPr marL="179705" indent="-179705">
                <a:buFont typeface="Wingdings" panose="05000000000000000000" pitchFamily="2" charset="2"/>
                <a:buChar char="p"/>
              </a:pP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企业画像</a:t>
              </a:r>
              <a:r>
                <a:rPr lang="en-US" altLang="zh-CN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1400" b="1" kern="0" dirty="0">
                  <a:solidFill>
                    <a:srgbClr val="0F298E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智能诊修引领者</a:t>
              </a:r>
              <a:endParaRPr lang="zh-CN" altLang="en-US" sz="1400" b="1" kern="0" dirty="0">
                <a:solidFill>
                  <a:srgbClr val="0F298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272293" y="2217364"/>
              <a:ext cx="4490870" cy="2441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/>
              </a:solidFill>
              <a:prstDash val="dash"/>
            </a:ln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marL="179705" indent="-179705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rPr>
                <a:t>卡车智能诊修服务领域的引领者，商用车智选车服产业互联网平台开创者，与主机厂战略合作，开展数智服务运营</a:t>
              </a:r>
              <a:endPara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1532" y="2361056"/>
            <a:ext cx="11195410" cy="1301511"/>
            <a:chOff x="448957" y="1813470"/>
            <a:chExt cx="11204439" cy="1301511"/>
          </a:xfrm>
        </p:grpSpPr>
        <p:grpSp>
          <p:nvGrpSpPr>
            <p:cNvPr id="20" name="组合 19"/>
            <p:cNvGrpSpPr/>
            <p:nvPr/>
          </p:nvGrpSpPr>
          <p:grpSpPr>
            <a:xfrm>
              <a:off x="448957" y="1813470"/>
              <a:ext cx="5557396" cy="1301511"/>
              <a:chOff x="7270345" y="1719455"/>
              <a:chExt cx="4492818" cy="1301511"/>
            </a:xfrm>
          </p:grpSpPr>
          <p:sp>
            <p:nvSpPr>
              <p:cNvPr id="24" name="矩形 86"/>
              <p:cNvSpPr/>
              <p:nvPr>
                <p:custDataLst>
                  <p:tags r:id="rId4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战略协同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打造生态体系、强短板赋能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7272293" y="2012966"/>
                <a:ext cx="449087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与解放商用车（哥伦布计划）形成合作关系，内外形成合力共同促进保外业务发展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公司核心竞争力是将卡车维修智能化和互联网化，并具备智能诊修</a:t>
                </a:r>
                <a:r>
                  <a:rPr lang="en-US" altLang="zh-CN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AI</a:t>
                </a: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平台研发能力</a:t>
                </a:r>
                <a:endParaRPr lang="zh-CN" altLang="en-US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096000" y="1813470"/>
              <a:ext cx="5557396" cy="1301511"/>
              <a:chOff x="7270345" y="1719455"/>
              <a:chExt cx="4492818" cy="1301511"/>
            </a:xfrm>
          </p:grpSpPr>
          <p:sp>
            <p:nvSpPr>
              <p:cNvPr id="32" name="矩形 86"/>
              <p:cNvSpPr/>
              <p:nvPr>
                <p:custDataLst>
                  <p:tags r:id="rId5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运营管控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强化投后管理，开展风险管理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7272293" y="2012966"/>
                <a:ext cx="449087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开展投后风险专项调研，推进仲裁和后续执行工作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协助对接新投资机构，推进公司股权融资，协助公司完成两轮融资</a:t>
                </a:r>
                <a:endParaRPr lang="zh-CN" altLang="en-US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434485" y="3702868"/>
            <a:ext cx="11195410" cy="1193511"/>
            <a:chOff x="429895" y="3419755"/>
            <a:chExt cx="11204439" cy="1193511"/>
          </a:xfrm>
        </p:grpSpPr>
        <p:grpSp>
          <p:nvGrpSpPr>
            <p:cNvPr id="61" name="组合 60"/>
            <p:cNvGrpSpPr/>
            <p:nvPr/>
          </p:nvGrpSpPr>
          <p:grpSpPr>
            <a:xfrm>
              <a:off x="429895" y="3419755"/>
              <a:ext cx="5557396" cy="1193511"/>
              <a:chOff x="7270345" y="1719455"/>
              <a:chExt cx="4492818" cy="1193511"/>
            </a:xfrm>
          </p:grpSpPr>
          <p:sp>
            <p:nvSpPr>
              <p:cNvPr id="62" name="矩形 86"/>
              <p:cNvSpPr/>
              <p:nvPr>
                <p:custDataLst>
                  <p:tags r:id="rId6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人员管理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强人员选派、强履职支持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7272293" y="2012966"/>
                <a:ext cx="4490870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委派董事、监事各一名，对相关议案进行审议，并做好其与解放相关业务单元的对接赋能</a:t>
                </a:r>
                <a:endParaRPr lang="zh-CN" altLang="en-US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076938" y="3419755"/>
              <a:ext cx="5557396" cy="1193511"/>
              <a:chOff x="7270345" y="1719455"/>
              <a:chExt cx="4492818" cy="1193511"/>
            </a:xfrm>
          </p:grpSpPr>
          <p:sp>
            <p:nvSpPr>
              <p:cNvPr id="65" name="矩形 86"/>
              <p:cNvSpPr/>
              <p:nvPr>
                <p:custDataLst>
                  <p:tags r:id="rId7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公司治理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强三会管理、强规范运作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7272293" y="2012966"/>
                <a:ext cx="4490870" cy="90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1450" indent="-1714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完成监事会、董事会及相关议事规则修订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7" name="组合 66"/>
          <p:cNvGrpSpPr/>
          <p:nvPr/>
        </p:nvGrpSpPr>
        <p:grpSpPr>
          <a:xfrm>
            <a:off x="448957" y="4926902"/>
            <a:ext cx="11195410" cy="941512"/>
            <a:chOff x="429895" y="5006508"/>
            <a:chExt cx="11204439" cy="941512"/>
          </a:xfrm>
        </p:grpSpPr>
        <p:grpSp>
          <p:nvGrpSpPr>
            <p:cNvPr id="68" name="组合 67"/>
            <p:cNvGrpSpPr/>
            <p:nvPr/>
          </p:nvGrpSpPr>
          <p:grpSpPr>
            <a:xfrm>
              <a:off x="429895" y="5006508"/>
              <a:ext cx="5557396" cy="941512"/>
              <a:chOff x="7270345" y="1719455"/>
              <a:chExt cx="4492818" cy="941512"/>
            </a:xfrm>
          </p:grpSpPr>
          <p:sp>
            <p:nvSpPr>
              <p:cNvPr id="69" name="矩形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监督控制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强风险事项报告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7272293" y="2012967"/>
                <a:ext cx="449087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配合风险法律部，推动专项风险调研，就相关风险点进行报告</a:t>
                </a:r>
                <a:endParaRPr lang="zh-CN" altLang="en-US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076938" y="5006508"/>
              <a:ext cx="5557396" cy="941512"/>
              <a:chOff x="7270345" y="1719455"/>
              <a:chExt cx="4492818" cy="941512"/>
            </a:xfrm>
          </p:grpSpPr>
          <p:sp>
            <p:nvSpPr>
              <p:cNvPr id="72" name="矩形 86"/>
              <p:cNvSpPr/>
              <p:nvPr>
                <p:custDataLst>
                  <p:tags r:id="rId9"/>
                </p:custDataLst>
              </p:nvPr>
            </p:nvSpPr>
            <p:spPr>
              <a:xfrm>
                <a:off x="7270345" y="1719455"/>
                <a:ext cx="4489953" cy="288000"/>
              </a:xfrm>
              <a:prstGeom prst="rect">
                <a:avLst/>
              </a:prstGeom>
              <a:solidFill>
                <a:srgbClr val="2796D4"/>
              </a:solidFill>
              <a:ln w="1905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lIns="27000" tIns="27000" rIns="27000" bIns="27000" rtlCol="0" anchor="ctr">
                <a:noAutofit/>
              </a:bodyPr>
              <a:lstStyle/>
              <a:p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党建管理</a:t>
                </a:r>
                <a:r>
                  <a:rPr lang="en-US" altLang="zh-CN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</a:t>
                </a:r>
                <a:r>
                  <a:rPr lang="zh-CN" altLang="en-US" sz="1400" b="1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无</a:t>
                </a:r>
                <a:endParaRPr lang="zh-CN" altLang="en-US" sz="14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7272293" y="2012967"/>
                <a:ext cx="4490870" cy="64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  <a:prstDash val="dash"/>
              </a:ln>
            </p:spPr>
            <p:txBody>
              <a:bodyPr wrap="square" lIns="36000" tIns="36000" rIns="36000" bIns="36000" rtlCol="0" anchor="ctr" anchorCtr="0">
                <a:noAutofit/>
              </a:bodyPr>
              <a:lstStyle/>
              <a:p>
                <a:pPr marL="179705" indent="-17970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1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</a:rPr>
                  <a:t>无</a:t>
                </a:r>
                <a:endParaRPr lang="en-US" altLang="zh-CN" sz="11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74" name="矩形 86"/>
          <p:cNvSpPr/>
          <p:nvPr>
            <p:custDataLst>
              <p:tags r:id="rId10"/>
            </p:custDataLst>
          </p:nvPr>
        </p:nvSpPr>
        <p:spPr>
          <a:xfrm>
            <a:off x="448956" y="5891865"/>
            <a:ext cx="426943" cy="819050"/>
          </a:xfrm>
          <a:prstGeom prst="rect">
            <a:avLst/>
          </a:prstGeom>
          <a:solidFill>
            <a:srgbClr val="2796D4"/>
          </a:solidFill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27000" tIns="27000" rIns="27000" bIns="27000" rtlCol="0" anchor="ctr">
            <a:noAutofit/>
          </a:bodyPr>
          <a:lstStyle/>
          <a:p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股权运营策略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08657" y="5922990"/>
            <a:ext cx="10732169" cy="7965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dash"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9705" indent="-17970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等待广州市中级人民法的执行结果，以及等待北京仲裁委员会对我司第二次仲裁出具结果</a:t>
            </a:r>
            <a:endParaRPr lang="zh-CN" altLang="en-US" sz="11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179705" indent="-17970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待强制执行、第二次仲裁结果公示后，向上级单位、投委会进行汇报</a:t>
            </a:r>
            <a:endParaRPr lang="zh-CN" altLang="en-US" sz="11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Backup-2.0</a:t>
            </a:r>
            <a:r>
              <a:rPr dirty="0" smtClean="0">
                <a:sym typeface="+mn-ea"/>
              </a:rPr>
              <a:t>阶段成果</a:t>
            </a:r>
            <a:r>
              <a:rPr dirty="0" smtClean="0">
                <a:sym typeface="+mn-ea"/>
              </a:rPr>
              <a:t>总结</a:t>
            </a:r>
            <a:endParaRPr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hlinkClick r:id="rId1" action="ppaction://hlinksldjump"/>
              </a:rPr>
              <a:t>34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hlinkClick r:id="rId1" action="ppaction://hlinksldjump"/>
              </a:rPr>
              <a:t>家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参股企业运行后施策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方向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47040" y="1221105"/>
          <a:ext cx="5703571" cy="5056505"/>
        </p:xfrm>
        <a:graphic>
          <a:graphicData uri="http://schemas.openxmlformats.org/drawingml/2006/table">
            <a:tbl>
              <a:tblPr/>
              <a:tblGrid>
                <a:gridCol w="1162685"/>
                <a:gridCol w="619760"/>
                <a:gridCol w="3921126"/>
              </a:tblGrid>
              <a:tr h="254635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策略类型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参股企业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7970">
                <a:tc rowSpan="16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国汽（北京）汽车轻量化技术研究院有限公司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226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开迈斯新能源科技有限公司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019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羿动科技新能源有限公司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13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时代一汽动力电池有限公司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一汽弗迪新能源科技有限公司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国联汽车动力电池研究院有限责任公司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南京领行股权投资合伙企业（有限合伙）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南京领行股权投资管理有限公司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一汽旗翼（深圳）科技有限公司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314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天津爱信自动变速器有限公司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7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长春一东离合器股份有限公司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9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富奥汽车零部件股份有限公司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富奥智能悬架系统（长春）有限公司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富奥智能转向系统（长春）有限公司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富赛汽车电子有限公司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长春富维集团汽车零部件股份有限公司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335395" y="1221105"/>
          <a:ext cx="5703571" cy="5339715"/>
        </p:xfrm>
        <a:graphic>
          <a:graphicData uri="http://schemas.openxmlformats.org/drawingml/2006/table">
            <a:tbl>
              <a:tblPr/>
              <a:tblGrid>
                <a:gridCol w="1111885"/>
                <a:gridCol w="568960"/>
                <a:gridCol w="4022726"/>
              </a:tblGrid>
              <a:tr h="254635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策略类型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参股企业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18135">
                <a:tc rowSpan="7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保留管控</a:t>
                      </a:r>
                      <a:endParaRPr lang="zh-CN" altLang="en-US" sz="140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4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策略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鑫安汽车保险股份有限公司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4193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中发联投资有限公司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成都丰田纺汽车部件有限公司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067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联合燃料电池系统研发（北京）有限公司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2923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长春富晟集团有限公司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0035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中联汽车电子有限公司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22250">
                <a:tc vMerge="1">
                  <a:tcPr marL="6667" marR="6667" marT="6667" marB="0" anchor="ctr" anchorCtr="0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天津丰田模具有限公司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55270">
                <a:tc rowSpan="6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保留赋能策略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国汽（北京）智能网联汽车研究院有限公司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2923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一汽奔腾轿车有限公司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8321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一汽富华生态有限公司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591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长春一汽延锋伟世通电子有限公司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联通一汽通信科技（长春）有限公司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13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山东蓬翔汽车有限公司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433070">
                <a:tc rowSpan="4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调整策略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机械工业第九设计研究院股份有限公司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7051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中汽创智科技有限公司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41935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华大半导体有限公司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55270">
                <a:tc vMerge="1"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一汽中车电驱动系统有限公司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13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联合富士半导体有限公司</a:t>
                      </a:r>
                      <a:endParaRPr lang="zh-CN" altLang="en-US" sz="14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Backup-</a:t>
            </a:r>
            <a:r>
              <a:rPr lang="en-US" altLang="zh-CN" dirty="0" smtClean="0">
                <a:sym typeface="+mn-ea"/>
                <a:hlinkClick r:id="rId1" action="ppaction://hlinksldjump"/>
              </a:rPr>
              <a:t>3.0</a:t>
            </a:r>
            <a:r>
              <a:rPr dirty="0" smtClean="0">
                <a:sym typeface="+mn-ea"/>
              </a:rPr>
              <a:t>与</a:t>
            </a:r>
            <a:r>
              <a:rPr lang="en-US" altLang="zh-CN" dirty="0" smtClean="0">
                <a:sym typeface="+mn-ea"/>
              </a:rPr>
              <a:t>2.0</a:t>
            </a:r>
            <a:r>
              <a:rPr dirty="0" smtClean="0">
                <a:sym typeface="+mn-ea"/>
              </a:rPr>
              <a:t>阶段</a:t>
            </a:r>
            <a:r>
              <a:rPr dirty="0" smtClean="0">
                <a:sym typeface="+mn-ea"/>
              </a:rPr>
              <a:t>成果对比</a:t>
            </a:r>
            <a:endParaRPr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29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家参股企业两阶段运行结果对比，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19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家运行结果前后保持不变，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家参股企业运行后分类有所调整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47040" y="1221105"/>
          <a:ext cx="5689600" cy="5344795"/>
        </p:xfrm>
        <a:graphic>
          <a:graphicData uri="http://schemas.openxmlformats.org/drawingml/2006/table">
            <a:tbl>
              <a:tblPr/>
              <a:tblGrid>
                <a:gridCol w="452120"/>
                <a:gridCol w="3256915"/>
                <a:gridCol w="953770"/>
                <a:gridCol w="1026795"/>
              </a:tblGrid>
              <a:tr h="2546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企业名称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上轮结果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本轮结果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425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国汽（北京）汽车轻量化技术研究院有限公司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146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羿动科技新能源有限公司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2669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富奥汽车零部件股份有限公司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富奥智能悬架系统（长春）有限公司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1790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富奥智能转向系统（长春）有限公司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富赛汽车电子有限公司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长春富维集团汽车零部件股份有限公司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国联汽车动力电池研究院有限责任公司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长春一东离合器股份有限公司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成都丰田纺汽车部件有限公司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7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中发联投资有限公司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天津爱信自动变速器有限公司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一汽旗翼（深圳）科技有限公司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联合燃料电池系统研发（北京）有限公司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联合富士半导体有限公司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中汽创智科技有限公司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国汽（北京）智能网联汽车研究院有限公司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一汽中车电驱动系统有限公司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联通一汽通信科技（长春）有限公司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352540" y="1221105"/>
          <a:ext cx="5162550" cy="3296920"/>
        </p:xfrm>
        <a:graphic>
          <a:graphicData uri="http://schemas.openxmlformats.org/drawingml/2006/table">
            <a:tbl>
              <a:tblPr/>
              <a:tblGrid>
                <a:gridCol w="395605"/>
                <a:gridCol w="2715895"/>
                <a:gridCol w="934085"/>
                <a:gridCol w="1116965"/>
              </a:tblGrid>
              <a:tr h="2546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企业名称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上轮结果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本轮结果</a:t>
                      </a:r>
                      <a:endParaRPr lang="zh-CN" altLang="en-US" sz="12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79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长春富晟集团有限公司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4226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天津丰田模具有限公司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019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开迈斯新能源科技有限公司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1813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时代一汽动力电池有限公司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一汽弗迪新能源科技有限公司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华大半导体有限公司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机械工业第九设计研究院股份有限公司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山东蓬翔汽车有限公司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长春一汽延锋伟世通电子有限公司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调整类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</a:t>
                      </a:r>
                      <a:endParaRPr lang="en-US" altLang="zh-CN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南京领行股权投资管理有限公司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保留管控类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保留赋能类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xfrm>
            <a:off x="446755" y="318063"/>
            <a:ext cx="9547482" cy="51120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Backup-3.0</a:t>
            </a:r>
            <a:r>
              <a:rPr dirty="0" smtClean="0">
                <a:sym typeface="+mn-ea"/>
              </a:rPr>
              <a:t>阶段分类</a:t>
            </a:r>
            <a:r>
              <a:rPr dirty="0" smtClean="0">
                <a:sym typeface="+mn-ea"/>
                <a:hlinkClick r:id="rId1" action="ppaction://hlinksldjump"/>
              </a:rPr>
              <a:t>模型</a:t>
            </a:r>
            <a:endParaRPr dirty="0" smtClean="0"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72745" y="787400"/>
            <a:ext cx="11522710" cy="3956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3.0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阶段分类模型标准及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取值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47040" y="1224915"/>
          <a:ext cx="10993755" cy="5434330"/>
        </p:xfrm>
        <a:graphic>
          <a:graphicData uri="http://schemas.openxmlformats.org/drawingml/2006/table">
            <a:tbl>
              <a:tblPr/>
              <a:tblGrid>
                <a:gridCol w="864235"/>
                <a:gridCol w="1550670"/>
                <a:gridCol w="2771775"/>
                <a:gridCol w="5807075"/>
              </a:tblGrid>
              <a:tr h="331470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战略预期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现实状况</a:t>
                      </a:r>
                      <a:endParaRPr lang="zh-CN" altLang="en-US" sz="16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676910"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战略规划适配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是否纳入集团中长期规划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具身智能、动力电池、先进底盘、数字座舱、高效电驱、飞行汽车、全域热管理、芯片生态、氢能生态、智驾生态、车路云一体化、补能生态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③未纳入规划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产业补位价值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是否属于前瞻、短板、卡脖子等关键领域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前瞻技术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短板技术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卡脖子技术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④战略价值领域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战略合作层级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是否纳入集团供应商体系或生态合作伙伴体系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集团战略供应商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集团核心供应商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</a:t>
                      </a:r>
                      <a:r>
                        <a:rPr lang="zh-CN" altLang="en-US" sz="120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集团一般供应商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④集团服务供应商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⑤未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纳入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95"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研发投入强度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资源投入强度是否处于行业合理水平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当前核心资源投入值（含研发/设备/人力/渠道等）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试验试制资质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是否具备行业认可的核心资质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①国家级/行业核心资质认证 ②客户/市场认可认证 ③一般性认证 ④无相关认证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1490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产能规划能力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现有能力是否匹配集团需求与交付节奏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满足</a:t>
                      </a: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不满足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3070"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战略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</a:t>
                      </a:r>
                      <a:endParaRPr lang="zh-CN" altLang="en-US" sz="1400" b="1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技术联合研发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是否与集团展开技术/服务等交流合作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产品配套进度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是否向集团稳定交付产品/服务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已量产配套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定点未量产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未获定点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3070">
                <a:tc vMerge="1">
                  <a:tcPr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专项任务承接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是否承接并按期完成集团下达的专项协同任务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63817" marB="63817" anchor="t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承接任务</a:t>
                      </a:r>
                      <a:b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r>
                        <a:rPr lang="zh-CN" altLang="en-US" sz="1200" b="0" i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未承接任务</a:t>
                      </a:r>
                      <a:endParaRPr lang="zh-CN" altLang="en-US" sz="1200" b="0" i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E3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0*296"/>
  <p:tag name="TABLE_ENDDRAG_RECT" val="10*257*680*296"/>
</p:tagLst>
</file>

<file path=ppt/tags/tag2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3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4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5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6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7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8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9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0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1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2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3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4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5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6.xml><?xml version="1.0" encoding="utf-8"?>
<p:tagLst xmlns:p="http://schemas.openxmlformats.org/presentationml/2006/main">
  <p:tag name="KSO_WM_DIAGRAM_VIRTUALLY_FRAME" val="{&quot;height&quot;:419.05,&quot;left&quot;:35.4,&quot;top&quot;:103.7,&quot;width&quot;:890.9}"/>
</p:tagLst>
</file>

<file path=ppt/tags/tag17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8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19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0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1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2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3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4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5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6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7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8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29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30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31.xml><?xml version="1.0" encoding="utf-8"?>
<p:tagLst xmlns:p="http://schemas.openxmlformats.org/presentationml/2006/main">
  <p:tag name="KSO_WM_DIAGRAM_VIRTUALLY_FRAME" val="{&quot;height&quot;:419.05,&quot;left&quot;:35.4,&quot;top&quot;:103.7,&quot;width&quot;:890.9}"/>
</p:tagLst>
</file>

<file path=ppt/tags/tag32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33.xml><?xml version="1.0" encoding="utf-8"?>
<p:tagLst xmlns:p="http://schemas.openxmlformats.org/presentationml/2006/main">
  <p:tag name="KSO_WM_DIAGRAM_VIRTUALLY_FRAME" val="{&quot;height&quot;:366.0174803149606,&quot;left&quot;:645.05,&quot;top&quot;:126.78251968503939,&quot;width&quot;:269.1513385826773}"/>
</p:tagLst>
</file>

<file path=ppt/tags/tag34.xml><?xml version="1.0" encoding="utf-8"?>
<p:tagLst xmlns:p="http://schemas.openxmlformats.org/presentationml/2006/main">
  <p:tag name="TABLE_ENDDRAG_ORIGIN_RECT" val="179*181"/>
  <p:tag name="TABLE_ENDDRAG_RECT" val="52*139*179*181"/>
</p:tagLst>
</file>

<file path=ppt/tags/tag35.xml><?xml version="1.0" encoding="utf-8"?>
<p:tagLst xmlns:p="http://schemas.openxmlformats.org/presentationml/2006/main">
  <p:tag name="TABLE_ENDDRAG_ORIGIN_RECT" val="184*152"/>
  <p:tag name="TABLE_ENDDRAG_RECT" val="242*131*184*152"/>
</p:tagLst>
</file>

<file path=ppt/tags/tag36.xml><?xml version="1.0" encoding="utf-8"?>
<p:tagLst xmlns:p="http://schemas.openxmlformats.org/presentationml/2006/main">
  <p:tag name="TABLE_ENDDRAG_ORIGIN_RECT" val="191*156"/>
  <p:tag name="TABLE_ENDDRAG_RECT" val="430*131*191*156"/>
</p:tagLst>
</file>

<file path=ppt/tags/tag37.xml><?xml version="1.0" encoding="utf-8"?>
<p:tagLst xmlns:p="http://schemas.openxmlformats.org/presentationml/2006/main">
  <p:tag name="TABLE_ENDDRAG_ORIGIN_RECT" val="237*106"/>
  <p:tag name="TABLE_ENDDRAG_RECT" val="90*308*237*106"/>
</p:tagLst>
</file>

<file path=ppt/tags/tag38.xml><?xml version="1.0" encoding="utf-8"?>
<p:tagLst xmlns:p="http://schemas.openxmlformats.org/presentationml/2006/main">
  <p:tag name="KSO_WM_DIAGRAM_VIRTUALLY_FRAME" val="{&quot;height&quot;:419.05,&quot;left&quot;:35.4,&quot;top&quot;:103.7,&quot;width&quot;:890.9}"/>
</p:tagLst>
</file>

<file path=ppt/tags/tag39.xml><?xml version="1.0" encoding="utf-8"?>
<p:tagLst xmlns:p="http://schemas.openxmlformats.org/presentationml/2006/main">
  <p:tag name="TABLE_ENDDRAG_ORIGIN_RECT" val="323*378"/>
  <p:tag name="TABLE_ENDDRAG_RECT" val="126*171*323*378"/>
</p:tagLst>
</file>

<file path=ppt/tags/tag40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1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2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3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4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5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6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7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8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49.xml><?xml version="1.0" encoding="utf-8"?>
<p:tagLst xmlns:p="http://schemas.openxmlformats.org/presentationml/2006/main">
  <p:tag name="TABLE_ENDDRAG_ORIGIN_RECT" val="275*160"/>
  <p:tag name="TABLE_ENDDRAG_RECT" val="372*159*275*160"/>
</p:tagLst>
</file>

<file path=ppt/tags/tag50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1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2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3.xml><?xml version="1.0" encoding="utf-8"?>
<p:tagLst xmlns:p="http://schemas.openxmlformats.org/presentationml/2006/main">
  <p:tag name="TABLE_ENDDRAG_ORIGIN_RECT" val="120*50"/>
  <p:tag name="TABLE_ENDDRAG_RECT" val="685*166*120*50"/>
</p:tagLst>
</file>

<file path=ppt/tags/tag54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5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6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7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8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59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60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61.xml><?xml version="1.0" encoding="utf-8"?>
<p:tagLst xmlns:p="http://schemas.openxmlformats.org/presentationml/2006/main">
  <p:tag name="TABLE_ENDDRAG_ORIGIN_RECT" val="101*51"/>
  <p:tag name="TABLE_ENDDRAG_RECT" val="555*357*101*51"/>
</p:tagLst>
</file>

<file path=ppt/tags/tag62.xml><?xml version="1.0" encoding="utf-8"?>
<p:tagLst xmlns:p="http://schemas.openxmlformats.org/presentationml/2006/main">
  <p:tag name="TABLE_ENDDRAG_ORIGIN_RECT" val="101*51"/>
  <p:tag name="TABLE_ENDDRAG_RECT" val="555*357*101*51"/>
</p:tagLst>
</file>

<file path=ppt/tags/tag63.xml><?xml version="1.0" encoding="utf-8"?>
<p:tagLst xmlns:p="http://schemas.openxmlformats.org/presentationml/2006/main">
  <p:tag name="TABLE_ENDDRAG_ORIGIN_RECT" val="92*26"/>
  <p:tag name="TABLE_ENDDRAG_RECT" val="467*353*92*26"/>
</p:tagLst>
</file>

<file path=ppt/tags/tag64.xml><?xml version="1.0" encoding="utf-8"?>
<p:tagLst xmlns:p="http://schemas.openxmlformats.org/presentationml/2006/main">
  <p:tag name="KSO_WM_DIAGRAM_VIRTUALLY_FRAME" val="{&quot;height&quot;:321.9,&quot;left&quot;:381.8,&quot;top&quot;:151.8,&quot;width&quot;:282.1}"/>
</p:tagLst>
</file>

<file path=ppt/tags/tag65.xml><?xml version="1.0" encoding="utf-8"?>
<p:tagLst xmlns:p="http://schemas.openxmlformats.org/presentationml/2006/main">
  <p:tag name="KSO_WM_DIAGRAM_VIRTUALLY_FRAME" val="{&quot;height&quot;:325,&quot;left&quot;:60,&quot;top&quot;:150,&quot;width&quot;:858.4}"/>
</p:tagLst>
</file>

<file path=ppt/tags/tag66.xml><?xml version="1.0" encoding="utf-8"?>
<p:tagLst xmlns:p="http://schemas.openxmlformats.org/presentationml/2006/main">
  <p:tag name="KSO_WM_DIAGRAM_VIRTUALLY_FRAME" val="{&quot;height&quot;:325,&quot;left&quot;:60,&quot;top&quot;:150,&quot;width&quot;:858.4}"/>
</p:tagLst>
</file>

<file path=ppt/tags/tag67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68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69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0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1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2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3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4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5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6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7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8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79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0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1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2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3.xml><?xml version="1.0" encoding="utf-8"?>
<p:tagLst xmlns:p="http://schemas.openxmlformats.org/presentationml/2006/main">
  <p:tag name="KSO_WM_DIAGRAM_VIRTUALLY_FRAME" val="{&quot;height&quot;:325,&quot;left&quot;:60,&quot;top&quot;:150,&quot;width&quot;:858.4}"/>
</p:tagLst>
</file>

<file path=ppt/tags/tag84.xml><?xml version="1.0" encoding="utf-8"?>
<p:tagLst xmlns:p="http://schemas.openxmlformats.org/presentationml/2006/main">
  <p:tag name="KSO_WM_DIAGRAM_VIRTUALLY_FRAME" val="{&quot;height&quot;:325,&quot;left&quot;:60,&quot;top&quot;:150,&quot;width&quot;:858.4}"/>
</p:tagLst>
</file>

<file path=ppt/tags/tag85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6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7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8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89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0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1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2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3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4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5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6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7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8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99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0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1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2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3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4.xml><?xml version="1.0" encoding="utf-8"?>
<p:tagLst xmlns:p="http://schemas.openxmlformats.org/presentationml/2006/main">
  <p:tag name="KSO_WM_DIAGRAM_VIRTUALLY_FRAME" val="{&quot;height&quot;:418.7,&quot;left&quot;:35.2,&quot;top&quot;:115.5,&quot;width&quot;:888.8}"/>
</p:tagLst>
</file>

<file path=ppt/tags/tag105.xml><?xml version="1.0" encoding="utf-8"?>
<p:tagLst xmlns:p="http://schemas.openxmlformats.org/presentationml/2006/main">
  <p:tag name="KSO_WM_DIAGRAM_VIRTUALLY_FRAME" val="{&quot;height&quot;:325,&quot;left&quot;:60,&quot;top&quot;:150,&quot;width&quot;:858.4}"/>
</p:tagLst>
</file>

<file path=ppt/tags/tag106.xml><?xml version="1.0" encoding="utf-8"?>
<p:tagLst xmlns:p="http://schemas.openxmlformats.org/presentationml/2006/main">
  <p:tag name="TABLE_ENDDRAG_ORIGIN_RECT" val="419*416"/>
  <p:tag name="TABLE_ENDDRAG_RECT" val="35*108*419*416"/>
</p:tagLst>
</file>

<file path=ppt/tags/tag107.xml><?xml version="1.0" encoding="utf-8"?>
<p:tagLst xmlns:p="http://schemas.openxmlformats.org/presentationml/2006/main">
  <p:tag name="TABLE_ENDDRAG_ORIGIN_RECT" val="449*373"/>
  <p:tag name="TABLE_ENDDRAG_RECT" val="465*101*449*374"/>
</p:tagLst>
</file>

<file path=ppt/tags/tag108.xml><?xml version="1.0" encoding="utf-8"?>
<p:tagLst xmlns:p="http://schemas.openxmlformats.org/presentationml/2006/main">
  <p:tag name="TABLE_ENDDRAG_ORIGIN_RECT" val="879*372"/>
  <p:tag name="TABLE_ENDDRAG_RECT" val="47*129*879*372"/>
</p:tagLst>
</file>

<file path=ppt/tags/tag109.xml><?xml version="1.0" encoding="utf-8"?>
<p:tagLst xmlns:p="http://schemas.openxmlformats.org/presentationml/2006/main">
  <p:tag name="TABLE_ENDDRAG_ORIGIN_RECT" val="883*329"/>
  <p:tag name="TABLE_ENDDRAG_RECT" val="36*158*883*329"/>
</p:tagLst>
</file>

<file path=ppt/tags/tag110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1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2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3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4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5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6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7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8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19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0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1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2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3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4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5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6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7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8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29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0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1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2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3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4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5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6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7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8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39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40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41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42.xml><?xml version="1.0" encoding="utf-8"?>
<p:tagLst xmlns:p="http://schemas.openxmlformats.org/presentationml/2006/main">
  <p:tag name="KSO_WM_DIAGRAM_VIRTUALLY_FRAME" val="{&quot;height&quot;:291.18732283464567,&quot;left&quot;:533.0933070866142,&quot;top&quot;:217.98086614173226,&quot;width&quot;:222.0080314960629}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TABLE_ENDDRAG_ORIGIN_RECT" val="878*274"/>
  <p:tag name="TABLE_ENDDRAG_RECT" val="54*138*878*274"/>
</p:tagLst>
</file>

<file path=ppt/tags/tag145.xml><?xml version="1.0" encoding="utf-8"?>
<p:tagLst xmlns:p="http://schemas.openxmlformats.org/presentationml/2006/main">
  <p:tag name="TABLE_ENDDRAG_ORIGIN_RECT" val="864*324"/>
  <p:tag name="TABLE_ENDDRAG_RECT" val="55*194*864*32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TABLE_ENDDRAG_ORIGIN_RECT" val="631*242"/>
  <p:tag name="TABLE_ENDDRAG_RECT" val="89*226*631*242"/>
</p:tagLst>
</file>

<file path=ppt/tags/tag170.xml><?xml version="1.0" encoding="utf-8"?>
<p:tagLst xmlns:p="http://schemas.openxmlformats.org/presentationml/2006/main">
  <p:tag name="TABLE_ENDDRAG_ORIGIN_RECT" val="631*242"/>
  <p:tag name="TABLE_ENDDRAG_RECT" val="89*226*631*242"/>
</p:tagLst>
</file>

<file path=ppt/tags/tag171.xml><?xml version="1.0" encoding="utf-8"?>
<p:tagLst xmlns:p="http://schemas.openxmlformats.org/presentationml/2006/main">
  <p:tag name="TABLE_ENDDRAG_ORIGIN_RECT" val="452*531"/>
  <p:tag name="TABLE_ENDDRAG_RECT" val="35*96*452*531"/>
</p:tagLst>
</file>

<file path=ppt/tags/tag172.xml><?xml version="1.0" encoding="utf-8"?>
<p:tagLst xmlns:p="http://schemas.openxmlformats.org/presentationml/2006/main">
  <p:tag name="TABLE_ENDDRAG_ORIGIN_RECT" val="406*566"/>
  <p:tag name="TABLE_ENDDRAG_RECT" val="35*96*406*566"/>
</p:tagLst>
</file>

<file path=ppt/tags/tag173.xml><?xml version="1.0" encoding="utf-8"?>
<p:tagLst xmlns:p="http://schemas.openxmlformats.org/presentationml/2006/main">
  <p:tag name="TABLE_ENDDRAG_ORIGIN_RECT" val="865*383"/>
  <p:tag name="TABLE_ENDDRAG_RECT" val="35*105*865*383"/>
</p:tagLst>
</file>

<file path=ppt/theme/theme1.xml><?xml version="1.0" encoding="utf-8"?>
<a:theme xmlns:a="http://schemas.openxmlformats.org/drawingml/2006/main" name="1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lIns="81750" tIns="40874" rIns="81750" bIns="40874"/>
      <a:lstStyle>
        <a:defPPr marL="0" indent="0" algn="ctr">
          <a:lnSpc>
            <a:spcPct val="120000"/>
          </a:lnSpc>
          <a:buNone/>
          <a:defRPr lang="zh-CN" altLang="en-US" kern="0" dirty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noFill/>
        <a:ln w="9525" cap="flat" cmpd="sng" algn="ctr">
          <a:solidFill>
            <a:srgbClr val="002060"/>
          </a:solidFill>
          <a:prstDash val="solid"/>
          <a:headEnd type="none" w="med" len="med"/>
          <a:tailEnd type="triangle"/>
        </a:ln>
      </a:spPr>
      <a:bodyPr/>
      <a:lstStyle/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>
            <a:alpha val="0"/>
          </a:srgbClr>
        </a:solidFill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</a:spPr>
      <a:bodyPr wrap="square">
        <a:noAutofit/>
      </a:bodyPr>
      <a:lstStyle>
        <a:defPPr algn="ctr">
          <a:defRPr sz="1100" dirty="0" smtClean="0">
            <a:solidFill>
              <a:srgbClr val="202020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solidFill>
          <a:schemeClr val="bg1"/>
        </a:solidFill>
        <a:ln w="9525">
          <a:solidFill>
            <a:schemeClr val="tx1">
              <a:lumMod val="50000"/>
            </a:schemeClr>
          </a:solidFill>
        </a:ln>
      </a:spPr>
      <a:bodyPr wrap="square" lIns="0" tIns="0" rIns="0" bIns="0" rtlCol="0" anchor="ctr">
        <a:noAutofit/>
      </a:bodyPr>
      <a:lstStyle>
        <a:defPPr marL="171450" indent="-171450" algn="ctr" defTabSz="685165">
          <a:buFont typeface="Arial" panose="020B0604020202020204" pitchFamily="34" charset="0"/>
          <a:buChar char="•"/>
          <a:defRPr kumimoji="0" sz="1100" b="0" i="0" u="none" strike="noStrike" kern="1200" cap="none" spc="0" normalizeH="0" baseline="0" noProof="0" dirty="0" smtClean="0">
            <a:ln>
              <a:noFill/>
            </a:ln>
            <a:solidFill>
              <a:srgbClr val="E7E6E6">
                <a:lumMod val="10000"/>
              </a:srgbClr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+mn-cs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noFill/>
        <a:ln w="9525" cap="flat" cmpd="sng" algn="ctr">
          <a:solidFill>
            <a:srgbClr val="002060"/>
          </a:solidFill>
          <a:prstDash val="solid"/>
          <a:headEnd type="none" w="med" len="med"/>
          <a:tailEnd type="triangle"/>
        </a:ln>
      </a:spPr>
      <a:bodyPr/>
      <a:lstStyle/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noFill/>
        <a:ln w="9525" cap="flat" cmpd="sng" algn="ctr">
          <a:solidFill>
            <a:srgbClr val="002060"/>
          </a:solidFill>
          <a:prstDash val="solid"/>
          <a:headEnd type="none" w="med" len="med"/>
          <a:tailEnd type="triangle"/>
        </a:ln>
      </a:spPr>
      <a:bodyPr/>
      <a:lstStyle/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noFill/>
        <a:ln w="9525" cap="flat" cmpd="sng" algn="ctr">
          <a:solidFill>
            <a:srgbClr val="002060"/>
          </a:solidFill>
          <a:prstDash val="solid"/>
          <a:headEnd type="none" w="med" len="med"/>
          <a:tailEnd type="triangle"/>
        </a:ln>
      </a:spPr>
      <a:bodyPr/>
      <a:lstStyle/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Office 主题">
  <a:themeElements>
    <a:clrScheme name="K">
      <a:dk1>
        <a:srgbClr val="000000"/>
      </a:dk1>
      <a:lt1>
        <a:srgbClr val="FFFFFF"/>
      </a:lt1>
      <a:dk2>
        <a:srgbClr val="152A8C"/>
      </a:dk2>
      <a:lt2>
        <a:srgbClr val="EDEDED"/>
      </a:lt2>
      <a:accent1>
        <a:srgbClr val="8DB3E2"/>
      </a:accent1>
      <a:accent2>
        <a:srgbClr val="2796D4"/>
      </a:accent2>
      <a:accent3>
        <a:srgbClr val="FFC000"/>
      </a:accent3>
      <a:accent4>
        <a:srgbClr val="92D050"/>
      </a:accent4>
      <a:accent5>
        <a:srgbClr val="B10011"/>
      </a:accent5>
      <a:accent6>
        <a:srgbClr val="7F7F7F"/>
      </a:accent6>
      <a:hlink>
        <a:srgbClr val="152A8C"/>
      </a:hlink>
      <a:folHlink>
        <a:srgbClr val="7F7F7F"/>
      </a:folHlink>
    </a:clrScheme>
    <a:fontScheme name="通用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noFill/>
        <a:ln w="9525" cap="flat" cmpd="sng" algn="ctr">
          <a:solidFill>
            <a:srgbClr val="002060"/>
          </a:solidFill>
          <a:prstDash val="solid"/>
          <a:headEnd type="none" w="med" len="med"/>
          <a:tailEnd type="triangle"/>
        </a:ln>
      </a:spPr>
      <a:bodyPr/>
      <a:lstStyle/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4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4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5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5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5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5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5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5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5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5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5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5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6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6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6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6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6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6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6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6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6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6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7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7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7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7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7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7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7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7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8.xml><?xml version="1.0" encoding="utf-8"?>
<a:theme xmlns:a="http://schemas.openxmlformats.org/drawingml/2006/main" name="7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9.xml><?xml version="1.0" encoding="utf-8"?>
<a:theme xmlns:a="http://schemas.openxmlformats.org/drawingml/2006/main" name="7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0.xml><?xml version="1.0" encoding="utf-8"?>
<a:theme xmlns:a="http://schemas.openxmlformats.org/drawingml/2006/main" name="8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1.xml><?xml version="1.0" encoding="utf-8"?>
<a:theme xmlns:a="http://schemas.openxmlformats.org/drawingml/2006/main" name="8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2.xml><?xml version="1.0" encoding="utf-8"?>
<a:theme xmlns:a="http://schemas.openxmlformats.org/drawingml/2006/main" name="8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3.xml><?xml version="1.0" encoding="utf-8"?>
<a:theme xmlns:a="http://schemas.openxmlformats.org/drawingml/2006/main" name="8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4.xml><?xml version="1.0" encoding="utf-8"?>
<a:theme xmlns:a="http://schemas.openxmlformats.org/drawingml/2006/main" name="8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5.xml><?xml version="1.0" encoding="utf-8"?>
<a:theme xmlns:a="http://schemas.openxmlformats.org/drawingml/2006/main" name="8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6.xml><?xml version="1.0" encoding="utf-8"?>
<a:theme xmlns:a="http://schemas.openxmlformats.org/drawingml/2006/main" name="8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7.xml><?xml version="1.0" encoding="utf-8"?>
<a:theme xmlns:a="http://schemas.openxmlformats.org/drawingml/2006/main" name="8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8.xml><?xml version="1.0" encoding="utf-8"?>
<a:theme xmlns:a="http://schemas.openxmlformats.org/drawingml/2006/main" name="8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9.xml><?xml version="1.0" encoding="utf-8"?>
<a:theme xmlns:a="http://schemas.openxmlformats.org/drawingml/2006/main" name="8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0.xml><?xml version="1.0" encoding="utf-8"?>
<a:theme xmlns:a="http://schemas.openxmlformats.org/drawingml/2006/main" name="9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1.xml><?xml version="1.0" encoding="utf-8"?>
<a:theme xmlns:a="http://schemas.openxmlformats.org/drawingml/2006/main" name="9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2.xml><?xml version="1.0" encoding="utf-8"?>
<a:theme xmlns:a="http://schemas.openxmlformats.org/drawingml/2006/main" name="9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3.xml><?xml version="1.0" encoding="utf-8"?>
<a:theme xmlns:a="http://schemas.openxmlformats.org/drawingml/2006/main" name="9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4.xml><?xml version="1.0" encoding="utf-8"?>
<a:theme xmlns:a="http://schemas.openxmlformats.org/drawingml/2006/main" name="9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5.xml><?xml version="1.0" encoding="utf-8"?>
<a:theme xmlns:a="http://schemas.openxmlformats.org/drawingml/2006/main" name="9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6.xml><?xml version="1.0" encoding="utf-8"?>
<a:theme xmlns:a="http://schemas.openxmlformats.org/drawingml/2006/main" name="9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7.xml><?xml version="1.0" encoding="utf-8"?>
<a:theme xmlns:a="http://schemas.openxmlformats.org/drawingml/2006/main" name="9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8.xml><?xml version="1.0" encoding="utf-8"?>
<a:theme xmlns:a="http://schemas.openxmlformats.org/drawingml/2006/main" name="9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9.xml><?xml version="1.0" encoding="utf-8"?>
<a:theme xmlns:a="http://schemas.openxmlformats.org/drawingml/2006/main" name="9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0.xml><?xml version="1.0" encoding="utf-8"?>
<a:theme xmlns:a="http://schemas.openxmlformats.org/drawingml/2006/main" name="10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1.xml><?xml version="1.0" encoding="utf-8"?>
<a:theme xmlns:a="http://schemas.openxmlformats.org/drawingml/2006/main" name="10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2.xml><?xml version="1.0" encoding="utf-8"?>
<a:theme xmlns:a="http://schemas.openxmlformats.org/drawingml/2006/main" name="10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3.xml><?xml version="1.0" encoding="utf-8"?>
<a:theme xmlns:a="http://schemas.openxmlformats.org/drawingml/2006/main" name="10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4.xml><?xml version="1.0" encoding="utf-8"?>
<a:theme xmlns:a="http://schemas.openxmlformats.org/drawingml/2006/main" name="10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5.xml><?xml version="1.0" encoding="utf-8"?>
<a:theme xmlns:a="http://schemas.openxmlformats.org/drawingml/2006/main" name="10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6.xml><?xml version="1.0" encoding="utf-8"?>
<a:theme xmlns:a="http://schemas.openxmlformats.org/drawingml/2006/main" name="10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7.xml><?xml version="1.0" encoding="utf-8"?>
<a:theme xmlns:a="http://schemas.openxmlformats.org/drawingml/2006/main" name="10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8.xml><?xml version="1.0" encoding="utf-8"?>
<a:theme xmlns:a="http://schemas.openxmlformats.org/drawingml/2006/main" name="10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9.xml><?xml version="1.0" encoding="utf-8"?>
<a:theme xmlns:a="http://schemas.openxmlformats.org/drawingml/2006/main" name="10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0.xml><?xml version="1.0" encoding="utf-8"?>
<a:theme xmlns:a="http://schemas.openxmlformats.org/drawingml/2006/main" name="11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1.xml><?xml version="1.0" encoding="utf-8"?>
<a:theme xmlns:a="http://schemas.openxmlformats.org/drawingml/2006/main" name="11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2.xml><?xml version="1.0" encoding="utf-8"?>
<a:theme xmlns:a="http://schemas.openxmlformats.org/drawingml/2006/main" name="11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3.xml><?xml version="1.0" encoding="utf-8"?>
<a:theme xmlns:a="http://schemas.openxmlformats.org/drawingml/2006/main" name="11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4.xml><?xml version="1.0" encoding="utf-8"?>
<a:theme xmlns:a="http://schemas.openxmlformats.org/drawingml/2006/main" name="11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5.xml><?xml version="1.0" encoding="utf-8"?>
<a:theme xmlns:a="http://schemas.openxmlformats.org/drawingml/2006/main" name="115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6.xml><?xml version="1.0" encoding="utf-8"?>
<a:theme xmlns:a="http://schemas.openxmlformats.org/drawingml/2006/main" name="11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7.xml><?xml version="1.0" encoding="utf-8"?>
<a:theme xmlns:a="http://schemas.openxmlformats.org/drawingml/2006/main" name="11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8.xml><?xml version="1.0" encoding="utf-8"?>
<a:theme xmlns:a="http://schemas.openxmlformats.org/drawingml/2006/main" name="11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9.xml><?xml version="1.0" encoding="utf-8"?>
<a:theme xmlns:a="http://schemas.openxmlformats.org/drawingml/2006/main" name="11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0.xml><?xml version="1.0" encoding="utf-8"?>
<a:theme xmlns:a="http://schemas.openxmlformats.org/drawingml/2006/main" name="120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1.xml><?xml version="1.0" encoding="utf-8"?>
<a:theme xmlns:a="http://schemas.openxmlformats.org/drawingml/2006/main" name="121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2.xml><?xml version="1.0" encoding="utf-8"?>
<a:theme xmlns:a="http://schemas.openxmlformats.org/drawingml/2006/main" name="12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3.xml><?xml version="1.0" encoding="utf-8"?>
<a:theme xmlns:a="http://schemas.openxmlformats.org/drawingml/2006/main" name="12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15477</Words>
  <Application>WPS 演示</Application>
  <PresentationFormat>宽屏</PresentationFormat>
  <Paragraphs>3146</Paragraphs>
  <Slides>29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123</vt:i4>
      </vt:variant>
      <vt:variant>
        <vt:lpstr>幻灯片标题</vt:lpstr>
      </vt:variant>
      <vt:variant>
        <vt:i4>29</vt:i4>
      </vt:variant>
    </vt:vector>
  </HeadingPairs>
  <TitlesOfParts>
    <vt:vector size="178" baseType="lpstr">
      <vt:lpstr>Arial</vt:lpstr>
      <vt:lpstr>宋体</vt:lpstr>
      <vt:lpstr>Wingdings</vt:lpstr>
      <vt:lpstr>微软雅黑</vt:lpstr>
      <vt:lpstr>黑体</vt:lpstr>
      <vt:lpstr>Calibri</vt:lpstr>
      <vt:lpstr>Arial</vt:lpstr>
      <vt:lpstr>Calibri</vt:lpstr>
      <vt:lpstr>.AppleSystemUIFont</vt:lpstr>
      <vt:lpstr>Segoe Print</vt:lpstr>
      <vt:lpstr>Source Han Sans CN</vt:lpstr>
      <vt:lpstr>Myriad Pro</vt:lpstr>
      <vt:lpstr>Segoe UI</vt:lpstr>
      <vt:lpstr>RB Office</vt:lpstr>
      <vt:lpstr>Franklin Gothic Medium</vt:lpstr>
      <vt:lpstr>Noto Sans SC</vt:lpstr>
      <vt:lpstr>等线</vt:lpstr>
      <vt:lpstr>Wingdings</vt:lpstr>
      <vt:lpstr>Arial Unicode MS</vt:lpstr>
      <vt:lpstr>微软雅黑</vt:lpstr>
      <vt:lpstr>Alibaba PuHuiTi 2.0 55 Regular</vt:lpstr>
      <vt:lpstr>Arial Black</vt:lpstr>
      <vt:lpstr>Alibaba PuHuiTi 2.0 55 Regular</vt:lpstr>
      <vt:lpstr>RB Office</vt:lpstr>
      <vt:lpstr>Segoe UI</vt:lpstr>
      <vt:lpstr>Source Han Sans CN</vt:lpstr>
      <vt:lpstr>1_Office 主题</vt:lpstr>
      <vt:lpstr>2_Office 主题</vt:lpstr>
      <vt:lpstr>3_Office 主题</vt:lpstr>
      <vt:lpstr>4_Office 主题</vt:lpstr>
      <vt:lpstr>11_Office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12_Office 主题</vt:lpstr>
      <vt:lpstr>13_Office 主题</vt:lpstr>
      <vt:lpstr>14_Office 主题</vt:lpstr>
      <vt:lpstr>15_Office 主题</vt:lpstr>
      <vt:lpstr>16_Office 主题</vt:lpstr>
      <vt:lpstr>17_Office 主题</vt:lpstr>
      <vt:lpstr>18_Office 主题</vt:lpstr>
      <vt:lpstr>19_Office 主题</vt:lpstr>
      <vt:lpstr>20_Office 主题</vt:lpstr>
      <vt:lpstr>21_Office 主题</vt:lpstr>
      <vt:lpstr>22_Office 主题</vt:lpstr>
      <vt:lpstr>23_Office 主题</vt:lpstr>
      <vt:lpstr>24_Office 主题</vt:lpstr>
      <vt:lpstr>25_Office 主题</vt:lpstr>
      <vt:lpstr>26_Office 主题</vt:lpstr>
      <vt:lpstr>27_Office 主题</vt:lpstr>
      <vt:lpstr>28_Office 主题</vt:lpstr>
      <vt:lpstr>29_Office 主题</vt:lpstr>
      <vt:lpstr>30_Office 主题</vt:lpstr>
      <vt:lpstr>31_Office 主题</vt:lpstr>
      <vt:lpstr>32_Office 主题</vt:lpstr>
      <vt:lpstr>33_Office 主题</vt:lpstr>
      <vt:lpstr>34_Office 主题</vt:lpstr>
      <vt:lpstr>35_Office 主题</vt:lpstr>
      <vt:lpstr>36_Office 主题</vt:lpstr>
      <vt:lpstr>37_Office 主题</vt:lpstr>
      <vt:lpstr>38_Office 主题</vt:lpstr>
      <vt:lpstr>39_Office 主题</vt:lpstr>
      <vt:lpstr>40_Office 主题</vt:lpstr>
      <vt:lpstr>41_Office 主题</vt:lpstr>
      <vt:lpstr>42_Office 主题</vt:lpstr>
      <vt:lpstr>43_Office 主题</vt:lpstr>
      <vt:lpstr>44_Office 主题</vt:lpstr>
      <vt:lpstr>45_Office 主题</vt:lpstr>
      <vt:lpstr>46_Office 主题</vt:lpstr>
      <vt:lpstr>47_Office 主题</vt:lpstr>
      <vt:lpstr>48_Office 主题</vt:lpstr>
      <vt:lpstr>49_Office 主题</vt:lpstr>
      <vt:lpstr>50_Office 主题</vt:lpstr>
      <vt:lpstr>51_Office 主题</vt:lpstr>
      <vt:lpstr>52_Office 主题</vt:lpstr>
      <vt:lpstr>53_Office 主题</vt:lpstr>
      <vt:lpstr>54_Office 主题</vt:lpstr>
      <vt:lpstr>55_Office 主题</vt:lpstr>
      <vt:lpstr>56_Office 主题</vt:lpstr>
      <vt:lpstr>57_Office 主题</vt:lpstr>
      <vt:lpstr>58_Office 主题</vt:lpstr>
      <vt:lpstr>59_Office 主题</vt:lpstr>
      <vt:lpstr>60_Office 主题</vt:lpstr>
      <vt:lpstr>61_Office 主题</vt:lpstr>
      <vt:lpstr>62_Office 主题</vt:lpstr>
      <vt:lpstr>63_Office 主题</vt:lpstr>
      <vt:lpstr>64_Office 主题</vt:lpstr>
      <vt:lpstr>65_Office 主题</vt:lpstr>
      <vt:lpstr>66_Office 主题</vt:lpstr>
      <vt:lpstr>67_Office 主题</vt:lpstr>
      <vt:lpstr>68_Office 主题</vt:lpstr>
      <vt:lpstr>69_Office 主题</vt:lpstr>
      <vt:lpstr>70_Office 主题</vt:lpstr>
      <vt:lpstr>71_Office 主题</vt:lpstr>
      <vt:lpstr>72_Office 主题</vt:lpstr>
      <vt:lpstr>73_Office 主题</vt:lpstr>
      <vt:lpstr>74_Office 主题</vt:lpstr>
      <vt:lpstr>75_Office 主题</vt:lpstr>
      <vt:lpstr>76_Office 主题</vt:lpstr>
      <vt:lpstr>77_Office 主题</vt:lpstr>
      <vt:lpstr>78_Office 主题</vt:lpstr>
      <vt:lpstr>79_Office 主题</vt:lpstr>
      <vt:lpstr>80_Office 主题</vt:lpstr>
      <vt:lpstr>81_Office 主题</vt:lpstr>
      <vt:lpstr>82_Office 主题</vt:lpstr>
      <vt:lpstr>83_Office 主题</vt:lpstr>
      <vt:lpstr>84_Office 主题</vt:lpstr>
      <vt:lpstr>85_Office 主题</vt:lpstr>
      <vt:lpstr>86_Office 主题</vt:lpstr>
      <vt:lpstr>87_Office 主题</vt:lpstr>
      <vt:lpstr>88_Office 主题</vt:lpstr>
      <vt:lpstr>89_Office 主题</vt:lpstr>
      <vt:lpstr>90_Office 主题</vt:lpstr>
      <vt:lpstr>91_Office 主题</vt:lpstr>
      <vt:lpstr>92_Office 主题</vt:lpstr>
      <vt:lpstr>93_Office 主题</vt:lpstr>
      <vt:lpstr>94_Office 主题</vt:lpstr>
      <vt:lpstr>95_Office 主题</vt:lpstr>
      <vt:lpstr>96_Office 主题</vt:lpstr>
      <vt:lpstr>97_Office 主题</vt:lpstr>
      <vt:lpstr>98_Office 主题</vt:lpstr>
      <vt:lpstr>99_Office 主题</vt:lpstr>
      <vt:lpstr>100_Office 主题</vt:lpstr>
      <vt:lpstr>101_Office 主题</vt:lpstr>
      <vt:lpstr>102_Office 主题</vt:lpstr>
      <vt:lpstr>103_Office 主题</vt:lpstr>
      <vt:lpstr>104_Office 主题</vt:lpstr>
      <vt:lpstr>105_Office 主题</vt:lpstr>
      <vt:lpstr>106_Office 主题</vt:lpstr>
      <vt:lpstr>107_Office 主题</vt:lpstr>
      <vt:lpstr>108_Office 主题</vt:lpstr>
      <vt:lpstr>109_Office 主题</vt:lpstr>
      <vt:lpstr>110_Office 主题</vt:lpstr>
      <vt:lpstr>111_Office 主题</vt:lpstr>
      <vt:lpstr>112_Office 主题</vt:lpstr>
      <vt:lpstr>113_Office 主题</vt:lpstr>
      <vt:lpstr>114_Office 主题</vt:lpstr>
      <vt:lpstr>115_Office 主题</vt:lpstr>
      <vt:lpstr>116_Office 主题</vt:lpstr>
      <vt:lpstr>117_Office 主题</vt:lpstr>
      <vt:lpstr>118_Office 主题</vt:lpstr>
      <vt:lpstr>119_Office 主题</vt:lpstr>
      <vt:lpstr>120_Office 主题</vt:lpstr>
      <vt:lpstr>121_Office 主题</vt:lpstr>
      <vt:lpstr>122_Office 主题</vt:lpstr>
      <vt:lpstr>123_Office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分类逻辑-整体思路</vt:lpstr>
      <vt:lpstr>2.2 分类逻辑-分类模型*</vt:lpstr>
      <vt:lpstr>PowerPoint 演示文稿</vt:lpstr>
      <vt:lpstr>2.3 施策逻辑-策略任务</vt:lpstr>
      <vt:lpstr>2.4 任务制定</vt:lpstr>
      <vt:lpstr>2.5 动态评估</vt:lpstr>
      <vt:lpstr>PowerPoint 演示文稿</vt:lpstr>
      <vt:lpstr>2.4运行模拟 </vt:lpstr>
      <vt:lpstr>2.4运行模拟 </vt:lpstr>
      <vt:lpstr>3.2 分类结果 </vt:lpstr>
      <vt:lpstr>PowerPoint 演示文稿</vt:lpstr>
      <vt:lpstr>PowerPoint 演示文稿</vt:lpstr>
      <vt:lpstr>PowerPoint 演示文稿</vt:lpstr>
      <vt:lpstr>PowerPoint 演示文稿</vt:lpstr>
      <vt:lpstr>Backup-参股企业清单</vt:lpstr>
      <vt:lpstr>Backup-1.0阶段93家参股企业分类情况</vt:lpstr>
      <vt:lpstr>Backup-1.0阶段成果示例（零部件布局类-成熟—富奥公司）</vt:lpstr>
      <vt:lpstr>Backup-1.0阶段成果示例（财务收益类—联通智网）</vt:lpstr>
      <vt:lpstr>Backup-1.0阶段成果示例（股权退出类—瑞修得）</vt:lpstr>
      <vt:lpstr>Backup-2.0阶段成果总结</vt:lpstr>
      <vt:lpstr>Backup-3.0与2.0阶段成果对比</vt:lpstr>
      <vt:lpstr>Backup-3.0阶段分类模型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中国一汽品牌焕新方案汇报</dc:title>
  <dc:creator>AutoBVT</dc:creator>
  <cp:lastModifiedBy>豆包里的豆nani</cp:lastModifiedBy>
  <cp:revision>1239</cp:revision>
  <cp:lastPrinted>2024-05-20T10:10:00Z</cp:lastPrinted>
  <dcterms:created xsi:type="dcterms:W3CDTF">2024-05-20T10:10:00Z</dcterms:created>
  <dcterms:modified xsi:type="dcterms:W3CDTF">2026-07-08T16:22:58Z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1A1CBB88DAE5441EB19511A314D9D502_13</vt:lpwstr>
  </property>
</Properties>
</file>